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charts/chart1.xml" ContentType="application/vnd.openxmlformats-officedocument.drawingml.chart+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86096"/>
  </p:normalViewPr>
  <p:slideViewPr>
    <p:cSldViewPr snapToGrid="0" snapToObjects="1">
      <p:cViewPr varScale="1">
        <p:scale>
          <a:sx n="145" d="100"/>
          <a:sy n="145" d="100"/>
        </p:scale>
        <p:origin x="704"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1"/>
  <c:style val="2"/>
  <c:chart>
    <c:autoTitleDeleted val="1"/>
    <c:plotArea>
      <c:layout/>
      <c:barChart>
        <c:barDir val="bar"/>
        <c:grouping val="clustered"/>
        <c:varyColors val="0"/>
        <c:ser>
          <c:idx val="0"/>
          <c:order val="0"/>
          <c:tx>
            <c:strRef>
              <c:f>Sheet1!$B$1</c:f>
              <c:strCache>
                <c:ptCount val="1"/>
                <c:pt idx="0">
                  <c:v>Importance</c:v>
                </c:pt>
              </c:strCache>
            </c:strRef>
          </c:tx>
          <c:spPr>
            <a:solidFill>
              <a:srgbClr val="C41E1E"/>
            </a:solidFill>
            <a:effectLst/>
          </c:spPr>
          <c:invertIfNegative val="0"/>
          <c:cat>
            <c:strRef>
              <c:f>Sheet1!$A$2:$A$11</c:f>
              <c:strCache>
                <c:ptCount val="10"/>
                <c:pt idx="0">
                  <c:v>#10 avg_track_temp</c:v>
                </c:pt>
                <c:pt idx="1">
                  <c:v>#9 constructor_reliability</c:v>
                </c:pt>
                <c:pt idx="2">
                  <c:v>#8 circuit_avg_position</c:v>
                </c:pt>
                <c:pt idx="3">
                  <c:v>#7 avg_tire_deg_slope</c:v>
                </c:pt>
                <c:pt idx="4">
                  <c:v>#6 season_cum_points</c:v>
                </c:pt>
                <c:pt idx="5">
                  <c:v>#5 driver_elo_rating</c:v>
                </c:pt>
                <c:pt idx="6">
                  <c:v>#4 grid_elo_interaction</c:v>
                </c:pt>
                <c:pt idx="7">
                  <c:v>#3 quali_gap_to_pole</c:v>
                </c:pt>
                <c:pt idx="8">
                  <c:v>#2 rolling_avg_pos_5</c:v>
                </c:pt>
                <c:pt idx="9">
                  <c:v>#1 constructor_rolling_pts</c:v>
                </c:pt>
              </c:strCache>
            </c:strRef>
          </c:cat>
          <c:val>
            <c:numRef>
              <c:f>Sheet1!$B$2:$B$11</c:f>
              <c:numCache>
                <c:formatCode>General</c:formatCode>
                <c:ptCount val="10"/>
                <c:pt idx="0">
                  <c:v>1</c:v>
                </c:pt>
                <c:pt idx="1">
                  <c:v>2</c:v>
                </c:pt>
                <c:pt idx="2">
                  <c:v>3</c:v>
                </c:pt>
                <c:pt idx="3">
                  <c:v>4</c:v>
                </c:pt>
                <c:pt idx="4">
                  <c:v>5</c:v>
                </c:pt>
                <c:pt idx="5">
                  <c:v>6</c:v>
                </c:pt>
                <c:pt idx="6">
                  <c:v>7</c:v>
                </c:pt>
                <c:pt idx="7">
                  <c:v>8</c:v>
                </c:pt>
                <c:pt idx="8">
                  <c:v>9</c:v>
                </c:pt>
                <c:pt idx="9">
                  <c:v>10</c:v>
                </c:pt>
              </c:numCache>
            </c:numRef>
          </c:val>
          <c:extLst>
            <c:ext xmlns:c16="http://schemas.microsoft.com/office/drawing/2014/chart" uri="{C3380CC4-5D6E-409C-BE32-E72D297353CC}">
              <c16:uniqueId val="{00000000-E07F-A848-BD1C-B9F7449611C7}"/>
            </c:ext>
          </c:extLst>
        </c:ser>
        <c:dLbls>
          <c:showLegendKey val="0"/>
          <c:showVal val="0"/>
          <c:showCatName val="0"/>
          <c:showSerName val="0"/>
          <c:showPercent val="0"/>
          <c:showBubbleSize val="0"/>
        </c:dLbls>
        <c:gapWidth val="15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800" b="0" i="0" u="none" strike="noStrike">
                <a:solidFill>
                  <a:srgbClr val="444444"/>
                </a:solidFill>
                <a:latin typeface="Arial"/>
              </a:defRPr>
            </a:pPr>
            <a:endParaRPr lang="en-US"/>
          </a:p>
        </c:txPr>
        <c:crossAx val="2094734552"/>
        <c:crosses val="autoZero"/>
        <c:auto val="1"/>
        <c:lblAlgn val="ctr"/>
        <c:lblOffset val="100"/>
        <c:noMultiLvlLbl val="1"/>
      </c:catAx>
      <c:valAx>
        <c:axId val="2094734552"/>
        <c:scaling>
          <c:orientation val="minMax"/>
        </c:scaling>
        <c:delete val="1"/>
        <c:axPos val="b"/>
        <c:numFmt formatCode="General" sourceLinked="0"/>
        <c:majorTickMark val="out"/>
        <c:minorTickMark val="none"/>
        <c:tickLblPos val="low"/>
        <c:crossAx val="2094734554"/>
        <c:crosses val="autoZero"/>
        <c:crossBetween val="between"/>
      </c:valAx>
      <c:spPr>
        <a:no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90932042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everyone. Today we present our F1 Big Data Analytics Platform — a complete end-to-end system that predicts Formula 1 race outcomes. We process 9 seasons of data through Apache Spark, schedule with Airflow, containerize with Docker, and compare 3 ML models. Our best model predicts the race winner correctly 77.8% of the time, and the actual winner is ALWAYS in our top 3 predictions — 100% of the time.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me explain F1 for context. 10 teams each field 2 drivers across 24 races. Grid position — where you start — is determined by qualifying on Saturday with 3 elimination rounds. F1 uses 3 tire compounds trading speed for durability. The constructor — the team — determines 80% of performance, which our model confirms as the #1 feature. Points go to top 10 finishers. These concepts are the foundation of our 85 features.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tackle 3 prediction tasks. Position prediction is regression — MAE 2.096 means we're off by about 2 positions. Podium prediction is classification — 93.4% accuracy. Winner prediction is ranking — 77.8% correct. Most importantly, 100% top-3 accuracy: the actual winner is ALWAYS in our top 3 picks. No single model wins all tasks — XGBoost is best for position, Gradient Boosting for winner and podium.</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follow a 3-phase methodology. Phase 1 uses core race data — 3,524 results, qualifying, pit stops — achieving 50% winner baseline. Phase 2 adds 181K individual lap records and tire degradation models, improving position MAE from 2.74 to 2.10 — a 23% improvement. Phase 3 adds weather data — the game-changer — pushing winner accuracy from 50% to 77.8%. Key insight: adding the right data contributed far more than switching algorithms.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medallion architecture has 5 stages. Extraction pulls from 3 APIs. Bronze stores raw parquet files — 223K total records. Silver uses Apache Spark to clean, deduplicate, and join into a race_master table — 3,524 rows. Gold computes 85 ML features using Spark Window functions — rolling averages, ELO ratings, tire degradation, weather. Consumption feeds this into 3 ML models, 4 AI agents, and our Streamlit dashboard.</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entire stack runs in Docker — 7 containers started with one command. Spark cluster has 1 master and 2 workers with 4 cores total. Airflow schedules the full pipeline every Monday. PostgreSQL stores metadata. The tech stack has 3 pillars: Spark for distributed processing, Airflow for scheduling, and our ML+AI layer with 3 models, 4 agents, and a Streamlit dashboard.</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ETL pipeline has 5 automated tasks. Ingest pulls from APIs with retry logic for rate limits. Silver uses Spark to clean and join. Gold computes 85 features using Window functions. Retrain compares 3 models. Agents evaluate quality. The feature engineering table shows how raw data transforms: finishing positions become rolling averages, qualifying times become gap-to-pole, lap times become tire degradation slopes. Constructor rolling points — our #1 feature — is computed by Spark averaging team points over the last 10 races.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Speaker 2 takes over to cover data engineering details, tire and weather impact on predictions, and our 3-model comparison.</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data comes from free, open sources. Jolpica API replaced the Ergast API which shut down in 2024. FastF1 provides telemetry — 181K individual lap records and 24K weather measurements. In total: 223K raw records get distilled through our ETL pipeline into 3,524 clean rows with 85 features each — about 300K feature values ready for ML. This data reduction is the core of the medallion architecture.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Spark uses Window Functions — computing rolling averages partitioned by driver across the cluster. Airflow schedules 5 tasks every Monday. We faced real production bugs: Spark refused to merge parquet files with different column types across seasons — we built a custom schema evolution handler. Spark workers ran out of memory on 181K laps, but Airflow's retry logic caught it and re-ran automatically. These are real-world data engineering challenges.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Phase 2 integrated 181K laps and tire degradation data. F1 has 3 dry compounds — Soft is fastest but fragile, Hard is slowest but durable. We built features like tire degradation slope — how many seconds per lap each driver loses as their tires wear. The result: MAE improved from 2.74 to 2.10, a 23% improvement. In practical terms, predictions went from ~3 positions off to ~2. The key insight: tire management is the hidden skill our model now captures.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Phase 3 added 10 weather features from 24K measurements. Rain is the great equalizer — a driver who qualifies 10th might win in the rain. We capture track temperature (hot tracks destroy tires faster), humidity (leading indicator of rain), and temperature variation (unstable conditions). The result: winner accuracy jumped from 50% to 70.4% — a 20.4% gain in one step. For context, switching from Gradient Boosting to XGBoost only added 7.4%. Better data beats better algorithms.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compare 3 tree-based ensembles. Random Forest builds 200 trees in parallel and averages — like 200 independent analysts. Gradient Boosting builds 300 trees sequentially, each targeting previous mistakes — like F1 post-race debriefs. XGBoost adds regularization on top — like having a risk manager. Each has strengths: RF is most consistent, GB wins winner prediction at 77.8%, XGBoost wins position prediction with lowest MAE. All three are tree-based because trees dominate tabular data.</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tested 7 algorithms, not just 3. Logistic regression scored 40-44% — it assumes linear relationships but F1 outcomes depend on complex interactions. Neural networks were the WORST at 29.6% — with only 3,524 rows, deep learning can't learn effective patterns. This confirms established ML research that tree ensembles dominate tabular data. Stacking added complexity but zero improvement over single Gradient Boosting.</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results table tells the full story. XGBoost wins position prediction with MAE 2.096 and R-squared 0.740. Gradient Boosting wins winner prediction at 77.8% and podium F1 at 0.780. But the most impressive result: ALL three models achieve 100% top-3 accuracy — the actual winner is always in the top 3 predictions. No single model dominates — which is exactly why we compare 3 instead of picking one upfront.</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feature importance chart reveals what drives predictions. Number 1 is constructor rolling points — team strength. This confirms what F1 engineers know: the car is about 80% of performance. Grid position and qualifying pace are next. Driver ELO rating captures individual skill. Tire degradation and weather features from Phases 2 and 3 both appear in the top 10 — validating that our 3-phase methodology was the right approach.</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our single most important takeaway. Weather added 20.4% accuracy. Tire data reduced error by 23%. But switching algorithms only improved by 2.4%. The lesson for any ML project: on tabular data, invest 80% of effort in getting the right features and only 20% in model selection. Better data always beats better algorithms. This is a well-established principle but it's powerful to see it confirmed with our own data.</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3 now takes over to show live prediction results, explain our Agentic AI system with 4 autonomous agents, and share challenges, limitations, and lessons learned.</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are sample predictions. We correctly predicted Piastri in China, Verstappen in Japan, Norris in Monaco, Russell in Spain, and Antonelli in the 2026 Japanese GP. Our one miss — Australia — the actual winner Norris was our #2 pick. Overall: 21 out of 27 winners correct, and the actual winner is always in our top 3. The model also provides probability estimates — Monaco had 86% confidence for Norris, while Spain was only 26% for Russell.</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Traditional ML is static — train once, deploy, hope. Our agents make the pipeline intelligent. The key difference: scripts follow rules, agents make judgments. When the Data Agent found 51.5% null in Q3 data, it reasoned that this is expected because only 10 of 20 drivers reach Q3 — not a bug. A simple script would have flagged this as an error. We use LangGraph to orchestrate 4 agents as a directed graph with conditional routing — if model MAE exceeds 4.0, it triggers retraining automatically.</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what each agent found. Data Agent correctly identified 51.5% null in Q3 as expected, not a bug. Feature Agent proposed 5 features, accepted 3 based on correlation — including constructor_dominance at 0.594 correlation, more predictive than most hand-engineered features. Model Agent diagnosed weak circuits — Zandvoort has 4.1 position error, suggesting unusual track characteristics. Insight Agent combines everything into a strategy briefing. All run automatically every Monday via Airflow.</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faced real production challenges. The Ergast API shut down mid-project — we migrated to Jolpica with retry logic. Airflow couldn't talk to Spark — we mounted the Docker socket and used docker exec. Bitnami images disappeared from Docker Hub. Spark workers ran out of memory on 181K laps but Airflow's retry caught it. The point: these aren't edge cases, they're normal data engineering. We built fault tolerance from day one.</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We're honest about limitations. The ceiling is about 78% because F1 has inherent randomness. 3,524 rows is why neural nets failed. Key lessons: features beat algorithms every time. Fault tolerance is essential — crashes are normal. The car matters most, confirmed by our #1 feature. And agents add genuine value — the Feature Agent discovered a feature more predictive than most hand-engineered ones.</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future directions: real-time streaming with Spark Structured Streaming for live race predictions, cloud deployment on AWS or Azure for true scale, and car telemetry data to break the 78% ceiling. Our final numbers: 77.8% winner, 93.4% podium, 100% top-3, MAE 2.096, 85 features, 9 seasons. We have a live demo ready — Streamlit dashboard, Airflow pipeline, and Spark cluster all running. Thank you for your time. Happy to take questions.</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1.xml"/><Relationship Id="rId5" Type="http://schemas.openxmlformats.org/officeDocument/2006/relationships/image" Target="../media/image8.png"/><Relationship Id="rId4" Type="http://schemas.openxmlformats.org/officeDocument/2006/relationships/image" Target="../media/image7.png"/></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7.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1.xml"/><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11.png"/></Relationships>
</file>

<file path=ppt/slides/_rels/slide2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2.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15.png"/><Relationship Id="rId4" Type="http://schemas.openxmlformats.org/officeDocument/2006/relationships/image" Target="../media/image14.png"/></Relationships>
</file>

<file path=ppt/slides/_rels/slide2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1A2E"/>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C41E1E"/>
          </a:solidFill>
          <a:ln/>
        </p:spPr>
        <p:txBody>
          <a:bodyPr/>
          <a:lstStyle/>
          <a:p>
            <a:endParaRPr lang="en-US"/>
          </a:p>
        </p:txBody>
      </p:sp>
      <p:sp>
        <p:nvSpPr>
          <p:cNvPr id="3" name="Shape 1"/>
          <p:cNvSpPr/>
          <p:nvPr/>
        </p:nvSpPr>
        <p:spPr>
          <a:xfrm>
            <a:off x="0" y="4796823"/>
            <a:ext cx="9144000" cy="73152"/>
          </a:xfrm>
          <a:prstGeom prst="rect">
            <a:avLst/>
          </a:prstGeom>
          <a:solidFill>
            <a:srgbClr val="C41E1E"/>
          </a:solidFill>
          <a:ln/>
        </p:spPr>
        <p:txBody>
          <a:bodyPr/>
          <a:lstStyle/>
          <a:p>
            <a:endParaRPr lang="en-US"/>
          </a:p>
        </p:txBody>
      </p:sp>
      <p:sp>
        <p:nvSpPr>
          <p:cNvPr id="4" name="Shape 2"/>
          <p:cNvSpPr/>
          <p:nvPr/>
        </p:nvSpPr>
        <p:spPr>
          <a:xfrm>
            <a:off x="8778240" y="0"/>
            <a:ext cx="137160" cy="5143500"/>
          </a:xfrm>
          <a:prstGeom prst="rect">
            <a:avLst/>
          </a:prstGeom>
          <a:solidFill>
            <a:srgbClr val="C41E1E"/>
          </a:solidFill>
          <a:ln/>
        </p:spPr>
        <p:txBody>
          <a:bodyPr/>
          <a:lstStyle/>
          <a:p>
            <a:endParaRPr lang="en-US"/>
          </a:p>
        </p:txBody>
      </p:sp>
      <p:sp>
        <p:nvSpPr>
          <p:cNvPr id="5" name="Shape 3"/>
          <p:cNvSpPr/>
          <p:nvPr/>
        </p:nvSpPr>
        <p:spPr>
          <a:xfrm>
            <a:off x="8961120" y="0"/>
            <a:ext cx="73152" cy="5143500"/>
          </a:xfrm>
          <a:prstGeom prst="rect">
            <a:avLst/>
          </a:prstGeom>
          <a:solidFill>
            <a:srgbClr val="C41E1E">
              <a:alpha val="40000"/>
            </a:srgbClr>
          </a:solidFill>
          <a:ln/>
        </p:spPr>
        <p:txBody>
          <a:bodyPr/>
          <a:lstStyle/>
          <a:p>
            <a:endParaRPr lang="en-US"/>
          </a:p>
        </p:txBody>
      </p:sp>
      <p:pic>
        <p:nvPicPr>
          <p:cNvPr id="6" name="Image 0" descr="preencoded.png"/>
          <p:cNvPicPr>
            <a:picLocks noChangeAspect="1"/>
          </p:cNvPicPr>
          <p:nvPr/>
        </p:nvPicPr>
        <p:blipFill>
          <a:blip r:embed="rId3"/>
          <a:stretch>
            <a:fillRect/>
          </a:stretch>
        </p:blipFill>
        <p:spPr>
          <a:xfrm>
            <a:off x="7772400" y="457200"/>
            <a:ext cx="731520" cy="731520"/>
          </a:xfrm>
          <a:prstGeom prst="rect">
            <a:avLst/>
          </a:prstGeom>
        </p:spPr>
      </p:pic>
      <p:sp>
        <p:nvSpPr>
          <p:cNvPr id="7" name="Text 4"/>
          <p:cNvSpPr/>
          <p:nvPr/>
        </p:nvSpPr>
        <p:spPr>
          <a:xfrm>
            <a:off x="731520" y="731520"/>
            <a:ext cx="7315200" cy="1463040"/>
          </a:xfrm>
          <a:prstGeom prst="rect">
            <a:avLst/>
          </a:prstGeom>
          <a:noFill/>
          <a:ln/>
        </p:spPr>
        <p:txBody>
          <a:bodyPr wrap="square" lIns="0" tIns="0" rIns="0" bIns="0" rtlCol="0" anchor="ctr"/>
          <a:lstStyle/>
          <a:p>
            <a:pPr marL="0" indent="0">
              <a:lnSpc>
                <a:spcPct val="110000"/>
              </a:lnSpc>
              <a:buNone/>
            </a:pPr>
            <a:r>
              <a:rPr lang="en-US" sz="4000" b="1" dirty="0">
                <a:solidFill>
                  <a:srgbClr val="FFFFFF"/>
                </a:solidFill>
                <a:latin typeface="Georgia" pitchFamily="34" charset="0"/>
                <a:ea typeface="Georgia" pitchFamily="34" charset="-122"/>
                <a:cs typeface="Georgia" pitchFamily="34" charset="-120"/>
              </a:rPr>
              <a:t>F1 Big Data</a:t>
            </a:r>
            <a:endParaRPr lang="en-US" sz="4000" dirty="0"/>
          </a:p>
          <a:p>
            <a:pPr marL="0" indent="0">
              <a:lnSpc>
                <a:spcPct val="110000"/>
              </a:lnSpc>
              <a:buNone/>
            </a:pPr>
            <a:r>
              <a:rPr lang="en-US" sz="4000" b="1" dirty="0">
                <a:solidFill>
                  <a:srgbClr val="FFFFFF"/>
                </a:solidFill>
                <a:latin typeface="Georgia" pitchFamily="34" charset="0"/>
                <a:ea typeface="Georgia" pitchFamily="34" charset="-122"/>
                <a:cs typeface="Georgia" pitchFamily="34" charset="-120"/>
              </a:rPr>
              <a:t>Analytics Platform</a:t>
            </a:r>
            <a:endParaRPr lang="en-US" sz="4000" dirty="0"/>
          </a:p>
        </p:txBody>
      </p:sp>
      <p:sp>
        <p:nvSpPr>
          <p:cNvPr id="8" name="Text 5"/>
          <p:cNvSpPr/>
          <p:nvPr/>
        </p:nvSpPr>
        <p:spPr>
          <a:xfrm>
            <a:off x="731520" y="2286000"/>
            <a:ext cx="6400800" cy="457200"/>
          </a:xfrm>
          <a:prstGeom prst="rect">
            <a:avLst/>
          </a:prstGeom>
          <a:noFill/>
          <a:ln/>
        </p:spPr>
        <p:txBody>
          <a:bodyPr wrap="square" lIns="0" tIns="0" rIns="0" bIns="0" rtlCol="0" anchor="ctr"/>
          <a:lstStyle/>
          <a:p>
            <a:pPr marL="0" indent="0">
              <a:buNone/>
            </a:pPr>
            <a:r>
              <a:rPr lang="en-US" sz="1400" dirty="0">
                <a:solidFill>
                  <a:srgbClr val="949594"/>
                </a:solidFill>
                <a:latin typeface="Calibri" pitchFamily="34" charset="0"/>
                <a:ea typeface="Calibri" pitchFamily="34" charset="-122"/>
                <a:cs typeface="Calibri" pitchFamily="34" charset="-120"/>
              </a:rPr>
              <a:t>Race Outcome Prediction Using Apache Spark, Docker, Airflow &amp; Machine Learning</a:t>
            </a:r>
            <a:endParaRPr lang="en-US" sz="1400" dirty="0"/>
          </a:p>
        </p:txBody>
      </p:sp>
      <p:sp>
        <p:nvSpPr>
          <p:cNvPr id="9" name="Shape 6"/>
          <p:cNvSpPr/>
          <p:nvPr/>
        </p:nvSpPr>
        <p:spPr>
          <a:xfrm>
            <a:off x="731520" y="2926080"/>
            <a:ext cx="2286000" cy="36576"/>
          </a:xfrm>
          <a:prstGeom prst="rect">
            <a:avLst/>
          </a:prstGeom>
          <a:solidFill>
            <a:srgbClr val="C41E1E"/>
          </a:solidFill>
          <a:ln/>
        </p:spPr>
        <p:txBody>
          <a:bodyPr/>
          <a:lstStyle/>
          <a:p>
            <a:endParaRPr lang="en-US"/>
          </a:p>
        </p:txBody>
      </p:sp>
      <p:sp>
        <p:nvSpPr>
          <p:cNvPr id="10" name="Text 7"/>
          <p:cNvSpPr/>
          <p:nvPr/>
        </p:nvSpPr>
        <p:spPr>
          <a:xfrm>
            <a:off x="731520" y="3200400"/>
            <a:ext cx="1280160" cy="365760"/>
          </a:xfrm>
          <a:prstGeom prst="rect">
            <a:avLst/>
          </a:prstGeom>
          <a:noFill/>
          <a:ln/>
        </p:spPr>
        <p:txBody>
          <a:bodyPr wrap="square" lIns="0" tIns="0" rIns="0" bIns="0" rtlCol="0" anchor="ctr"/>
          <a:lstStyle/>
          <a:p>
            <a:pPr marL="0" indent="0">
              <a:buNone/>
            </a:pPr>
            <a:r>
              <a:rPr lang="en-US" sz="1800" b="1" dirty="0">
                <a:solidFill>
                  <a:srgbClr val="C41E1E"/>
                </a:solidFill>
                <a:latin typeface="Georgia" pitchFamily="34" charset="0"/>
                <a:ea typeface="Georgia" pitchFamily="34" charset="-122"/>
                <a:cs typeface="Georgia" pitchFamily="34" charset="-120"/>
              </a:rPr>
              <a:t>9</a:t>
            </a:r>
            <a:endParaRPr lang="en-US" sz="1800" dirty="0"/>
          </a:p>
        </p:txBody>
      </p:sp>
      <p:sp>
        <p:nvSpPr>
          <p:cNvPr id="11" name="Text 8"/>
          <p:cNvSpPr/>
          <p:nvPr/>
        </p:nvSpPr>
        <p:spPr>
          <a:xfrm>
            <a:off x="731520" y="3566160"/>
            <a:ext cx="1280160" cy="228600"/>
          </a:xfrm>
          <a:prstGeom prst="rect">
            <a:avLst/>
          </a:prstGeom>
          <a:noFill/>
          <a:ln/>
        </p:spPr>
        <p:txBody>
          <a:bodyPr wrap="square" lIns="0" tIns="0" rIns="0" bIns="0" rtlCol="0" anchor="ctr"/>
          <a:lstStyle/>
          <a:p>
            <a:pPr marL="0" indent="0">
              <a:buNone/>
            </a:pPr>
            <a:r>
              <a:rPr lang="en-US" sz="900" dirty="0">
                <a:solidFill>
                  <a:srgbClr val="949594"/>
                </a:solidFill>
                <a:latin typeface="Calibri" pitchFamily="34" charset="0"/>
                <a:ea typeface="Calibri" pitchFamily="34" charset="-122"/>
                <a:cs typeface="Calibri" pitchFamily="34" charset="-120"/>
              </a:rPr>
              <a:t>Seasons</a:t>
            </a:r>
            <a:endParaRPr lang="en-US" sz="900" dirty="0"/>
          </a:p>
        </p:txBody>
      </p:sp>
      <p:sp>
        <p:nvSpPr>
          <p:cNvPr id="12" name="Text 9"/>
          <p:cNvSpPr/>
          <p:nvPr/>
        </p:nvSpPr>
        <p:spPr>
          <a:xfrm>
            <a:off x="2194560" y="3200400"/>
            <a:ext cx="1280160" cy="365760"/>
          </a:xfrm>
          <a:prstGeom prst="rect">
            <a:avLst/>
          </a:prstGeom>
          <a:noFill/>
          <a:ln/>
        </p:spPr>
        <p:txBody>
          <a:bodyPr wrap="square" lIns="0" tIns="0" rIns="0" bIns="0" rtlCol="0" anchor="ctr"/>
          <a:lstStyle/>
          <a:p>
            <a:pPr marL="0" indent="0">
              <a:buNone/>
            </a:pPr>
            <a:r>
              <a:rPr lang="en-US" sz="1800" b="1" dirty="0">
                <a:solidFill>
                  <a:srgbClr val="C41E1E"/>
                </a:solidFill>
                <a:latin typeface="Georgia" pitchFamily="34" charset="0"/>
                <a:ea typeface="Georgia" pitchFamily="34" charset="-122"/>
                <a:cs typeface="Georgia" pitchFamily="34" charset="-120"/>
              </a:rPr>
              <a:t>3,524</a:t>
            </a:r>
            <a:endParaRPr lang="en-US" sz="1800" dirty="0"/>
          </a:p>
        </p:txBody>
      </p:sp>
      <p:sp>
        <p:nvSpPr>
          <p:cNvPr id="13" name="Text 10"/>
          <p:cNvSpPr/>
          <p:nvPr/>
        </p:nvSpPr>
        <p:spPr>
          <a:xfrm>
            <a:off x="2194560" y="3566160"/>
            <a:ext cx="1280160" cy="228600"/>
          </a:xfrm>
          <a:prstGeom prst="rect">
            <a:avLst/>
          </a:prstGeom>
          <a:noFill/>
          <a:ln/>
        </p:spPr>
        <p:txBody>
          <a:bodyPr wrap="square" lIns="0" tIns="0" rIns="0" bIns="0" rtlCol="0" anchor="ctr"/>
          <a:lstStyle/>
          <a:p>
            <a:pPr marL="0" indent="0">
              <a:buNone/>
            </a:pPr>
            <a:r>
              <a:rPr lang="en-US" sz="900" dirty="0">
                <a:solidFill>
                  <a:srgbClr val="949594"/>
                </a:solidFill>
                <a:latin typeface="Calibri" pitchFamily="34" charset="0"/>
                <a:ea typeface="Calibri" pitchFamily="34" charset="-122"/>
                <a:cs typeface="Calibri" pitchFamily="34" charset="-120"/>
              </a:rPr>
              <a:t>Races</a:t>
            </a:r>
            <a:endParaRPr lang="en-US" sz="900" dirty="0"/>
          </a:p>
        </p:txBody>
      </p:sp>
      <p:sp>
        <p:nvSpPr>
          <p:cNvPr id="14" name="Text 11"/>
          <p:cNvSpPr/>
          <p:nvPr/>
        </p:nvSpPr>
        <p:spPr>
          <a:xfrm>
            <a:off x="3657600" y="3200400"/>
            <a:ext cx="1280160" cy="365760"/>
          </a:xfrm>
          <a:prstGeom prst="rect">
            <a:avLst/>
          </a:prstGeom>
          <a:noFill/>
          <a:ln/>
        </p:spPr>
        <p:txBody>
          <a:bodyPr wrap="square" lIns="0" tIns="0" rIns="0" bIns="0" rtlCol="0" anchor="ctr"/>
          <a:lstStyle/>
          <a:p>
            <a:pPr marL="0" indent="0">
              <a:buNone/>
            </a:pPr>
            <a:r>
              <a:rPr lang="en-US" sz="1800" b="1" dirty="0">
                <a:solidFill>
                  <a:srgbClr val="C41E1E"/>
                </a:solidFill>
                <a:latin typeface="Georgia" pitchFamily="34" charset="0"/>
                <a:ea typeface="Georgia" pitchFamily="34" charset="-122"/>
                <a:cs typeface="Georgia" pitchFamily="34" charset="-120"/>
              </a:rPr>
              <a:t>85</a:t>
            </a:r>
            <a:endParaRPr lang="en-US" sz="1800" dirty="0"/>
          </a:p>
        </p:txBody>
      </p:sp>
      <p:sp>
        <p:nvSpPr>
          <p:cNvPr id="15" name="Text 12"/>
          <p:cNvSpPr/>
          <p:nvPr/>
        </p:nvSpPr>
        <p:spPr>
          <a:xfrm>
            <a:off x="3657600" y="3566160"/>
            <a:ext cx="1280160" cy="228600"/>
          </a:xfrm>
          <a:prstGeom prst="rect">
            <a:avLst/>
          </a:prstGeom>
          <a:noFill/>
          <a:ln/>
        </p:spPr>
        <p:txBody>
          <a:bodyPr wrap="square" lIns="0" tIns="0" rIns="0" bIns="0" rtlCol="0" anchor="ctr"/>
          <a:lstStyle/>
          <a:p>
            <a:pPr marL="0" indent="0">
              <a:buNone/>
            </a:pPr>
            <a:r>
              <a:rPr lang="en-US" sz="900" dirty="0">
                <a:solidFill>
                  <a:srgbClr val="949594"/>
                </a:solidFill>
                <a:latin typeface="Calibri" pitchFamily="34" charset="0"/>
                <a:ea typeface="Calibri" pitchFamily="34" charset="-122"/>
                <a:cs typeface="Calibri" pitchFamily="34" charset="-120"/>
              </a:rPr>
              <a:t>Features</a:t>
            </a:r>
            <a:endParaRPr lang="en-US" sz="900" dirty="0"/>
          </a:p>
        </p:txBody>
      </p:sp>
      <p:sp>
        <p:nvSpPr>
          <p:cNvPr id="16" name="Text 13"/>
          <p:cNvSpPr/>
          <p:nvPr/>
        </p:nvSpPr>
        <p:spPr>
          <a:xfrm>
            <a:off x="5120640" y="3200400"/>
            <a:ext cx="1280160" cy="365760"/>
          </a:xfrm>
          <a:prstGeom prst="rect">
            <a:avLst/>
          </a:prstGeom>
          <a:noFill/>
          <a:ln/>
        </p:spPr>
        <p:txBody>
          <a:bodyPr wrap="square" lIns="0" tIns="0" rIns="0" bIns="0" rtlCol="0" anchor="ctr"/>
          <a:lstStyle/>
          <a:p>
            <a:pPr marL="0" indent="0">
              <a:buNone/>
            </a:pPr>
            <a:r>
              <a:rPr lang="en-US" sz="1800" b="1" dirty="0">
                <a:solidFill>
                  <a:srgbClr val="C41E1E"/>
                </a:solidFill>
                <a:latin typeface="Georgia" pitchFamily="34" charset="0"/>
                <a:ea typeface="Georgia" pitchFamily="34" charset="-122"/>
                <a:cs typeface="Georgia" pitchFamily="34" charset="-120"/>
              </a:rPr>
              <a:t>77.8%</a:t>
            </a:r>
            <a:endParaRPr lang="en-US" sz="1800" dirty="0"/>
          </a:p>
        </p:txBody>
      </p:sp>
      <p:sp>
        <p:nvSpPr>
          <p:cNvPr id="17" name="Text 14"/>
          <p:cNvSpPr/>
          <p:nvPr/>
        </p:nvSpPr>
        <p:spPr>
          <a:xfrm>
            <a:off x="5120640" y="3566160"/>
            <a:ext cx="1280160" cy="228600"/>
          </a:xfrm>
          <a:prstGeom prst="rect">
            <a:avLst/>
          </a:prstGeom>
          <a:noFill/>
          <a:ln/>
        </p:spPr>
        <p:txBody>
          <a:bodyPr wrap="square" lIns="0" tIns="0" rIns="0" bIns="0" rtlCol="0" anchor="ctr"/>
          <a:lstStyle/>
          <a:p>
            <a:pPr marL="0" indent="0">
              <a:buNone/>
            </a:pPr>
            <a:r>
              <a:rPr lang="en-US" sz="900" dirty="0">
                <a:solidFill>
                  <a:srgbClr val="949594"/>
                </a:solidFill>
                <a:latin typeface="Calibri" pitchFamily="34" charset="0"/>
                <a:ea typeface="Calibri" pitchFamily="34" charset="-122"/>
                <a:cs typeface="Calibri" pitchFamily="34" charset="-120"/>
              </a:rPr>
              <a:t>Winner Acc</a:t>
            </a:r>
            <a:endParaRPr lang="en-US" sz="900" dirty="0"/>
          </a:p>
        </p:txBody>
      </p:sp>
      <p:sp>
        <p:nvSpPr>
          <p:cNvPr id="18" name="Text 15"/>
          <p:cNvSpPr/>
          <p:nvPr/>
        </p:nvSpPr>
        <p:spPr>
          <a:xfrm>
            <a:off x="6583680" y="3200400"/>
            <a:ext cx="1280160" cy="365760"/>
          </a:xfrm>
          <a:prstGeom prst="rect">
            <a:avLst/>
          </a:prstGeom>
          <a:noFill/>
          <a:ln/>
        </p:spPr>
        <p:txBody>
          <a:bodyPr wrap="square" lIns="0" tIns="0" rIns="0" bIns="0" rtlCol="0" anchor="ctr"/>
          <a:lstStyle/>
          <a:p>
            <a:pPr marL="0" indent="0">
              <a:buNone/>
            </a:pPr>
            <a:r>
              <a:rPr lang="en-US" sz="1800" b="1" dirty="0">
                <a:solidFill>
                  <a:srgbClr val="C41E1E"/>
                </a:solidFill>
                <a:latin typeface="Georgia" pitchFamily="34" charset="0"/>
                <a:ea typeface="Georgia" pitchFamily="34" charset="-122"/>
                <a:cs typeface="Georgia" pitchFamily="34" charset="-120"/>
              </a:rPr>
              <a:t>100%</a:t>
            </a:r>
            <a:endParaRPr lang="en-US" sz="1800" dirty="0"/>
          </a:p>
        </p:txBody>
      </p:sp>
      <p:sp>
        <p:nvSpPr>
          <p:cNvPr id="19" name="Text 16"/>
          <p:cNvSpPr/>
          <p:nvPr/>
        </p:nvSpPr>
        <p:spPr>
          <a:xfrm>
            <a:off x="6583680" y="3566160"/>
            <a:ext cx="1280160" cy="228600"/>
          </a:xfrm>
          <a:prstGeom prst="rect">
            <a:avLst/>
          </a:prstGeom>
          <a:noFill/>
          <a:ln/>
        </p:spPr>
        <p:txBody>
          <a:bodyPr wrap="square" lIns="0" tIns="0" rIns="0" bIns="0" rtlCol="0" anchor="ctr"/>
          <a:lstStyle/>
          <a:p>
            <a:pPr marL="0" indent="0">
              <a:buNone/>
            </a:pPr>
            <a:r>
              <a:rPr lang="en-US" sz="900" dirty="0">
                <a:solidFill>
                  <a:srgbClr val="949594"/>
                </a:solidFill>
                <a:latin typeface="Calibri" pitchFamily="34" charset="0"/>
                <a:ea typeface="Calibri" pitchFamily="34" charset="-122"/>
                <a:cs typeface="Calibri" pitchFamily="34" charset="-120"/>
              </a:rPr>
              <a:t>Top-3 Acc</a:t>
            </a:r>
            <a:endParaRPr lang="en-US" sz="900" dirty="0"/>
          </a:p>
        </p:txBody>
      </p:sp>
      <p:sp>
        <p:nvSpPr>
          <p:cNvPr id="20" name="Text 17"/>
          <p:cNvSpPr/>
          <p:nvPr/>
        </p:nvSpPr>
        <p:spPr>
          <a:xfrm>
            <a:off x="731520" y="4389120"/>
            <a:ext cx="4572000" cy="274320"/>
          </a:xfrm>
          <a:prstGeom prst="rect">
            <a:avLst/>
          </a:prstGeom>
          <a:noFill/>
          <a:ln/>
        </p:spPr>
        <p:txBody>
          <a:bodyPr wrap="square" lIns="0" tIns="0" rIns="0" bIns="0" rtlCol="0" anchor="ctr"/>
          <a:lstStyle/>
          <a:p>
            <a:pPr marL="0" indent="0">
              <a:buNone/>
            </a:pPr>
            <a:r>
              <a:rPr lang="en-US" sz="1100" dirty="0">
                <a:solidFill>
                  <a:srgbClr val="949594"/>
                </a:solidFill>
                <a:latin typeface="Calibri" pitchFamily="34" charset="0"/>
                <a:ea typeface="Calibri" pitchFamily="34" charset="-122"/>
                <a:cs typeface="Calibri" pitchFamily="34" charset="-120"/>
              </a:rPr>
              <a:t>•  Bhawna </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5F5"/>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C41E1E"/>
          </a:solidFill>
          <a:ln/>
        </p:spPr>
        <p:txBody>
          <a:bodyPr/>
          <a:lstStyle/>
          <a:p>
            <a:endParaRPr lang="en-US"/>
          </a:p>
        </p:txBody>
      </p:sp>
      <p:sp>
        <p:nvSpPr>
          <p:cNvPr id="3" name="Shape 1"/>
          <p:cNvSpPr/>
          <p:nvPr/>
        </p:nvSpPr>
        <p:spPr>
          <a:xfrm>
            <a:off x="8778240" y="0"/>
            <a:ext cx="137160" cy="5143500"/>
          </a:xfrm>
          <a:prstGeom prst="rect">
            <a:avLst/>
          </a:prstGeom>
          <a:solidFill>
            <a:srgbClr val="C41E1E"/>
          </a:solidFill>
          <a:ln/>
        </p:spPr>
        <p:txBody>
          <a:bodyPr/>
          <a:lstStyle/>
          <a:p>
            <a:endParaRPr lang="en-US"/>
          </a:p>
        </p:txBody>
      </p:sp>
      <p:sp>
        <p:nvSpPr>
          <p:cNvPr id="4" name="Shape 2"/>
          <p:cNvSpPr/>
          <p:nvPr/>
        </p:nvSpPr>
        <p:spPr>
          <a:xfrm>
            <a:off x="8961120" y="0"/>
            <a:ext cx="73152" cy="5143500"/>
          </a:xfrm>
          <a:prstGeom prst="rect">
            <a:avLst/>
          </a:prstGeom>
          <a:solidFill>
            <a:srgbClr val="C41E1E">
              <a:alpha val="40000"/>
            </a:srgbClr>
          </a:solidFill>
          <a:ln/>
        </p:spPr>
        <p:txBody>
          <a:bodyPr/>
          <a:lstStyle/>
          <a:p>
            <a:endParaRPr lang="en-US"/>
          </a:p>
        </p:txBody>
      </p:sp>
      <p:sp>
        <p:nvSpPr>
          <p:cNvPr id="5" name="Text 3"/>
          <p:cNvSpPr/>
          <p:nvPr/>
        </p:nvSpPr>
        <p:spPr>
          <a:xfrm>
            <a:off x="731520" y="182880"/>
            <a:ext cx="7315200" cy="548640"/>
          </a:xfrm>
          <a:prstGeom prst="rect">
            <a:avLst/>
          </a:prstGeom>
          <a:noFill/>
          <a:ln/>
        </p:spPr>
        <p:txBody>
          <a:bodyPr wrap="square" lIns="0" tIns="0" rIns="0" bIns="0" rtlCol="0" anchor="ctr"/>
          <a:lstStyle/>
          <a:p>
            <a:pPr marL="0" indent="0">
              <a:buNone/>
            </a:pPr>
            <a:r>
              <a:rPr lang="en-US" sz="2800" b="1" dirty="0">
                <a:solidFill>
                  <a:srgbClr val="1A1A2E"/>
                </a:solidFill>
                <a:latin typeface="Georgia" pitchFamily="34" charset="0"/>
                <a:ea typeface="Georgia" pitchFamily="34" charset="-122"/>
                <a:cs typeface="Georgia" pitchFamily="34" charset="-120"/>
              </a:rPr>
              <a:t>Agenda</a:t>
            </a:r>
            <a:endParaRPr lang="en-US" sz="2800" dirty="0"/>
          </a:p>
        </p:txBody>
      </p:sp>
      <p:sp>
        <p:nvSpPr>
          <p:cNvPr id="6" name="Text 4"/>
          <p:cNvSpPr/>
          <p:nvPr/>
        </p:nvSpPr>
        <p:spPr>
          <a:xfrm>
            <a:off x="731520" y="685800"/>
            <a:ext cx="7315200" cy="228600"/>
          </a:xfrm>
          <a:prstGeom prst="rect">
            <a:avLst/>
          </a:prstGeom>
          <a:noFill/>
          <a:ln/>
        </p:spPr>
        <p:txBody>
          <a:bodyPr wrap="square" lIns="0" tIns="0" rIns="0" bIns="0" rtlCol="0" anchor="ctr"/>
          <a:lstStyle/>
          <a:p>
            <a:pPr marL="0" indent="0">
              <a:buNone/>
            </a:pPr>
            <a:endParaRPr lang="en-US" sz="1100" dirty="0"/>
          </a:p>
        </p:txBody>
      </p:sp>
      <p:sp>
        <p:nvSpPr>
          <p:cNvPr id="7" name="Shape 5"/>
          <p:cNvSpPr/>
          <p:nvPr/>
        </p:nvSpPr>
        <p:spPr>
          <a:xfrm>
            <a:off x="365760" y="1051560"/>
            <a:ext cx="2651760" cy="2286000"/>
          </a:xfrm>
          <a:prstGeom prst="rect">
            <a:avLst/>
          </a:prstGeom>
          <a:solidFill>
            <a:srgbClr val="FFFFFF"/>
          </a:solidFill>
          <a:ln/>
          <a:effectLst>
            <a:outerShdw blurRad="50800" dist="25400" dir="8100000" algn="bl" rotWithShape="0">
              <a:srgbClr val="000000">
                <a:alpha val="10000"/>
              </a:srgbClr>
            </a:outerShdw>
          </a:effectLst>
        </p:spPr>
        <p:txBody>
          <a:bodyPr/>
          <a:lstStyle/>
          <a:p>
            <a:endParaRPr lang="en-US" dirty="0"/>
          </a:p>
        </p:txBody>
      </p:sp>
      <p:sp>
        <p:nvSpPr>
          <p:cNvPr id="8" name="Shape 6"/>
          <p:cNvSpPr/>
          <p:nvPr/>
        </p:nvSpPr>
        <p:spPr>
          <a:xfrm>
            <a:off x="365760" y="1051560"/>
            <a:ext cx="54864" cy="2286000"/>
          </a:xfrm>
          <a:prstGeom prst="rect">
            <a:avLst/>
          </a:prstGeom>
          <a:solidFill>
            <a:srgbClr val="2563EB"/>
          </a:solidFill>
          <a:ln/>
        </p:spPr>
        <p:txBody>
          <a:bodyPr/>
          <a:lstStyle/>
          <a:p>
            <a:endParaRPr lang="en-US"/>
          </a:p>
        </p:txBody>
      </p:sp>
      <p:pic>
        <p:nvPicPr>
          <p:cNvPr id="9" name="Image 0" descr="preencoded.png"/>
          <p:cNvPicPr>
            <a:picLocks noChangeAspect="1"/>
          </p:cNvPicPr>
          <p:nvPr/>
        </p:nvPicPr>
        <p:blipFill>
          <a:blip r:embed="rId3"/>
          <a:stretch>
            <a:fillRect/>
          </a:stretch>
        </p:blipFill>
        <p:spPr>
          <a:xfrm>
            <a:off x="502920" y="1161288"/>
            <a:ext cx="256032" cy="256032"/>
          </a:xfrm>
          <a:prstGeom prst="rect">
            <a:avLst/>
          </a:prstGeom>
        </p:spPr>
      </p:pic>
      <p:sp>
        <p:nvSpPr>
          <p:cNvPr id="10" name="Text 7"/>
          <p:cNvSpPr/>
          <p:nvPr/>
        </p:nvSpPr>
        <p:spPr>
          <a:xfrm>
            <a:off x="815009" y="1132663"/>
            <a:ext cx="2057400" cy="292608"/>
          </a:xfrm>
          <a:prstGeom prst="rect">
            <a:avLst/>
          </a:prstGeom>
          <a:noFill/>
          <a:ln/>
        </p:spPr>
        <p:txBody>
          <a:bodyPr wrap="square" lIns="0" tIns="0" rIns="0" bIns="0" rtlCol="0" anchor="ctr"/>
          <a:lstStyle/>
          <a:p>
            <a:r>
              <a:rPr lang="en-US" sz="1200" b="1" dirty="0">
                <a:solidFill>
                  <a:srgbClr val="2563EB"/>
                </a:solidFill>
                <a:latin typeface="Georgia" pitchFamily="34" charset="0"/>
                <a:ea typeface="Georgia" pitchFamily="34" charset="-122"/>
                <a:cs typeface="Georgia" pitchFamily="34" charset="-120"/>
              </a:rPr>
              <a:t>Problem &amp; Architecture</a:t>
            </a:r>
            <a:endParaRPr lang="en-US" sz="1200" dirty="0"/>
          </a:p>
          <a:p>
            <a:pPr marL="0" indent="0">
              <a:buNone/>
            </a:pPr>
            <a:endParaRPr lang="en-US" sz="1200" dirty="0"/>
          </a:p>
        </p:txBody>
      </p:sp>
      <p:sp>
        <p:nvSpPr>
          <p:cNvPr id="11" name="Text 8"/>
          <p:cNvSpPr/>
          <p:nvPr/>
        </p:nvSpPr>
        <p:spPr>
          <a:xfrm>
            <a:off x="502920" y="1463040"/>
            <a:ext cx="2377440" cy="1783080"/>
          </a:xfrm>
          <a:prstGeom prst="rect">
            <a:avLst/>
          </a:prstGeom>
          <a:noFill/>
          <a:ln/>
        </p:spPr>
        <p:txBody>
          <a:bodyPr wrap="square" rtlCol="0" anchor="t"/>
          <a:lstStyle/>
          <a:p>
            <a:pPr marL="0" indent="0">
              <a:lnSpc>
                <a:spcPct val="125000"/>
              </a:lnSpc>
              <a:buNone/>
            </a:pPr>
            <a:endParaRPr lang="en-US" sz="950" dirty="0"/>
          </a:p>
          <a:p>
            <a:pPr marL="0" indent="0">
              <a:lnSpc>
                <a:spcPct val="125000"/>
              </a:lnSpc>
              <a:buNone/>
            </a:pPr>
            <a:r>
              <a:rPr lang="en-US" sz="950" dirty="0">
                <a:solidFill>
                  <a:srgbClr val="444444"/>
                </a:solidFill>
                <a:latin typeface="Calibri" pitchFamily="34" charset="0"/>
                <a:ea typeface="Calibri" pitchFamily="34" charset="-122"/>
                <a:cs typeface="Calibri" pitchFamily="34" charset="-120"/>
              </a:rPr>
              <a:t>• What is Formula 1?</a:t>
            </a:r>
            <a:endParaRPr lang="en-US" sz="950" dirty="0"/>
          </a:p>
          <a:p>
            <a:pPr marL="0" indent="0">
              <a:lnSpc>
                <a:spcPct val="125000"/>
              </a:lnSpc>
              <a:buNone/>
            </a:pPr>
            <a:r>
              <a:rPr lang="en-US" sz="950" dirty="0">
                <a:solidFill>
                  <a:srgbClr val="444444"/>
                </a:solidFill>
                <a:latin typeface="Calibri" pitchFamily="34" charset="0"/>
                <a:ea typeface="Calibri" pitchFamily="34" charset="-122"/>
                <a:cs typeface="Calibri" pitchFamily="34" charset="-120"/>
              </a:rPr>
              <a:t>• Project Goal — 3 prediction tasks</a:t>
            </a:r>
            <a:endParaRPr lang="en-US" sz="950" dirty="0"/>
          </a:p>
          <a:p>
            <a:pPr marL="0" indent="0">
              <a:lnSpc>
                <a:spcPct val="125000"/>
              </a:lnSpc>
              <a:buNone/>
            </a:pPr>
            <a:r>
              <a:rPr lang="en-US" sz="950" dirty="0">
                <a:solidFill>
                  <a:srgbClr val="444444"/>
                </a:solidFill>
                <a:latin typeface="Calibri" pitchFamily="34" charset="0"/>
                <a:ea typeface="Calibri" pitchFamily="34" charset="-122"/>
                <a:cs typeface="Calibri" pitchFamily="34" charset="-120"/>
              </a:rPr>
              <a:t>• 3-Phase methodology</a:t>
            </a:r>
            <a:endParaRPr lang="en-US" sz="950" dirty="0"/>
          </a:p>
          <a:p>
            <a:pPr marL="0" indent="0">
              <a:lnSpc>
                <a:spcPct val="125000"/>
              </a:lnSpc>
              <a:buNone/>
            </a:pPr>
            <a:r>
              <a:rPr lang="en-US" sz="950" dirty="0">
                <a:solidFill>
                  <a:srgbClr val="444444"/>
                </a:solidFill>
                <a:latin typeface="Calibri" pitchFamily="34" charset="0"/>
                <a:ea typeface="Calibri" pitchFamily="34" charset="-122"/>
                <a:cs typeface="Calibri" pitchFamily="34" charset="-120"/>
              </a:rPr>
              <a:t>• Medallion lakehouse architecture</a:t>
            </a:r>
            <a:endParaRPr lang="en-US" sz="950" dirty="0"/>
          </a:p>
          <a:p>
            <a:pPr marL="0" indent="0">
              <a:lnSpc>
                <a:spcPct val="125000"/>
              </a:lnSpc>
              <a:buNone/>
            </a:pPr>
            <a:r>
              <a:rPr lang="en-US" sz="950" dirty="0">
                <a:solidFill>
                  <a:srgbClr val="444444"/>
                </a:solidFill>
                <a:latin typeface="Calibri" pitchFamily="34" charset="0"/>
                <a:ea typeface="Calibri" pitchFamily="34" charset="-122"/>
                <a:cs typeface="Calibri" pitchFamily="34" charset="-120"/>
              </a:rPr>
              <a:t>• Docker infrastructure (7 containers)</a:t>
            </a:r>
            <a:endParaRPr lang="en-US" sz="950" dirty="0"/>
          </a:p>
          <a:p>
            <a:pPr marL="0" indent="0">
              <a:lnSpc>
                <a:spcPct val="125000"/>
              </a:lnSpc>
              <a:buNone/>
            </a:pPr>
            <a:r>
              <a:rPr lang="en-US" sz="950" dirty="0">
                <a:solidFill>
                  <a:srgbClr val="444444"/>
                </a:solidFill>
                <a:latin typeface="Calibri" pitchFamily="34" charset="0"/>
                <a:ea typeface="Calibri" pitchFamily="34" charset="-122"/>
                <a:cs typeface="Calibri" pitchFamily="34" charset="-120"/>
              </a:rPr>
              <a:t>• Complete technology stack</a:t>
            </a:r>
            <a:endParaRPr lang="en-US" sz="950" dirty="0"/>
          </a:p>
        </p:txBody>
      </p:sp>
      <p:sp>
        <p:nvSpPr>
          <p:cNvPr id="12" name="Shape 9"/>
          <p:cNvSpPr/>
          <p:nvPr/>
        </p:nvSpPr>
        <p:spPr>
          <a:xfrm>
            <a:off x="3200400" y="1051560"/>
            <a:ext cx="2651760" cy="2286000"/>
          </a:xfrm>
          <a:prstGeom prst="rect">
            <a:avLst/>
          </a:prstGeom>
          <a:solidFill>
            <a:srgbClr val="FFFFFF"/>
          </a:solidFill>
          <a:ln/>
          <a:effectLst>
            <a:outerShdw blurRad="50800" dist="25400" dir="8100000" algn="bl" rotWithShape="0">
              <a:srgbClr val="000000">
                <a:alpha val="10000"/>
              </a:srgbClr>
            </a:outerShdw>
          </a:effectLst>
        </p:spPr>
        <p:txBody>
          <a:bodyPr/>
          <a:lstStyle/>
          <a:p>
            <a:endParaRPr lang="en-US"/>
          </a:p>
        </p:txBody>
      </p:sp>
      <p:sp>
        <p:nvSpPr>
          <p:cNvPr id="13" name="Shape 10"/>
          <p:cNvSpPr/>
          <p:nvPr/>
        </p:nvSpPr>
        <p:spPr>
          <a:xfrm>
            <a:off x="3200400" y="1051560"/>
            <a:ext cx="54864" cy="2286000"/>
          </a:xfrm>
          <a:prstGeom prst="rect">
            <a:avLst/>
          </a:prstGeom>
          <a:solidFill>
            <a:srgbClr val="059669"/>
          </a:solidFill>
          <a:ln/>
        </p:spPr>
        <p:txBody>
          <a:bodyPr/>
          <a:lstStyle/>
          <a:p>
            <a:endParaRPr lang="en-US"/>
          </a:p>
        </p:txBody>
      </p:sp>
      <p:pic>
        <p:nvPicPr>
          <p:cNvPr id="14" name="Image 1" descr="preencoded.png"/>
          <p:cNvPicPr>
            <a:picLocks noChangeAspect="1"/>
          </p:cNvPicPr>
          <p:nvPr/>
        </p:nvPicPr>
        <p:blipFill>
          <a:blip r:embed="rId4"/>
          <a:stretch>
            <a:fillRect/>
          </a:stretch>
        </p:blipFill>
        <p:spPr>
          <a:xfrm>
            <a:off x="3337560" y="1161288"/>
            <a:ext cx="256032" cy="256032"/>
          </a:xfrm>
          <a:prstGeom prst="rect">
            <a:avLst/>
          </a:prstGeom>
        </p:spPr>
      </p:pic>
      <p:sp>
        <p:nvSpPr>
          <p:cNvPr id="15" name="Text 11"/>
          <p:cNvSpPr/>
          <p:nvPr/>
        </p:nvSpPr>
        <p:spPr>
          <a:xfrm>
            <a:off x="3657600" y="1124712"/>
            <a:ext cx="2057400" cy="292608"/>
          </a:xfrm>
          <a:prstGeom prst="rect">
            <a:avLst/>
          </a:prstGeom>
          <a:noFill/>
          <a:ln/>
        </p:spPr>
        <p:txBody>
          <a:bodyPr wrap="square" lIns="0" tIns="0" rIns="0" bIns="0" rtlCol="0" anchor="ctr"/>
          <a:lstStyle/>
          <a:p>
            <a:pPr marL="0" indent="0">
              <a:buNone/>
            </a:pPr>
            <a:r>
              <a:rPr lang="en-US" sz="1200" b="1" dirty="0">
                <a:solidFill>
                  <a:srgbClr val="059669"/>
                </a:solidFill>
                <a:latin typeface="Georgia" pitchFamily="34" charset="0"/>
              </a:rPr>
              <a:t>Data Engineering &amp; ML</a:t>
            </a:r>
            <a:endParaRPr lang="en-US" sz="1200" dirty="0"/>
          </a:p>
        </p:txBody>
      </p:sp>
      <p:sp>
        <p:nvSpPr>
          <p:cNvPr id="16" name="Text 12"/>
          <p:cNvSpPr/>
          <p:nvPr/>
        </p:nvSpPr>
        <p:spPr>
          <a:xfrm>
            <a:off x="3337560" y="1463040"/>
            <a:ext cx="2377440" cy="1783080"/>
          </a:xfrm>
          <a:prstGeom prst="rect">
            <a:avLst/>
          </a:prstGeom>
          <a:noFill/>
          <a:ln/>
        </p:spPr>
        <p:txBody>
          <a:bodyPr wrap="square" rtlCol="0" anchor="t"/>
          <a:lstStyle/>
          <a:p>
            <a:pPr marL="0" indent="0">
              <a:lnSpc>
                <a:spcPct val="125000"/>
              </a:lnSpc>
              <a:buNone/>
            </a:pPr>
            <a:endParaRPr lang="en-US" sz="950" dirty="0"/>
          </a:p>
          <a:p>
            <a:pPr marL="0" indent="0">
              <a:lnSpc>
                <a:spcPct val="125000"/>
              </a:lnSpc>
              <a:buNone/>
            </a:pPr>
            <a:endParaRPr lang="en-US" sz="950" dirty="0"/>
          </a:p>
          <a:p>
            <a:pPr marL="0" indent="0">
              <a:lnSpc>
                <a:spcPct val="125000"/>
              </a:lnSpc>
              <a:buNone/>
            </a:pPr>
            <a:r>
              <a:rPr lang="en-US" sz="950" dirty="0">
                <a:solidFill>
                  <a:srgbClr val="444444"/>
                </a:solidFill>
                <a:latin typeface="Calibri" pitchFamily="34" charset="0"/>
                <a:ea typeface="Calibri" pitchFamily="34" charset="-122"/>
                <a:cs typeface="Calibri" pitchFamily="34" charset="-120"/>
              </a:rPr>
              <a:t>• Data sources &amp; volumes</a:t>
            </a:r>
            <a:endParaRPr lang="en-US" sz="950" dirty="0"/>
          </a:p>
          <a:p>
            <a:pPr marL="0" indent="0">
              <a:lnSpc>
                <a:spcPct val="125000"/>
              </a:lnSpc>
              <a:buNone/>
            </a:pPr>
            <a:r>
              <a:rPr lang="en-US" sz="950" dirty="0">
                <a:solidFill>
                  <a:srgbClr val="444444"/>
                </a:solidFill>
                <a:latin typeface="Calibri" pitchFamily="34" charset="0"/>
                <a:ea typeface="Calibri" pitchFamily="34" charset="-122"/>
                <a:cs typeface="Calibri" pitchFamily="34" charset="-120"/>
              </a:rPr>
              <a:t>• Apache Spark Window functions</a:t>
            </a:r>
            <a:endParaRPr lang="en-US" sz="950" dirty="0"/>
          </a:p>
          <a:p>
            <a:pPr marL="0" indent="0">
              <a:lnSpc>
                <a:spcPct val="125000"/>
              </a:lnSpc>
              <a:buNone/>
            </a:pPr>
            <a:r>
              <a:rPr lang="en-US" sz="950" dirty="0">
                <a:solidFill>
                  <a:srgbClr val="444444"/>
                </a:solidFill>
                <a:latin typeface="Calibri" pitchFamily="34" charset="0"/>
                <a:ea typeface="Calibri" pitchFamily="34" charset="-122"/>
                <a:cs typeface="Calibri" pitchFamily="34" charset="-120"/>
              </a:rPr>
              <a:t>• Airflow Monday pipeline</a:t>
            </a:r>
            <a:endParaRPr lang="en-US" sz="950" dirty="0"/>
          </a:p>
          <a:p>
            <a:pPr marL="0" indent="0">
              <a:lnSpc>
                <a:spcPct val="125000"/>
              </a:lnSpc>
              <a:buNone/>
            </a:pPr>
            <a:r>
              <a:rPr lang="en-US" sz="950" dirty="0">
                <a:solidFill>
                  <a:srgbClr val="444444"/>
                </a:solidFill>
                <a:latin typeface="Calibri" pitchFamily="34" charset="0"/>
                <a:ea typeface="Calibri" pitchFamily="34" charset="-122"/>
                <a:cs typeface="Calibri" pitchFamily="34" charset="-120"/>
              </a:rPr>
              <a:t>• Tire &amp; weather impact</a:t>
            </a:r>
            <a:endParaRPr lang="en-US" sz="950" dirty="0"/>
          </a:p>
          <a:p>
            <a:pPr marL="0" indent="0">
              <a:lnSpc>
                <a:spcPct val="125000"/>
              </a:lnSpc>
              <a:buNone/>
            </a:pPr>
            <a:r>
              <a:rPr lang="en-US" sz="950" dirty="0">
                <a:solidFill>
                  <a:srgbClr val="444444"/>
                </a:solidFill>
                <a:latin typeface="Calibri" pitchFamily="34" charset="0"/>
                <a:ea typeface="Calibri" pitchFamily="34" charset="-122"/>
                <a:cs typeface="Calibri" pitchFamily="34" charset="-120"/>
              </a:rPr>
              <a:t>• 3 ML models explained</a:t>
            </a:r>
            <a:endParaRPr lang="en-US" sz="950" dirty="0"/>
          </a:p>
          <a:p>
            <a:pPr marL="0" indent="0">
              <a:lnSpc>
                <a:spcPct val="125000"/>
              </a:lnSpc>
              <a:buNone/>
            </a:pPr>
            <a:r>
              <a:rPr lang="en-US" sz="950" dirty="0">
                <a:solidFill>
                  <a:srgbClr val="444444"/>
                </a:solidFill>
                <a:latin typeface="Calibri" pitchFamily="34" charset="0"/>
                <a:ea typeface="Calibri" pitchFamily="34" charset="-122"/>
                <a:cs typeface="Calibri" pitchFamily="34" charset="-120"/>
              </a:rPr>
              <a:t>• Feature importance &amp; results</a:t>
            </a:r>
            <a:endParaRPr lang="en-US" sz="950" dirty="0"/>
          </a:p>
        </p:txBody>
      </p:sp>
      <p:sp>
        <p:nvSpPr>
          <p:cNvPr id="17" name="Shape 13"/>
          <p:cNvSpPr/>
          <p:nvPr/>
        </p:nvSpPr>
        <p:spPr>
          <a:xfrm>
            <a:off x="6035040" y="1051560"/>
            <a:ext cx="2651760" cy="2286000"/>
          </a:xfrm>
          <a:prstGeom prst="rect">
            <a:avLst/>
          </a:prstGeom>
          <a:solidFill>
            <a:srgbClr val="FFFFFF"/>
          </a:solidFill>
          <a:ln/>
          <a:effectLst>
            <a:outerShdw blurRad="50800" dist="25400" dir="8100000" algn="bl" rotWithShape="0">
              <a:srgbClr val="000000">
                <a:alpha val="10000"/>
              </a:srgbClr>
            </a:outerShdw>
          </a:effectLst>
        </p:spPr>
        <p:txBody>
          <a:bodyPr/>
          <a:lstStyle/>
          <a:p>
            <a:endParaRPr lang="en-US"/>
          </a:p>
        </p:txBody>
      </p:sp>
      <p:sp>
        <p:nvSpPr>
          <p:cNvPr id="18" name="Shape 14"/>
          <p:cNvSpPr/>
          <p:nvPr/>
        </p:nvSpPr>
        <p:spPr>
          <a:xfrm>
            <a:off x="6035040" y="1051560"/>
            <a:ext cx="54864" cy="2286000"/>
          </a:xfrm>
          <a:prstGeom prst="rect">
            <a:avLst/>
          </a:prstGeom>
          <a:solidFill>
            <a:srgbClr val="7C3AED"/>
          </a:solidFill>
          <a:ln/>
        </p:spPr>
        <p:txBody>
          <a:bodyPr/>
          <a:lstStyle/>
          <a:p>
            <a:endParaRPr lang="en-US"/>
          </a:p>
        </p:txBody>
      </p:sp>
      <p:pic>
        <p:nvPicPr>
          <p:cNvPr id="19" name="Image 2" descr="preencoded.png"/>
          <p:cNvPicPr>
            <a:picLocks noChangeAspect="1"/>
          </p:cNvPicPr>
          <p:nvPr/>
        </p:nvPicPr>
        <p:blipFill>
          <a:blip r:embed="rId5"/>
          <a:stretch>
            <a:fillRect/>
          </a:stretch>
        </p:blipFill>
        <p:spPr>
          <a:xfrm>
            <a:off x="6172200" y="1161288"/>
            <a:ext cx="256032" cy="256032"/>
          </a:xfrm>
          <a:prstGeom prst="rect">
            <a:avLst/>
          </a:prstGeom>
        </p:spPr>
      </p:pic>
      <p:sp>
        <p:nvSpPr>
          <p:cNvPr id="20" name="Text 15"/>
          <p:cNvSpPr/>
          <p:nvPr/>
        </p:nvSpPr>
        <p:spPr>
          <a:xfrm>
            <a:off x="6492240" y="1124712"/>
            <a:ext cx="2057400" cy="292608"/>
          </a:xfrm>
          <a:prstGeom prst="rect">
            <a:avLst/>
          </a:prstGeom>
          <a:noFill/>
          <a:ln/>
        </p:spPr>
        <p:txBody>
          <a:bodyPr wrap="square" lIns="0" tIns="0" rIns="0" bIns="0" rtlCol="0" anchor="ctr"/>
          <a:lstStyle/>
          <a:p>
            <a:pPr marL="0" indent="0">
              <a:buNone/>
            </a:pPr>
            <a:r>
              <a:rPr lang="en-US" sz="1200" b="1" dirty="0">
                <a:solidFill>
                  <a:srgbClr val="7C3AED"/>
                </a:solidFill>
                <a:latin typeface="Georgia" pitchFamily="34" charset="0"/>
              </a:rPr>
              <a:t>Prediction &amp; Agentic AI</a:t>
            </a:r>
            <a:endParaRPr lang="en-US" sz="1200" dirty="0"/>
          </a:p>
        </p:txBody>
      </p:sp>
      <p:sp>
        <p:nvSpPr>
          <p:cNvPr id="21" name="Text 16"/>
          <p:cNvSpPr/>
          <p:nvPr/>
        </p:nvSpPr>
        <p:spPr>
          <a:xfrm>
            <a:off x="6172200" y="1463040"/>
            <a:ext cx="2377440" cy="1783080"/>
          </a:xfrm>
          <a:prstGeom prst="rect">
            <a:avLst/>
          </a:prstGeom>
          <a:noFill/>
          <a:ln/>
        </p:spPr>
        <p:txBody>
          <a:bodyPr wrap="square" rtlCol="0" anchor="t"/>
          <a:lstStyle/>
          <a:p>
            <a:pPr marL="0" indent="0">
              <a:lnSpc>
                <a:spcPct val="125000"/>
              </a:lnSpc>
              <a:buNone/>
            </a:pPr>
            <a:endParaRPr lang="en-US" sz="950" dirty="0"/>
          </a:p>
          <a:p>
            <a:pPr marL="0" indent="0">
              <a:lnSpc>
                <a:spcPct val="125000"/>
              </a:lnSpc>
              <a:buNone/>
            </a:pPr>
            <a:r>
              <a:rPr lang="en-US" sz="950" dirty="0">
                <a:solidFill>
                  <a:srgbClr val="444444"/>
                </a:solidFill>
                <a:latin typeface="Calibri" pitchFamily="34" charset="0"/>
                <a:ea typeface="Calibri" pitchFamily="34" charset="-122"/>
                <a:cs typeface="Calibri" pitchFamily="34" charset="-120"/>
              </a:rPr>
              <a:t>• Live race predictions</a:t>
            </a:r>
            <a:endParaRPr lang="en-US" sz="950" dirty="0"/>
          </a:p>
          <a:p>
            <a:pPr marL="0" indent="0">
              <a:lnSpc>
                <a:spcPct val="125000"/>
              </a:lnSpc>
              <a:buNone/>
            </a:pPr>
            <a:r>
              <a:rPr lang="en-US" sz="950" dirty="0">
                <a:solidFill>
                  <a:srgbClr val="444444"/>
                </a:solidFill>
                <a:latin typeface="Calibri" pitchFamily="34" charset="0"/>
                <a:ea typeface="Calibri" pitchFamily="34" charset="-122"/>
                <a:cs typeface="Calibri" pitchFamily="34" charset="-120"/>
              </a:rPr>
              <a:t>• 4 autonomous AI agents</a:t>
            </a:r>
            <a:endParaRPr lang="en-US" sz="950" dirty="0"/>
          </a:p>
          <a:p>
            <a:pPr marL="0" indent="0">
              <a:lnSpc>
                <a:spcPct val="125000"/>
              </a:lnSpc>
              <a:buNone/>
            </a:pPr>
            <a:r>
              <a:rPr lang="en-US" sz="950" dirty="0">
                <a:solidFill>
                  <a:srgbClr val="444444"/>
                </a:solidFill>
                <a:latin typeface="Calibri" pitchFamily="34" charset="0"/>
                <a:ea typeface="Calibri" pitchFamily="34" charset="-122"/>
                <a:cs typeface="Calibri" pitchFamily="34" charset="-120"/>
              </a:rPr>
              <a:t>• LangGraph orchestration</a:t>
            </a:r>
            <a:endParaRPr lang="en-US" sz="950" dirty="0"/>
          </a:p>
          <a:p>
            <a:pPr marL="0" indent="0">
              <a:lnSpc>
                <a:spcPct val="125000"/>
              </a:lnSpc>
              <a:buNone/>
            </a:pPr>
            <a:r>
              <a:rPr lang="en-US" sz="950" dirty="0">
                <a:solidFill>
                  <a:srgbClr val="444444"/>
                </a:solidFill>
                <a:latin typeface="Calibri" pitchFamily="34" charset="0"/>
                <a:ea typeface="Calibri" pitchFamily="34" charset="-122"/>
                <a:cs typeface="Calibri" pitchFamily="34" charset="-120"/>
              </a:rPr>
              <a:t>• Challenges &amp; debugging</a:t>
            </a:r>
            <a:endParaRPr lang="en-US" sz="950" dirty="0"/>
          </a:p>
          <a:p>
            <a:pPr marL="0" indent="0">
              <a:lnSpc>
                <a:spcPct val="125000"/>
              </a:lnSpc>
              <a:buNone/>
            </a:pPr>
            <a:r>
              <a:rPr lang="en-US" sz="950" dirty="0">
                <a:solidFill>
                  <a:srgbClr val="444444"/>
                </a:solidFill>
                <a:latin typeface="Calibri" pitchFamily="34" charset="0"/>
                <a:ea typeface="Calibri" pitchFamily="34" charset="-122"/>
                <a:cs typeface="Calibri" pitchFamily="34" charset="-120"/>
              </a:rPr>
              <a:t>• Limitations &amp; lessons</a:t>
            </a:r>
            <a:endParaRPr lang="en-US" sz="950" dirty="0"/>
          </a:p>
          <a:p>
            <a:pPr marL="0" indent="0">
              <a:lnSpc>
                <a:spcPct val="125000"/>
              </a:lnSpc>
              <a:buNone/>
            </a:pPr>
            <a:r>
              <a:rPr lang="en-US" sz="950" dirty="0">
                <a:solidFill>
                  <a:srgbClr val="444444"/>
                </a:solidFill>
                <a:latin typeface="Calibri" pitchFamily="34" charset="0"/>
                <a:ea typeface="Calibri" pitchFamily="34" charset="-122"/>
                <a:cs typeface="Calibri" pitchFamily="34" charset="-120"/>
              </a:rPr>
              <a:t>• Future work &amp; demo</a:t>
            </a:r>
            <a:endParaRPr lang="en-US" sz="950" dirty="0"/>
          </a:p>
        </p:txBody>
      </p:sp>
      <p:sp>
        <p:nvSpPr>
          <p:cNvPr id="22" name="Shape 17"/>
          <p:cNvSpPr/>
          <p:nvPr/>
        </p:nvSpPr>
        <p:spPr>
          <a:xfrm>
            <a:off x="365760" y="3566160"/>
            <a:ext cx="8321040" cy="822960"/>
          </a:xfrm>
          <a:prstGeom prst="rect">
            <a:avLst/>
          </a:prstGeom>
          <a:solidFill>
            <a:srgbClr val="E8F0FE"/>
          </a:solidFill>
          <a:ln/>
          <a:effectLst>
            <a:outerShdw blurRad="50800" dist="25400" dir="8100000" algn="bl" rotWithShape="0">
              <a:srgbClr val="000000">
                <a:alpha val="10000"/>
              </a:srgbClr>
            </a:outerShdw>
          </a:effectLst>
        </p:spPr>
        <p:txBody>
          <a:bodyPr/>
          <a:lstStyle/>
          <a:p>
            <a:endParaRPr lang="en-US" dirty="0"/>
          </a:p>
        </p:txBody>
      </p:sp>
      <p:sp>
        <p:nvSpPr>
          <p:cNvPr id="23" name="Text 18"/>
          <p:cNvSpPr/>
          <p:nvPr/>
        </p:nvSpPr>
        <p:spPr>
          <a:xfrm>
            <a:off x="548640" y="3657600"/>
            <a:ext cx="8046720" cy="640080"/>
          </a:xfrm>
          <a:prstGeom prst="rect">
            <a:avLst/>
          </a:prstGeom>
          <a:noFill/>
          <a:ln/>
        </p:spPr>
        <p:txBody>
          <a:bodyPr wrap="square" lIns="0" tIns="0" rIns="0" bIns="0" rtlCol="0" anchor="ctr"/>
          <a:lstStyle/>
          <a:p>
            <a:pPr marL="0" indent="0">
              <a:buNone/>
            </a:pPr>
            <a:endParaRPr lang="en-US" sz="1000" dirty="0"/>
          </a:p>
        </p:txBody>
      </p:sp>
      <p:sp>
        <p:nvSpPr>
          <p:cNvPr id="24" name="Text 19"/>
          <p:cNvSpPr/>
          <p:nvPr/>
        </p:nvSpPr>
        <p:spPr>
          <a:xfrm>
            <a:off x="438912" y="4206240"/>
            <a:ext cx="6400800" cy="365760"/>
          </a:xfrm>
          <a:prstGeom prst="rect">
            <a:avLst/>
          </a:prstGeom>
          <a:noFill/>
          <a:ln/>
        </p:spPr>
        <p:txBody>
          <a:bodyPr wrap="square" rtlCol="0" anchor="ctr"/>
          <a:lstStyle/>
          <a:p>
            <a:pPr marL="0" indent="0">
              <a:buNone/>
            </a:pPr>
            <a:endParaRPr lang="en-US" sz="900" dirty="0"/>
          </a:p>
        </p:txBody>
      </p:sp>
      <p:sp>
        <p:nvSpPr>
          <p:cNvPr id="25" name="Text 20"/>
          <p:cNvSpPr/>
          <p:nvPr/>
        </p:nvSpPr>
        <p:spPr>
          <a:xfrm>
            <a:off x="8412480" y="4709160"/>
            <a:ext cx="548640" cy="365760"/>
          </a:xfrm>
          <a:prstGeom prst="rect">
            <a:avLst/>
          </a:prstGeom>
          <a:noFill/>
          <a:ln/>
        </p:spPr>
        <p:txBody>
          <a:bodyPr wrap="square" rtlCol="0" anchor="ctr"/>
          <a:lstStyle/>
          <a:p>
            <a:pPr marL="0" indent="0" algn="r">
              <a:buNone/>
            </a:pPr>
            <a:r>
              <a:rPr lang="en-US" sz="900" dirty="0">
                <a:solidFill>
                  <a:srgbClr val="949594"/>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5F5"/>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C41E1E"/>
          </a:solidFill>
          <a:ln/>
        </p:spPr>
        <p:txBody>
          <a:bodyPr/>
          <a:lstStyle/>
          <a:p>
            <a:endParaRPr lang="en-US"/>
          </a:p>
        </p:txBody>
      </p:sp>
      <p:sp>
        <p:nvSpPr>
          <p:cNvPr id="3" name="Shape 1"/>
          <p:cNvSpPr/>
          <p:nvPr/>
        </p:nvSpPr>
        <p:spPr>
          <a:xfrm>
            <a:off x="8778240" y="0"/>
            <a:ext cx="137160" cy="5143500"/>
          </a:xfrm>
          <a:prstGeom prst="rect">
            <a:avLst/>
          </a:prstGeom>
          <a:solidFill>
            <a:srgbClr val="C41E1E"/>
          </a:solidFill>
          <a:ln/>
        </p:spPr>
        <p:txBody>
          <a:bodyPr/>
          <a:lstStyle/>
          <a:p>
            <a:endParaRPr lang="en-US"/>
          </a:p>
        </p:txBody>
      </p:sp>
      <p:sp>
        <p:nvSpPr>
          <p:cNvPr id="4" name="Shape 2"/>
          <p:cNvSpPr/>
          <p:nvPr/>
        </p:nvSpPr>
        <p:spPr>
          <a:xfrm>
            <a:off x="8961120" y="0"/>
            <a:ext cx="73152" cy="5143500"/>
          </a:xfrm>
          <a:prstGeom prst="rect">
            <a:avLst/>
          </a:prstGeom>
          <a:solidFill>
            <a:srgbClr val="C41E1E">
              <a:alpha val="40000"/>
            </a:srgbClr>
          </a:solidFill>
          <a:ln/>
        </p:spPr>
        <p:txBody>
          <a:bodyPr/>
          <a:lstStyle/>
          <a:p>
            <a:endParaRPr lang="en-US"/>
          </a:p>
        </p:txBody>
      </p:sp>
      <p:pic>
        <p:nvPicPr>
          <p:cNvPr id="5" name="Image 0" descr="preencoded.png"/>
          <p:cNvPicPr>
            <a:picLocks noChangeAspect="1"/>
          </p:cNvPicPr>
          <p:nvPr/>
        </p:nvPicPr>
        <p:blipFill>
          <a:blip r:embed="rId3"/>
          <a:stretch>
            <a:fillRect/>
          </a:stretch>
        </p:blipFill>
        <p:spPr>
          <a:xfrm>
            <a:off x="365760" y="182880"/>
            <a:ext cx="320040" cy="320040"/>
          </a:xfrm>
          <a:prstGeom prst="rect">
            <a:avLst/>
          </a:prstGeom>
        </p:spPr>
      </p:pic>
      <p:sp>
        <p:nvSpPr>
          <p:cNvPr id="6" name="Text 3"/>
          <p:cNvSpPr/>
          <p:nvPr/>
        </p:nvSpPr>
        <p:spPr>
          <a:xfrm>
            <a:off x="777240" y="182880"/>
            <a:ext cx="7315200" cy="548640"/>
          </a:xfrm>
          <a:prstGeom prst="rect">
            <a:avLst/>
          </a:prstGeom>
          <a:noFill/>
          <a:ln/>
        </p:spPr>
        <p:txBody>
          <a:bodyPr wrap="square" lIns="0" tIns="0" rIns="0" bIns="0" rtlCol="0" anchor="ctr"/>
          <a:lstStyle/>
          <a:p>
            <a:pPr marL="0" indent="0">
              <a:buNone/>
            </a:pPr>
            <a:r>
              <a:rPr lang="en-US" sz="2800" b="1" dirty="0">
                <a:solidFill>
                  <a:srgbClr val="1A1A2E"/>
                </a:solidFill>
                <a:latin typeface="Georgia" pitchFamily="34" charset="0"/>
                <a:ea typeface="Georgia" pitchFamily="34" charset="-122"/>
                <a:cs typeface="Georgia" pitchFamily="34" charset="-120"/>
              </a:rPr>
              <a:t>What is Formula 1?</a:t>
            </a:r>
            <a:endParaRPr lang="en-US" sz="2800" dirty="0"/>
          </a:p>
        </p:txBody>
      </p:sp>
      <p:sp>
        <p:nvSpPr>
          <p:cNvPr id="7" name="Text 4"/>
          <p:cNvSpPr/>
          <p:nvPr/>
        </p:nvSpPr>
        <p:spPr>
          <a:xfrm>
            <a:off x="777240" y="685800"/>
            <a:ext cx="7315200" cy="228600"/>
          </a:xfrm>
          <a:prstGeom prst="rect">
            <a:avLst/>
          </a:prstGeom>
          <a:noFill/>
          <a:ln/>
        </p:spPr>
        <p:txBody>
          <a:bodyPr wrap="square" lIns="0" tIns="0" rIns="0" bIns="0" rtlCol="0" anchor="ctr"/>
          <a:lstStyle/>
          <a:p>
            <a:pPr marL="0" indent="0">
              <a:buNone/>
            </a:pPr>
            <a:r>
              <a:rPr lang="en-US" sz="1100" dirty="0">
                <a:solidFill>
                  <a:srgbClr val="949594"/>
                </a:solidFill>
                <a:latin typeface="Calibri" pitchFamily="34" charset="0"/>
                <a:ea typeface="Calibri" pitchFamily="34" charset="-122"/>
                <a:cs typeface="Calibri" pitchFamily="34" charset="-120"/>
              </a:rPr>
              <a:t>The pinnacle of motorsport — 10 teams, 20 drivers, 24 races per season</a:t>
            </a:r>
            <a:endParaRPr lang="en-US" sz="1100" dirty="0"/>
          </a:p>
        </p:txBody>
      </p:sp>
      <p:sp>
        <p:nvSpPr>
          <p:cNvPr id="8" name="Shape 5"/>
          <p:cNvSpPr/>
          <p:nvPr/>
        </p:nvSpPr>
        <p:spPr>
          <a:xfrm>
            <a:off x="365760" y="1051560"/>
            <a:ext cx="2606040" cy="1371600"/>
          </a:xfrm>
          <a:prstGeom prst="rect">
            <a:avLst/>
          </a:prstGeom>
          <a:solidFill>
            <a:srgbClr val="FFFFFF"/>
          </a:solidFill>
          <a:ln/>
          <a:effectLst>
            <a:outerShdw blurRad="50800" dist="25400" dir="8100000" algn="bl" rotWithShape="0">
              <a:srgbClr val="000000">
                <a:alpha val="10000"/>
              </a:srgbClr>
            </a:outerShdw>
          </a:effectLst>
        </p:spPr>
        <p:txBody>
          <a:bodyPr/>
          <a:lstStyle/>
          <a:p>
            <a:endParaRPr lang="en-US"/>
          </a:p>
        </p:txBody>
      </p:sp>
      <p:sp>
        <p:nvSpPr>
          <p:cNvPr id="9" name="Shape 6"/>
          <p:cNvSpPr/>
          <p:nvPr/>
        </p:nvSpPr>
        <p:spPr>
          <a:xfrm>
            <a:off x="365760" y="1051560"/>
            <a:ext cx="2606040" cy="45720"/>
          </a:xfrm>
          <a:prstGeom prst="rect">
            <a:avLst/>
          </a:prstGeom>
          <a:solidFill>
            <a:srgbClr val="C41E1E"/>
          </a:solidFill>
          <a:ln/>
        </p:spPr>
        <p:txBody>
          <a:bodyPr/>
          <a:lstStyle/>
          <a:p>
            <a:endParaRPr lang="en-US"/>
          </a:p>
        </p:txBody>
      </p:sp>
      <p:sp>
        <p:nvSpPr>
          <p:cNvPr id="10" name="Text 7"/>
          <p:cNvSpPr/>
          <p:nvPr/>
        </p:nvSpPr>
        <p:spPr>
          <a:xfrm>
            <a:off x="475488" y="1161288"/>
            <a:ext cx="2377440" cy="256032"/>
          </a:xfrm>
          <a:prstGeom prst="rect">
            <a:avLst/>
          </a:prstGeom>
          <a:noFill/>
          <a:ln/>
        </p:spPr>
        <p:txBody>
          <a:bodyPr wrap="square" lIns="0" tIns="0" rIns="0" bIns="0" rtlCol="0" anchor="ctr"/>
          <a:lstStyle/>
          <a:p>
            <a:pPr marL="0" indent="0">
              <a:buNone/>
            </a:pPr>
            <a:r>
              <a:rPr lang="en-US" sz="1100" b="1" dirty="0">
                <a:solidFill>
                  <a:srgbClr val="C41E1E"/>
                </a:solidFill>
                <a:latin typeface="Georgia" pitchFamily="34" charset="0"/>
                <a:ea typeface="Georgia" pitchFamily="34" charset="-122"/>
                <a:cs typeface="Georgia" pitchFamily="34" charset="-120"/>
              </a:rPr>
              <a:t>Grid Position</a:t>
            </a:r>
            <a:endParaRPr lang="en-US" sz="1100" dirty="0"/>
          </a:p>
        </p:txBody>
      </p:sp>
      <p:sp>
        <p:nvSpPr>
          <p:cNvPr id="11" name="Text 8"/>
          <p:cNvSpPr/>
          <p:nvPr/>
        </p:nvSpPr>
        <p:spPr>
          <a:xfrm>
            <a:off x="475488" y="1463040"/>
            <a:ext cx="2377440" cy="868680"/>
          </a:xfrm>
          <a:prstGeom prst="rect">
            <a:avLst/>
          </a:prstGeom>
          <a:noFill/>
          <a:ln/>
        </p:spPr>
        <p:txBody>
          <a:bodyPr wrap="square" lIns="0" tIns="0" rIns="0" bIns="0" rtlCol="0" anchor="t"/>
          <a:lstStyle/>
          <a:p>
            <a:pPr marL="0" indent="0">
              <a:buNone/>
            </a:pPr>
            <a:r>
              <a:rPr lang="en-US" sz="900" dirty="0">
                <a:solidFill>
                  <a:srgbClr val="444444"/>
                </a:solidFill>
                <a:latin typeface="Calibri" pitchFamily="34" charset="0"/>
                <a:ea typeface="Calibri" pitchFamily="34" charset="-122"/>
                <a:cs typeface="Calibri" pitchFamily="34" charset="-120"/>
              </a:rPr>
              <a:t>Starting order set by Saturday qualifying.</a:t>
            </a:r>
            <a:endParaRPr lang="en-US" sz="900" dirty="0"/>
          </a:p>
          <a:p>
            <a:pPr marL="0" indent="0">
              <a:buNone/>
            </a:pPr>
            <a:r>
              <a:rPr lang="en-US" sz="900" dirty="0">
                <a:solidFill>
                  <a:srgbClr val="444444"/>
                </a:solidFill>
                <a:latin typeface="Calibri" pitchFamily="34" charset="0"/>
                <a:ea typeface="Calibri" pitchFamily="34" charset="-122"/>
                <a:cs typeface="Calibri" pitchFamily="34" charset="-120"/>
              </a:rPr>
              <a:t>Fastest lap = P1 (pole position).</a:t>
            </a:r>
            <a:endParaRPr lang="en-US" sz="900" dirty="0"/>
          </a:p>
          <a:p>
            <a:pPr marL="0" indent="0">
              <a:buNone/>
            </a:pPr>
            <a:r>
              <a:rPr lang="en-US" sz="900" dirty="0">
                <a:solidFill>
                  <a:srgbClr val="444444"/>
                </a:solidFill>
                <a:latin typeface="Calibri" pitchFamily="34" charset="0"/>
                <a:ea typeface="Calibri" pitchFamily="34" charset="-122"/>
                <a:cs typeface="Calibri" pitchFamily="34" charset="-120"/>
              </a:rPr>
              <a:t>Our model's #2 most important feature.</a:t>
            </a:r>
            <a:endParaRPr lang="en-US" sz="900" dirty="0"/>
          </a:p>
        </p:txBody>
      </p:sp>
      <p:sp>
        <p:nvSpPr>
          <p:cNvPr id="12" name="Shape 9"/>
          <p:cNvSpPr/>
          <p:nvPr/>
        </p:nvSpPr>
        <p:spPr>
          <a:xfrm>
            <a:off x="3154680" y="1051560"/>
            <a:ext cx="2606040" cy="1371600"/>
          </a:xfrm>
          <a:prstGeom prst="rect">
            <a:avLst/>
          </a:prstGeom>
          <a:solidFill>
            <a:srgbClr val="FFFFFF"/>
          </a:solidFill>
          <a:ln/>
          <a:effectLst>
            <a:outerShdw blurRad="50800" dist="25400" dir="8100000" algn="bl" rotWithShape="0">
              <a:srgbClr val="000000">
                <a:alpha val="10000"/>
              </a:srgbClr>
            </a:outerShdw>
          </a:effectLst>
        </p:spPr>
        <p:txBody>
          <a:bodyPr/>
          <a:lstStyle/>
          <a:p>
            <a:endParaRPr lang="en-US"/>
          </a:p>
        </p:txBody>
      </p:sp>
      <p:sp>
        <p:nvSpPr>
          <p:cNvPr id="13" name="Shape 10"/>
          <p:cNvSpPr/>
          <p:nvPr/>
        </p:nvSpPr>
        <p:spPr>
          <a:xfrm>
            <a:off x="3154680" y="1051560"/>
            <a:ext cx="2606040" cy="45720"/>
          </a:xfrm>
          <a:prstGeom prst="rect">
            <a:avLst/>
          </a:prstGeom>
          <a:solidFill>
            <a:srgbClr val="D97706"/>
          </a:solidFill>
          <a:ln/>
        </p:spPr>
        <p:txBody>
          <a:bodyPr/>
          <a:lstStyle/>
          <a:p>
            <a:endParaRPr lang="en-US"/>
          </a:p>
        </p:txBody>
      </p:sp>
      <p:sp>
        <p:nvSpPr>
          <p:cNvPr id="14" name="Text 11"/>
          <p:cNvSpPr/>
          <p:nvPr/>
        </p:nvSpPr>
        <p:spPr>
          <a:xfrm>
            <a:off x="3264408" y="1161288"/>
            <a:ext cx="2377440" cy="256032"/>
          </a:xfrm>
          <a:prstGeom prst="rect">
            <a:avLst/>
          </a:prstGeom>
          <a:noFill/>
          <a:ln/>
        </p:spPr>
        <p:txBody>
          <a:bodyPr wrap="square" lIns="0" tIns="0" rIns="0" bIns="0" rtlCol="0" anchor="ctr"/>
          <a:lstStyle/>
          <a:p>
            <a:pPr marL="0" indent="0">
              <a:buNone/>
            </a:pPr>
            <a:r>
              <a:rPr lang="en-US" sz="1100" b="1" dirty="0">
                <a:solidFill>
                  <a:srgbClr val="D97706"/>
                </a:solidFill>
                <a:latin typeface="Georgia" pitchFamily="34" charset="0"/>
                <a:ea typeface="Georgia" pitchFamily="34" charset="-122"/>
                <a:cs typeface="Georgia" pitchFamily="34" charset="-120"/>
              </a:rPr>
              <a:t>Tire Compounds</a:t>
            </a:r>
            <a:endParaRPr lang="en-US" sz="1100" dirty="0"/>
          </a:p>
        </p:txBody>
      </p:sp>
      <p:sp>
        <p:nvSpPr>
          <p:cNvPr id="15" name="Text 12"/>
          <p:cNvSpPr/>
          <p:nvPr/>
        </p:nvSpPr>
        <p:spPr>
          <a:xfrm>
            <a:off x="3264408" y="1463040"/>
            <a:ext cx="2377440" cy="868680"/>
          </a:xfrm>
          <a:prstGeom prst="rect">
            <a:avLst/>
          </a:prstGeom>
          <a:noFill/>
          <a:ln/>
        </p:spPr>
        <p:txBody>
          <a:bodyPr wrap="square" lIns="0" tIns="0" rIns="0" bIns="0" rtlCol="0" anchor="t"/>
          <a:lstStyle/>
          <a:p>
            <a:pPr marL="0" indent="0">
              <a:buNone/>
            </a:pPr>
            <a:r>
              <a:rPr lang="en-US" sz="900" dirty="0">
                <a:solidFill>
                  <a:srgbClr val="444444"/>
                </a:solidFill>
                <a:latin typeface="Calibri" pitchFamily="34" charset="0"/>
                <a:ea typeface="Calibri" pitchFamily="34" charset="-122"/>
                <a:cs typeface="Calibri" pitchFamily="34" charset="-120"/>
              </a:rPr>
              <a:t>SOFT (red) = fast, 10-15 laps</a:t>
            </a:r>
            <a:endParaRPr lang="en-US" sz="900" dirty="0"/>
          </a:p>
          <a:p>
            <a:pPr marL="0" indent="0">
              <a:buNone/>
            </a:pPr>
            <a:r>
              <a:rPr lang="en-US" sz="900" dirty="0">
                <a:solidFill>
                  <a:srgbClr val="444444"/>
                </a:solidFill>
                <a:latin typeface="Calibri" pitchFamily="34" charset="0"/>
                <a:ea typeface="Calibri" pitchFamily="34" charset="-122"/>
                <a:cs typeface="Calibri" pitchFamily="34" charset="-120"/>
              </a:rPr>
              <a:t>MEDIUM (yellow) = balanced, 20-30 laps</a:t>
            </a:r>
            <a:endParaRPr lang="en-US" sz="900" dirty="0"/>
          </a:p>
          <a:p>
            <a:pPr marL="0" indent="0">
              <a:buNone/>
            </a:pPr>
            <a:r>
              <a:rPr lang="en-US" sz="900" dirty="0">
                <a:solidFill>
                  <a:srgbClr val="444444"/>
                </a:solidFill>
                <a:latin typeface="Calibri" pitchFamily="34" charset="0"/>
                <a:ea typeface="Calibri" pitchFamily="34" charset="-122"/>
                <a:cs typeface="Calibri" pitchFamily="34" charset="-120"/>
              </a:rPr>
              <a:t>HARD (white) = durable, 30-40 laps</a:t>
            </a:r>
            <a:endParaRPr lang="en-US" sz="900" dirty="0"/>
          </a:p>
        </p:txBody>
      </p:sp>
      <p:sp>
        <p:nvSpPr>
          <p:cNvPr id="16" name="Shape 13"/>
          <p:cNvSpPr/>
          <p:nvPr/>
        </p:nvSpPr>
        <p:spPr>
          <a:xfrm>
            <a:off x="5943600" y="1051560"/>
            <a:ext cx="2606040" cy="1371600"/>
          </a:xfrm>
          <a:prstGeom prst="rect">
            <a:avLst/>
          </a:prstGeom>
          <a:solidFill>
            <a:srgbClr val="FFFFFF"/>
          </a:solidFill>
          <a:ln/>
          <a:effectLst>
            <a:outerShdw blurRad="50800" dist="25400" dir="8100000" algn="bl" rotWithShape="0">
              <a:srgbClr val="000000">
                <a:alpha val="10000"/>
              </a:srgbClr>
            </a:outerShdw>
          </a:effectLst>
        </p:spPr>
        <p:txBody>
          <a:bodyPr/>
          <a:lstStyle/>
          <a:p>
            <a:endParaRPr lang="en-US"/>
          </a:p>
        </p:txBody>
      </p:sp>
      <p:sp>
        <p:nvSpPr>
          <p:cNvPr id="17" name="Shape 14"/>
          <p:cNvSpPr/>
          <p:nvPr/>
        </p:nvSpPr>
        <p:spPr>
          <a:xfrm>
            <a:off x="5943600" y="1051560"/>
            <a:ext cx="2606040" cy="45720"/>
          </a:xfrm>
          <a:prstGeom prst="rect">
            <a:avLst/>
          </a:prstGeom>
          <a:solidFill>
            <a:srgbClr val="2563EB"/>
          </a:solidFill>
          <a:ln/>
        </p:spPr>
        <p:txBody>
          <a:bodyPr/>
          <a:lstStyle/>
          <a:p>
            <a:endParaRPr lang="en-US"/>
          </a:p>
        </p:txBody>
      </p:sp>
      <p:sp>
        <p:nvSpPr>
          <p:cNvPr id="18" name="Text 15"/>
          <p:cNvSpPr/>
          <p:nvPr/>
        </p:nvSpPr>
        <p:spPr>
          <a:xfrm>
            <a:off x="6053328" y="1161288"/>
            <a:ext cx="2377440" cy="256032"/>
          </a:xfrm>
          <a:prstGeom prst="rect">
            <a:avLst/>
          </a:prstGeom>
          <a:noFill/>
          <a:ln/>
        </p:spPr>
        <p:txBody>
          <a:bodyPr wrap="square" lIns="0" tIns="0" rIns="0" bIns="0" rtlCol="0" anchor="ctr"/>
          <a:lstStyle/>
          <a:p>
            <a:pPr marL="0" indent="0">
              <a:buNone/>
            </a:pPr>
            <a:r>
              <a:rPr lang="en-US" sz="1100" b="1" dirty="0">
                <a:solidFill>
                  <a:srgbClr val="2563EB"/>
                </a:solidFill>
                <a:latin typeface="Georgia" pitchFamily="34" charset="0"/>
                <a:ea typeface="Georgia" pitchFamily="34" charset="-122"/>
                <a:cs typeface="Georgia" pitchFamily="34" charset="-120"/>
              </a:rPr>
              <a:t>Constructor</a:t>
            </a:r>
            <a:endParaRPr lang="en-US" sz="1100" dirty="0"/>
          </a:p>
        </p:txBody>
      </p:sp>
      <p:sp>
        <p:nvSpPr>
          <p:cNvPr id="19" name="Text 16"/>
          <p:cNvSpPr/>
          <p:nvPr/>
        </p:nvSpPr>
        <p:spPr>
          <a:xfrm>
            <a:off x="6053328" y="1463040"/>
            <a:ext cx="2377440" cy="868680"/>
          </a:xfrm>
          <a:prstGeom prst="rect">
            <a:avLst/>
          </a:prstGeom>
          <a:noFill/>
          <a:ln/>
        </p:spPr>
        <p:txBody>
          <a:bodyPr wrap="square" lIns="0" tIns="0" rIns="0" bIns="0" rtlCol="0" anchor="t"/>
          <a:lstStyle/>
          <a:p>
            <a:pPr marL="0" indent="0">
              <a:buNone/>
            </a:pPr>
            <a:r>
              <a:rPr lang="en-US" sz="900" dirty="0">
                <a:solidFill>
                  <a:srgbClr val="444444"/>
                </a:solidFill>
                <a:latin typeface="Calibri" pitchFamily="34" charset="0"/>
                <a:ea typeface="Calibri" pitchFamily="34" charset="-122"/>
                <a:cs typeface="Calibri" pitchFamily="34" charset="-120"/>
              </a:rPr>
              <a:t>Team that builds the car.</a:t>
            </a:r>
            <a:endParaRPr lang="en-US" sz="900" dirty="0"/>
          </a:p>
          <a:p>
            <a:pPr marL="0" indent="0">
              <a:buNone/>
            </a:pPr>
            <a:r>
              <a:rPr lang="en-US" sz="900" dirty="0">
                <a:solidFill>
                  <a:srgbClr val="444444"/>
                </a:solidFill>
                <a:latin typeface="Calibri" pitchFamily="34" charset="0"/>
                <a:ea typeface="Calibri" pitchFamily="34" charset="-122"/>
                <a:cs typeface="Calibri" pitchFamily="34" charset="-120"/>
              </a:rPr>
              <a:t>Car = ~80% of performance.</a:t>
            </a:r>
            <a:endParaRPr lang="en-US" sz="900" dirty="0"/>
          </a:p>
          <a:p>
            <a:pPr marL="0" indent="0">
              <a:buNone/>
            </a:pPr>
            <a:r>
              <a:rPr lang="en-US" sz="900" dirty="0">
                <a:solidFill>
                  <a:srgbClr val="444444"/>
                </a:solidFill>
                <a:latin typeface="Calibri" pitchFamily="34" charset="0"/>
                <a:ea typeface="Calibri" pitchFamily="34" charset="-122"/>
                <a:cs typeface="Calibri" pitchFamily="34" charset="-120"/>
              </a:rPr>
              <a:t>Our #1 predictive feature.</a:t>
            </a:r>
            <a:endParaRPr lang="en-US" sz="900" dirty="0"/>
          </a:p>
        </p:txBody>
      </p:sp>
      <p:sp>
        <p:nvSpPr>
          <p:cNvPr id="20" name="Shape 17"/>
          <p:cNvSpPr/>
          <p:nvPr/>
        </p:nvSpPr>
        <p:spPr>
          <a:xfrm>
            <a:off x="365760" y="2606040"/>
            <a:ext cx="2606040" cy="1371600"/>
          </a:xfrm>
          <a:prstGeom prst="rect">
            <a:avLst/>
          </a:prstGeom>
          <a:solidFill>
            <a:srgbClr val="FFFFFF"/>
          </a:solidFill>
          <a:ln/>
          <a:effectLst>
            <a:outerShdw blurRad="50800" dist="25400" dir="8100000" algn="bl" rotWithShape="0">
              <a:srgbClr val="000000">
                <a:alpha val="10000"/>
              </a:srgbClr>
            </a:outerShdw>
          </a:effectLst>
        </p:spPr>
        <p:txBody>
          <a:bodyPr/>
          <a:lstStyle/>
          <a:p>
            <a:endParaRPr lang="en-US"/>
          </a:p>
        </p:txBody>
      </p:sp>
      <p:sp>
        <p:nvSpPr>
          <p:cNvPr id="21" name="Shape 18"/>
          <p:cNvSpPr/>
          <p:nvPr/>
        </p:nvSpPr>
        <p:spPr>
          <a:xfrm>
            <a:off x="365760" y="2606040"/>
            <a:ext cx="2606040" cy="45720"/>
          </a:xfrm>
          <a:prstGeom prst="rect">
            <a:avLst/>
          </a:prstGeom>
          <a:solidFill>
            <a:srgbClr val="059669"/>
          </a:solidFill>
          <a:ln/>
        </p:spPr>
        <p:txBody>
          <a:bodyPr/>
          <a:lstStyle/>
          <a:p>
            <a:endParaRPr lang="en-US"/>
          </a:p>
        </p:txBody>
      </p:sp>
      <p:sp>
        <p:nvSpPr>
          <p:cNvPr id="22" name="Text 19"/>
          <p:cNvSpPr/>
          <p:nvPr/>
        </p:nvSpPr>
        <p:spPr>
          <a:xfrm>
            <a:off x="475488" y="2715768"/>
            <a:ext cx="2377440" cy="256032"/>
          </a:xfrm>
          <a:prstGeom prst="rect">
            <a:avLst/>
          </a:prstGeom>
          <a:noFill/>
          <a:ln/>
        </p:spPr>
        <p:txBody>
          <a:bodyPr wrap="square" lIns="0" tIns="0" rIns="0" bIns="0" rtlCol="0" anchor="ctr"/>
          <a:lstStyle/>
          <a:p>
            <a:pPr marL="0" indent="0">
              <a:buNone/>
            </a:pPr>
            <a:r>
              <a:rPr lang="en-US" sz="1100" b="1" dirty="0">
                <a:solidFill>
                  <a:srgbClr val="059669"/>
                </a:solidFill>
                <a:latin typeface="Georgia" pitchFamily="34" charset="0"/>
                <a:ea typeface="Georgia" pitchFamily="34" charset="-122"/>
                <a:cs typeface="Georgia" pitchFamily="34" charset="-120"/>
              </a:rPr>
              <a:t>Pit Stop</a:t>
            </a:r>
            <a:endParaRPr lang="en-US" sz="1100" dirty="0"/>
          </a:p>
        </p:txBody>
      </p:sp>
      <p:sp>
        <p:nvSpPr>
          <p:cNvPr id="23" name="Text 20"/>
          <p:cNvSpPr/>
          <p:nvPr/>
        </p:nvSpPr>
        <p:spPr>
          <a:xfrm>
            <a:off x="475488" y="3017520"/>
            <a:ext cx="2377440" cy="868680"/>
          </a:xfrm>
          <a:prstGeom prst="rect">
            <a:avLst/>
          </a:prstGeom>
          <a:noFill/>
          <a:ln/>
        </p:spPr>
        <p:txBody>
          <a:bodyPr wrap="square" lIns="0" tIns="0" rIns="0" bIns="0" rtlCol="0" anchor="t"/>
          <a:lstStyle/>
          <a:p>
            <a:pPr marL="0" indent="0">
              <a:buNone/>
            </a:pPr>
            <a:r>
              <a:rPr lang="en-US" sz="900" dirty="0">
                <a:solidFill>
                  <a:srgbClr val="444444"/>
                </a:solidFill>
                <a:latin typeface="Calibri" pitchFamily="34" charset="0"/>
                <a:ea typeface="Calibri" pitchFamily="34" charset="-122"/>
                <a:cs typeface="Calibri" pitchFamily="34" charset="-120"/>
              </a:rPr>
              <a:t>Tire change during race (2-3 sec).</a:t>
            </a:r>
            <a:endParaRPr lang="en-US" sz="900" dirty="0"/>
          </a:p>
          <a:p>
            <a:pPr marL="0" indent="0">
              <a:buNone/>
            </a:pPr>
            <a:r>
              <a:rPr lang="en-US" sz="900" dirty="0">
                <a:solidFill>
                  <a:srgbClr val="444444"/>
                </a:solidFill>
                <a:latin typeface="Calibri" pitchFamily="34" charset="0"/>
                <a:ea typeface="Calibri" pitchFamily="34" charset="-122"/>
                <a:cs typeface="Calibri" pitchFamily="34" charset="-120"/>
              </a:rPr>
              <a:t>Strategy: when to stop, which tire.</a:t>
            </a:r>
            <a:endParaRPr lang="en-US" sz="900" dirty="0"/>
          </a:p>
          <a:p>
            <a:pPr marL="0" indent="0">
              <a:buNone/>
            </a:pPr>
            <a:r>
              <a:rPr lang="en-US" sz="900" dirty="0">
                <a:solidFill>
                  <a:srgbClr val="444444"/>
                </a:solidFill>
                <a:latin typeface="Calibri" pitchFamily="34" charset="0"/>
                <a:ea typeface="Calibri" pitchFamily="34" charset="-122"/>
                <a:cs typeface="Calibri" pitchFamily="34" charset="-120"/>
              </a:rPr>
              <a:t>Our model tracks pit stop patterns.</a:t>
            </a:r>
            <a:endParaRPr lang="en-US" sz="900" dirty="0"/>
          </a:p>
        </p:txBody>
      </p:sp>
      <p:sp>
        <p:nvSpPr>
          <p:cNvPr id="24" name="Shape 21"/>
          <p:cNvSpPr/>
          <p:nvPr/>
        </p:nvSpPr>
        <p:spPr>
          <a:xfrm>
            <a:off x="3154680" y="2606040"/>
            <a:ext cx="2606040" cy="1371600"/>
          </a:xfrm>
          <a:prstGeom prst="rect">
            <a:avLst/>
          </a:prstGeom>
          <a:solidFill>
            <a:srgbClr val="FFFFFF"/>
          </a:solidFill>
          <a:ln/>
          <a:effectLst>
            <a:outerShdw blurRad="50800" dist="25400" dir="8100000" algn="bl" rotWithShape="0">
              <a:srgbClr val="000000">
                <a:alpha val="10000"/>
              </a:srgbClr>
            </a:outerShdw>
          </a:effectLst>
        </p:spPr>
        <p:txBody>
          <a:bodyPr/>
          <a:lstStyle/>
          <a:p>
            <a:endParaRPr lang="en-US"/>
          </a:p>
        </p:txBody>
      </p:sp>
      <p:sp>
        <p:nvSpPr>
          <p:cNvPr id="25" name="Shape 22"/>
          <p:cNvSpPr/>
          <p:nvPr/>
        </p:nvSpPr>
        <p:spPr>
          <a:xfrm>
            <a:off x="3154680" y="2606040"/>
            <a:ext cx="2606040" cy="45720"/>
          </a:xfrm>
          <a:prstGeom prst="rect">
            <a:avLst/>
          </a:prstGeom>
          <a:solidFill>
            <a:srgbClr val="7C3AED"/>
          </a:solidFill>
          <a:ln/>
        </p:spPr>
        <p:txBody>
          <a:bodyPr/>
          <a:lstStyle/>
          <a:p>
            <a:endParaRPr lang="en-US"/>
          </a:p>
        </p:txBody>
      </p:sp>
      <p:sp>
        <p:nvSpPr>
          <p:cNvPr id="26" name="Text 23"/>
          <p:cNvSpPr/>
          <p:nvPr/>
        </p:nvSpPr>
        <p:spPr>
          <a:xfrm>
            <a:off x="3264408" y="2715768"/>
            <a:ext cx="2377440" cy="256032"/>
          </a:xfrm>
          <a:prstGeom prst="rect">
            <a:avLst/>
          </a:prstGeom>
          <a:noFill/>
          <a:ln/>
        </p:spPr>
        <p:txBody>
          <a:bodyPr wrap="square" lIns="0" tIns="0" rIns="0" bIns="0" rtlCol="0" anchor="ctr"/>
          <a:lstStyle/>
          <a:p>
            <a:pPr marL="0" indent="0">
              <a:buNone/>
            </a:pPr>
            <a:r>
              <a:rPr lang="en-US" sz="1100" b="1" dirty="0">
                <a:solidFill>
                  <a:srgbClr val="7C3AED"/>
                </a:solidFill>
                <a:latin typeface="Georgia" pitchFamily="34" charset="0"/>
                <a:ea typeface="Georgia" pitchFamily="34" charset="-122"/>
                <a:cs typeface="Georgia" pitchFamily="34" charset="-120"/>
              </a:rPr>
              <a:t>Qualifying (Q1/Q2/Q3)</a:t>
            </a:r>
            <a:endParaRPr lang="en-US" sz="1100" dirty="0"/>
          </a:p>
        </p:txBody>
      </p:sp>
      <p:sp>
        <p:nvSpPr>
          <p:cNvPr id="27" name="Text 24"/>
          <p:cNvSpPr/>
          <p:nvPr/>
        </p:nvSpPr>
        <p:spPr>
          <a:xfrm>
            <a:off x="3264408" y="3017520"/>
            <a:ext cx="2377440" cy="868680"/>
          </a:xfrm>
          <a:prstGeom prst="rect">
            <a:avLst/>
          </a:prstGeom>
          <a:noFill/>
          <a:ln/>
        </p:spPr>
        <p:txBody>
          <a:bodyPr wrap="square" lIns="0" tIns="0" rIns="0" bIns="0" rtlCol="0" anchor="t"/>
          <a:lstStyle/>
          <a:p>
            <a:pPr marL="0" indent="0">
              <a:buNone/>
            </a:pPr>
            <a:r>
              <a:rPr lang="en-US" sz="900" dirty="0">
                <a:solidFill>
                  <a:srgbClr val="444444"/>
                </a:solidFill>
                <a:latin typeface="Calibri" pitchFamily="34" charset="0"/>
                <a:ea typeface="Calibri" pitchFamily="34" charset="-122"/>
                <a:cs typeface="Calibri" pitchFamily="34" charset="-120"/>
              </a:rPr>
              <a:t>Q1: all 20, slowest 5 out</a:t>
            </a:r>
            <a:endParaRPr lang="en-US" sz="900" dirty="0"/>
          </a:p>
          <a:p>
            <a:pPr marL="0" indent="0">
              <a:buNone/>
            </a:pPr>
            <a:r>
              <a:rPr lang="en-US" sz="900" dirty="0">
                <a:solidFill>
                  <a:srgbClr val="444444"/>
                </a:solidFill>
                <a:latin typeface="Calibri" pitchFamily="34" charset="0"/>
                <a:ea typeface="Calibri" pitchFamily="34" charset="-122"/>
                <a:cs typeface="Calibri" pitchFamily="34" charset="-120"/>
              </a:rPr>
              <a:t>Q2: 15 left, slowest 5 out</a:t>
            </a:r>
            <a:endParaRPr lang="en-US" sz="900" dirty="0"/>
          </a:p>
          <a:p>
            <a:pPr marL="0" indent="0">
              <a:buNone/>
            </a:pPr>
            <a:r>
              <a:rPr lang="en-US" sz="900" dirty="0">
                <a:solidFill>
                  <a:srgbClr val="444444"/>
                </a:solidFill>
                <a:latin typeface="Calibri" pitchFamily="34" charset="0"/>
                <a:ea typeface="Calibri" pitchFamily="34" charset="-122"/>
                <a:cs typeface="Calibri" pitchFamily="34" charset="-120"/>
              </a:rPr>
              <a:t>Q3: top 10 fight for pole</a:t>
            </a:r>
            <a:endParaRPr lang="en-US" sz="900" dirty="0"/>
          </a:p>
        </p:txBody>
      </p:sp>
      <p:sp>
        <p:nvSpPr>
          <p:cNvPr id="28" name="Shape 25"/>
          <p:cNvSpPr/>
          <p:nvPr/>
        </p:nvSpPr>
        <p:spPr>
          <a:xfrm>
            <a:off x="5943600" y="2606040"/>
            <a:ext cx="2606040" cy="1371600"/>
          </a:xfrm>
          <a:prstGeom prst="rect">
            <a:avLst/>
          </a:prstGeom>
          <a:solidFill>
            <a:srgbClr val="FFFFFF"/>
          </a:solidFill>
          <a:ln/>
          <a:effectLst>
            <a:outerShdw blurRad="50800" dist="25400" dir="8100000" algn="bl" rotWithShape="0">
              <a:srgbClr val="000000">
                <a:alpha val="10000"/>
              </a:srgbClr>
            </a:outerShdw>
          </a:effectLst>
        </p:spPr>
        <p:txBody>
          <a:bodyPr/>
          <a:lstStyle/>
          <a:p>
            <a:endParaRPr lang="en-US"/>
          </a:p>
        </p:txBody>
      </p:sp>
      <p:sp>
        <p:nvSpPr>
          <p:cNvPr id="29" name="Shape 26"/>
          <p:cNvSpPr/>
          <p:nvPr/>
        </p:nvSpPr>
        <p:spPr>
          <a:xfrm>
            <a:off x="5943600" y="2606040"/>
            <a:ext cx="2606040" cy="45720"/>
          </a:xfrm>
          <a:prstGeom prst="rect">
            <a:avLst/>
          </a:prstGeom>
          <a:solidFill>
            <a:srgbClr val="0891B2"/>
          </a:solidFill>
          <a:ln/>
        </p:spPr>
        <p:txBody>
          <a:bodyPr/>
          <a:lstStyle/>
          <a:p>
            <a:endParaRPr lang="en-US"/>
          </a:p>
        </p:txBody>
      </p:sp>
      <p:sp>
        <p:nvSpPr>
          <p:cNvPr id="30" name="Text 27"/>
          <p:cNvSpPr/>
          <p:nvPr/>
        </p:nvSpPr>
        <p:spPr>
          <a:xfrm>
            <a:off x="6053328" y="2715768"/>
            <a:ext cx="2377440" cy="256032"/>
          </a:xfrm>
          <a:prstGeom prst="rect">
            <a:avLst/>
          </a:prstGeom>
          <a:noFill/>
          <a:ln/>
        </p:spPr>
        <p:txBody>
          <a:bodyPr wrap="square" lIns="0" tIns="0" rIns="0" bIns="0" rtlCol="0" anchor="ctr"/>
          <a:lstStyle/>
          <a:p>
            <a:pPr marL="0" indent="0">
              <a:buNone/>
            </a:pPr>
            <a:r>
              <a:rPr lang="en-US" sz="1100" b="1" dirty="0">
                <a:solidFill>
                  <a:srgbClr val="0891B2"/>
                </a:solidFill>
                <a:latin typeface="Georgia" pitchFamily="34" charset="0"/>
                <a:ea typeface="Georgia" pitchFamily="34" charset="-122"/>
                <a:cs typeface="Georgia" pitchFamily="34" charset="-120"/>
              </a:rPr>
              <a:t>Points System</a:t>
            </a:r>
            <a:endParaRPr lang="en-US" sz="1100" dirty="0"/>
          </a:p>
        </p:txBody>
      </p:sp>
      <p:sp>
        <p:nvSpPr>
          <p:cNvPr id="31" name="Text 28"/>
          <p:cNvSpPr/>
          <p:nvPr/>
        </p:nvSpPr>
        <p:spPr>
          <a:xfrm>
            <a:off x="6053328" y="3017520"/>
            <a:ext cx="2377440" cy="868680"/>
          </a:xfrm>
          <a:prstGeom prst="rect">
            <a:avLst/>
          </a:prstGeom>
          <a:noFill/>
          <a:ln/>
        </p:spPr>
        <p:txBody>
          <a:bodyPr wrap="square" lIns="0" tIns="0" rIns="0" bIns="0" rtlCol="0" anchor="t"/>
          <a:lstStyle/>
          <a:p>
            <a:pPr marL="0" indent="0">
              <a:buNone/>
            </a:pPr>
            <a:r>
              <a:rPr lang="en-US" sz="900" dirty="0">
                <a:solidFill>
                  <a:srgbClr val="444444"/>
                </a:solidFill>
                <a:latin typeface="Calibri" pitchFamily="34" charset="0"/>
                <a:ea typeface="Calibri" pitchFamily="34" charset="-122"/>
                <a:cs typeface="Calibri" pitchFamily="34" charset="-120"/>
              </a:rPr>
              <a:t>P1=25, P2=18, P3=15, P4=12...</a:t>
            </a:r>
            <a:endParaRPr lang="en-US" sz="900" dirty="0"/>
          </a:p>
          <a:p>
            <a:pPr marL="0" indent="0">
              <a:buNone/>
            </a:pPr>
            <a:r>
              <a:rPr lang="en-US" sz="900" dirty="0">
                <a:solidFill>
                  <a:srgbClr val="444444"/>
                </a:solidFill>
                <a:latin typeface="Calibri" pitchFamily="34" charset="0"/>
                <a:ea typeface="Calibri" pitchFamily="34" charset="-122"/>
                <a:cs typeface="Calibri" pitchFamily="34" charset="-120"/>
              </a:rPr>
              <a:t>P10=1 point. P11+ = zero.</a:t>
            </a:r>
            <a:endParaRPr lang="en-US" sz="900" dirty="0"/>
          </a:p>
          <a:p>
            <a:pPr marL="0" indent="0">
              <a:buNone/>
            </a:pPr>
            <a:r>
              <a:rPr lang="en-US" sz="900" dirty="0">
                <a:solidFill>
                  <a:srgbClr val="444444"/>
                </a:solidFill>
                <a:latin typeface="Calibri" pitchFamily="34" charset="0"/>
                <a:ea typeface="Calibri" pitchFamily="34" charset="-122"/>
                <a:cs typeface="Calibri" pitchFamily="34" charset="-120"/>
              </a:rPr>
              <a:t>Our model predicts these.</a:t>
            </a:r>
            <a:endParaRPr lang="en-US" sz="900" dirty="0"/>
          </a:p>
        </p:txBody>
      </p:sp>
      <p:sp>
        <p:nvSpPr>
          <p:cNvPr id="32" name="Text 29"/>
          <p:cNvSpPr/>
          <p:nvPr/>
        </p:nvSpPr>
        <p:spPr>
          <a:xfrm>
            <a:off x="457200" y="4709160"/>
            <a:ext cx="6400800" cy="365760"/>
          </a:xfrm>
          <a:prstGeom prst="rect">
            <a:avLst/>
          </a:prstGeom>
          <a:noFill/>
          <a:ln/>
        </p:spPr>
        <p:txBody>
          <a:bodyPr wrap="square" rtlCol="0" anchor="ctr"/>
          <a:lstStyle/>
          <a:p>
            <a:pPr marL="0" indent="0">
              <a:buNone/>
            </a:pPr>
            <a:r>
              <a:rPr lang="en-US" sz="900" dirty="0">
                <a:solidFill>
                  <a:srgbClr val="949594"/>
                </a:solidFill>
                <a:latin typeface="Calibri" pitchFamily="34" charset="0"/>
                <a:ea typeface="Calibri" pitchFamily="34" charset="-122"/>
                <a:cs typeface="Calibri" pitchFamily="34" charset="-120"/>
              </a:rPr>
              <a:t>Speaker 1 — Problem &amp; Architecture</a:t>
            </a:r>
            <a:endParaRPr lang="en-US" sz="900" dirty="0"/>
          </a:p>
        </p:txBody>
      </p:sp>
      <p:sp>
        <p:nvSpPr>
          <p:cNvPr id="33" name="Text 30"/>
          <p:cNvSpPr/>
          <p:nvPr/>
        </p:nvSpPr>
        <p:spPr>
          <a:xfrm>
            <a:off x="8412480" y="4709160"/>
            <a:ext cx="548640" cy="365760"/>
          </a:xfrm>
          <a:prstGeom prst="rect">
            <a:avLst/>
          </a:prstGeom>
          <a:noFill/>
          <a:ln/>
        </p:spPr>
        <p:txBody>
          <a:bodyPr wrap="square" rtlCol="0" anchor="ctr"/>
          <a:lstStyle/>
          <a:p>
            <a:pPr marL="0" indent="0" algn="r">
              <a:buNone/>
            </a:pPr>
            <a:r>
              <a:rPr lang="en-US" sz="900" dirty="0">
                <a:solidFill>
                  <a:srgbClr val="949594"/>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5F5"/>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C41E1E"/>
          </a:solidFill>
          <a:ln/>
        </p:spPr>
        <p:txBody>
          <a:bodyPr/>
          <a:lstStyle/>
          <a:p>
            <a:endParaRPr lang="en-US"/>
          </a:p>
        </p:txBody>
      </p:sp>
      <p:sp>
        <p:nvSpPr>
          <p:cNvPr id="3" name="Shape 1"/>
          <p:cNvSpPr/>
          <p:nvPr/>
        </p:nvSpPr>
        <p:spPr>
          <a:xfrm>
            <a:off x="8778240" y="0"/>
            <a:ext cx="137160" cy="5143500"/>
          </a:xfrm>
          <a:prstGeom prst="rect">
            <a:avLst/>
          </a:prstGeom>
          <a:solidFill>
            <a:srgbClr val="C41E1E"/>
          </a:solidFill>
          <a:ln/>
        </p:spPr>
        <p:txBody>
          <a:bodyPr/>
          <a:lstStyle/>
          <a:p>
            <a:endParaRPr lang="en-US"/>
          </a:p>
        </p:txBody>
      </p:sp>
      <p:sp>
        <p:nvSpPr>
          <p:cNvPr id="4" name="Shape 2"/>
          <p:cNvSpPr/>
          <p:nvPr/>
        </p:nvSpPr>
        <p:spPr>
          <a:xfrm>
            <a:off x="8961120" y="0"/>
            <a:ext cx="73152" cy="5143500"/>
          </a:xfrm>
          <a:prstGeom prst="rect">
            <a:avLst/>
          </a:prstGeom>
          <a:solidFill>
            <a:srgbClr val="C41E1E">
              <a:alpha val="40000"/>
            </a:srgbClr>
          </a:solidFill>
          <a:ln/>
        </p:spPr>
        <p:txBody>
          <a:bodyPr/>
          <a:lstStyle/>
          <a:p>
            <a:endParaRPr lang="en-US"/>
          </a:p>
        </p:txBody>
      </p:sp>
      <p:pic>
        <p:nvPicPr>
          <p:cNvPr id="5" name="Image 0" descr="preencoded.png"/>
          <p:cNvPicPr>
            <a:picLocks noChangeAspect="1"/>
          </p:cNvPicPr>
          <p:nvPr/>
        </p:nvPicPr>
        <p:blipFill>
          <a:blip r:embed="rId3"/>
          <a:stretch>
            <a:fillRect/>
          </a:stretch>
        </p:blipFill>
        <p:spPr>
          <a:xfrm>
            <a:off x="365760" y="182880"/>
            <a:ext cx="320040" cy="320040"/>
          </a:xfrm>
          <a:prstGeom prst="rect">
            <a:avLst/>
          </a:prstGeom>
        </p:spPr>
      </p:pic>
      <p:sp>
        <p:nvSpPr>
          <p:cNvPr id="6" name="Text 3"/>
          <p:cNvSpPr/>
          <p:nvPr/>
        </p:nvSpPr>
        <p:spPr>
          <a:xfrm>
            <a:off x="777240" y="182880"/>
            <a:ext cx="7315200" cy="548640"/>
          </a:xfrm>
          <a:prstGeom prst="rect">
            <a:avLst/>
          </a:prstGeom>
          <a:noFill/>
          <a:ln/>
        </p:spPr>
        <p:txBody>
          <a:bodyPr wrap="square" lIns="0" tIns="0" rIns="0" bIns="0" rtlCol="0" anchor="ctr"/>
          <a:lstStyle/>
          <a:p>
            <a:pPr marL="0" indent="0">
              <a:buNone/>
            </a:pPr>
            <a:r>
              <a:rPr lang="en-US" sz="2800" b="1" dirty="0">
                <a:solidFill>
                  <a:srgbClr val="1A1A2E"/>
                </a:solidFill>
                <a:latin typeface="Georgia" pitchFamily="34" charset="0"/>
                <a:ea typeface="Georgia" pitchFamily="34" charset="-122"/>
                <a:cs typeface="Georgia" pitchFamily="34" charset="-120"/>
              </a:rPr>
              <a:t>Project Goal — 3 Prediction Tasks</a:t>
            </a:r>
            <a:endParaRPr lang="en-US" sz="2800" dirty="0"/>
          </a:p>
        </p:txBody>
      </p:sp>
      <p:sp>
        <p:nvSpPr>
          <p:cNvPr id="7" name="Text 4"/>
          <p:cNvSpPr/>
          <p:nvPr/>
        </p:nvSpPr>
        <p:spPr>
          <a:xfrm>
            <a:off x="777240" y="685800"/>
            <a:ext cx="7315200" cy="228600"/>
          </a:xfrm>
          <a:prstGeom prst="rect">
            <a:avLst/>
          </a:prstGeom>
          <a:noFill/>
          <a:ln/>
        </p:spPr>
        <p:txBody>
          <a:bodyPr wrap="square" lIns="0" tIns="0" rIns="0" bIns="0" rtlCol="0" anchor="ctr"/>
          <a:lstStyle/>
          <a:p>
            <a:pPr marL="0" indent="0">
              <a:buNone/>
            </a:pPr>
            <a:r>
              <a:rPr lang="en-US" sz="1100" dirty="0">
                <a:solidFill>
                  <a:srgbClr val="949594"/>
                </a:solidFill>
                <a:latin typeface="Calibri" pitchFamily="34" charset="0"/>
                <a:ea typeface="Calibri" pitchFamily="34" charset="-122"/>
                <a:cs typeface="Calibri" pitchFamily="34" charset="-120"/>
              </a:rPr>
              <a:t>Predict F1 race outcomes using 9 seasons of data, big data tools, and 3 ML models</a:t>
            </a:r>
            <a:endParaRPr lang="en-US" sz="1100" dirty="0"/>
          </a:p>
        </p:txBody>
      </p:sp>
      <p:sp>
        <p:nvSpPr>
          <p:cNvPr id="8" name="Shape 5"/>
          <p:cNvSpPr/>
          <p:nvPr/>
        </p:nvSpPr>
        <p:spPr>
          <a:xfrm>
            <a:off x="365760" y="1051560"/>
            <a:ext cx="2606040" cy="2926080"/>
          </a:xfrm>
          <a:prstGeom prst="rect">
            <a:avLst/>
          </a:prstGeom>
          <a:solidFill>
            <a:srgbClr val="FFFFFF"/>
          </a:solidFill>
          <a:ln/>
          <a:effectLst>
            <a:outerShdw blurRad="50800" dist="25400" dir="8100000" algn="bl" rotWithShape="0">
              <a:srgbClr val="000000">
                <a:alpha val="10000"/>
              </a:srgbClr>
            </a:outerShdw>
          </a:effectLst>
        </p:spPr>
        <p:txBody>
          <a:bodyPr/>
          <a:lstStyle/>
          <a:p>
            <a:endParaRPr lang="en-US"/>
          </a:p>
        </p:txBody>
      </p:sp>
      <p:sp>
        <p:nvSpPr>
          <p:cNvPr id="9" name="Shape 6"/>
          <p:cNvSpPr/>
          <p:nvPr/>
        </p:nvSpPr>
        <p:spPr>
          <a:xfrm>
            <a:off x="365760" y="1051560"/>
            <a:ext cx="2606040" cy="54864"/>
          </a:xfrm>
          <a:prstGeom prst="rect">
            <a:avLst/>
          </a:prstGeom>
          <a:solidFill>
            <a:srgbClr val="C41E1E"/>
          </a:solidFill>
          <a:ln/>
        </p:spPr>
        <p:txBody>
          <a:bodyPr/>
          <a:lstStyle/>
          <a:p>
            <a:endParaRPr lang="en-US"/>
          </a:p>
        </p:txBody>
      </p:sp>
      <p:sp>
        <p:nvSpPr>
          <p:cNvPr id="10" name="Text 7"/>
          <p:cNvSpPr/>
          <p:nvPr/>
        </p:nvSpPr>
        <p:spPr>
          <a:xfrm>
            <a:off x="365760" y="1234440"/>
            <a:ext cx="2606040" cy="320040"/>
          </a:xfrm>
          <a:prstGeom prst="rect">
            <a:avLst/>
          </a:prstGeom>
          <a:noFill/>
          <a:ln/>
        </p:spPr>
        <p:txBody>
          <a:bodyPr wrap="square" lIns="0" tIns="0" rIns="0" bIns="0" rtlCol="0" anchor="ctr"/>
          <a:lstStyle/>
          <a:p>
            <a:pPr marL="0" indent="0" algn="ctr">
              <a:buNone/>
            </a:pPr>
            <a:r>
              <a:rPr lang="en-US" sz="1400" b="1" dirty="0">
                <a:solidFill>
                  <a:srgbClr val="C41E1E"/>
                </a:solidFill>
                <a:latin typeface="Georgia" pitchFamily="34" charset="0"/>
                <a:ea typeface="Georgia" pitchFamily="34" charset="-122"/>
                <a:cs typeface="Georgia" pitchFamily="34" charset="-120"/>
              </a:rPr>
              <a:t>Finishing Position</a:t>
            </a:r>
            <a:endParaRPr lang="en-US" sz="1400" dirty="0"/>
          </a:p>
        </p:txBody>
      </p:sp>
      <p:sp>
        <p:nvSpPr>
          <p:cNvPr id="11" name="Text 8"/>
          <p:cNvSpPr/>
          <p:nvPr/>
        </p:nvSpPr>
        <p:spPr>
          <a:xfrm>
            <a:off x="365760" y="1554480"/>
            <a:ext cx="2606040" cy="182880"/>
          </a:xfrm>
          <a:prstGeom prst="rect">
            <a:avLst/>
          </a:prstGeom>
          <a:noFill/>
          <a:ln/>
        </p:spPr>
        <p:txBody>
          <a:bodyPr wrap="square" lIns="0" tIns="0" rIns="0" bIns="0" rtlCol="0" anchor="ctr"/>
          <a:lstStyle/>
          <a:p>
            <a:pPr marL="0" indent="0" algn="ctr">
              <a:buNone/>
            </a:pPr>
            <a:r>
              <a:rPr lang="en-US" sz="800" dirty="0">
                <a:solidFill>
                  <a:srgbClr val="949594"/>
                </a:solidFill>
                <a:latin typeface="Calibri" pitchFamily="34" charset="0"/>
                <a:ea typeface="Calibri" pitchFamily="34" charset="-122"/>
                <a:cs typeface="Calibri" pitchFamily="34" charset="-120"/>
              </a:rPr>
              <a:t>REGRESSION</a:t>
            </a:r>
            <a:endParaRPr lang="en-US" sz="800" dirty="0"/>
          </a:p>
        </p:txBody>
      </p:sp>
      <p:sp>
        <p:nvSpPr>
          <p:cNvPr id="12" name="Text 9"/>
          <p:cNvSpPr/>
          <p:nvPr/>
        </p:nvSpPr>
        <p:spPr>
          <a:xfrm>
            <a:off x="502920" y="1828800"/>
            <a:ext cx="2331720" cy="457200"/>
          </a:xfrm>
          <a:prstGeom prst="rect">
            <a:avLst/>
          </a:prstGeom>
          <a:noFill/>
          <a:ln/>
        </p:spPr>
        <p:txBody>
          <a:bodyPr wrap="square" lIns="0" tIns="0" rIns="0" bIns="0" rtlCol="0" anchor="ctr"/>
          <a:lstStyle/>
          <a:p>
            <a:pPr marL="0" indent="0" algn="ctr">
              <a:buNone/>
            </a:pPr>
            <a:r>
              <a:rPr lang="en-US" sz="1000" dirty="0">
                <a:solidFill>
                  <a:srgbClr val="444444"/>
                </a:solidFill>
                <a:latin typeface="Calibri" pitchFamily="34" charset="0"/>
                <a:ea typeface="Calibri" pitchFamily="34" charset="-122"/>
                <a:cs typeface="Calibri" pitchFamily="34" charset="-120"/>
              </a:rPr>
              <a:t>Where will each driver</a:t>
            </a:r>
            <a:endParaRPr lang="en-US" sz="1000" dirty="0"/>
          </a:p>
          <a:p>
            <a:pPr marL="0" indent="0" algn="ctr">
              <a:buNone/>
            </a:pPr>
            <a:r>
              <a:rPr lang="en-US" sz="1000" dirty="0">
                <a:solidFill>
                  <a:srgbClr val="444444"/>
                </a:solidFill>
                <a:latin typeface="Calibri" pitchFamily="34" charset="0"/>
                <a:ea typeface="Calibri" pitchFamily="34" charset="-122"/>
                <a:cs typeface="Calibri" pitchFamily="34" charset="-120"/>
              </a:rPr>
              <a:t>finish? (P1 through P20)</a:t>
            </a:r>
            <a:endParaRPr lang="en-US" sz="1000" dirty="0"/>
          </a:p>
        </p:txBody>
      </p:sp>
      <p:sp>
        <p:nvSpPr>
          <p:cNvPr id="13" name="Text 10"/>
          <p:cNvSpPr/>
          <p:nvPr/>
        </p:nvSpPr>
        <p:spPr>
          <a:xfrm>
            <a:off x="365760" y="2423160"/>
            <a:ext cx="2606040" cy="502920"/>
          </a:xfrm>
          <a:prstGeom prst="rect">
            <a:avLst/>
          </a:prstGeom>
          <a:noFill/>
          <a:ln/>
        </p:spPr>
        <p:txBody>
          <a:bodyPr wrap="square" lIns="0" tIns="0" rIns="0" bIns="0" rtlCol="0" anchor="ctr"/>
          <a:lstStyle/>
          <a:p>
            <a:pPr marL="0" indent="0" algn="ctr">
              <a:buNone/>
            </a:pPr>
            <a:r>
              <a:rPr lang="en-US" sz="2600" b="1" dirty="0">
                <a:solidFill>
                  <a:srgbClr val="C41E1E"/>
                </a:solidFill>
                <a:latin typeface="Georgia" pitchFamily="34" charset="0"/>
                <a:ea typeface="Georgia" pitchFamily="34" charset="-122"/>
                <a:cs typeface="Georgia" pitchFamily="34" charset="-120"/>
              </a:rPr>
              <a:t>MAE: 2.096</a:t>
            </a:r>
            <a:endParaRPr lang="en-US" sz="2600" dirty="0"/>
          </a:p>
        </p:txBody>
      </p:sp>
      <p:sp>
        <p:nvSpPr>
          <p:cNvPr id="14" name="Text 11"/>
          <p:cNvSpPr/>
          <p:nvPr/>
        </p:nvSpPr>
        <p:spPr>
          <a:xfrm>
            <a:off x="365760" y="2926080"/>
            <a:ext cx="2606040" cy="228600"/>
          </a:xfrm>
          <a:prstGeom prst="rect">
            <a:avLst/>
          </a:prstGeom>
          <a:noFill/>
          <a:ln/>
        </p:spPr>
        <p:txBody>
          <a:bodyPr wrap="square" lIns="0" tIns="0" rIns="0" bIns="0" rtlCol="0" anchor="ctr"/>
          <a:lstStyle/>
          <a:p>
            <a:pPr marL="0" indent="0" algn="ctr">
              <a:buNone/>
            </a:pPr>
            <a:r>
              <a:rPr lang="en-US" sz="1000" dirty="0">
                <a:solidFill>
                  <a:srgbClr val="C41E1E"/>
                </a:solidFill>
                <a:latin typeface="Calibri" pitchFamily="34" charset="0"/>
                <a:ea typeface="Calibri" pitchFamily="34" charset="-122"/>
                <a:cs typeface="Calibri" pitchFamily="34" charset="-120"/>
              </a:rPr>
              <a:t>~2 positions off</a:t>
            </a:r>
            <a:endParaRPr lang="en-US" sz="1000" dirty="0"/>
          </a:p>
        </p:txBody>
      </p:sp>
      <p:sp>
        <p:nvSpPr>
          <p:cNvPr id="15" name="Text 12"/>
          <p:cNvSpPr/>
          <p:nvPr/>
        </p:nvSpPr>
        <p:spPr>
          <a:xfrm>
            <a:off x="365760" y="3246120"/>
            <a:ext cx="2606040" cy="228600"/>
          </a:xfrm>
          <a:prstGeom prst="rect">
            <a:avLst/>
          </a:prstGeom>
          <a:noFill/>
          <a:ln/>
        </p:spPr>
        <p:txBody>
          <a:bodyPr wrap="square" lIns="0" tIns="0" rIns="0" bIns="0" rtlCol="0" anchor="ctr"/>
          <a:lstStyle/>
          <a:p>
            <a:pPr marL="0" indent="0" algn="ctr">
              <a:buNone/>
            </a:pPr>
            <a:r>
              <a:rPr lang="en-US" sz="900" dirty="0">
                <a:solidFill>
                  <a:srgbClr val="949594"/>
                </a:solidFill>
                <a:latin typeface="Calibri" pitchFamily="34" charset="0"/>
                <a:ea typeface="Calibri" pitchFamily="34" charset="-122"/>
                <a:cs typeface="Calibri" pitchFamily="34" charset="-120"/>
              </a:rPr>
              <a:t>XGBoost wins</a:t>
            </a:r>
            <a:endParaRPr lang="en-US" sz="900" dirty="0"/>
          </a:p>
        </p:txBody>
      </p:sp>
      <p:sp>
        <p:nvSpPr>
          <p:cNvPr id="16" name="Shape 13"/>
          <p:cNvSpPr/>
          <p:nvPr/>
        </p:nvSpPr>
        <p:spPr>
          <a:xfrm>
            <a:off x="3154680" y="1051560"/>
            <a:ext cx="2606040" cy="2926080"/>
          </a:xfrm>
          <a:prstGeom prst="rect">
            <a:avLst/>
          </a:prstGeom>
          <a:solidFill>
            <a:srgbClr val="FFFFFF"/>
          </a:solidFill>
          <a:ln/>
          <a:effectLst>
            <a:outerShdw blurRad="50800" dist="25400" dir="8100000" algn="bl" rotWithShape="0">
              <a:srgbClr val="000000">
                <a:alpha val="10000"/>
              </a:srgbClr>
            </a:outerShdw>
          </a:effectLst>
        </p:spPr>
        <p:txBody>
          <a:bodyPr/>
          <a:lstStyle/>
          <a:p>
            <a:endParaRPr lang="en-US"/>
          </a:p>
        </p:txBody>
      </p:sp>
      <p:sp>
        <p:nvSpPr>
          <p:cNvPr id="17" name="Shape 14"/>
          <p:cNvSpPr/>
          <p:nvPr/>
        </p:nvSpPr>
        <p:spPr>
          <a:xfrm>
            <a:off x="3154680" y="1051560"/>
            <a:ext cx="2606040" cy="54864"/>
          </a:xfrm>
          <a:prstGeom prst="rect">
            <a:avLst/>
          </a:prstGeom>
          <a:solidFill>
            <a:srgbClr val="2563EB"/>
          </a:solidFill>
          <a:ln/>
        </p:spPr>
        <p:txBody>
          <a:bodyPr/>
          <a:lstStyle/>
          <a:p>
            <a:endParaRPr lang="en-US"/>
          </a:p>
        </p:txBody>
      </p:sp>
      <p:sp>
        <p:nvSpPr>
          <p:cNvPr id="18" name="Text 15"/>
          <p:cNvSpPr/>
          <p:nvPr/>
        </p:nvSpPr>
        <p:spPr>
          <a:xfrm>
            <a:off x="3154680" y="1234440"/>
            <a:ext cx="2606040" cy="320040"/>
          </a:xfrm>
          <a:prstGeom prst="rect">
            <a:avLst/>
          </a:prstGeom>
          <a:noFill/>
          <a:ln/>
        </p:spPr>
        <p:txBody>
          <a:bodyPr wrap="square" lIns="0" tIns="0" rIns="0" bIns="0" rtlCol="0" anchor="ctr"/>
          <a:lstStyle/>
          <a:p>
            <a:pPr marL="0" indent="0" algn="ctr">
              <a:buNone/>
            </a:pPr>
            <a:r>
              <a:rPr lang="en-US" sz="1400" b="1" dirty="0">
                <a:solidFill>
                  <a:srgbClr val="2563EB"/>
                </a:solidFill>
                <a:latin typeface="Georgia" pitchFamily="34" charset="0"/>
                <a:ea typeface="Georgia" pitchFamily="34" charset="-122"/>
                <a:cs typeface="Georgia" pitchFamily="34" charset="-120"/>
              </a:rPr>
              <a:t>Podium Finish</a:t>
            </a:r>
            <a:endParaRPr lang="en-US" sz="1400" dirty="0"/>
          </a:p>
        </p:txBody>
      </p:sp>
      <p:sp>
        <p:nvSpPr>
          <p:cNvPr id="19" name="Text 16"/>
          <p:cNvSpPr/>
          <p:nvPr/>
        </p:nvSpPr>
        <p:spPr>
          <a:xfrm>
            <a:off x="3154680" y="1554480"/>
            <a:ext cx="2606040" cy="182880"/>
          </a:xfrm>
          <a:prstGeom prst="rect">
            <a:avLst/>
          </a:prstGeom>
          <a:noFill/>
          <a:ln/>
        </p:spPr>
        <p:txBody>
          <a:bodyPr wrap="square" lIns="0" tIns="0" rIns="0" bIns="0" rtlCol="0" anchor="ctr"/>
          <a:lstStyle/>
          <a:p>
            <a:pPr marL="0" indent="0" algn="ctr">
              <a:buNone/>
            </a:pPr>
            <a:r>
              <a:rPr lang="en-US" sz="800" dirty="0">
                <a:solidFill>
                  <a:srgbClr val="949594"/>
                </a:solidFill>
                <a:latin typeface="Calibri" pitchFamily="34" charset="0"/>
                <a:ea typeface="Calibri" pitchFamily="34" charset="-122"/>
                <a:cs typeface="Calibri" pitchFamily="34" charset="-120"/>
              </a:rPr>
              <a:t>CLASSIFICATION</a:t>
            </a:r>
            <a:endParaRPr lang="en-US" sz="800" dirty="0"/>
          </a:p>
        </p:txBody>
      </p:sp>
      <p:sp>
        <p:nvSpPr>
          <p:cNvPr id="20" name="Text 17"/>
          <p:cNvSpPr/>
          <p:nvPr/>
        </p:nvSpPr>
        <p:spPr>
          <a:xfrm>
            <a:off x="3291840" y="1828800"/>
            <a:ext cx="2331720" cy="457200"/>
          </a:xfrm>
          <a:prstGeom prst="rect">
            <a:avLst/>
          </a:prstGeom>
          <a:noFill/>
          <a:ln/>
        </p:spPr>
        <p:txBody>
          <a:bodyPr wrap="square" lIns="0" tIns="0" rIns="0" bIns="0" rtlCol="0" anchor="ctr"/>
          <a:lstStyle/>
          <a:p>
            <a:pPr marL="0" indent="0" algn="ctr">
              <a:buNone/>
            </a:pPr>
            <a:r>
              <a:rPr lang="en-US" sz="1000" dirty="0">
                <a:solidFill>
                  <a:srgbClr val="444444"/>
                </a:solidFill>
                <a:latin typeface="Calibri" pitchFamily="34" charset="0"/>
                <a:ea typeface="Calibri" pitchFamily="34" charset="-122"/>
                <a:cs typeface="Calibri" pitchFamily="34" charset="-120"/>
              </a:rPr>
              <a:t>Will this driver finish</a:t>
            </a:r>
            <a:endParaRPr lang="en-US" sz="1000" dirty="0"/>
          </a:p>
          <a:p>
            <a:pPr marL="0" indent="0" algn="ctr">
              <a:buNone/>
            </a:pPr>
            <a:r>
              <a:rPr lang="en-US" sz="1000" dirty="0">
                <a:solidFill>
                  <a:srgbClr val="444444"/>
                </a:solidFill>
                <a:latin typeface="Calibri" pitchFamily="34" charset="0"/>
                <a:ea typeface="Calibri" pitchFamily="34" charset="-122"/>
                <a:cs typeface="Calibri" pitchFamily="34" charset="-120"/>
              </a:rPr>
              <a:t>in the top 3?</a:t>
            </a:r>
            <a:endParaRPr lang="en-US" sz="1000" dirty="0"/>
          </a:p>
        </p:txBody>
      </p:sp>
      <p:sp>
        <p:nvSpPr>
          <p:cNvPr id="21" name="Text 18"/>
          <p:cNvSpPr/>
          <p:nvPr/>
        </p:nvSpPr>
        <p:spPr>
          <a:xfrm>
            <a:off x="3154680" y="2423160"/>
            <a:ext cx="2606040" cy="502920"/>
          </a:xfrm>
          <a:prstGeom prst="rect">
            <a:avLst/>
          </a:prstGeom>
          <a:noFill/>
          <a:ln/>
        </p:spPr>
        <p:txBody>
          <a:bodyPr wrap="square" lIns="0" tIns="0" rIns="0" bIns="0" rtlCol="0" anchor="ctr"/>
          <a:lstStyle/>
          <a:p>
            <a:pPr marL="0" indent="0" algn="ctr">
              <a:buNone/>
            </a:pPr>
            <a:r>
              <a:rPr lang="en-US" sz="2600" b="1" dirty="0">
                <a:solidFill>
                  <a:srgbClr val="2563EB"/>
                </a:solidFill>
                <a:latin typeface="Georgia" pitchFamily="34" charset="0"/>
                <a:ea typeface="Georgia" pitchFamily="34" charset="-122"/>
                <a:cs typeface="Georgia" pitchFamily="34" charset="-120"/>
              </a:rPr>
              <a:t>93.4%</a:t>
            </a:r>
            <a:endParaRPr lang="en-US" sz="2600" dirty="0"/>
          </a:p>
        </p:txBody>
      </p:sp>
      <p:sp>
        <p:nvSpPr>
          <p:cNvPr id="22" name="Text 19"/>
          <p:cNvSpPr/>
          <p:nvPr/>
        </p:nvSpPr>
        <p:spPr>
          <a:xfrm>
            <a:off x="3154680" y="2926080"/>
            <a:ext cx="2606040" cy="228600"/>
          </a:xfrm>
          <a:prstGeom prst="rect">
            <a:avLst/>
          </a:prstGeom>
          <a:noFill/>
          <a:ln/>
        </p:spPr>
        <p:txBody>
          <a:bodyPr wrap="square" lIns="0" tIns="0" rIns="0" bIns="0" rtlCol="0" anchor="ctr"/>
          <a:lstStyle/>
          <a:p>
            <a:pPr marL="0" indent="0" algn="ctr">
              <a:buNone/>
            </a:pPr>
            <a:r>
              <a:rPr lang="en-US" sz="1000" dirty="0">
                <a:solidFill>
                  <a:srgbClr val="2563EB"/>
                </a:solidFill>
                <a:latin typeface="Calibri" pitchFamily="34" charset="0"/>
                <a:ea typeface="Calibri" pitchFamily="34" charset="-122"/>
                <a:cs typeface="Calibri" pitchFamily="34" charset="-120"/>
              </a:rPr>
              <a:t>Accuracy</a:t>
            </a:r>
            <a:endParaRPr lang="en-US" sz="1000" dirty="0"/>
          </a:p>
        </p:txBody>
      </p:sp>
      <p:sp>
        <p:nvSpPr>
          <p:cNvPr id="23" name="Text 20"/>
          <p:cNvSpPr/>
          <p:nvPr/>
        </p:nvSpPr>
        <p:spPr>
          <a:xfrm>
            <a:off x="3154680" y="3246120"/>
            <a:ext cx="2606040" cy="228600"/>
          </a:xfrm>
          <a:prstGeom prst="rect">
            <a:avLst/>
          </a:prstGeom>
          <a:noFill/>
          <a:ln/>
        </p:spPr>
        <p:txBody>
          <a:bodyPr wrap="square" lIns="0" tIns="0" rIns="0" bIns="0" rtlCol="0" anchor="ctr"/>
          <a:lstStyle/>
          <a:p>
            <a:pPr marL="0" indent="0" algn="ctr">
              <a:buNone/>
            </a:pPr>
            <a:r>
              <a:rPr lang="en-US" sz="900" dirty="0">
                <a:solidFill>
                  <a:srgbClr val="949594"/>
                </a:solidFill>
                <a:latin typeface="Calibri" pitchFamily="34" charset="0"/>
                <a:ea typeface="Calibri" pitchFamily="34" charset="-122"/>
                <a:cs typeface="Calibri" pitchFamily="34" charset="-120"/>
              </a:rPr>
              <a:t>Grad Boost wins</a:t>
            </a:r>
            <a:endParaRPr lang="en-US" sz="900" dirty="0"/>
          </a:p>
        </p:txBody>
      </p:sp>
      <p:sp>
        <p:nvSpPr>
          <p:cNvPr id="24" name="Shape 21"/>
          <p:cNvSpPr/>
          <p:nvPr/>
        </p:nvSpPr>
        <p:spPr>
          <a:xfrm>
            <a:off x="5943600" y="1051560"/>
            <a:ext cx="2606040" cy="2926080"/>
          </a:xfrm>
          <a:prstGeom prst="rect">
            <a:avLst/>
          </a:prstGeom>
          <a:solidFill>
            <a:srgbClr val="FFFFFF"/>
          </a:solidFill>
          <a:ln/>
          <a:effectLst>
            <a:outerShdw blurRad="50800" dist="25400" dir="8100000" algn="bl" rotWithShape="0">
              <a:srgbClr val="000000">
                <a:alpha val="10000"/>
              </a:srgbClr>
            </a:outerShdw>
          </a:effectLst>
        </p:spPr>
        <p:txBody>
          <a:bodyPr/>
          <a:lstStyle/>
          <a:p>
            <a:endParaRPr lang="en-US"/>
          </a:p>
        </p:txBody>
      </p:sp>
      <p:sp>
        <p:nvSpPr>
          <p:cNvPr id="25" name="Shape 22"/>
          <p:cNvSpPr/>
          <p:nvPr/>
        </p:nvSpPr>
        <p:spPr>
          <a:xfrm>
            <a:off x="5943600" y="1051560"/>
            <a:ext cx="2606040" cy="54864"/>
          </a:xfrm>
          <a:prstGeom prst="rect">
            <a:avLst/>
          </a:prstGeom>
          <a:solidFill>
            <a:srgbClr val="059669"/>
          </a:solidFill>
          <a:ln/>
        </p:spPr>
        <p:txBody>
          <a:bodyPr/>
          <a:lstStyle/>
          <a:p>
            <a:endParaRPr lang="en-US"/>
          </a:p>
        </p:txBody>
      </p:sp>
      <p:sp>
        <p:nvSpPr>
          <p:cNvPr id="26" name="Text 23"/>
          <p:cNvSpPr/>
          <p:nvPr/>
        </p:nvSpPr>
        <p:spPr>
          <a:xfrm>
            <a:off x="5943600" y="1234440"/>
            <a:ext cx="2606040" cy="320040"/>
          </a:xfrm>
          <a:prstGeom prst="rect">
            <a:avLst/>
          </a:prstGeom>
          <a:noFill/>
          <a:ln/>
        </p:spPr>
        <p:txBody>
          <a:bodyPr wrap="square" lIns="0" tIns="0" rIns="0" bIns="0" rtlCol="0" anchor="ctr"/>
          <a:lstStyle/>
          <a:p>
            <a:pPr marL="0" indent="0" algn="ctr">
              <a:buNone/>
            </a:pPr>
            <a:r>
              <a:rPr lang="en-US" sz="1400" b="1" dirty="0">
                <a:solidFill>
                  <a:srgbClr val="059669"/>
                </a:solidFill>
                <a:latin typeface="Georgia" pitchFamily="34" charset="0"/>
                <a:ea typeface="Georgia" pitchFamily="34" charset="-122"/>
                <a:cs typeface="Georgia" pitchFamily="34" charset="-120"/>
              </a:rPr>
              <a:t>Race Winner</a:t>
            </a:r>
            <a:endParaRPr lang="en-US" sz="1400" dirty="0"/>
          </a:p>
        </p:txBody>
      </p:sp>
      <p:sp>
        <p:nvSpPr>
          <p:cNvPr id="27" name="Text 24"/>
          <p:cNvSpPr/>
          <p:nvPr/>
        </p:nvSpPr>
        <p:spPr>
          <a:xfrm>
            <a:off x="5943600" y="1554480"/>
            <a:ext cx="2606040" cy="182880"/>
          </a:xfrm>
          <a:prstGeom prst="rect">
            <a:avLst/>
          </a:prstGeom>
          <a:noFill/>
          <a:ln/>
        </p:spPr>
        <p:txBody>
          <a:bodyPr wrap="square" lIns="0" tIns="0" rIns="0" bIns="0" rtlCol="0" anchor="ctr"/>
          <a:lstStyle/>
          <a:p>
            <a:pPr marL="0" indent="0" algn="ctr">
              <a:buNone/>
            </a:pPr>
            <a:r>
              <a:rPr lang="en-US" sz="800" dirty="0">
                <a:solidFill>
                  <a:srgbClr val="949594"/>
                </a:solidFill>
                <a:latin typeface="Calibri" pitchFamily="34" charset="0"/>
                <a:ea typeface="Calibri" pitchFamily="34" charset="-122"/>
                <a:cs typeface="Calibri" pitchFamily="34" charset="-120"/>
              </a:rPr>
              <a:t>RANKING</a:t>
            </a:r>
            <a:endParaRPr lang="en-US" sz="800" dirty="0"/>
          </a:p>
        </p:txBody>
      </p:sp>
      <p:sp>
        <p:nvSpPr>
          <p:cNvPr id="28" name="Text 25"/>
          <p:cNvSpPr/>
          <p:nvPr/>
        </p:nvSpPr>
        <p:spPr>
          <a:xfrm>
            <a:off x="6080760" y="1828800"/>
            <a:ext cx="2331720" cy="457200"/>
          </a:xfrm>
          <a:prstGeom prst="rect">
            <a:avLst/>
          </a:prstGeom>
          <a:noFill/>
          <a:ln/>
        </p:spPr>
        <p:txBody>
          <a:bodyPr wrap="square" lIns="0" tIns="0" rIns="0" bIns="0" rtlCol="0" anchor="ctr"/>
          <a:lstStyle/>
          <a:p>
            <a:pPr marL="0" indent="0" algn="ctr">
              <a:buNone/>
            </a:pPr>
            <a:r>
              <a:rPr lang="en-US" sz="1000" dirty="0">
                <a:solidFill>
                  <a:srgbClr val="444444"/>
                </a:solidFill>
                <a:latin typeface="Calibri" pitchFamily="34" charset="0"/>
                <a:ea typeface="Calibri" pitchFamily="34" charset="-122"/>
                <a:cs typeface="Calibri" pitchFamily="34" charset="-120"/>
              </a:rPr>
              <a:t>Who will win?</a:t>
            </a:r>
            <a:endParaRPr lang="en-US" sz="1000" dirty="0"/>
          </a:p>
          <a:p>
            <a:pPr marL="0" indent="0" algn="ctr">
              <a:buNone/>
            </a:pPr>
            <a:r>
              <a:rPr lang="en-US" sz="1000" dirty="0">
                <a:solidFill>
                  <a:srgbClr val="444444"/>
                </a:solidFill>
                <a:latin typeface="Calibri" pitchFamily="34" charset="0"/>
                <a:ea typeface="Calibri" pitchFamily="34" charset="-122"/>
                <a:cs typeface="Calibri" pitchFamily="34" charset="-120"/>
              </a:rPr>
              <a:t>Rank all 20 drivers</a:t>
            </a:r>
            <a:endParaRPr lang="en-US" sz="1000" dirty="0"/>
          </a:p>
        </p:txBody>
      </p:sp>
      <p:sp>
        <p:nvSpPr>
          <p:cNvPr id="29" name="Text 26"/>
          <p:cNvSpPr/>
          <p:nvPr/>
        </p:nvSpPr>
        <p:spPr>
          <a:xfrm>
            <a:off x="5943600" y="2423160"/>
            <a:ext cx="2606040" cy="502920"/>
          </a:xfrm>
          <a:prstGeom prst="rect">
            <a:avLst/>
          </a:prstGeom>
          <a:noFill/>
          <a:ln/>
        </p:spPr>
        <p:txBody>
          <a:bodyPr wrap="square" lIns="0" tIns="0" rIns="0" bIns="0" rtlCol="0" anchor="ctr"/>
          <a:lstStyle/>
          <a:p>
            <a:pPr marL="0" indent="0" algn="ctr">
              <a:buNone/>
            </a:pPr>
            <a:r>
              <a:rPr lang="en-US" sz="2600" b="1" dirty="0">
                <a:solidFill>
                  <a:srgbClr val="059669"/>
                </a:solidFill>
                <a:latin typeface="Georgia" pitchFamily="34" charset="0"/>
                <a:ea typeface="Georgia" pitchFamily="34" charset="-122"/>
                <a:cs typeface="Georgia" pitchFamily="34" charset="-120"/>
              </a:rPr>
              <a:t>77.8%</a:t>
            </a:r>
            <a:endParaRPr lang="en-US" sz="2600" dirty="0"/>
          </a:p>
        </p:txBody>
      </p:sp>
      <p:sp>
        <p:nvSpPr>
          <p:cNvPr id="30" name="Text 27"/>
          <p:cNvSpPr/>
          <p:nvPr/>
        </p:nvSpPr>
        <p:spPr>
          <a:xfrm>
            <a:off x="5943600" y="2926080"/>
            <a:ext cx="2606040" cy="228600"/>
          </a:xfrm>
          <a:prstGeom prst="rect">
            <a:avLst/>
          </a:prstGeom>
          <a:noFill/>
          <a:ln/>
        </p:spPr>
        <p:txBody>
          <a:bodyPr wrap="square" lIns="0" tIns="0" rIns="0" bIns="0" rtlCol="0" anchor="ctr"/>
          <a:lstStyle/>
          <a:p>
            <a:pPr marL="0" indent="0" algn="ctr">
              <a:buNone/>
            </a:pPr>
            <a:r>
              <a:rPr lang="en-US" sz="1000" dirty="0">
                <a:solidFill>
                  <a:srgbClr val="059669"/>
                </a:solidFill>
                <a:latin typeface="Calibri" pitchFamily="34" charset="0"/>
                <a:ea typeface="Calibri" pitchFamily="34" charset="-122"/>
                <a:cs typeface="Calibri" pitchFamily="34" charset="-120"/>
              </a:rPr>
              <a:t>Correct winner</a:t>
            </a:r>
            <a:endParaRPr lang="en-US" sz="1000" dirty="0"/>
          </a:p>
        </p:txBody>
      </p:sp>
      <p:sp>
        <p:nvSpPr>
          <p:cNvPr id="31" name="Text 28"/>
          <p:cNvSpPr/>
          <p:nvPr/>
        </p:nvSpPr>
        <p:spPr>
          <a:xfrm>
            <a:off x="5943600" y="3246120"/>
            <a:ext cx="2606040" cy="228600"/>
          </a:xfrm>
          <a:prstGeom prst="rect">
            <a:avLst/>
          </a:prstGeom>
          <a:noFill/>
          <a:ln/>
        </p:spPr>
        <p:txBody>
          <a:bodyPr wrap="square" lIns="0" tIns="0" rIns="0" bIns="0" rtlCol="0" anchor="ctr"/>
          <a:lstStyle/>
          <a:p>
            <a:pPr marL="0" indent="0" algn="ctr">
              <a:buNone/>
            </a:pPr>
            <a:r>
              <a:rPr lang="en-US" sz="900" dirty="0">
                <a:solidFill>
                  <a:srgbClr val="949594"/>
                </a:solidFill>
                <a:latin typeface="Calibri" pitchFamily="34" charset="0"/>
                <a:ea typeface="Calibri" pitchFamily="34" charset="-122"/>
                <a:cs typeface="Calibri" pitchFamily="34" charset="-120"/>
              </a:rPr>
              <a:t>Grad Boost wins</a:t>
            </a:r>
            <a:endParaRPr lang="en-US" sz="900" dirty="0"/>
          </a:p>
        </p:txBody>
      </p:sp>
      <p:sp>
        <p:nvSpPr>
          <p:cNvPr id="32" name="Shape 29"/>
          <p:cNvSpPr/>
          <p:nvPr/>
        </p:nvSpPr>
        <p:spPr>
          <a:xfrm>
            <a:off x="365760" y="4160520"/>
            <a:ext cx="8321040" cy="457200"/>
          </a:xfrm>
          <a:prstGeom prst="rect">
            <a:avLst/>
          </a:prstGeom>
          <a:solidFill>
            <a:srgbClr val="E6F4EA"/>
          </a:solidFill>
          <a:ln/>
          <a:effectLst>
            <a:outerShdw blurRad="50800" dist="25400" dir="8100000" algn="bl" rotWithShape="0">
              <a:srgbClr val="000000">
                <a:alpha val="10000"/>
              </a:srgbClr>
            </a:outerShdw>
          </a:effectLst>
        </p:spPr>
        <p:txBody>
          <a:bodyPr/>
          <a:lstStyle/>
          <a:p>
            <a:endParaRPr lang="en-US"/>
          </a:p>
        </p:txBody>
      </p:sp>
      <p:sp>
        <p:nvSpPr>
          <p:cNvPr id="33" name="Text 30"/>
          <p:cNvSpPr/>
          <p:nvPr/>
        </p:nvSpPr>
        <p:spPr>
          <a:xfrm>
            <a:off x="548640" y="4206240"/>
            <a:ext cx="8046720" cy="320040"/>
          </a:xfrm>
          <a:prstGeom prst="rect">
            <a:avLst/>
          </a:prstGeom>
          <a:noFill/>
          <a:ln/>
        </p:spPr>
        <p:txBody>
          <a:bodyPr wrap="square" lIns="0" tIns="0" rIns="0" bIns="0" rtlCol="0" anchor="ctr"/>
          <a:lstStyle/>
          <a:p>
            <a:pPr marL="0" indent="0">
              <a:buNone/>
            </a:pPr>
            <a:r>
              <a:rPr lang="en-US" sz="1100" b="1" dirty="0">
                <a:solidFill>
                  <a:srgbClr val="059669"/>
                </a:solidFill>
                <a:latin typeface="Calibri" pitchFamily="34" charset="0"/>
                <a:ea typeface="Calibri" pitchFamily="34" charset="-122"/>
                <a:cs typeface="Calibri" pitchFamily="34" charset="-120"/>
              </a:rPr>
              <a:t>100% Top-3 Accuracy — the actual winner is ALWAYS in our model's top 3 predictions across all races tested</a:t>
            </a:r>
            <a:endParaRPr lang="en-US" sz="1100" dirty="0"/>
          </a:p>
        </p:txBody>
      </p:sp>
      <p:sp>
        <p:nvSpPr>
          <p:cNvPr id="34" name="Text 31"/>
          <p:cNvSpPr/>
          <p:nvPr/>
        </p:nvSpPr>
        <p:spPr>
          <a:xfrm>
            <a:off x="457200" y="4709160"/>
            <a:ext cx="6400800" cy="365760"/>
          </a:xfrm>
          <a:prstGeom prst="rect">
            <a:avLst/>
          </a:prstGeom>
          <a:noFill/>
          <a:ln/>
        </p:spPr>
        <p:txBody>
          <a:bodyPr wrap="square" rtlCol="0" anchor="ctr"/>
          <a:lstStyle/>
          <a:p>
            <a:pPr marL="0" indent="0">
              <a:buNone/>
            </a:pPr>
            <a:r>
              <a:rPr lang="en-US" sz="900" dirty="0">
                <a:solidFill>
                  <a:srgbClr val="949594"/>
                </a:solidFill>
                <a:latin typeface="Calibri" pitchFamily="34" charset="0"/>
                <a:ea typeface="Calibri" pitchFamily="34" charset="-122"/>
                <a:cs typeface="Calibri" pitchFamily="34" charset="-120"/>
              </a:rPr>
              <a:t>Speaker 1 — Problem &amp; Architecture</a:t>
            </a:r>
            <a:endParaRPr lang="en-US" sz="900" dirty="0"/>
          </a:p>
        </p:txBody>
      </p:sp>
      <p:sp>
        <p:nvSpPr>
          <p:cNvPr id="35" name="Text 32"/>
          <p:cNvSpPr/>
          <p:nvPr/>
        </p:nvSpPr>
        <p:spPr>
          <a:xfrm>
            <a:off x="8412480" y="4709160"/>
            <a:ext cx="548640" cy="365760"/>
          </a:xfrm>
          <a:prstGeom prst="rect">
            <a:avLst/>
          </a:prstGeom>
          <a:noFill/>
          <a:ln/>
        </p:spPr>
        <p:txBody>
          <a:bodyPr wrap="square" rtlCol="0" anchor="ctr"/>
          <a:lstStyle/>
          <a:p>
            <a:pPr marL="0" indent="0" algn="r">
              <a:buNone/>
            </a:pPr>
            <a:r>
              <a:rPr lang="en-US" sz="900" dirty="0">
                <a:solidFill>
                  <a:srgbClr val="949594"/>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5F5"/>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C41E1E"/>
          </a:solidFill>
          <a:ln/>
        </p:spPr>
        <p:txBody>
          <a:bodyPr/>
          <a:lstStyle/>
          <a:p>
            <a:endParaRPr lang="en-US"/>
          </a:p>
        </p:txBody>
      </p:sp>
      <p:sp>
        <p:nvSpPr>
          <p:cNvPr id="3" name="Shape 1"/>
          <p:cNvSpPr/>
          <p:nvPr/>
        </p:nvSpPr>
        <p:spPr>
          <a:xfrm>
            <a:off x="8778240" y="0"/>
            <a:ext cx="137160" cy="5143500"/>
          </a:xfrm>
          <a:prstGeom prst="rect">
            <a:avLst/>
          </a:prstGeom>
          <a:solidFill>
            <a:srgbClr val="C41E1E"/>
          </a:solidFill>
          <a:ln/>
        </p:spPr>
        <p:txBody>
          <a:bodyPr/>
          <a:lstStyle/>
          <a:p>
            <a:endParaRPr lang="en-US"/>
          </a:p>
        </p:txBody>
      </p:sp>
      <p:sp>
        <p:nvSpPr>
          <p:cNvPr id="4" name="Shape 2"/>
          <p:cNvSpPr/>
          <p:nvPr/>
        </p:nvSpPr>
        <p:spPr>
          <a:xfrm>
            <a:off x="8961120" y="0"/>
            <a:ext cx="73152" cy="5143500"/>
          </a:xfrm>
          <a:prstGeom prst="rect">
            <a:avLst/>
          </a:prstGeom>
          <a:solidFill>
            <a:srgbClr val="C41E1E">
              <a:alpha val="40000"/>
            </a:srgbClr>
          </a:solidFill>
          <a:ln/>
        </p:spPr>
        <p:txBody>
          <a:bodyPr/>
          <a:lstStyle/>
          <a:p>
            <a:endParaRPr lang="en-US"/>
          </a:p>
        </p:txBody>
      </p:sp>
      <p:sp>
        <p:nvSpPr>
          <p:cNvPr id="5" name="Text 3"/>
          <p:cNvSpPr/>
          <p:nvPr/>
        </p:nvSpPr>
        <p:spPr>
          <a:xfrm>
            <a:off x="731520" y="182880"/>
            <a:ext cx="7315200" cy="548640"/>
          </a:xfrm>
          <a:prstGeom prst="rect">
            <a:avLst/>
          </a:prstGeom>
          <a:noFill/>
          <a:ln/>
        </p:spPr>
        <p:txBody>
          <a:bodyPr wrap="square" lIns="0" tIns="0" rIns="0" bIns="0" rtlCol="0" anchor="ctr"/>
          <a:lstStyle/>
          <a:p>
            <a:pPr marL="0" indent="0">
              <a:buNone/>
            </a:pPr>
            <a:r>
              <a:rPr lang="en-US" sz="2800" b="1" dirty="0">
                <a:solidFill>
                  <a:srgbClr val="1A1A2E"/>
                </a:solidFill>
                <a:latin typeface="Georgia" pitchFamily="34" charset="0"/>
                <a:ea typeface="Georgia" pitchFamily="34" charset="-122"/>
                <a:cs typeface="Georgia" pitchFamily="34" charset="-120"/>
              </a:rPr>
              <a:t>3-Phase Methodology</a:t>
            </a:r>
            <a:endParaRPr lang="en-US" sz="2800" dirty="0"/>
          </a:p>
        </p:txBody>
      </p:sp>
      <p:sp>
        <p:nvSpPr>
          <p:cNvPr id="6" name="Text 4"/>
          <p:cNvSpPr/>
          <p:nvPr/>
        </p:nvSpPr>
        <p:spPr>
          <a:xfrm>
            <a:off x="731520" y="685800"/>
            <a:ext cx="7315200" cy="228600"/>
          </a:xfrm>
          <a:prstGeom prst="rect">
            <a:avLst/>
          </a:prstGeom>
          <a:noFill/>
          <a:ln/>
        </p:spPr>
        <p:txBody>
          <a:bodyPr wrap="square" lIns="0" tIns="0" rIns="0" bIns="0" rtlCol="0" anchor="ctr"/>
          <a:lstStyle/>
          <a:p>
            <a:pPr marL="0" indent="0">
              <a:buNone/>
            </a:pPr>
            <a:r>
              <a:rPr lang="en-US" sz="1100" dirty="0">
                <a:solidFill>
                  <a:srgbClr val="949594"/>
                </a:solidFill>
                <a:latin typeface="Calibri" pitchFamily="34" charset="0"/>
                <a:ea typeface="Calibri" pitchFamily="34" charset="-122"/>
                <a:cs typeface="Calibri" pitchFamily="34" charset="-120"/>
              </a:rPr>
              <a:t>Each phase deliberately adds new data sources to systematically improve accuracy</a:t>
            </a:r>
            <a:endParaRPr lang="en-US" sz="1100" dirty="0"/>
          </a:p>
        </p:txBody>
      </p:sp>
      <p:sp>
        <p:nvSpPr>
          <p:cNvPr id="7" name="Shape 5"/>
          <p:cNvSpPr/>
          <p:nvPr/>
        </p:nvSpPr>
        <p:spPr>
          <a:xfrm>
            <a:off x="365760" y="1051560"/>
            <a:ext cx="2606040" cy="3200400"/>
          </a:xfrm>
          <a:prstGeom prst="rect">
            <a:avLst/>
          </a:prstGeom>
          <a:solidFill>
            <a:srgbClr val="E8F0FE"/>
          </a:solidFill>
          <a:ln/>
          <a:effectLst>
            <a:outerShdw blurRad="50800" dist="25400" dir="8100000" algn="bl" rotWithShape="0">
              <a:srgbClr val="000000">
                <a:alpha val="10000"/>
              </a:srgbClr>
            </a:outerShdw>
          </a:effectLst>
        </p:spPr>
        <p:txBody>
          <a:bodyPr/>
          <a:lstStyle/>
          <a:p>
            <a:endParaRPr lang="en-US"/>
          </a:p>
        </p:txBody>
      </p:sp>
      <p:sp>
        <p:nvSpPr>
          <p:cNvPr id="8" name="Shape 6"/>
          <p:cNvSpPr/>
          <p:nvPr/>
        </p:nvSpPr>
        <p:spPr>
          <a:xfrm>
            <a:off x="365760" y="1051560"/>
            <a:ext cx="2606040" cy="54864"/>
          </a:xfrm>
          <a:prstGeom prst="rect">
            <a:avLst/>
          </a:prstGeom>
          <a:solidFill>
            <a:srgbClr val="2563EB"/>
          </a:solidFill>
          <a:ln/>
        </p:spPr>
        <p:txBody>
          <a:bodyPr/>
          <a:lstStyle/>
          <a:p>
            <a:endParaRPr lang="en-US"/>
          </a:p>
        </p:txBody>
      </p:sp>
      <p:sp>
        <p:nvSpPr>
          <p:cNvPr id="9" name="Text 7"/>
          <p:cNvSpPr/>
          <p:nvPr/>
        </p:nvSpPr>
        <p:spPr>
          <a:xfrm>
            <a:off x="365760" y="1188720"/>
            <a:ext cx="2606040" cy="365760"/>
          </a:xfrm>
          <a:prstGeom prst="rect">
            <a:avLst/>
          </a:prstGeom>
          <a:noFill/>
          <a:ln/>
        </p:spPr>
        <p:txBody>
          <a:bodyPr wrap="square" lIns="0" tIns="0" rIns="0" bIns="0" rtlCol="0" anchor="ctr"/>
          <a:lstStyle/>
          <a:p>
            <a:pPr marL="0" indent="0" algn="ctr">
              <a:buNone/>
            </a:pPr>
            <a:r>
              <a:rPr lang="en-US" sz="1800" b="1" dirty="0">
                <a:solidFill>
                  <a:srgbClr val="2563EB"/>
                </a:solidFill>
                <a:latin typeface="Georgia" pitchFamily="34" charset="0"/>
                <a:ea typeface="Georgia" pitchFamily="34" charset="-122"/>
                <a:cs typeface="Georgia" pitchFamily="34" charset="-120"/>
              </a:rPr>
              <a:t>Phase 1</a:t>
            </a:r>
            <a:endParaRPr lang="en-US" sz="1800" dirty="0"/>
          </a:p>
        </p:txBody>
      </p:sp>
      <p:sp>
        <p:nvSpPr>
          <p:cNvPr id="10" name="Text 8"/>
          <p:cNvSpPr/>
          <p:nvPr/>
        </p:nvSpPr>
        <p:spPr>
          <a:xfrm>
            <a:off x="365760" y="1554480"/>
            <a:ext cx="2606040" cy="228600"/>
          </a:xfrm>
          <a:prstGeom prst="rect">
            <a:avLst/>
          </a:prstGeom>
          <a:noFill/>
          <a:ln/>
        </p:spPr>
        <p:txBody>
          <a:bodyPr wrap="square" lIns="0" tIns="0" rIns="0" bIns="0" rtlCol="0" anchor="ctr"/>
          <a:lstStyle/>
          <a:p>
            <a:pPr marL="0" indent="0" algn="ctr">
              <a:buNone/>
            </a:pPr>
            <a:r>
              <a:rPr lang="en-US" sz="1000" b="1" dirty="0">
                <a:solidFill>
                  <a:srgbClr val="2563EB"/>
                </a:solidFill>
                <a:latin typeface="Calibri" pitchFamily="34" charset="0"/>
                <a:ea typeface="Calibri" pitchFamily="34" charset="-122"/>
                <a:cs typeface="Calibri" pitchFamily="34" charset="-120"/>
              </a:rPr>
              <a:t>Core Race Data</a:t>
            </a:r>
            <a:endParaRPr lang="en-US" sz="1000" dirty="0"/>
          </a:p>
        </p:txBody>
      </p:sp>
      <p:sp>
        <p:nvSpPr>
          <p:cNvPr id="11" name="Text 9"/>
          <p:cNvSpPr/>
          <p:nvPr/>
        </p:nvSpPr>
        <p:spPr>
          <a:xfrm>
            <a:off x="548640" y="1874520"/>
            <a:ext cx="2240280" cy="914400"/>
          </a:xfrm>
          <a:prstGeom prst="rect">
            <a:avLst/>
          </a:prstGeom>
          <a:noFill/>
          <a:ln/>
        </p:spPr>
        <p:txBody>
          <a:bodyPr wrap="square" lIns="0" tIns="0" rIns="0" bIns="0" rtlCol="0" anchor="ctr"/>
          <a:lstStyle/>
          <a:p>
            <a:pPr marL="0" indent="0">
              <a:buNone/>
            </a:pPr>
            <a:r>
              <a:rPr lang="en-US" sz="900" dirty="0">
                <a:solidFill>
                  <a:srgbClr val="444444"/>
                </a:solidFill>
                <a:latin typeface="Calibri" pitchFamily="34" charset="0"/>
                <a:ea typeface="Calibri" pitchFamily="34" charset="-122"/>
                <a:cs typeface="Calibri" pitchFamily="34" charset="-120"/>
              </a:rPr>
              <a:t>Race results (3,524)</a:t>
            </a:r>
            <a:endParaRPr lang="en-US" sz="900" dirty="0"/>
          </a:p>
          <a:p>
            <a:pPr marL="0" indent="0">
              <a:buNone/>
            </a:pPr>
            <a:r>
              <a:rPr lang="en-US" sz="900" dirty="0">
                <a:solidFill>
                  <a:srgbClr val="444444"/>
                </a:solidFill>
                <a:latin typeface="Calibri" pitchFamily="34" charset="0"/>
                <a:ea typeface="Calibri" pitchFamily="34" charset="-122"/>
                <a:cs typeface="Calibri" pitchFamily="34" charset="-120"/>
              </a:rPr>
              <a:t>Qualifying times (3,518)</a:t>
            </a:r>
            <a:endParaRPr lang="en-US" sz="900" dirty="0"/>
          </a:p>
          <a:p>
            <a:pPr marL="0" indent="0">
              <a:buNone/>
            </a:pPr>
            <a:r>
              <a:rPr lang="en-US" sz="900" dirty="0">
                <a:solidFill>
                  <a:srgbClr val="444444"/>
                </a:solidFill>
                <a:latin typeface="Calibri" pitchFamily="34" charset="0"/>
                <a:ea typeface="Calibri" pitchFamily="34" charset="-122"/>
                <a:cs typeface="Calibri" pitchFamily="34" charset="-120"/>
              </a:rPr>
              <a:t>Pit stops (5,674)</a:t>
            </a:r>
            <a:endParaRPr lang="en-US" sz="900" dirty="0"/>
          </a:p>
          <a:p>
            <a:pPr marL="0" indent="0">
              <a:buNone/>
            </a:pPr>
            <a:r>
              <a:rPr lang="en-US" sz="900" dirty="0">
                <a:solidFill>
                  <a:srgbClr val="444444"/>
                </a:solidFill>
                <a:latin typeface="Calibri" pitchFamily="34" charset="0"/>
                <a:ea typeface="Calibri" pitchFamily="34" charset="-122"/>
                <a:cs typeface="Calibri" pitchFamily="34" charset="-120"/>
              </a:rPr>
              <a:t>Driver standings (195)</a:t>
            </a:r>
            <a:endParaRPr lang="en-US" sz="900" dirty="0"/>
          </a:p>
        </p:txBody>
      </p:sp>
      <p:sp>
        <p:nvSpPr>
          <p:cNvPr id="12" name="Shape 10"/>
          <p:cNvSpPr/>
          <p:nvPr/>
        </p:nvSpPr>
        <p:spPr>
          <a:xfrm>
            <a:off x="502920" y="2880360"/>
            <a:ext cx="1097280" cy="640080"/>
          </a:xfrm>
          <a:prstGeom prst="rect">
            <a:avLst/>
          </a:prstGeom>
          <a:solidFill>
            <a:srgbClr val="FFFFFF"/>
          </a:solidFill>
          <a:ln/>
        </p:spPr>
        <p:txBody>
          <a:bodyPr/>
          <a:lstStyle/>
          <a:p>
            <a:endParaRPr lang="en-US"/>
          </a:p>
        </p:txBody>
      </p:sp>
      <p:sp>
        <p:nvSpPr>
          <p:cNvPr id="13" name="Text 11"/>
          <p:cNvSpPr/>
          <p:nvPr/>
        </p:nvSpPr>
        <p:spPr>
          <a:xfrm>
            <a:off x="502920" y="2880360"/>
            <a:ext cx="1097280" cy="365760"/>
          </a:xfrm>
          <a:prstGeom prst="rect">
            <a:avLst/>
          </a:prstGeom>
          <a:noFill/>
          <a:ln/>
        </p:spPr>
        <p:txBody>
          <a:bodyPr wrap="square" lIns="0" tIns="0" rIns="0" bIns="0" rtlCol="0" anchor="ctr"/>
          <a:lstStyle/>
          <a:p>
            <a:pPr marL="0" indent="0" algn="ctr">
              <a:buNone/>
            </a:pPr>
            <a:r>
              <a:rPr lang="en-US" sz="1600" b="1" dirty="0">
                <a:solidFill>
                  <a:srgbClr val="2563EB"/>
                </a:solidFill>
                <a:latin typeface="Georgia" pitchFamily="34" charset="0"/>
                <a:ea typeface="Georgia" pitchFamily="34" charset="-122"/>
                <a:cs typeface="Georgia" pitchFamily="34" charset="-120"/>
              </a:rPr>
              <a:t>50%</a:t>
            </a:r>
            <a:endParaRPr lang="en-US" sz="1600" dirty="0"/>
          </a:p>
        </p:txBody>
      </p:sp>
      <p:sp>
        <p:nvSpPr>
          <p:cNvPr id="14" name="Text 12"/>
          <p:cNvSpPr/>
          <p:nvPr/>
        </p:nvSpPr>
        <p:spPr>
          <a:xfrm>
            <a:off x="502920" y="3246120"/>
            <a:ext cx="1097280" cy="182880"/>
          </a:xfrm>
          <a:prstGeom prst="rect">
            <a:avLst/>
          </a:prstGeom>
          <a:noFill/>
          <a:ln/>
        </p:spPr>
        <p:txBody>
          <a:bodyPr wrap="square" lIns="0" tIns="0" rIns="0" bIns="0" rtlCol="0" anchor="ctr"/>
          <a:lstStyle/>
          <a:p>
            <a:pPr marL="0" indent="0" algn="ctr">
              <a:buNone/>
            </a:pPr>
            <a:r>
              <a:rPr lang="en-US" sz="800" dirty="0">
                <a:solidFill>
                  <a:srgbClr val="949594"/>
                </a:solidFill>
                <a:latin typeface="Calibri" pitchFamily="34" charset="0"/>
                <a:ea typeface="Calibri" pitchFamily="34" charset="-122"/>
                <a:cs typeface="Calibri" pitchFamily="34" charset="-120"/>
              </a:rPr>
              <a:t>Winner</a:t>
            </a:r>
            <a:endParaRPr lang="en-US" sz="800" dirty="0"/>
          </a:p>
        </p:txBody>
      </p:sp>
      <p:sp>
        <p:nvSpPr>
          <p:cNvPr id="15" name="Shape 13"/>
          <p:cNvSpPr/>
          <p:nvPr/>
        </p:nvSpPr>
        <p:spPr>
          <a:xfrm>
            <a:off x="1737360" y="2880360"/>
            <a:ext cx="1097280" cy="640080"/>
          </a:xfrm>
          <a:prstGeom prst="rect">
            <a:avLst/>
          </a:prstGeom>
          <a:solidFill>
            <a:srgbClr val="FFFFFF"/>
          </a:solidFill>
          <a:ln/>
        </p:spPr>
        <p:txBody>
          <a:bodyPr/>
          <a:lstStyle/>
          <a:p>
            <a:endParaRPr lang="en-US"/>
          </a:p>
        </p:txBody>
      </p:sp>
      <p:sp>
        <p:nvSpPr>
          <p:cNvPr id="16" name="Text 14"/>
          <p:cNvSpPr/>
          <p:nvPr/>
        </p:nvSpPr>
        <p:spPr>
          <a:xfrm>
            <a:off x="1737360" y="2880360"/>
            <a:ext cx="1097280" cy="365760"/>
          </a:xfrm>
          <a:prstGeom prst="rect">
            <a:avLst/>
          </a:prstGeom>
          <a:noFill/>
          <a:ln/>
        </p:spPr>
        <p:txBody>
          <a:bodyPr wrap="square" lIns="0" tIns="0" rIns="0" bIns="0" rtlCol="0" anchor="ctr"/>
          <a:lstStyle/>
          <a:p>
            <a:pPr marL="0" indent="0" algn="ctr">
              <a:buNone/>
            </a:pPr>
            <a:r>
              <a:rPr lang="en-US" sz="1600" b="1" dirty="0">
                <a:solidFill>
                  <a:srgbClr val="2563EB"/>
                </a:solidFill>
                <a:latin typeface="Georgia" pitchFamily="34" charset="0"/>
                <a:ea typeface="Georgia" pitchFamily="34" charset="-122"/>
                <a:cs typeface="Georgia" pitchFamily="34" charset="-120"/>
              </a:rPr>
              <a:t>2.74</a:t>
            </a:r>
            <a:endParaRPr lang="en-US" sz="1600" dirty="0"/>
          </a:p>
        </p:txBody>
      </p:sp>
      <p:sp>
        <p:nvSpPr>
          <p:cNvPr id="17" name="Text 15"/>
          <p:cNvSpPr/>
          <p:nvPr/>
        </p:nvSpPr>
        <p:spPr>
          <a:xfrm>
            <a:off x="1737360" y="3246120"/>
            <a:ext cx="1097280" cy="182880"/>
          </a:xfrm>
          <a:prstGeom prst="rect">
            <a:avLst/>
          </a:prstGeom>
          <a:noFill/>
          <a:ln/>
        </p:spPr>
        <p:txBody>
          <a:bodyPr wrap="square" lIns="0" tIns="0" rIns="0" bIns="0" rtlCol="0" anchor="ctr"/>
          <a:lstStyle/>
          <a:p>
            <a:pPr marL="0" indent="0" algn="ctr">
              <a:buNone/>
            </a:pPr>
            <a:r>
              <a:rPr lang="en-US" sz="800" dirty="0">
                <a:solidFill>
                  <a:srgbClr val="949594"/>
                </a:solidFill>
                <a:latin typeface="Calibri" pitchFamily="34" charset="0"/>
                <a:ea typeface="Calibri" pitchFamily="34" charset="-122"/>
                <a:cs typeface="Calibri" pitchFamily="34" charset="-120"/>
              </a:rPr>
              <a:t>MAE</a:t>
            </a:r>
            <a:endParaRPr lang="en-US" sz="800" dirty="0"/>
          </a:p>
        </p:txBody>
      </p:sp>
      <p:sp>
        <p:nvSpPr>
          <p:cNvPr id="18" name="Text 16"/>
          <p:cNvSpPr/>
          <p:nvPr/>
        </p:nvSpPr>
        <p:spPr>
          <a:xfrm>
            <a:off x="365760" y="3657600"/>
            <a:ext cx="2606040" cy="228600"/>
          </a:xfrm>
          <a:prstGeom prst="rect">
            <a:avLst/>
          </a:prstGeom>
          <a:noFill/>
          <a:ln/>
        </p:spPr>
        <p:txBody>
          <a:bodyPr wrap="square" lIns="0" tIns="0" rIns="0" bIns="0" rtlCol="0" anchor="ctr"/>
          <a:lstStyle/>
          <a:p>
            <a:pPr marL="0" indent="0" algn="ctr">
              <a:buNone/>
            </a:pPr>
            <a:r>
              <a:rPr lang="en-US" sz="900" dirty="0">
                <a:solidFill>
                  <a:srgbClr val="2563EB"/>
                </a:solidFill>
                <a:latin typeface="Calibri" pitchFamily="34" charset="0"/>
                <a:ea typeface="Calibri" pitchFamily="34" charset="-122"/>
                <a:cs typeface="Calibri" pitchFamily="34" charset="-120"/>
              </a:rPr>
              <a:t>29 features</a:t>
            </a:r>
            <a:endParaRPr lang="en-US" sz="900" dirty="0"/>
          </a:p>
        </p:txBody>
      </p:sp>
      <p:sp>
        <p:nvSpPr>
          <p:cNvPr id="19" name="Shape 17"/>
          <p:cNvSpPr/>
          <p:nvPr/>
        </p:nvSpPr>
        <p:spPr>
          <a:xfrm>
            <a:off x="3154680" y="1051560"/>
            <a:ext cx="2606040" cy="3200400"/>
          </a:xfrm>
          <a:prstGeom prst="rect">
            <a:avLst/>
          </a:prstGeom>
          <a:solidFill>
            <a:srgbClr val="FEF9E7"/>
          </a:solidFill>
          <a:ln/>
          <a:effectLst>
            <a:outerShdw blurRad="50800" dist="25400" dir="8100000" algn="bl" rotWithShape="0">
              <a:srgbClr val="000000">
                <a:alpha val="10000"/>
              </a:srgbClr>
            </a:outerShdw>
          </a:effectLst>
        </p:spPr>
        <p:txBody>
          <a:bodyPr/>
          <a:lstStyle/>
          <a:p>
            <a:endParaRPr lang="en-US"/>
          </a:p>
        </p:txBody>
      </p:sp>
      <p:sp>
        <p:nvSpPr>
          <p:cNvPr id="20" name="Shape 18"/>
          <p:cNvSpPr/>
          <p:nvPr/>
        </p:nvSpPr>
        <p:spPr>
          <a:xfrm>
            <a:off x="3154680" y="1051560"/>
            <a:ext cx="2606040" cy="54864"/>
          </a:xfrm>
          <a:prstGeom prst="rect">
            <a:avLst/>
          </a:prstGeom>
          <a:solidFill>
            <a:srgbClr val="D97706"/>
          </a:solidFill>
          <a:ln/>
        </p:spPr>
        <p:txBody>
          <a:bodyPr/>
          <a:lstStyle/>
          <a:p>
            <a:endParaRPr lang="en-US"/>
          </a:p>
        </p:txBody>
      </p:sp>
      <p:sp>
        <p:nvSpPr>
          <p:cNvPr id="21" name="Text 19"/>
          <p:cNvSpPr/>
          <p:nvPr/>
        </p:nvSpPr>
        <p:spPr>
          <a:xfrm>
            <a:off x="3154680" y="1188720"/>
            <a:ext cx="2606040" cy="365760"/>
          </a:xfrm>
          <a:prstGeom prst="rect">
            <a:avLst/>
          </a:prstGeom>
          <a:noFill/>
          <a:ln/>
        </p:spPr>
        <p:txBody>
          <a:bodyPr wrap="square" lIns="0" tIns="0" rIns="0" bIns="0" rtlCol="0" anchor="ctr"/>
          <a:lstStyle/>
          <a:p>
            <a:pPr marL="0" indent="0" algn="ctr">
              <a:buNone/>
            </a:pPr>
            <a:r>
              <a:rPr lang="en-US" sz="1800" b="1" dirty="0">
                <a:solidFill>
                  <a:srgbClr val="D97706"/>
                </a:solidFill>
                <a:latin typeface="Georgia" pitchFamily="34" charset="0"/>
                <a:ea typeface="Georgia" pitchFamily="34" charset="-122"/>
                <a:cs typeface="Georgia" pitchFamily="34" charset="-120"/>
              </a:rPr>
              <a:t>Phase 2</a:t>
            </a:r>
            <a:endParaRPr lang="en-US" sz="1800" dirty="0"/>
          </a:p>
        </p:txBody>
      </p:sp>
      <p:sp>
        <p:nvSpPr>
          <p:cNvPr id="22" name="Text 20"/>
          <p:cNvSpPr/>
          <p:nvPr/>
        </p:nvSpPr>
        <p:spPr>
          <a:xfrm>
            <a:off x="3154680" y="1554480"/>
            <a:ext cx="2606040" cy="228600"/>
          </a:xfrm>
          <a:prstGeom prst="rect">
            <a:avLst/>
          </a:prstGeom>
          <a:noFill/>
          <a:ln/>
        </p:spPr>
        <p:txBody>
          <a:bodyPr wrap="square" lIns="0" tIns="0" rIns="0" bIns="0" rtlCol="0" anchor="ctr"/>
          <a:lstStyle/>
          <a:p>
            <a:pPr marL="0" indent="0" algn="ctr">
              <a:buNone/>
            </a:pPr>
            <a:r>
              <a:rPr lang="en-US" sz="1000" b="1" dirty="0">
                <a:solidFill>
                  <a:srgbClr val="D97706"/>
                </a:solidFill>
                <a:latin typeface="Calibri" pitchFamily="34" charset="0"/>
                <a:ea typeface="Calibri" pitchFamily="34" charset="-122"/>
                <a:cs typeface="Calibri" pitchFamily="34" charset="-120"/>
              </a:rPr>
              <a:t>Tire &amp; Lap Data</a:t>
            </a:r>
            <a:endParaRPr lang="en-US" sz="1000" dirty="0"/>
          </a:p>
        </p:txBody>
      </p:sp>
      <p:sp>
        <p:nvSpPr>
          <p:cNvPr id="23" name="Text 21"/>
          <p:cNvSpPr/>
          <p:nvPr/>
        </p:nvSpPr>
        <p:spPr>
          <a:xfrm>
            <a:off x="3337560" y="1874520"/>
            <a:ext cx="2240280" cy="914400"/>
          </a:xfrm>
          <a:prstGeom prst="rect">
            <a:avLst/>
          </a:prstGeom>
          <a:noFill/>
          <a:ln/>
        </p:spPr>
        <p:txBody>
          <a:bodyPr wrap="square" lIns="0" tIns="0" rIns="0" bIns="0" rtlCol="0" anchor="ctr"/>
          <a:lstStyle/>
          <a:p>
            <a:pPr marL="0" indent="0">
              <a:buNone/>
            </a:pPr>
            <a:r>
              <a:rPr lang="en-US" sz="900" dirty="0">
                <a:solidFill>
                  <a:srgbClr val="444444"/>
                </a:solidFill>
                <a:latin typeface="Calibri" pitchFamily="34" charset="0"/>
                <a:ea typeface="Calibri" pitchFamily="34" charset="-122"/>
                <a:cs typeface="Calibri" pitchFamily="34" charset="-120"/>
              </a:rPr>
              <a:t>Individual laps (181,721)</a:t>
            </a:r>
            <a:endParaRPr lang="en-US" sz="900" dirty="0"/>
          </a:p>
          <a:p>
            <a:pPr marL="0" indent="0">
              <a:buNone/>
            </a:pPr>
            <a:r>
              <a:rPr lang="en-US" sz="900" dirty="0">
                <a:solidFill>
                  <a:srgbClr val="444444"/>
                </a:solidFill>
                <a:latin typeface="Calibri" pitchFamily="34" charset="0"/>
                <a:ea typeface="Calibri" pitchFamily="34" charset="-122"/>
                <a:cs typeface="Calibri" pitchFamily="34" charset="-120"/>
              </a:rPr>
              <a:t>Tire degradation (7,996)</a:t>
            </a:r>
            <a:endParaRPr lang="en-US" sz="900" dirty="0"/>
          </a:p>
          <a:p>
            <a:pPr marL="0" indent="0">
              <a:buNone/>
            </a:pPr>
            <a:r>
              <a:rPr lang="en-US" sz="900" dirty="0">
                <a:solidFill>
                  <a:srgbClr val="444444"/>
                </a:solidFill>
                <a:latin typeface="Calibri" pitchFamily="34" charset="0"/>
                <a:ea typeface="Calibri" pitchFamily="34" charset="-122"/>
                <a:cs typeface="Calibri" pitchFamily="34" charset="-120"/>
              </a:rPr>
              <a:t>Stint analysis</a:t>
            </a:r>
            <a:endParaRPr lang="en-US" sz="900" dirty="0"/>
          </a:p>
          <a:p>
            <a:pPr marL="0" indent="0">
              <a:buNone/>
            </a:pPr>
            <a:r>
              <a:rPr lang="en-US" sz="900" dirty="0">
                <a:solidFill>
                  <a:srgbClr val="444444"/>
                </a:solidFill>
                <a:latin typeface="Calibri" pitchFamily="34" charset="0"/>
                <a:ea typeface="Calibri" pitchFamily="34" charset="-122"/>
                <a:cs typeface="Calibri" pitchFamily="34" charset="-120"/>
              </a:rPr>
              <a:t>Lap consistency</a:t>
            </a:r>
            <a:endParaRPr lang="en-US" sz="900" dirty="0"/>
          </a:p>
        </p:txBody>
      </p:sp>
      <p:sp>
        <p:nvSpPr>
          <p:cNvPr id="24" name="Shape 22"/>
          <p:cNvSpPr/>
          <p:nvPr/>
        </p:nvSpPr>
        <p:spPr>
          <a:xfrm>
            <a:off x="3291840" y="2880360"/>
            <a:ext cx="1097280" cy="640080"/>
          </a:xfrm>
          <a:prstGeom prst="rect">
            <a:avLst/>
          </a:prstGeom>
          <a:solidFill>
            <a:srgbClr val="FFFFFF"/>
          </a:solidFill>
          <a:ln/>
        </p:spPr>
        <p:txBody>
          <a:bodyPr/>
          <a:lstStyle/>
          <a:p>
            <a:endParaRPr lang="en-US"/>
          </a:p>
        </p:txBody>
      </p:sp>
      <p:sp>
        <p:nvSpPr>
          <p:cNvPr id="25" name="Text 23"/>
          <p:cNvSpPr/>
          <p:nvPr/>
        </p:nvSpPr>
        <p:spPr>
          <a:xfrm>
            <a:off x="3291840" y="2880360"/>
            <a:ext cx="1097280" cy="365760"/>
          </a:xfrm>
          <a:prstGeom prst="rect">
            <a:avLst/>
          </a:prstGeom>
          <a:noFill/>
          <a:ln/>
        </p:spPr>
        <p:txBody>
          <a:bodyPr wrap="square" lIns="0" tIns="0" rIns="0" bIns="0" rtlCol="0" anchor="ctr"/>
          <a:lstStyle/>
          <a:p>
            <a:pPr marL="0" indent="0" algn="ctr">
              <a:buNone/>
            </a:pPr>
            <a:r>
              <a:rPr lang="en-US" sz="1600" b="1" dirty="0">
                <a:solidFill>
                  <a:srgbClr val="D97706"/>
                </a:solidFill>
                <a:latin typeface="Georgia" pitchFamily="34" charset="0"/>
                <a:ea typeface="Georgia" pitchFamily="34" charset="-122"/>
                <a:cs typeface="Georgia" pitchFamily="34" charset="-120"/>
              </a:rPr>
              <a:t>50%</a:t>
            </a:r>
            <a:endParaRPr lang="en-US" sz="1600" dirty="0"/>
          </a:p>
        </p:txBody>
      </p:sp>
      <p:sp>
        <p:nvSpPr>
          <p:cNvPr id="26" name="Text 24"/>
          <p:cNvSpPr/>
          <p:nvPr/>
        </p:nvSpPr>
        <p:spPr>
          <a:xfrm>
            <a:off x="3291840" y="3246120"/>
            <a:ext cx="1097280" cy="182880"/>
          </a:xfrm>
          <a:prstGeom prst="rect">
            <a:avLst/>
          </a:prstGeom>
          <a:noFill/>
          <a:ln/>
        </p:spPr>
        <p:txBody>
          <a:bodyPr wrap="square" lIns="0" tIns="0" rIns="0" bIns="0" rtlCol="0" anchor="ctr"/>
          <a:lstStyle/>
          <a:p>
            <a:pPr marL="0" indent="0" algn="ctr">
              <a:buNone/>
            </a:pPr>
            <a:r>
              <a:rPr lang="en-US" sz="800" dirty="0">
                <a:solidFill>
                  <a:srgbClr val="949594"/>
                </a:solidFill>
                <a:latin typeface="Calibri" pitchFamily="34" charset="0"/>
                <a:ea typeface="Calibri" pitchFamily="34" charset="-122"/>
                <a:cs typeface="Calibri" pitchFamily="34" charset="-120"/>
              </a:rPr>
              <a:t>Winner</a:t>
            </a:r>
            <a:endParaRPr lang="en-US" sz="800" dirty="0"/>
          </a:p>
        </p:txBody>
      </p:sp>
      <p:sp>
        <p:nvSpPr>
          <p:cNvPr id="27" name="Shape 25"/>
          <p:cNvSpPr/>
          <p:nvPr/>
        </p:nvSpPr>
        <p:spPr>
          <a:xfrm>
            <a:off x="4526280" y="2880360"/>
            <a:ext cx="1097280" cy="640080"/>
          </a:xfrm>
          <a:prstGeom prst="rect">
            <a:avLst/>
          </a:prstGeom>
          <a:solidFill>
            <a:srgbClr val="FFFFFF"/>
          </a:solidFill>
          <a:ln/>
        </p:spPr>
        <p:txBody>
          <a:bodyPr/>
          <a:lstStyle/>
          <a:p>
            <a:endParaRPr lang="en-US"/>
          </a:p>
        </p:txBody>
      </p:sp>
      <p:sp>
        <p:nvSpPr>
          <p:cNvPr id="28" name="Text 26"/>
          <p:cNvSpPr/>
          <p:nvPr/>
        </p:nvSpPr>
        <p:spPr>
          <a:xfrm>
            <a:off x="4526280" y="2880360"/>
            <a:ext cx="1097280" cy="365760"/>
          </a:xfrm>
          <a:prstGeom prst="rect">
            <a:avLst/>
          </a:prstGeom>
          <a:noFill/>
          <a:ln/>
        </p:spPr>
        <p:txBody>
          <a:bodyPr wrap="square" lIns="0" tIns="0" rIns="0" bIns="0" rtlCol="0" anchor="ctr"/>
          <a:lstStyle/>
          <a:p>
            <a:pPr marL="0" indent="0" algn="ctr">
              <a:buNone/>
            </a:pPr>
            <a:r>
              <a:rPr lang="en-US" sz="1600" b="1" dirty="0">
                <a:solidFill>
                  <a:srgbClr val="D97706"/>
                </a:solidFill>
                <a:latin typeface="Georgia" pitchFamily="34" charset="0"/>
                <a:ea typeface="Georgia" pitchFamily="34" charset="-122"/>
                <a:cs typeface="Georgia" pitchFamily="34" charset="-120"/>
              </a:rPr>
              <a:t>2.10</a:t>
            </a:r>
            <a:endParaRPr lang="en-US" sz="1600" dirty="0"/>
          </a:p>
        </p:txBody>
      </p:sp>
      <p:sp>
        <p:nvSpPr>
          <p:cNvPr id="29" name="Text 27"/>
          <p:cNvSpPr/>
          <p:nvPr/>
        </p:nvSpPr>
        <p:spPr>
          <a:xfrm>
            <a:off x="4526280" y="3246120"/>
            <a:ext cx="1097280" cy="182880"/>
          </a:xfrm>
          <a:prstGeom prst="rect">
            <a:avLst/>
          </a:prstGeom>
          <a:noFill/>
          <a:ln/>
        </p:spPr>
        <p:txBody>
          <a:bodyPr wrap="square" lIns="0" tIns="0" rIns="0" bIns="0" rtlCol="0" anchor="ctr"/>
          <a:lstStyle/>
          <a:p>
            <a:pPr marL="0" indent="0" algn="ctr">
              <a:buNone/>
            </a:pPr>
            <a:r>
              <a:rPr lang="en-US" sz="800" dirty="0">
                <a:solidFill>
                  <a:srgbClr val="949594"/>
                </a:solidFill>
                <a:latin typeface="Calibri" pitchFamily="34" charset="0"/>
                <a:ea typeface="Calibri" pitchFamily="34" charset="-122"/>
                <a:cs typeface="Calibri" pitchFamily="34" charset="-120"/>
              </a:rPr>
              <a:t>MAE</a:t>
            </a:r>
            <a:endParaRPr lang="en-US" sz="800" dirty="0"/>
          </a:p>
        </p:txBody>
      </p:sp>
      <p:sp>
        <p:nvSpPr>
          <p:cNvPr id="30" name="Text 28"/>
          <p:cNvSpPr/>
          <p:nvPr/>
        </p:nvSpPr>
        <p:spPr>
          <a:xfrm>
            <a:off x="3154680" y="3657600"/>
            <a:ext cx="2606040" cy="228600"/>
          </a:xfrm>
          <a:prstGeom prst="rect">
            <a:avLst/>
          </a:prstGeom>
          <a:noFill/>
          <a:ln/>
        </p:spPr>
        <p:txBody>
          <a:bodyPr wrap="square" lIns="0" tIns="0" rIns="0" bIns="0" rtlCol="0" anchor="ctr"/>
          <a:lstStyle/>
          <a:p>
            <a:pPr marL="0" indent="0" algn="ctr">
              <a:buNone/>
            </a:pPr>
            <a:r>
              <a:rPr lang="en-US" sz="900" dirty="0">
                <a:solidFill>
                  <a:srgbClr val="D97706"/>
                </a:solidFill>
                <a:latin typeface="Calibri" pitchFamily="34" charset="0"/>
                <a:ea typeface="Calibri" pitchFamily="34" charset="-122"/>
                <a:cs typeface="Calibri" pitchFamily="34" charset="-120"/>
              </a:rPr>
              <a:t>59 features</a:t>
            </a:r>
            <a:endParaRPr lang="en-US" sz="900" dirty="0"/>
          </a:p>
        </p:txBody>
      </p:sp>
      <p:sp>
        <p:nvSpPr>
          <p:cNvPr id="31" name="Shape 29"/>
          <p:cNvSpPr/>
          <p:nvPr/>
        </p:nvSpPr>
        <p:spPr>
          <a:xfrm>
            <a:off x="5943600" y="1051560"/>
            <a:ext cx="2606040" cy="3200400"/>
          </a:xfrm>
          <a:prstGeom prst="rect">
            <a:avLst/>
          </a:prstGeom>
          <a:solidFill>
            <a:srgbClr val="E6F4EA"/>
          </a:solidFill>
          <a:ln/>
          <a:effectLst>
            <a:outerShdw blurRad="50800" dist="25400" dir="8100000" algn="bl" rotWithShape="0">
              <a:srgbClr val="000000">
                <a:alpha val="10000"/>
              </a:srgbClr>
            </a:outerShdw>
          </a:effectLst>
        </p:spPr>
        <p:txBody>
          <a:bodyPr/>
          <a:lstStyle/>
          <a:p>
            <a:endParaRPr lang="en-US"/>
          </a:p>
        </p:txBody>
      </p:sp>
      <p:sp>
        <p:nvSpPr>
          <p:cNvPr id="32" name="Shape 30"/>
          <p:cNvSpPr/>
          <p:nvPr/>
        </p:nvSpPr>
        <p:spPr>
          <a:xfrm>
            <a:off x="5943600" y="1051560"/>
            <a:ext cx="2606040" cy="54864"/>
          </a:xfrm>
          <a:prstGeom prst="rect">
            <a:avLst/>
          </a:prstGeom>
          <a:solidFill>
            <a:srgbClr val="059669"/>
          </a:solidFill>
          <a:ln/>
        </p:spPr>
        <p:txBody>
          <a:bodyPr/>
          <a:lstStyle/>
          <a:p>
            <a:endParaRPr lang="en-US"/>
          </a:p>
        </p:txBody>
      </p:sp>
      <p:sp>
        <p:nvSpPr>
          <p:cNvPr id="33" name="Text 31"/>
          <p:cNvSpPr/>
          <p:nvPr/>
        </p:nvSpPr>
        <p:spPr>
          <a:xfrm>
            <a:off x="5943600" y="1188720"/>
            <a:ext cx="2606040" cy="365760"/>
          </a:xfrm>
          <a:prstGeom prst="rect">
            <a:avLst/>
          </a:prstGeom>
          <a:noFill/>
          <a:ln/>
        </p:spPr>
        <p:txBody>
          <a:bodyPr wrap="square" lIns="0" tIns="0" rIns="0" bIns="0" rtlCol="0" anchor="ctr"/>
          <a:lstStyle/>
          <a:p>
            <a:pPr marL="0" indent="0" algn="ctr">
              <a:buNone/>
            </a:pPr>
            <a:r>
              <a:rPr lang="en-US" sz="1800" b="1" dirty="0">
                <a:solidFill>
                  <a:srgbClr val="059669"/>
                </a:solidFill>
                <a:latin typeface="Georgia" pitchFamily="34" charset="0"/>
                <a:ea typeface="Georgia" pitchFamily="34" charset="-122"/>
                <a:cs typeface="Georgia" pitchFamily="34" charset="-120"/>
              </a:rPr>
              <a:t>Phase 3</a:t>
            </a:r>
            <a:endParaRPr lang="en-US" sz="1800" dirty="0"/>
          </a:p>
        </p:txBody>
      </p:sp>
      <p:sp>
        <p:nvSpPr>
          <p:cNvPr id="34" name="Text 32"/>
          <p:cNvSpPr/>
          <p:nvPr/>
        </p:nvSpPr>
        <p:spPr>
          <a:xfrm>
            <a:off x="5943600" y="1554480"/>
            <a:ext cx="2606040" cy="228600"/>
          </a:xfrm>
          <a:prstGeom prst="rect">
            <a:avLst/>
          </a:prstGeom>
          <a:noFill/>
          <a:ln/>
        </p:spPr>
        <p:txBody>
          <a:bodyPr wrap="square" lIns="0" tIns="0" rIns="0" bIns="0" rtlCol="0" anchor="ctr"/>
          <a:lstStyle/>
          <a:p>
            <a:pPr marL="0" indent="0" algn="ctr">
              <a:buNone/>
            </a:pPr>
            <a:r>
              <a:rPr lang="en-US" sz="1000" b="1" dirty="0">
                <a:solidFill>
                  <a:srgbClr val="059669"/>
                </a:solidFill>
                <a:latin typeface="Calibri" pitchFamily="34" charset="0"/>
                <a:ea typeface="Calibri" pitchFamily="34" charset="-122"/>
                <a:cs typeface="Calibri" pitchFamily="34" charset="-120"/>
              </a:rPr>
              <a:t>Weather Data</a:t>
            </a:r>
            <a:endParaRPr lang="en-US" sz="1000" dirty="0"/>
          </a:p>
        </p:txBody>
      </p:sp>
      <p:sp>
        <p:nvSpPr>
          <p:cNvPr id="35" name="Text 33"/>
          <p:cNvSpPr/>
          <p:nvPr/>
        </p:nvSpPr>
        <p:spPr>
          <a:xfrm>
            <a:off x="6126480" y="1874520"/>
            <a:ext cx="2240280" cy="914400"/>
          </a:xfrm>
          <a:prstGeom prst="rect">
            <a:avLst/>
          </a:prstGeom>
          <a:noFill/>
          <a:ln/>
        </p:spPr>
        <p:txBody>
          <a:bodyPr wrap="square" lIns="0" tIns="0" rIns="0" bIns="0" rtlCol="0" anchor="ctr"/>
          <a:lstStyle/>
          <a:p>
            <a:pPr marL="0" indent="0">
              <a:buNone/>
            </a:pPr>
            <a:r>
              <a:rPr lang="en-US" sz="900" dirty="0">
                <a:solidFill>
                  <a:srgbClr val="444444"/>
                </a:solidFill>
                <a:latin typeface="Calibri" pitchFamily="34" charset="0"/>
                <a:ea typeface="Calibri" pitchFamily="34" charset="-122"/>
                <a:cs typeface="Calibri" pitchFamily="34" charset="-120"/>
              </a:rPr>
              <a:t>Track temperature</a:t>
            </a:r>
            <a:endParaRPr lang="en-US" sz="900" dirty="0"/>
          </a:p>
          <a:p>
            <a:pPr marL="0" indent="0">
              <a:buNone/>
            </a:pPr>
            <a:r>
              <a:rPr lang="en-US" sz="900" dirty="0">
                <a:solidFill>
                  <a:srgbClr val="444444"/>
                </a:solidFill>
                <a:latin typeface="Calibri" pitchFamily="34" charset="0"/>
                <a:ea typeface="Calibri" pitchFamily="34" charset="-122"/>
                <a:cs typeface="Calibri" pitchFamily="34" charset="-120"/>
              </a:rPr>
              <a:t>Air temperature</a:t>
            </a:r>
            <a:endParaRPr lang="en-US" sz="900" dirty="0"/>
          </a:p>
          <a:p>
            <a:pPr marL="0" indent="0">
              <a:buNone/>
            </a:pPr>
            <a:r>
              <a:rPr lang="en-US" sz="900" dirty="0">
                <a:solidFill>
                  <a:srgbClr val="444444"/>
                </a:solidFill>
                <a:latin typeface="Calibri" pitchFamily="34" charset="0"/>
                <a:ea typeface="Calibri" pitchFamily="34" charset="-122"/>
                <a:cs typeface="Calibri" pitchFamily="34" charset="-120"/>
              </a:rPr>
              <a:t>Humidity &amp; rainfall</a:t>
            </a:r>
            <a:endParaRPr lang="en-US" sz="900" dirty="0"/>
          </a:p>
          <a:p>
            <a:pPr marL="0" indent="0">
              <a:buNone/>
            </a:pPr>
            <a:r>
              <a:rPr lang="en-US" sz="900" dirty="0">
                <a:solidFill>
                  <a:srgbClr val="444444"/>
                </a:solidFill>
                <a:latin typeface="Calibri" pitchFamily="34" charset="0"/>
                <a:ea typeface="Calibri" pitchFamily="34" charset="-122"/>
                <a:cs typeface="Calibri" pitchFamily="34" charset="-120"/>
              </a:rPr>
              <a:t>10 weather features</a:t>
            </a:r>
            <a:endParaRPr lang="en-US" sz="900" dirty="0"/>
          </a:p>
        </p:txBody>
      </p:sp>
      <p:sp>
        <p:nvSpPr>
          <p:cNvPr id="36" name="Shape 34"/>
          <p:cNvSpPr/>
          <p:nvPr/>
        </p:nvSpPr>
        <p:spPr>
          <a:xfrm>
            <a:off x="6080760" y="2880360"/>
            <a:ext cx="1097280" cy="640080"/>
          </a:xfrm>
          <a:prstGeom prst="rect">
            <a:avLst/>
          </a:prstGeom>
          <a:solidFill>
            <a:srgbClr val="FFFFFF"/>
          </a:solidFill>
          <a:ln/>
        </p:spPr>
        <p:txBody>
          <a:bodyPr/>
          <a:lstStyle/>
          <a:p>
            <a:endParaRPr lang="en-US"/>
          </a:p>
        </p:txBody>
      </p:sp>
      <p:sp>
        <p:nvSpPr>
          <p:cNvPr id="37" name="Text 35"/>
          <p:cNvSpPr/>
          <p:nvPr/>
        </p:nvSpPr>
        <p:spPr>
          <a:xfrm>
            <a:off x="6080760" y="2880360"/>
            <a:ext cx="1097280" cy="365760"/>
          </a:xfrm>
          <a:prstGeom prst="rect">
            <a:avLst/>
          </a:prstGeom>
          <a:noFill/>
          <a:ln/>
        </p:spPr>
        <p:txBody>
          <a:bodyPr wrap="square" lIns="0" tIns="0" rIns="0" bIns="0" rtlCol="0" anchor="ctr"/>
          <a:lstStyle/>
          <a:p>
            <a:pPr marL="0" indent="0" algn="ctr">
              <a:buNone/>
            </a:pPr>
            <a:r>
              <a:rPr lang="en-US" sz="1600" b="1" dirty="0">
                <a:solidFill>
                  <a:srgbClr val="059669"/>
                </a:solidFill>
                <a:latin typeface="Georgia" pitchFamily="34" charset="0"/>
                <a:ea typeface="Georgia" pitchFamily="34" charset="-122"/>
                <a:cs typeface="Georgia" pitchFamily="34" charset="-120"/>
              </a:rPr>
              <a:t>77.8%</a:t>
            </a:r>
            <a:endParaRPr lang="en-US" sz="1600" dirty="0"/>
          </a:p>
        </p:txBody>
      </p:sp>
      <p:sp>
        <p:nvSpPr>
          <p:cNvPr id="38" name="Text 36"/>
          <p:cNvSpPr/>
          <p:nvPr/>
        </p:nvSpPr>
        <p:spPr>
          <a:xfrm>
            <a:off x="6080760" y="3246120"/>
            <a:ext cx="1097280" cy="182880"/>
          </a:xfrm>
          <a:prstGeom prst="rect">
            <a:avLst/>
          </a:prstGeom>
          <a:noFill/>
          <a:ln/>
        </p:spPr>
        <p:txBody>
          <a:bodyPr wrap="square" lIns="0" tIns="0" rIns="0" bIns="0" rtlCol="0" anchor="ctr"/>
          <a:lstStyle/>
          <a:p>
            <a:pPr marL="0" indent="0" algn="ctr">
              <a:buNone/>
            </a:pPr>
            <a:r>
              <a:rPr lang="en-US" sz="800" dirty="0">
                <a:solidFill>
                  <a:srgbClr val="949594"/>
                </a:solidFill>
                <a:latin typeface="Calibri" pitchFamily="34" charset="0"/>
                <a:ea typeface="Calibri" pitchFamily="34" charset="-122"/>
                <a:cs typeface="Calibri" pitchFamily="34" charset="-120"/>
              </a:rPr>
              <a:t>Winner</a:t>
            </a:r>
            <a:endParaRPr lang="en-US" sz="800" dirty="0"/>
          </a:p>
        </p:txBody>
      </p:sp>
      <p:sp>
        <p:nvSpPr>
          <p:cNvPr id="39" name="Shape 37"/>
          <p:cNvSpPr/>
          <p:nvPr/>
        </p:nvSpPr>
        <p:spPr>
          <a:xfrm>
            <a:off x="7315200" y="2880360"/>
            <a:ext cx="1097280" cy="640080"/>
          </a:xfrm>
          <a:prstGeom prst="rect">
            <a:avLst/>
          </a:prstGeom>
          <a:solidFill>
            <a:srgbClr val="FFFFFF"/>
          </a:solidFill>
          <a:ln/>
        </p:spPr>
        <p:txBody>
          <a:bodyPr/>
          <a:lstStyle/>
          <a:p>
            <a:endParaRPr lang="en-US"/>
          </a:p>
        </p:txBody>
      </p:sp>
      <p:sp>
        <p:nvSpPr>
          <p:cNvPr id="40" name="Text 38"/>
          <p:cNvSpPr/>
          <p:nvPr/>
        </p:nvSpPr>
        <p:spPr>
          <a:xfrm>
            <a:off x="7315200" y="2880360"/>
            <a:ext cx="1097280" cy="365760"/>
          </a:xfrm>
          <a:prstGeom prst="rect">
            <a:avLst/>
          </a:prstGeom>
          <a:noFill/>
          <a:ln/>
        </p:spPr>
        <p:txBody>
          <a:bodyPr wrap="square" lIns="0" tIns="0" rIns="0" bIns="0" rtlCol="0" anchor="ctr"/>
          <a:lstStyle/>
          <a:p>
            <a:pPr marL="0" indent="0" algn="ctr">
              <a:buNone/>
            </a:pPr>
            <a:r>
              <a:rPr lang="en-US" sz="1600" b="1" dirty="0">
                <a:solidFill>
                  <a:srgbClr val="059669"/>
                </a:solidFill>
                <a:latin typeface="Georgia" pitchFamily="34" charset="0"/>
                <a:ea typeface="Georgia" pitchFamily="34" charset="-122"/>
                <a:cs typeface="Georgia" pitchFamily="34" charset="-120"/>
              </a:rPr>
              <a:t>2.096</a:t>
            </a:r>
            <a:endParaRPr lang="en-US" sz="1600" dirty="0"/>
          </a:p>
        </p:txBody>
      </p:sp>
      <p:sp>
        <p:nvSpPr>
          <p:cNvPr id="41" name="Text 39"/>
          <p:cNvSpPr/>
          <p:nvPr/>
        </p:nvSpPr>
        <p:spPr>
          <a:xfrm>
            <a:off x="7315200" y="3246120"/>
            <a:ext cx="1097280" cy="182880"/>
          </a:xfrm>
          <a:prstGeom prst="rect">
            <a:avLst/>
          </a:prstGeom>
          <a:noFill/>
          <a:ln/>
        </p:spPr>
        <p:txBody>
          <a:bodyPr wrap="square" lIns="0" tIns="0" rIns="0" bIns="0" rtlCol="0" anchor="ctr"/>
          <a:lstStyle/>
          <a:p>
            <a:pPr marL="0" indent="0" algn="ctr">
              <a:buNone/>
            </a:pPr>
            <a:r>
              <a:rPr lang="en-US" sz="800" dirty="0">
                <a:solidFill>
                  <a:srgbClr val="949594"/>
                </a:solidFill>
                <a:latin typeface="Calibri" pitchFamily="34" charset="0"/>
                <a:ea typeface="Calibri" pitchFamily="34" charset="-122"/>
                <a:cs typeface="Calibri" pitchFamily="34" charset="-120"/>
              </a:rPr>
              <a:t>MAE</a:t>
            </a:r>
            <a:endParaRPr lang="en-US" sz="800" dirty="0"/>
          </a:p>
        </p:txBody>
      </p:sp>
      <p:sp>
        <p:nvSpPr>
          <p:cNvPr id="42" name="Text 40"/>
          <p:cNvSpPr/>
          <p:nvPr/>
        </p:nvSpPr>
        <p:spPr>
          <a:xfrm>
            <a:off x="5943600" y="3657600"/>
            <a:ext cx="2606040" cy="228600"/>
          </a:xfrm>
          <a:prstGeom prst="rect">
            <a:avLst/>
          </a:prstGeom>
          <a:noFill/>
          <a:ln/>
        </p:spPr>
        <p:txBody>
          <a:bodyPr wrap="square" lIns="0" tIns="0" rIns="0" bIns="0" rtlCol="0" anchor="ctr"/>
          <a:lstStyle/>
          <a:p>
            <a:pPr marL="0" indent="0" algn="ctr">
              <a:buNone/>
            </a:pPr>
            <a:r>
              <a:rPr lang="en-US" sz="900" dirty="0">
                <a:solidFill>
                  <a:srgbClr val="059669"/>
                </a:solidFill>
                <a:latin typeface="Calibri" pitchFamily="34" charset="0"/>
                <a:ea typeface="Calibri" pitchFamily="34" charset="-122"/>
                <a:cs typeface="Calibri" pitchFamily="34" charset="-120"/>
              </a:rPr>
              <a:t>85 features</a:t>
            </a:r>
            <a:endParaRPr lang="en-US" sz="900" dirty="0"/>
          </a:p>
        </p:txBody>
      </p:sp>
      <p:sp>
        <p:nvSpPr>
          <p:cNvPr id="43" name="Text 41"/>
          <p:cNvSpPr/>
          <p:nvPr/>
        </p:nvSpPr>
        <p:spPr>
          <a:xfrm>
            <a:off x="2880360" y="2286000"/>
            <a:ext cx="365760" cy="365760"/>
          </a:xfrm>
          <a:prstGeom prst="rect">
            <a:avLst/>
          </a:prstGeom>
          <a:noFill/>
          <a:ln/>
        </p:spPr>
        <p:txBody>
          <a:bodyPr wrap="square" rtlCol="0" anchor="ctr"/>
          <a:lstStyle/>
          <a:p>
            <a:pPr marL="0" indent="0" algn="ctr">
              <a:buNone/>
            </a:pPr>
            <a:r>
              <a:rPr lang="en-US" sz="2000" dirty="0">
                <a:solidFill>
                  <a:srgbClr val="949594"/>
                </a:solidFill>
              </a:rPr>
              <a:t>→</a:t>
            </a:r>
            <a:endParaRPr lang="en-US" sz="2000" dirty="0"/>
          </a:p>
        </p:txBody>
      </p:sp>
      <p:sp>
        <p:nvSpPr>
          <p:cNvPr id="44" name="Text 42"/>
          <p:cNvSpPr/>
          <p:nvPr/>
        </p:nvSpPr>
        <p:spPr>
          <a:xfrm>
            <a:off x="5669280" y="2286000"/>
            <a:ext cx="365760" cy="365760"/>
          </a:xfrm>
          <a:prstGeom prst="rect">
            <a:avLst/>
          </a:prstGeom>
          <a:noFill/>
          <a:ln/>
        </p:spPr>
        <p:txBody>
          <a:bodyPr wrap="square" rtlCol="0" anchor="ctr"/>
          <a:lstStyle/>
          <a:p>
            <a:pPr marL="0" indent="0" algn="ctr">
              <a:buNone/>
            </a:pPr>
            <a:r>
              <a:rPr lang="en-US" sz="2000" dirty="0">
                <a:solidFill>
                  <a:srgbClr val="949594"/>
                </a:solidFill>
              </a:rPr>
              <a:t>→</a:t>
            </a:r>
            <a:endParaRPr lang="en-US" sz="2000" dirty="0"/>
          </a:p>
        </p:txBody>
      </p:sp>
      <p:sp>
        <p:nvSpPr>
          <p:cNvPr id="45" name="Text 43"/>
          <p:cNvSpPr/>
          <p:nvPr/>
        </p:nvSpPr>
        <p:spPr>
          <a:xfrm>
            <a:off x="457200" y="4709160"/>
            <a:ext cx="6400800" cy="365760"/>
          </a:xfrm>
          <a:prstGeom prst="rect">
            <a:avLst/>
          </a:prstGeom>
          <a:noFill/>
          <a:ln/>
        </p:spPr>
        <p:txBody>
          <a:bodyPr wrap="square" rtlCol="0" anchor="ctr"/>
          <a:lstStyle/>
          <a:p>
            <a:pPr marL="0" indent="0">
              <a:buNone/>
            </a:pPr>
            <a:r>
              <a:rPr lang="en-US" sz="900" dirty="0">
                <a:solidFill>
                  <a:srgbClr val="949594"/>
                </a:solidFill>
                <a:latin typeface="Calibri" pitchFamily="34" charset="0"/>
                <a:ea typeface="Calibri" pitchFamily="34" charset="-122"/>
                <a:cs typeface="Calibri" pitchFamily="34" charset="-120"/>
              </a:rPr>
              <a:t>Speaker 1 — Problem &amp; Architecture</a:t>
            </a:r>
            <a:endParaRPr lang="en-US" sz="900" dirty="0"/>
          </a:p>
        </p:txBody>
      </p:sp>
      <p:sp>
        <p:nvSpPr>
          <p:cNvPr id="46" name="Text 44"/>
          <p:cNvSpPr/>
          <p:nvPr/>
        </p:nvSpPr>
        <p:spPr>
          <a:xfrm>
            <a:off x="8412480" y="4709160"/>
            <a:ext cx="548640" cy="365760"/>
          </a:xfrm>
          <a:prstGeom prst="rect">
            <a:avLst/>
          </a:prstGeom>
          <a:noFill/>
          <a:ln/>
        </p:spPr>
        <p:txBody>
          <a:bodyPr wrap="square" rtlCol="0" anchor="ctr"/>
          <a:lstStyle/>
          <a:p>
            <a:pPr marL="0" indent="0" algn="r">
              <a:buNone/>
            </a:pPr>
            <a:r>
              <a:rPr lang="en-US" sz="900" dirty="0">
                <a:solidFill>
                  <a:srgbClr val="949594"/>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5F5"/>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C41E1E"/>
          </a:solidFill>
          <a:ln/>
        </p:spPr>
        <p:txBody>
          <a:bodyPr/>
          <a:lstStyle/>
          <a:p>
            <a:endParaRPr lang="en-US"/>
          </a:p>
        </p:txBody>
      </p:sp>
      <p:pic>
        <p:nvPicPr>
          <p:cNvPr id="3" name="Image 0" descr="preencoded.png"/>
          <p:cNvPicPr>
            <a:picLocks noChangeAspect="1"/>
          </p:cNvPicPr>
          <p:nvPr/>
        </p:nvPicPr>
        <p:blipFill>
          <a:blip r:embed="rId3"/>
          <a:stretch>
            <a:fillRect/>
          </a:stretch>
        </p:blipFill>
        <p:spPr>
          <a:xfrm>
            <a:off x="365760" y="182880"/>
            <a:ext cx="320040" cy="320040"/>
          </a:xfrm>
          <a:prstGeom prst="rect">
            <a:avLst/>
          </a:prstGeom>
        </p:spPr>
      </p:pic>
      <p:sp>
        <p:nvSpPr>
          <p:cNvPr id="4" name="Text 1"/>
          <p:cNvSpPr/>
          <p:nvPr/>
        </p:nvSpPr>
        <p:spPr>
          <a:xfrm>
            <a:off x="777240" y="182880"/>
            <a:ext cx="7315200" cy="548640"/>
          </a:xfrm>
          <a:prstGeom prst="rect">
            <a:avLst/>
          </a:prstGeom>
          <a:noFill/>
          <a:ln/>
        </p:spPr>
        <p:txBody>
          <a:bodyPr wrap="square" lIns="0" tIns="0" rIns="0" bIns="0" rtlCol="0" anchor="ctr"/>
          <a:lstStyle/>
          <a:p>
            <a:pPr marL="0" indent="0">
              <a:buNone/>
            </a:pPr>
            <a:r>
              <a:rPr lang="en-US" sz="2600" b="1" dirty="0">
                <a:solidFill>
                  <a:srgbClr val="1A1A2E"/>
                </a:solidFill>
                <a:latin typeface="Georgia" pitchFamily="34" charset="0"/>
                <a:ea typeface="Georgia" pitchFamily="34" charset="-122"/>
                <a:cs typeface="Georgia" pitchFamily="34" charset="-120"/>
              </a:rPr>
              <a:t>Medallion Lakehouse Architecture</a:t>
            </a:r>
            <a:endParaRPr lang="en-US" sz="2600" dirty="0"/>
          </a:p>
        </p:txBody>
      </p:sp>
      <p:sp>
        <p:nvSpPr>
          <p:cNvPr id="5" name="Text 2"/>
          <p:cNvSpPr/>
          <p:nvPr/>
        </p:nvSpPr>
        <p:spPr>
          <a:xfrm>
            <a:off x="777240" y="685800"/>
            <a:ext cx="7315200" cy="228600"/>
          </a:xfrm>
          <a:prstGeom prst="rect">
            <a:avLst/>
          </a:prstGeom>
          <a:noFill/>
          <a:ln/>
        </p:spPr>
        <p:txBody>
          <a:bodyPr wrap="square" lIns="0" tIns="0" rIns="0" bIns="0" rtlCol="0" anchor="ctr"/>
          <a:lstStyle/>
          <a:p>
            <a:pPr marL="0" indent="0">
              <a:buNone/>
            </a:pPr>
            <a:r>
              <a:rPr lang="en-US" sz="1100" dirty="0">
                <a:solidFill>
                  <a:srgbClr val="949594"/>
                </a:solidFill>
                <a:latin typeface="Calibri" pitchFamily="34" charset="0"/>
                <a:ea typeface="Calibri" pitchFamily="34" charset="-122"/>
                <a:cs typeface="Calibri" pitchFamily="34" charset="-120"/>
              </a:rPr>
              <a:t>Industry-standard data pattern used across Azure, AWS, and GCP platforms</a:t>
            </a:r>
            <a:endParaRPr lang="en-US" sz="1100" dirty="0"/>
          </a:p>
        </p:txBody>
      </p:sp>
      <p:sp>
        <p:nvSpPr>
          <p:cNvPr id="6" name="Shape 3"/>
          <p:cNvSpPr/>
          <p:nvPr/>
        </p:nvSpPr>
        <p:spPr>
          <a:xfrm>
            <a:off x="182880" y="1051560"/>
            <a:ext cx="1572768" cy="3017520"/>
          </a:xfrm>
          <a:prstGeom prst="rect">
            <a:avLst/>
          </a:prstGeom>
          <a:solidFill>
            <a:srgbClr val="E0F7FA"/>
          </a:solidFill>
          <a:ln/>
          <a:effectLst>
            <a:outerShdw blurRad="50800" dist="25400" dir="8100000" algn="bl" rotWithShape="0">
              <a:srgbClr val="000000">
                <a:alpha val="10000"/>
              </a:srgbClr>
            </a:outerShdw>
          </a:effectLst>
        </p:spPr>
        <p:txBody>
          <a:bodyPr/>
          <a:lstStyle/>
          <a:p>
            <a:endParaRPr lang="en-US"/>
          </a:p>
        </p:txBody>
      </p:sp>
      <p:sp>
        <p:nvSpPr>
          <p:cNvPr id="7" name="Text 4"/>
          <p:cNvSpPr/>
          <p:nvPr/>
        </p:nvSpPr>
        <p:spPr>
          <a:xfrm>
            <a:off x="182880" y="1143000"/>
            <a:ext cx="1572768" cy="320040"/>
          </a:xfrm>
          <a:prstGeom prst="rect">
            <a:avLst/>
          </a:prstGeom>
          <a:noFill/>
          <a:ln/>
        </p:spPr>
        <p:txBody>
          <a:bodyPr wrap="square" lIns="0" tIns="0" rIns="0" bIns="0" rtlCol="0" anchor="ctr"/>
          <a:lstStyle/>
          <a:p>
            <a:pPr marL="0" indent="0" algn="ctr">
              <a:buNone/>
            </a:pPr>
            <a:r>
              <a:rPr lang="en-US" sz="900" b="1" dirty="0">
                <a:solidFill>
                  <a:srgbClr val="00838F"/>
                </a:solidFill>
                <a:latin typeface="Georgia" pitchFamily="34" charset="0"/>
                <a:ea typeface="Georgia" pitchFamily="34" charset="-122"/>
                <a:cs typeface="Georgia" pitchFamily="34" charset="-120"/>
              </a:rPr>
              <a:t>EXTRACTION</a:t>
            </a:r>
            <a:endParaRPr lang="en-US" sz="900" dirty="0"/>
          </a:p>
        </p:txBody>
      </p:sp>
      <p:sp>
        <p:nvSpPr>
          <p:cNvPr id="8" name="Text 5"/>
          <p:cNvSpPr/>
          <p:nvPr/>
        </p:nvSpPr>
        <p:spPr>
          <a:xfrm>
            <a:off x="256032" y="1554480"/>
            <a:ext cx="1426464" cy="2286000"/>
          </a:xfrm>
          <a:prstGeom prst="rect">
            <a:avLst/>
          </a:prstGeom>
          <a:noFill/>
          <a:ln/>
        </p:spPr>
        <p:txBody>
          <a:bodyPr wrap="square" lIns="0" tIns="0" rIns="0" bIns="0" rtlCol="0" anchor="t"/>
          <a:lstStyle/>
          <a:p>
            <a:pPr marL="0" indent="0" algn="ctr">
              <a:buNone/>
            </a:pPr>
            <a:r>
              <a:rPr lang="en-US" sz="850" dirty="0">
                <a:solidFill>
                  <a:srgbClr val="444444"/>
                </a:solidFill>
                <a:latin typeface="Calibri" pitchFamily="34" charset="0"/>
                <a:ea typeface="Calibri" pitchFamily="34" charset="-122"/>
                <a:cs typeface="Calibri" pitchFamily="34" charset="-120"/>
              </a:rPr>
              <a:t>Jolpica API</a:t>
            </a:r>
            <a:endParaRPr lang="en-US" sz="850" dirty="0"/>
          </a:p>
          <a:p>
            <a:pPr marL="0" indent="0" algn="ctr">
              <a:buNone/>
            </a:pPr>
            <a:r>
              <a:rPr lang="en-US" sz="850" dirty="0">
                <a:solidFill>
                  <a:srgbClr val="444444"/>
                </a:solidFill>
                <a:latin typeface="Calibri" pitchFamily="34" charset="0"/>
                <a:ea typeface="Calibri" pitchFamily="34" charset="-122"/>
                <a:cs typeface="Calibri" pitchFamily="34" charset="-120"/>
              </a:rPr>
              <a:t>FastF1 API</a:t>
            </a:r>
            <a:endParaRPr lang="en-US" sz="850" dirty="0"/>
          </a:p>
          <a:p>
            <a:pPr marL="0" indent="0" algn="ctr">
              <a:buNone/>
            </a:pPr>
            <a:r>
              <a:rPr lang="en-US" sz="850" dirty="0">
                <a:solidFill>
                  <a:srgbClr val="444444"/>
                </a:solidFill>
                <a:latin typeface="Calibri" pitchFamily="34" charset="0"/>
                <a:ea typeface="Calibri" pitchFamily="34" charset="-122"/>
                <a:cs typeface="Calibri" pitchFamily="34" charset="-120"/>
              </a:rPr>
              <a:t>Weather API</a:t>
            </a:r>
            <a:endParaRPr lang="en-US" sz="850" dirty="0"/>
          </a:p>
          <a:p>
            <a:pPr marL="0" indent="0" algn="ctr">
              <a:buNone/>
            </a:pPr>
            <a:endParaRPr lang="en-US" sz="850" dirty="0"/>
          </a:p>
          <a:p>
            <a:pPr marL="0" indent="0" algn="ctr">
              <a:buNone/>
            </a:pPr>
            <a:r>
              <a:rPr lang="en-US" sz="850" dirty="0">
                <a:solidFill>
                  <a:srgbClr val="444444"/>
                </a:solidFill>
                <a:latin typeface="Calibri" pitchFamily="34" charset="0"/>
                <a:ea typeface="Calibri" pitchFamily="34" charset="-122"/>
                <a:cs typeface="Calibri" pitchFamily="34" charset="-120"/>
              </a:rPr>
              <a:t>9 seasons</a:t>
            </a:r>
            <a:endParaRPr lang="en-US" sz="850" dirty="0"/>
          </a:p>
          <a:p>
            <a:pPr marL="0" indent="0" algn="ctr">
              <a:buNone/>
            </a:pPr>
            <a:r>
              <a:rPr lang="en-US" sz="850" dirty="0">
                <a:solidFill>
                  <a:srgbClr val="444444"/>
                </a:solidFill>
                <a:latin typeface="Calibri" pitchFamily="34" charset="0"/>
                <a:ea typeface="Calibri" pitchFamily="34" charset="-122"/>
                <a:cs typeface="Calibri" pitchFamily="34" charset="-120"/>
              </a:rPr>
              <a:t>3 data sources</a:t>
            </a:r>
            <a:endParaRPr lang="en-US" sz="850" dirty="0"/>
          </a:p>
        </p:txBody>
      </p:sp>
      <p:sp>
        <p:nvSpPr>
          <p:cNvPr id="9" name="Text 6"/>
          <p:cNvSpPr/>
          <p:nvPr/>
        </p:nvSpPr>
        <p:spPr>
          <a:xfrm>
            <a:off x="1691640" y="2103120"/>
            <a:ext cx="274320" cy="365760"/>
          </a:xfrm>
          <a:prstGeom prst="rect">
            <a:avLst/>
          </a:prstGeom>
          <a:noFill/>
          <a:ln/>
        </p:spPr>
        <p:txBody>
          <a:bodyPr wrap="square" rtlCol="0" anchor="ctr"/>
          <a:lstStyle/>
          <a:p>
            <a:pPr marL="0" indent="0" algn="ctr">
              <a:buNone/>
            </a:pPr>
            <a:r>
              <a:rPr lang="en-US" sz="1600" dirty="0">
                <a:solidFill>
                  <a:srgbClr val="949594"/>
                </a:solidFill>
              </a:rPr>
              <a:t>→</a:t>
            </a:r>
            <a:endParaRPr lang="en-US" sz="1600" dirty="0"/>
          </a:p>
        </p:txBody>
      </p:sp>
      <p:sp>
        <p:nvSpPr>
          <p:cNvPr id="10" name="Shape 7"/>
          <p:cNvSpPr/>
          <p:nvPr/>
        </p:nvSpPr>
        <p:spPr>
          <a:xfrm>
            <a:off x="1901952" y="1051560"/>
            <a:ext cx="1572768" cy="3017520"/>
          </a:xfrm>
          <a:prstGeom prst="rect">
            <a:avLst/>
          </a:prstGeom>
          <a:solidFill>
            <a:srgbClr val="F4E4C1"/>
          </a:solidFill>
          <a:ln/>
          <a:effectLst>
            <a:outerShdw blurRad="50800" dist="25400" dir="8100000" algn="bl" rotWithShape="0">
              <a:srgbClr val="000000">
                <a:alpha val="10000"/>
              </a:srgbClr>
            </a:outerShdw>
          </a:effectLst>
        </p:spPr>
        <p:txBody>
          <a:bodyPr/>
          <a:lstStyle/>
          <a:p>
            <a:endParaRPr lang="en-US"/>
          </a:p>
        </p:txBody>
      </p:sp>
      <p:sp>
        <p:nvSpPr>
          <p:cNvPr id="11" name="Text 8"/>
          <p:cNvSpPr/>
          <p:nvPr/>
        </p:nvSpPr>
        <p:spPr>
          <a:xfrm>
            <a:off x="1901952" y="1143000"/>
            <a:ext cx="1572768" cy="320040"/>
          </a:xfrm>
          <a:prstGeom prst="rect">
            <a:avLst/>
          </a:prstGeom>
          <a:noFill/>
          <a:ln/>
        </p:spPr>
        <p:txBody>
          <a:bodyPr wrap="square" lIns="0" tIns="0" rIns="0" bIns="0" rtlCol="0" anchor="ctr"/>
          <a:lstStyle/>
          <a:p>
            <a:pPr marL="0" indent="0" algn="ctr">
              <a:buNone/>
            </a:pPr>
            <a:r>
              <a:rPr lang="en-US" sz="900" b="1" dirty="0">
                <a:solidFill>
                  <a:srgbClr val="8B4513"/>
                </a:solidFill>
                <a:latin typeface="Georgia" pitchFamily="34" charset="0"/>
                <a:ea typeface="Georgia" pitchFamily="34" charset="-122"/>
                <a:cs typeface="Georgia" pitchFamily="34" charset="-120"/>
              </a:rPr>
              <a:t>🥉 BRONZE</a:t>
            </a:r>
            <a:endParaRPr lang="en-US" sz="900" dirty="0"/>
          </a:p>
        </p:txBody>
      </p:sp>
      <p:sp>
        <p:nvSpPr>
          <p:cNvPr id="12" name="Text 9"/>
          <p:cNvSpPr/>
          <p:nvPr/>
        </p:nvSpPr>
        <p:spPr>
          <a:xfrm>
            <a:off x="1975104" y="1554480"/>
            <a:ext cx="1426464" cy="2286000"/>
          </a:xfrm>
          <a:prstGeom prst="rect">
            <a:avLst/>
          </a:prstGeom>
          <a:noFill/>
          <a:ln/>
        </p:spPr>
        <p:txBody>
          <a:bodyPr wrap="square" lIns="0" tIns="0" rIns="0" bIns="0" rtlCol="0" anchor="t"/>
          <a:lstStyle/>
          <a:p>
            <a:pPr marL="0" indent="0" algn="ctr">
              <a:buNone/>
            </a:pPr>
            <a:r>
              <a:rPr lang="en-US" sz="850" dirty="0">
                <a:solidFill>
                  <a:srgbClr val="444444"/>
                </a:solidFill>
                <a:latin typeface="Calibri" pitchFamily="34" charset="0"/>
                <a:ea typeface="Calibri" pitchFamily="34" charset="-122"/>
                <a:cs typeface="Calibri" pitchFamily="34" charset="-120"/>
              </a:rPr>
              <a:t>Raw Parquet files</a:t>
            </a:r>
            <a:endParaRPr lang="en-US" sz="850" dirty="0"/>
          </a:p>
          <a:p>
            <a:pPr marL="0" indent="0" algn="ctr">
              <a:buNone/>
            </a:pPr>
            <a:r>
              <a:rPr lang="en-US" sz="850" dirty="0">
                <a:solidFill>
                  <a:srgbClr val="444444"/>
                </a:solidFill>
                <a:latin typeface="Calibri" pitchFamily="34" charset="0"/>
                <a:ea typeface="Calibri" pitchFamily="34" charset="-122"/>
                <a:cs typeface="Calibri" pitchFamily="34" charset="-120"/>
              </a:rPr>
              <a:t>As-received from APIs</a:t>
            </a:r>
            <a:endParaRPr lang="en-US" sz="850" dirty="0"/>
          </a:p>
          <a:p>
            <a:pPr marL="0" indent="0" algn="ctr">
              <a:buNone/>
            </a:pPr>
            <a:r>
              <a:rPr lang="en-US" sz="850" dirty="0">
                <a:solidFill>
                  <a:srgbClr val="444444"/>
                </a:solidFill>
                <a:latin typeface="Calibri" pitchFamily="34" charset="0"/>
                <a:ea typeface="Calibri" pitchFamily="34" charset="-122"/>
                <a:cs typeface="Calibri" pitchFamily="34" charset="-120"/>
              </a:rPr>
              <a:t>No transformations</a:t>
            </a:r>
            <a:endParaRPr lang="en-US" sz="850" dirty="0"/>
          </a:p>
          <a:p>
            <a:pPr marL="0" indent="0" algn="ctr">
              <a:buNone/>
            </a:pPr>
            <a:endParaRPr lang="en-US" sz="850" dirty="0"/>
          </a:p>
          <a:p>
            <a:pPr marL="0" indent="0" algn="ctr">
              <a:buNone/>
            </a:pPr>
            <a:r>
              <a:rPr lang="en-US" sz="850" dirty="0">
                <a:solidFill>
                  <a:srgbClr val="444444"/>
                </a:solidFill>
                <a:latin typeface="Calibri" pitchFamily="34" charset="0"/>
                <a:ea typeface="Calibri" pitchFamily="34" charset="-122"/>
                <a:cs typeface="Calibri" pitchFamily="34" charset="-120"/>
              </a:rPr>
              <a:t>3,524 results</a:t>
            </a:r>
            <a:endParaRPr lang="en-US" sz="850" dirty="0"/>
          </a:p>
          <a:p>
            <a:pPr marL="0" indent="0" algn="ctr">
              <a:buNone/>
            </a:pPr>
            <a:r>
              <a:rPr lang="en-US" sz="850" dirty="0">
                <a:solidFill>
                  <a:srgbClr val="444444"/>
                </a:solidFill>
                <a:latin typeface="Calibri" pitchFamily="34" charset="0"/>
                <a:ea typeface="Calibri" pitchFamily="34" charset="-122"/>
                <a:cs typeface="Calibri" pitchFamily="34" charset="-120"/>
              </a:rPr>
              <a:t>181K laps</a:t>
            </a:r>
            <a:endParaRPr lang="en-US" sz="850" dirty="0"/>
          </a:p>
          <a:p>
            <a:pPr marL="0" indent="0" algn="ctr">
              <a:buNone/>
            </a:pPr>
            <a:r>
              <a:rPr lang="en-US" sz="850" dirty="0">
                <a:solidFill>
                  <a:srgbClr val="444444"/>
                </a:solidFill>
                <a:latin typeface="Calibri" pitchFamily="34" charset="0"/>
                <a:ea typeface="Calibri" pitchFamily="34" charset="-122"/>
                <a:cs typeface="Calibri" pitchFamily="34" charset="-120"/>
              </a:rPr>
              <a:t>24K weather</a:t>
            </a:r>
            <a:endParaRPr lang="en-US" sz="850" dirty="0"/>
          </a:p>
        </p:txBody>
      </p:sp>
      <p:sp>
        <p:nvSpPr>
          <p:cNvPr id="13" name="Text 10"/>
          <p:cNvSpPr/>
          <p:nvPr/>
        </p:nvSpPr>
        <p:spPr>
          <a:xfrm>
            <a:off x="3410712" y="2103120"/>
            <a:ext cx="274320" cy="365760"/>
          </a:xfrm>
          <a:prstGeom prst="rect">
            <a:avLst/>
          </a:prstGeom>
          <a:noFill/>
          <a:ln/>
        </p:spPr>
        <p:txBody>
          <a:bodyPr wrap="square" rtlCol="0" anchor="ctr"/>
          <a:lstStyle/>
          <a:p>
            <a:pPr marL="0" indent="0" algn="ctr">
              <a:buNone/>
            </a:pPr>
            <a:r>
              <a:rPr lang="en-US" sz="1600" dirty="0">
                <a:solidFill>
                  <a:srgbClr val="949594"/>
                </a:solidFill>
              </a:rPr>
              <a:t>→</a:t>
            </a:r>
            <a:endParaRPr lang="en-US" sz="1600" dirty="0"/>
          </a:p>
        </p:txBody>
      </p:sp>
      <p:sp>
        <p:nvSpPr>
          <p:cNvPr id="14" name="Shape 11"/>
          <p:cNvSpPr/>
          <p:nvPr/>
        </p:nvSpPr>
        <p:spPr>
          <a:xfrm>
            <a:off x="3621024" y="1051560"/>
            <a:ext cx="1572768" cy="3017520"/>
          </a:xfrm>
          <a:prstGeom prst="rect">
            <a:avLst/>
          </a:prstGeom>
          <a:solidFill>
            <a:srgbClr val="E8E8E8"/>
          </a:solidFill>
          <a:ln/>
          <a:effectLst>
            <a:outerShdw blurRad="50800" dist="25400" dir="8100000" algn="bl" rotWithShape="0">
              <a:srgbClr val="000000">
                <a:alpha val="10000"/>
              </a:srgbClr>
            </a:outerShdw>
          </a:effectLst>
        </p:spPr>
        <p:txBody>
          <a:bodyPr/>
          <a:lstStyle/>
          <a:p>
            <a:endParaRPr lang="en-US"/>
          </a:p>
        </p:txBody>
      </p:sp>
      <p:sp>
        <p:nvSpPr>
          <p:cNvPr id="15" name="Text 12"/>
          <p:cNvSpPr/>
          <p:nvPr/>
        </p:nvSpPr>
        <p:spPr>
          <a:xfrm>
            <a:off x="3621024" y="1143000"/>
            <a:ext cx="1572768" cy="320040"/>
          </a:xfrm>
          <a:prstGeom prst="rect">
            <a:avLst/>
          </a:prstGeom>
          <a:noFill/>
          <a:ln/>
        </p:spPr>
        <p:txBody>
          <a:bodyPr wrap="square" lIns="0" tIns="0" rIns="0" bIns="0" rtlCol="0" anchor="ctr"/>
          <a:lstStyle/>
          <a:p>
            <a:pPr marL="0" indent="0" algn="ctr">
              <a:buNone/>
            </a:pPr>
            <a:r>
              <a:rPr lang="en-US" sz="900" b="1" dirty="0">
                <a:solidFill>
                  <a:srgbClr val="606060"/>
                </a:solidFill>
                <a:latin typeface="Georgia" pitchFamily="34" charset="0"/>
                <a:ea typeface="Georgia" pitchFamily="34" charset="-122"/>
                <a:cs typeface="Georgia" pitchFamily="34" charset="-120"/>
              </a:rPr>
              <a:t>🥈 SILVER</a:t>
            </a:r>
            <a:endParaRPr lang="en-US" sz="900" dirty="0"/>
          </a:p>
        </p:txBody>
      </p:sp>
      <p:sp>
        <p:nvSpPr>
          <p:cNvPr id="16" name="Text 13"/>
          <p:cNvSpPr/>
          <p:nvPr/>
        </p:nvSpPr>
        <p:spPr>
          <a:xfrm>
            <a:off x="3694176" y="1554480"/>
            <a:ext cx="1426464" cy="2286000"/>
          </a:xfrm>
          <a:prstGeom prst="rect">
            <a:avLst/>
          </a:prstGeom>
          <a:noFill/>
          <a:ln/>
        </p:spPr>
        <p:txBody>
          <a:bodyPr wrap="square" lIns="0" tIns="0" rIns="0" bIns="0" rtlCol="0" anchor="t"/>
          <a:lstStyle/>
          <a:p>
            <a:pPr marL="0" indent="0" algn="ctr">
              <a:buNone/>
            </a:pPr>
            <a:r>
              <a:rPr lang="en-US" sz="850" dirty="0">
                <a:solidFill>
                  <a:srgbClr val="444444"/>
                </a:solidFill>
                <a:latin typeface="Calibri" pitchFamily="34" charset="0"/>
                <a:ea typeface="Calibri" pitchFamily="34" charset="-122"/>
                <a:cs typeface="Calibri" pitchFamily="34" charset="-120"/>
              </a:rPr>
              <a:t>Spark-processed</a:t>
            </a:r>
            <a:endParaRPr lang="en-US" sz="850" dirty="0"/>
          </a:p>
          <a:p>
            <a:pPr marL="0" indent="0" algn="ctr">
              <a:buNone/>
            </a:pPr>
            <a:r>
              <a:rPr lang="en-US" sz="850" dirty="0">
                <a:solidFill>
                  <a:srgbClr val="444444"/>
                </a:solidFill>
                <a:latin typeface="Calibri" pitchFamily="34" charset="0"/>
                <a:ea typeface="Calibri" pitchFamily="34" charset="-122"/>
                <a:cs typeface="Calibri" pitchFamily="34" charset="-120"/>
              </a:rPr>
              <a:t>Deduplicated</a:t>
            </a:r>
            <a:endParaRPr lang="en-US" sz="850" dirty="0"/>
          </a:p>
          <a:p>
            <a:pPr marL="0" indent="0" algn="ctr">
              <a:buNone/>
            </a:pPr>
            <a:r>
              <a:rPr lang="en-US" sz="850" dirty="0">
                <a:solidFill>
                  <a:srgbClr val="444444"/>
                </a:solidFill>
                <a:latin typeface="Calibri" pitchFamily="34" charset="0"/>
                <a:ea typeface="Calibri" pitchFamily="34" charset="-122"/>
                <a:cs typeface="Calibri" pitchFamily="34" charset="-120"/>
              </a:rPr>
              <a:t>Type-cast &amp; joined</a:t>
            </a:r>
            <a:endParaRPr lang="en-US" sz="850" dirty="0"/>
          </a:p>
          <a:p>
            <a:pPr marL="0" indent="0" algn="ctr">
              <a:buNone/>
            </a:pPr>
            <a:endParaRPr lang="en-US" sz="850" dirty="0"/>
          </a:p>
          <a:p>
            <a:pPr marL="0" indent="0" algn="ctr">
              <a:buNone/>
            </a:pPr>
            <a:r>
              <a:rPr lang="en-US" sz="850" dirty="0">
                <a:solidFill>
                  <a:srgbClr val="444444"/>
                </a:solidFill>
                <a:latin typeface="Calibri" pitchFamily="34" charset="0"/>
                <a:ea typeface="Calibri" pitchFamily="34" charset="-122"/>
                <a:cs typeface="Calibri" pitchFamily="34" charset="-120"/>
              </a:rPr>
              <a:t>race_master table</a:t>
            </a:r>
            <a:endParaRPr lang="en-US" sz="850" dirty="0"/>
          </a:p>
          <a:p>
            <a:pPr marL="0" indent="0" algn="ctr">
              <a:buNone/>
            </a:pPr>
            <a:r>
              <a:rPr lang="en-US" sz="850" dirty="0">
                <a:solidFill>
                  <a:srgbClr val="444444"/>
                </a:solidFill>
                <a:latin typeface="Calibri" pitchFamily="34" charset="0"/>
                <a:ea typeface="Calibri" pitchFamily="34" charset="-122"/>
                <a:cs typeface="Calibri" pitchFamily="34" charset="-120"/>
              </a:rPr>
              <a:t>3,524 clean rows</a:t>
            </a:r>
            <a:endParaRPr lang="en-US" sz="850" dirty="0"/>
          </a:p>
        </p:txBody>
      </p:sp>
      <p:sp>
        <p:nvSpPr>
          <p:cNvPr id="17" name="Text 14"/>
          <p:cNvSpPr/>
          <p:nvPr/>
        </p:nvSpPr>
        <p:spPr>
          <a:xfrm>
            <a:off x="5129784" y="2103120"/>
            <a:ext cx="274320" cy="365760"/>
          </a:xfrm>
          <a:prstGeom prst="rect">
            <a:avLst/>
          </a:prstGeom>
          <a:noFill/>
          <a:ln/>
        </p:spPr>
        <p:txBody>
          <a:bodyPr wrap="square" rtlCol="0" anchor="ctr"/>
          <a:lstStyle/>
          <a:p>
            <a:pPr marL="0" indent="0" algn="ctr">
              <a:buNone/>
            </a:pPr>
            <a:r>
              <a:rPr lang="en-US" sz="1600" dirty="0">
                <a:solidFill>
                  <a:srgbClr val="949594"/>
                </a:solidFill>
              </a:rPr>
              <a:t>→</a:t>
            </a:r>
            <a:endParaRPr lang="en-US" sz="1600" dirty="0"/>
          </a:p>
        </p:txBody>
      </p:sp>
      <p:sp>
        <p:nvSpPr>
          <p:cNvPr id="18" name="Shape 15"/>
          <p:cNvSpPr/>
          <p:nvPr/>
        </p:nvSpPr>
        <p:spPr>
          <a:xfrm>
            <a:off x="5340096" y="1051560"/>
            <a:ext cx="1572768" cy="3017520"/>
          </a:xfrm>
          <a:prstGeom prst="rect">
            <a:avLst/>
          </a:prstGeom>
          <a:solidFill>
            <a:srgbClr val="FFF4B8"/>
          </a:solidFill>
          <a:ln/>
          <a:effectLst>
            <a:outerShdw blurRad="50800" dist="25400" dir="8100000" algn="bl" rotWithShape="0">
              <a:srgbClr val="000000">
                <a:alpha val="10000"/>
              </a:srgbClr>
            </a:outerShdw>
          </a:effectLst>
        </p:spPr>
        <p:txBody>
          <a:bodyPr/>
          <a:lstStyle/>
          <a:p>
            <a:endParaRPr lang="en-US"/>
          </a:p>
        </p:txBody>
      </p:sp>
      <p:sp>
        <p:nvSpPr>
          <p:cNvPr id="19" name="Text 16"/>
          <p:cNvSpPr/>
          <p:nvPr/>
        </p:nvSpPr>
        <p:spPr>
          <a:xfrm>
            <a:off x="5340096" y="1143000"/>
            <a:ext cx="1572768" cy="320040"/>
          </a:xfrm>
          <a:prstGeom prst="rect">
            <a:avLst/>
          </a:prstGeom>
          <a:noFill/>
          <a:ln/>
        </p:spPr>
        <p:txBody>
          <a:bodyPr wrap="square" lIns="0" tIns="0" rIns="0" bIns="0" rtlCol="0" anchor="ctr"/>
          <a:lstStyle/>
          <a:p>
            <a:pPr marL="0" indent="0" algn="ctr">
              <a:buNone/>
            </a:pPr>
            <a:r>
              <a:rPr lang="en-US" sz="900" b="1" dirty="0">
                <a:solidFill>
                  <a:srgbClr val="B8860B"/>
                </a:solidFill>
                <a:latin typeface="Georgia" pitchFamily="34" charset="0"/>
                <a:ea typeface="Georgia" pitchFamily="34" charset="-122"/>
                <a:cs typeface="Georgia" pitchFamily="34" charset="-120"/>
              </a:rPr>
              <a:t>🥇 GOLD</a:t>
            </a:r>
            <a:endParaRPr lang="en-US" sz="900" dirty="0"/>
          </a:p>
        </p:txBody>
      </p:sp>
      <p:sp>
        <p:nvSpPr>
          <p:cNvPr id="20" name="Text 17"/>
          <p:cNvSpPr/>
          <p:nvPr/>
        </p:nvSpPr>
        <p:spPr>
          <a:xfrm>
            <a:off x="5413248" y="1554480"/>
            <a:ext cx="1426464" cy="2286000"/>
          </a:xfrm>
          <a:prstGeom prst="rect">
            <a:avLst/>
          </a:prstGeom>
          <a:noFill/>
          <a:ln/>
        </p:spPr>
        <p:txBody>
          <a:bodyPr wrap="square" lIns="0" tIns="0" rIns="0" bIns="0" rtlCol="0" anchor="t"/>
          <a:lstStyle/>
          <a:p>
            <a:pPr marL="0" indent="0" algn="ctr">
              <a:buNone/>
            </a:pPr>
            <a:r>
              <a:rPr lang="en-US" sz="850" dirty="0">
                <a:solidFill>
                  <a:srgbClr val="444444"/>
                </a:solidFill>
                <a:latin typeface="Calibri" pitchFamily="34" charset="0"/>
                <a:ea typeface="Calibri" pitchFamily="34" charset="-122"/>
                <a:cs typeface="Calibri" pitchFamily="34" charset="-120"/>
              </a:rPr>
              <a:t>85 ML features</a:t>
            </a:r>
            <a:endParaRPr lang="en-US" sz="850" dirty="0"/>
          </a:p>
          <a:p>
            <a:pPr marL="0" indent="0" algn="ctr">
              <a:buNone/>
            </a:pPr>
            <a:r>
              <a:rPr lang="en-US" sz="850" dirty="0">
                <a:solidFill>
                  <a:srgbClr val="444444"/>
                </a:solidFill>
                <a:latin typeface="Calibri" pitchFamily="34" charset="0"/>
                <a:ea typeface="Calibri" pitchFamily="34" charset="-122"/>
                <a:cs typeface="Calibri" pitchFamily="34" charset="-120"/>
              </a:rPr>
              <a:t>Window functions</a:t>
            </a:r>
            <a:endParaRPr lang="en-US" sz="850" dirty="0"/>
          </a:p>
          <a:p>
            <a:pPr marL="0" indent="0" algn="ctr">
              <a:buNone/>
            </a:pPr>
            <a:r>
              <a:rPr lang="en-US" sz="850" dirty="0">
                <a:solidFill>
                  <a:srgbClr val="444444"/>
                </a:solidFill>
                <a:latin typeface="Calibri" pitchFamily="34" charset="0"/>
                <a:ea typeface="Calibri" pitchFamily="34" charset="-122"/>
                <a:cs typeface="Calibri" pitchFamily="34" charset="-120"/>
              </a:rPr>
              <a:t>ELO ratings</a:t>
            </a:r>
            <a:endParaRPr lang="en-US" sz="850" dirty="0"/>
          </a:p>
          <a:p>
            <a:pPr marL="0" indent="0" algn="ctr">
              <a:buNone/>
            </a:pPr>
            <a:endParaRPr lang="en-US" sz="850" dirty="0"/>
          </a:p>
          <a:p>
            <a:pPr marL="0" indent="0" algn="ctr">
              <a:buNone/>
            </a:pPr>
            <a:r>
              <a:rPr lang="en-US" sz="850" dirty="0">
                <a:solidFill>
                  <a:srgbClr val="444444"/>
                </a:solidFill>
                <a:latin typeface="Calibri" pitchFamily="34" charset="0"/>
                <a:ea typeface="Calibri" pitchFamily="34" charset="-122"/>
                <a:cs typeface="Calibri" pitchFamily="34" charset="-120"/>
              </a:rPr>
              <a:t>Tire degradation</a:t>
            </a:r>
            <a:endParaRPr lang="en-US" sz="850" dirty="0"/>
          </a:p>
          <a:p>
            <a:pPr marL="0" indent="0" algn="ctr">
              <a:buNone/>
            </a:pPr>
            <a:r>
              <a:rPr lang="en-US" sz="850" dirty="0">
                <a:solidFill>
                  <a:srgbClr val="444444"/>
                </a:solidFill>
                <a:latin typeface="Calibri" pitchFamily="34" charset="0"/>
                <a:ea typeface="Calibri" pitchFamily="34" charset="-122"/>
                <a:cs typeface="Calibri" pitchFamily="34" charset="-120"/>
              </a:rPr>
              <a:t>Weather features</a:t>
            </a:r>
            <a:endParaRPr lang="en-US" sz="850" dirty="0"/>
          </a:p>
          <a:p>
            <a:pPr marL="0" indent="0" algn="ctr">
              <a:buNone/>
            </a:pPr>
            <a:r>
              <a:rPr lang="en-US" sz="850" dirty="0">
                <a:solidFill>
                  <a:srgbClr val="444444"/>
                </a:solidFill>
                <a:latin typeface="Calibri" pitchFamily="34" charset="0"/>
                <a:ea typeface="Calibri" pitchFamily="34" charset="-122"/>
                <a:cs typeface="Calibri" pitchFamily="34" charset="-120"/>
              </a:rPr>
              <a:t>Interaction terms</a:t>
            </a:r>
            <a:endParaRPr lang="en-US" sz="850" dirty="0"/>
          </a:p>
        </p:txBody>
      </p:sp>
      <p:sp>
        <p:nvSpPr>
          <p:cNvPr id="21" name="Text 18"/>
          <p:cNvSpPr/>
          <p:nvPr/>
        </p:nvSpPr>
        <p:spPr>
          <a:xfrm>
            <a:off x="6848856" y="2103120"/>
            <a:ext cx="274320" cy="365760"/>
          </a:xfrm>
          <a:prstGeom prst="rect">
            <a:avLst/>
          </a:prstGeom>
          <a:noFill/>
          <a:ln/>
        </p:spPr>
        <p:txBody>
          <a:bodyPr wrap="square" rtlCol="0" anchor="ctr"/>
          <a:lstStyle/>
          <a:p>
            <a:pPr marL="0" indent="0" algn="ctr">
              <a:buNone/>
            </a:pPr>
            <a:r>
              <a:rPr lang="en-US" sz="1600" dirty="0">
                <a:solidFill>
                  <a:srgbClr val="949594"/>
                </a:solidFill>
              </a:rPr>
              <a:t>→</a:t>
            </a:r>
            <a:endParaRPr lang="en-US" sz="1600" dirty="0"/>
          </a:p>
        </p:txBody>
      </p:sp>
      <p:sp>
        <p:nvSpPr>
          <p:cNvPr id="22" name="Shape 19"/>
          <p:cNvSpPr/>
          <p:nvPr/>
        </p:nvSpPr>
        <p:spPr>
          <a:xfrm>
            <a:off x="7059168" y="1051560"/>
            <a:ext cx="1572768" cy="3017520"/>
          </a:xfrm>
          <a:prstGeom prst="rect">
            <a:avLst/>
          </a:prstGeom>
          <a:solidFill>
            <a:srgbClr val="EDE7F6"/>
          </a:solidFill>
          <a:ln/>
          <a:effectLst>
            <a:outerShdw blurRad="50800" dist="25400" dir="8100000" algn="bl" rotWithShape="0">
              <a:srgbClr val="000000">
                <a:alpha val="10000"/>
              </a:srgbClr>
            </a:outerShdw>
          </a:effectLst>
        </p:spPr>
        <p:txBody>
          <a:bodyPr/>
          <a:lstStyle/>
          <a:p>
            <a:endParaRPr lang="en-US"/>
          </a:p>
        </p:txBody>
      </p:sp>
      <p:sp>
        <p:nvSpPr>
          <p:cNvPr id="23" name="Text 20"/>
          <p:cNvSpPr/>
          <p:nvPr/>
        </p:nvSpPr>
        <p:spPr>
          <a:xfrm>
            <a:off x="7059168" y="1143000"/>
            <a:ext cx="1572768" cy="320040"/>
          </a:xfrm>
          <a:prstGeom prst="rect">
            <a:avLst/>
          </a:prstGeom>
          <a:noFill/>
          <a:ln/>
        </p:spPr>
        <p:txBody>
          <a:bodyPr wrap="square" lIns="0" tIns="0" rIns="0" bIns="0" rtlCol="0" anchor="ctr"/>
          <a:lstStyle/>
          <a:p>
            <a:pPr marL="0" indent="0" algn="ctr">
              <a:buNone/>
            </a:pPr>
            <a:r>
              <a:rPr lang="en-US" sz="900" b="1" dirty="0">
                <a:solidFill>
                  <a:srgbClr val="4527A0"/>
                </a:solidFill>
                <a:latin typeface="Georgia" pitchFamily="34" charset="0"/>
                <a:ea typeface="Georgia" pitchFamily="34" charset="-122"/>
                <a:cs typeface="Georgia" pitchFamily="34" charset="-120"/>
              </a:rPr>
              <a:t>CONSUMPTION</a:t>
            </a:r>
            <a:endParaRPr lang="en-US" sz="900" dirty="0"/>
          </a:p>
        </p:txBody>
      </p:sp>
      <p:sp>
        <p:nvSpPr>
          <p:cNvPr id="24" name="Text 21"/>
          <p:cNvSpPr/>
          <p:nvPr/>
        </p:nvSpPr>
        <p:spPr>
          <a:xfrm>
            <a:off x="7132320" y="1554480"/>
            <a:ext cx="1426464" cy="2286000"/>
          </a:xfrm>
          <a:prstGeom prst="rect">
            <a:avLst/>
          </a:prstGeom>
          <a:noFill/>
          <a:ln/>
        </p:spPr>
        <p:txBody>
          <a:bodyPr wrap="square" lIns="0" tIns="0" rIns="0" bIns="0" rtlCol="0" anchor="t"/>
          <a:lstStyle/>
          <a:p>
            <a:pPr marL="0" indent="0" algn="ctr">
              <a:buNone/>
            </a:pPr>
            <a:r>
              <a:rPr lang="en-US" sz="850" dirty="0">
                <a:solidFill>
                  <a:srgbClr val="444444"/>
                </a:solidFill>
                <a:latin typeface="Calibri" pitchFamily="34" charset="0"/>
                <a:ea typeface="Calibri" pitchFamily="34" charset="-122"/>
                <a:cs typeface="Calibri" pitchFamily="34" charset="-120"/>
              </a:rPr>
              <a:t>3 ML models</a:t>
            </a:r>
            <a:endParaRPr lang="en-US" sz="850" dirty="0"/>
          </a:p>
          <a:p>
            <a:pPr marL="0" indent="0" algn="ctr">
              <a:buNone/>
            </a:pPr>
            <a:r>
              <a:rPr lang="en-US" sz="850" dirty="0">
                <a:solidFill>
                  <a:srgbClr val="444444"/>
                </a:solidFill>
                <a:latin typeface="Calibri" pitchFamily="34" charset="0"/>
                <a:ea typeface="Calibri" pitchFamily="34" charset="-122"/>
                <a:cs typeface="Calibri" pitchFamily="34" charset="-120"/>
              </a:rPr>
              <a:t>4 AI agents</a:t>
            </a:r>
            <a:endParaRPr lang="en-US" sz="850" dirty="0"/>
          </a:p>
          <a:p>
            <a:pPr marL="0" indent="0" algn="ctr">
              <a:buNone/>
            </a:pPr>
            <a:r>
              <a:rPr lang="en-US" sz="850" dirty="0">
                <a:solidFill>
                  <a:srgbClr val="444444"/>
                </a:solidFill>
                <a:latin typeface="Calibri" pitchFamily="34" charset="0"/>
                <a:ea typeface="Calibri" pitchFamily="34" charset="-122"/>
                <a:cs typeface="Calibri" pitchFamily="34" charset="-120"/>
              </a:rPr>
              <a:t>Streamlit dashboard</a:t>
            </a:r>
            <a:endParaRPr lang="en-US" sz="850" dirty="0"/>
          </a:p>
          <a:p>
            <a:pPr marL="0" indent="0" algn="ctr">
              <a:buNone/>
            </a:pPr>
            <a:endParaRPr lang="en-US" sz="850" dirty="0"/>
          </a:p>
          <a:p>
            <a:pPr marL="0" indent="0" algn="ctr">
              <a:buNone/>
            </a:pPr>
            <a:r>
              <a:rPr lang="en-US" sz="850" dirty="0">
                <a:solidFill>
                  <a:srgbClr val="444444"/>
                </a:solidFill>
                <a:latin typeface="Calibri" pitchFamily="34" charset="0"/>
                <a:ea typeface="Calibri" pitchFamily="34" charset="-122"/>
                <a:cs typeface="Calibri" pitchFamily="34" charset="-120"/>
              </a:rPr>
              <a:t>77.8% winner</a:t>
            </a:r>
            <a:endParaRPr lang="en-US" sz="850" dirty="0"/>
          </a:p>
          <a:p>
            <a:pPr marL="0" indent="0" algn="ctr">
              <a:buNone/>
            </a:pPr>
            <a:r>
              <a:rPr lang="en-US" sz="850" dirty="0">
                <a:solidFill>
                  <a:srgbClr val="444444"/>
                </a:solidFill>
                <a:latin typeface="Calibri" pitchFamily="34" charset="0"/>
                <a:ea typeface="Calibri" pitchFamily="34" charset="-122"/>
                <a:cs typeface="Calibri" pitchFamily="34" charset="-120"/>
              </a:rPr>
              <a:t>100% top-3</a:t>
            </a:r>
            <a:endParaRPr lang="en-US" sz="850" dirty="0"/>
          </a:p>
        </p:txBody>
      </p:sp>
      <p:sp>
        <p:nvSpPr>
          <p:cNvPr id="25" name="Text 22"/>
          <p:cNvSpPr/>
          <p:nvPr/>
        </p:nvSpPr>
        <p:spPr>
          <a:xfrm>
            <a:off x="457200" y="4206240"/>
            <a:ext cx="8229600" cy="320040"/>
          </a:xfrm>
          <a:prstGeom prst="rect">
            <a:avLst/>
          </a:prstGeom>
          <a:noFill/>
          <a:ln/>
        </p:spPr>
        <p:txBody>
          <a:bodyPr wrap="square" lIns="0" tIns="0" rIns="0" bIns="0" rtlCol="0" anchor="ctr"/>
          <a:lstStyle/>
          <a:p>
            <a:pPr marL="0" indent="0">
              <a:buNone/>
            </a:pPr>
            <a:r>
              <a:rPr lang="en-US" sz="1000" i="1" dirty="0">
                <a:solidFill>
                  <a:srgbClr val="949594"/>
                </a:solidFill>
                <a:latin typeface="Calibri" pitchFamily="34" charset="0"/>
                <a:ea typeface="Calibri" pitchFamily="34" charset="-122"/>
                <a:cs typeface="Calibri" pitchFamily="34" charset="-120"/>
              </a:rPr>
              <a:t>Each layer adds trust, structure, and business value — 223K raw records → 3,524 × 85 = 300K feature values</a:t>
            </a:r>
            <a:endParaRPr lang="en-US" sz="1000" dirty="0"/>
          </a:p>
        </p:txBody>
      </p:sp>
      <p:sp>
        <p:nvSpPr>
          <p:cNvPr id="26" name="Text 23"/>
          <p:cNvSpPr/>
          <p:nvPr/>
        </p:nvSpPr>
        <p:spPr>
          <a:xfrm>
            <a:off x="457200" y="4709160"/>
            <a:ext cx="6400800" cy="365760"/>
          </a:xfrm>
          <a:prstGeom prst="rect">
            <a:avLst/>
          </a:prstGeom>
          <a:noFill/>
          <a:ln/>
        </p:spPr>
        <p:txBody>
          <a:bodyPr wrap="square" rtlCol="0" anchor="ctr"/>
          <a:lstStyle/>
          <a:p>
            <a:pPr marL="0" indent="0">
              <a:buNone/>
            </a:pPr>
            <a:r>
              <a:rPr lang="en-US" sz="900" dirty="0">
                <a:solidFill>
                  <a:srgbClr val="949594"/>
                </a:solidFill>
                <a:latin typeface="Calibri" pitchFamily="34" charset="0"/>
                <a:ea typeface="Calibri" pitchFamily="34" charset="-122"/>
                <a:cs typeface="Calibri" pitchFamily="34" charset="-120"/>
              </a:rPr>
              <a:t>Speaker 1 — Problem &amp; Architecture</a:t>
            </a:r>
            <a:endParaRPr lang="en-US" sz="900" dirty="0"/>
          </a:p>
        </p:txBody>
      </p:sp>
      <p:sp>
        <p:nvSpPr>
          <p:cNvPr id="27" name="Text 24"/>
          <p:cNvSpPr/>
          <p:nvPr/>
        </p:nvSpPr>
        <p:spPr>
          <a:xfrm>
            <a:off x="8412480" y="4709160"/>
            <a:ext cx="548640" cy="365760"/>
          </a:xfrm>
          <a:prstGeom prst="rect">
            <a:avLst/>
          </a:prstGeom>
          <a:noFill/>
          <a:ln/>
        </p:spPr>
        <p:txBody>
          <a:bodyPr wrap="square" rtlCol="0" anchor="ctr"/>
          <a:lstStyle/>
          <a:p>
            <a:pPr marL="0" indent="0" algn="r">
              <a:buNone/>
            </a:pPr>
            <a:r>
              <a:rPr lang="en-US" sz="900" dirty="0">
                <a:solidFill>
                  <a:srgbClr val="949594"/>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5F5"/>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C41E1E"/>
          </a:solidFill>
          <a:ln/>
        </p:spPr>
        <p:txBody>
          <a:bodyPr/>
          <a:lstStyle/>
          <a:p>
            <a:endParaRPr lang="en-US"/>
          </a:p>
        </p:txBody>
      </p:sp>
      <p:sp>
        <p:nvSpPr>
          <p:cNvPr id="3" name="Shape 1"/>
          <p:cNvSpPr/>
          <p:nvPr/>
        </p:nvSpPr>
        <p:spPr>
          <a:xfrm>
            <a:off x="8778240" y="0"/>
            <a:ext cx="137160" cy="5143500"/>
          </a:xfrm>
          <a:prstGeom prst="rect">
            <a:avLst/>
          </a:prstGeom>
          <a:solidFill>
            <a:srgbClr val="C41E1E"/>
          </a:solidFill>
          <a:ln/>
        </p:spPr>
        <p:txBody>
          <a:bodyPr/>
          <a:lstStyle/>
          <a:p>
            <a:endParaRPr lang="en-US"/>
          </a:p>
        </p:txBody>
      </p:sp>
      <p:sp>
        <p:nvSpPr>
          <p:cNvPr id="4" name="Shape 2"/>
          <p:cNvSpPr/>
          <p:nvPr/>
        </p:nvSpPr>
        <p:spPr>
          <a:xfrm>
            <a:off x="8961120" y="0"/>
            <a:ext cx="73152" cy="5143500"/>
          </a:xfrm>
          <a:prstGeom prst="rect">
            <a:avLst/>
          </a:prstGeom>
          <a:solidFill>
            <a:srgbClr val="C41E1E">
              <a:alpha val="40000"/>
            </a:srgbClr>
          </a:solidFill>
          <a:ln/>
        </p:spPr>
        <p:txBody>
          <a:bodyPr/>
          <a:lstStyle/>
          <a:p>
            <a:endParaRPr lang="en-US"/>
          </a:p>
        </p:txBody>
      </p:sp>
      <p:sp>
        <p:nvSpPr>
          <p:cNvPr id="5" name="Text 3"/>
          <p:cNvSpPr/>
          <p:nvPr/>
        </p:nvSpPr>
        <p:spPr>
          <a:xfrm>
            <a:off x="731520" y="182880"/>
            <a:ext cx="7315200" cy="548640"/>
          </a:xfrm>
          <a:prstGeom prst="rect">
            <a:avLst/>
          </a:prstGeom>
          <a:noFill/>
          <a:ln/>
        </p:spPr>
        <p:txBody>
          <a:bodyPr wrap="square" lIns="0" tIns="0" rIns="0" bIns="0" rtlCol="0" anchor="ctr"/>
          <a:lstStyle/>
          <a:p>
            <a:pPr marL="0" indent="0">
              <a:buNone/>
            </a:pPr>
            <a:r>
              <a:rPr lang="en-US" sz="2600" b="1" dirty="0">
                <a:solidFill>
                  <a:srgbClr val="1A1A2E"/>
                </a:solidFill>
                <a:latin typeface="Georgia" pitchFamily="34" charset="0"/>
                <a:ea typeface="Georgia" pitchFamily="34" charset="-122"/>
                <a:cs typeface="Georgia" pitchFamily="34" charset="-120"/>
              </a:rPr>
              <a:t>Infrastructure — Docker &amp; Tech Stack</a:t>
            </a:r>
            <a:endParaRPr lang="en-US" sz="2600" dirty="0"/>
          </a:p>
        </p:txBody>
      </p:sp>
      <p:sp>
        <p:nvSpPr>
          <p:cNvPr id="6" name="Text 4"/>
          <p:cNvSpPr/>
          <p:nvPr/>
        </p:nvSpPr>
        <p:spPr>
          <a:xfrm>
            <a:off x="731520" y="685800"/>
            <a:ext cx="7315200" cy="228600"/>
          </a:xfrm>
          <a:prstGeom prst="rect">
            <a:avLst/>
          </a:prstGeom>
          <a:noFill/>
          <a:ln/>
        </p:spPr>
        <p:txBody>
          <a:bodyPr wrap="square" lIns="0" tIns="0" rIns="0" bIns="0" rtlCol="0" anchor="ctr"/>
          <a:lstStyle/>
          <a:p>
            <a:pPr marL="0" indent="0">
              <a:buNone/>
            </a:pPr>
            <a:r>
              <a:rPr lang="en-US" sz="1100" dirty="0">
                <a:solidFill>
                  <a:srgbClr val="949594"/>
                </a:solidFill>
                <a:latin typeface="Calibri" pitchFamily="34" charset="0"/>
                <a:ea typeface="Calibri" pitchFamily="34" charset="-122"/>
                <a:cs typeface="Calibri" pitchFamily="34" charset="-120"/>
              </a:rPr>
              <a:t>7 containers • one command: docker-compose up -d • fully reproducible</a:t>
            </a:r>
            <a:endParaRPr lang="en-US" sz="11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365760" y="1005840"/>
          <a:ext cx="7863840" cy="2194560"/>
        </p:xfrm>
        <a:graphic>
          <a:graphicData uri="http://schemas.openxmlformats.org/drawingml/2006/table">
            <a:tbl>
              <a:tblPr/>
              <a:tblGrid>
                <a:gridCol w="1645920">
                  <a:extLst>
                    <a:ext uri="{9D8B030D-6E8A-4147-A177-3AD203B41FA5}">
                      <a16:colId xmlns:a16="http://schemas.microsoft.com/office/drawing/2014/main" val="20000"/>
                    </a:ext>
                  </a:extLst>
                </a:gridCol>
                <a:gridCol w="1463040">
                  <a:extLst>
                    <a:ext uri="{9D8B030D-6E8A-4147-A177-3AD203B41FA5}">
                      <a16:colId xmlns:a16="http://schemas.microsoft.com/office/drawing/2014/main" val="20001"/>
                    </a:ext>
                  </a:extLst>
                </a:gridCol>
                <a:gridCol w="640080">
                  <a:extLst>
                    <a:ext uri="{9D8B030D-6E8A-4147-A177-3AD203B41FA5}">
                      <a16:colId xmlns:a16="http://schemas.microsoft.com/office/drawing/2014/main" val="20002"/>
                    </a:ext>
                  </a:extLst>
                </a:gridCol>
                <a:gridCol w="4114800">
                  <a:extLst>
                    <a:ext uri="{9D8B030D-6E8A-4147-A177-3AD203B41FA5}">
                      <a16:colId xmlns:a16="http://schemas.microsoft.com/office/drawing/2014/main" val="20003"/>
                    </a:ext>
                  </a:extLst>
                </a:gridCol>
              </a:tblGrid>
              <a:tr h="274320">
                <a:tc>
                  <a:txBody>
                    <a:bodyPr/>
                    <a:lstStyle/>
                    <a:p>
                      <a:pPr marL="0" indent="0">
                        <a:buNone/>
                      </a:pPr>
                      <a:r>
                        <a:rPr lang="en-US" sz="900" b="1" dirty="0">
                          <a:solidFill>
                            <a:srgbClr val="FFFFFF"/>
                          </a:solidFill>
                          <a:latin typeface="Calibri" pitchFamily="34" charset="0"/>
                          <a:ea typeface="Calibri" pitchFamily="34" charset="-122"/>
                          <a:cs typeface="Calibri" pitchFamily="34" charset="-120"/>
                        </a:rPr>
                        <a:t>Container</a:t>
                      </a:r>
                      <a:endParaRPr lang="en-US" sz="900" dirty="0">
                        <a:latin typeface="Calibri" charset="0"/>
                        <a:ea typeface="Calibri" charset="0"/>
                        <a:cs typeface="Calibri" charset="0"/>
                      </a:endParaRPr>
                    </a:p>
                  </a:txBody>
                  <a:tcP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C41E1E"/>
                    </a:solidFill>
                  </a:tcPr>
                </a:tc>
                <a:tc>
                  <a:txBody>
                    <a:bodyPr/>
                    <a:lstStyle/>
                    <a:p>
                      <a:pPr marL="0" indent="0">
                        <a:buNone/>
                      </a:pPr>
                      <a:r>
                        <a:rPr lang="en-US" sz="900" b="1" dirty="0">
                          <a:solidFill>
                            <a:srgbClr val="FFFFFF"/>
                          </a:solidFill>
                          <a:latin typeface="Calibri" pitchFamily="34" charset="0"/>
                          <a:ea typeface="Calibri" pitchFamily="34" charset="-122"/>
                          <a:cs typeface="Calibri" pitchFamily="34" charset="-120"/>
                        </a:rPr>
                        <a:t>Technology</a:t>
                      </a:r>
                      <a:endParaRPr lang="en-US" sz="900" dirty="0">
                        <a:latin typeface="Calibri" charset="0"/>
                        <a:ea typeface="Calibri" charset="0"/>
                        <a:cs typeface="Calibri" charset="0"/>
                      </a:endParaRPr>
                    </a:p>
                  </a:txBody>
                  <a:tcP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C41E1E"/>
                    </a:solidFill>
                  </a:tcPr>
                </a:tc>
                <a:tc>
                  <a:txBody>
                    <a:bodyPr/>
                    <a:lstStyle/>
                    <a:p>
                      <a:pPr marL="0" indent="0">
                        <a:buNone/>
                      </a:pPr>
                      <a:r>
                        <a:rPr lang="en-US" sz="900" b="1" dirty="0">
                          <a:solidFill>
                            <a:srgbClr val="FFFFFF"/>
                          </a:solidFill>
                          <a:latin typeface="Calibri" pitchFamily="34" charset="0"/>
                          <a:ea typeface="Calibri" pitchFamily="34" charset="-122"/>
                          <a:cs typeface="Calibri" pitchFamily="34" charset="-120"/>
                        </a:rPr>
                        <a:t>Port</a:t>
                      </a:r>
                      <a:endParaRPr lang="en-US" sz="900" dirty="0">
                        <a:latin typeface="Calibri" charset="0"/>
                        <a:ea typeface="Calibri" charset="0"/>
                        <a:cs typeface="Calibri" charset="0"/>
                      </a:endParaRPr>
                    </a:p>
                  </a:txBody>
                  <a:tcP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C41E1E"/>
                    </a:solidFill>
                  </a:tcPr>
                </a:tc>
                <a:tc>
                  <a:txBody>
                    <a:bodyPr/>
                    <a:lstStyle/>
                    <a:p>
                      <a:pPr marL="0" indent="0">
                        <a:buNone/>
                      </a:pPr>
                      <a:r>
                        <a:rPr lang="en-US" sz="900" b="1" dirty="0">
                          <a:solidFill>
                            <a:srgbClr val="FFFFFF"/>
                          </a:solidFill>
                          <a:latin typeface="Calibri" pitchFamily="34" charset="0"/>
                          <a:ea typeface="Calibri" pitchFamily="34" charset="-122"/>
                          <a:cs typeface="Calibri" pitchFamily="34" charset="-120"/>
                        </a:rPr>
                        <a:t>Role</a:t>
                      </a:r>
                      <a:endParaRPr lang="en-US" sz="900" dirty="0">
                        <a:latin typeface="Calibri" charset="0"/>
                        <a:ea typeface="Calibri" charset="0"/>
                        <a:cs typeface="Calibri" charset="0"/>
                      </a:endParaRPr>
                    </a:p>
                  </a:txBody>
                  <a:tcP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C41E1E"/>
                    </a:solidFill>
                  </a:tcPr>
                </a:tc>
                <a:extLst>
                  <a:ext uri="{0D108BD9-81ED-4DB2-BD59-A6C34878D82A}">
                    <a16:rowId xmlns:a16="http://schemas.microsoft.com/office/drawing/2014/main" val="10000"/>
                  </a:ext>
                </a:extLst>
              </a:tr>
              <a:tr h="274320">
                <a:tc>
                  <a:txBody>
                    <a:bodyPr/>
                    <a:lstStyle/>
                    <a:p>
                      <a:pPr marL="0" indent="0">
                        <a:buNone/>
                      </a:pPr>
                      <a:r>
                        <a:rPr lang="en-US" sz="900" dirty="0">
                          <a:solidFill>
                            <a:srgbClr val="000000"/>
                          </a:solidFill>
                          <a:latin typeface="Calibri" pitchFamily="34" charset="0"/>
                          <a:ea typeface="Calibri" pitchFamily="34" charset="-122"/>
                          <a:cs typeface="Calibri" pitchFamily="34" charset="-120"/>
                        </a:rPr>
                        <a:t>Spark Master</a:t>
                      </a:r>
                      <a:endParaRPr lang="en-US" sz="900" dirty="0">
                        <a:latin typeface="Calibri" charset="0"/>
                        <a:ea typeface="Calibri" charset="0"/>
                        <a:cs typeface="Calibri" charset="0"/>
                      </a:endParaRPr>
                    </a:p>
                  </a:txBody>
                  <a:tcP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marL="0" indent="0">
                        <a:buNone/>
                      </a:pPr>
                      <a:r>
                        <a:rPr lang="en-US" sz="900" dirty="0">
                          <a:solidFill>
                            <a:srgbClr val="000000"/>
                          </a:solidFill>
                          <a:latin typeface="Calibri" pitchFamily="34" charset="0"/>
                          <a:ea typeface="Calibri" pitchFamily="34" charset="-122"/>
                          <a:cs typeface="Calibri" pitchFamily="34" charset="-120"/>
                        </a:rPr>
                        <a:t>Spark 3.5.1</a:t>
                      </a:r>
                      <a:endParaRPr lang="en-US" sz="900" dirty="0">
                        <a:latin typeface="Calibri" charset="0"/>
                        <a:ea typeface="Calibri" charset="0"/>
                        <a:cs typeface="Calibri" charset="0"/>
                      </a:endParaRPr>
                    </a:p>
                  </a:txBody>
                  <a:tcP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marL="0" indent="0">
                        <a:buNone/>
                      </a:pPr>
                      <a:r>
                        <a:rPr lang="en-US" sz="900" dirty="0">
                          <a:solidFill>
                            <a:srgbClr val="000000"/>
                          </a:solidFill>
                          <a:latin typeface="Calibri" pitchFamily="34" charset="0"/>
                          <a:ea typeface="Calibri" pitchFamily="34" charset="-122"/>
                          <a:cs typeface="Calibri" pitchFamily="34" charset="-120"/>
                        </a:rPr>
                        <a:t>8080</a:t>
                      </a:r>
                      <a:endParaRPr lang="en-US" sz="900" dirty="0">
                        <a:latin typeface="Calibri" charset="0"/>
                        <a:ea typeface="Calibri" charset="0"/>
                        <a:cs typeface="Calibri" charset="0"/>
                      </a:endParaRPr>
                    </a:p>
                  </a:txBody>
                  <a:tcP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marL="0" indent="0">
                        <a:buNone/>
                      </a:pPr>
                      <a:r>
                        <a:rPr lang="en-US" sz="900" dirty="0">
                          <a:solidFill>
                            <a:srgbClr val="000000"/>
                          </a:solidFill>
                          <a:latin typeface="Calibri" pitchFamily="34" charset="0"/>
                          <a:ea typeface="Calibri" pitchFamily="34" charset="-122"/>
                          <a:cs typeface="Calibri" pitchFamily="34" charset="-120"/>
                        </a:rPr>
                        <a:t>Distributes computation across workers</a:t>
                      </a:r>
                      <a:endParaRPr lang="en-US" sz="900" dirty="0">
                        <a:latin typeface="Calibri" charset="0"/>
                        <a:ea typeface="Calibri" charset="0"/>
                        <a:cs typeface="Calibri" charset="0"/>
                      </a:endParaRPr>
                    </a:p>
                  </a:txBody>
                  <a:tcP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extLst>
                  <a:ext uri="{0D108BD9-81ED-4DB2-BD59-A6C34878D82A}">
                    <a16:rowId xmlns:a16="http://schemas.microsoft.com/office/drawing/2014/main" val="10001"/>
                  </a:ext>
                </a:extLst>
              </a:tr>
              <a:tr h="274320">
                <a:tc>
                  <a:txBody>
                    <a:bodyPr/>
                    <a:lstStyle/>
                    <a:p>
                      <a:pPr marL="0" indent="0">
                        <a:buNone/>
                      </a:pPr>
                      <a:r>
                        <a:rPr lang="en-US" sz="900" dirty="0">
                          <a:solidFill>
                            <a:srgbClr val="000000"/>
                          </a:solidFill>
                          <a:latin typeface="Calibri" pitchFamily="34" charset="0"/>
                          <a:ea typeface="Calibri" pitchFamily="34" charset="-122"/>
                          <a:cs typeface="Calibri" pitchFamily="34" charset="-120"/>
                        </a:rPr>
                        <a:t>Spark Worker 1</a:t>
                      </a:r>
                      <a:endParaRPr lang="en-US" sz="900" dirty="0">
                        <a:latin typeface="Calibri" charset="0"/>
                        <a:ea typeface="Calibri" charset="0"/>
                        <a:cs typeface="Calibri" charset="0"/>
                      </a:endParaRPr>
                    </a:p>
                  </a:txBody>
                  <a:tcP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marL="0" indent="0">
                        <a:buNone/>
                      </a:pPr>
                      <a:r>
                        <a:rPr lang="en-US" sz="900" dirty="0">
                          <a:solidFill>
                            <a:srgbClr val="000000"/>
                          </a:solidFill>
                          <a:latin typeface="Calibri" pitchFamily="34" charset="0"/>
                          <a:ea typeface="Calibri" pitchFamily="34" charset="-122"/>
                          <a:cs typeface="Calibri" pitchFamily="34" charset="-120"/>
                        </a:rPr>
                        <a:t>Spark 3.5.1</a:t>
                      </a:r>
                      <a:endParaRPr lang="en-US" sz="900" dirty="0">
                        <a:latin typeface="Calibri" charset="0"/>
                        <a:ea typeface="Calibri" charset="0"/>
                        <a:cs typeface="Calibri" charset="0"/>
                      </a:endParaRPr>
                    </a:p>
                  </a:txBody>
                  <a:tcP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marL="0" indent="0">
                        <a:buNone/>
                      </a:pPr>
                      <a:r>
                        <a:rPr lang="en-US" sz="900" dirty="0">
                          <a:solidFill>
                            <a:srgbClr val="000000"/>
                          </a:solidFill>
                          <a:latin typeface="Calibri" pitchFamily="34" charset="0"/>
                          <a:ea typeface="Calibri" pitchFamily="34" charset="-122"/>
                          <a:cs typeface="Calibri" pitchFamily="34" charset="-120"/>
                        </a:rPr>
                        <a:t>—</a:t>
                      </a:r>
                      <a:endParaRPr lang="en-US" sz="900" dirty="0">
                        <a:latin typeface="Calibri" charset="0"/>
                        <a:ea typeface="Calibri" charset="0"/>
                        <a:cs typeface="Calibri" charset="0"/>
                      </a:endParaRPr>
                    </a:p>
                  </a:txBody>
                  <a:tcP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marL="0" indent="0">
                        <a:buNone/>
                      </a:pPr>
                      <a:r>
                        <a:rPr lang="en-US" sz="900" dirty="0">
                          <a:solidFill>
                            <a:srgbClr val="000000"/>
                          </a:solidFill>
                          <a:latin typeface="Calibri" pitchFamily="34" charset="0"/>
                          <a:ea typeface="Calibri" pitchFamily="34" charset="-122"/>
                          <a:cs typeface="Calibri" pitchFamily="34" charset="-120"/>
                        </a:rPr>
                        <a:t>Worker node (2 cores, 2GB RAM)</a:t>
                      </a:r>
                      <a:endParaRPr lang="en-US" sz="900" dirty="0">
                        <a:latin typeface="Calibri" charset="0"/>
                        <a:ea typeface="Calibri" charset="0"/>
                        <a:cs typeface="Calibri" charset="0"/>
                      </a:endParaRPr>
                    </a:p>
                  </a:txBody>
                  <a:tcP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extLst>
                  <a:ext uri="{0D108BD9-81ED-4DB2-BD59-A6C34878D82A}">
                    <a16:rowId xmlns:a16="http://schemas.microsoft.com/office/drawing/2014/main" val="10002"/>
                  </a:ext>
                </a:extLst>
              </a:tr>
              <a:tr h="274320">
                <a:tc>
                  <a:txBody>
                    <a:bodyPr/>
                    <a:lstStyle/>
                    <a:p>
                      <a:pPr marL="0" indent="0">
                        <a:buNone/>
                      </a:pPr>
                      <a:r>
                        <a:rPr lang="en-US" sz="900" dirty="0">
                          <a:solidFill>
                            <a:srgbClr val="000000"/>
                          </a:solidFill>
                          <a:latin typeface="Calibri" pitchFamily="34" charset="0"/>
                          <a:ea typeface="Calibri" pitchFamily="34" charset="-122"/>
                          <a:cs typeface="Calibri" pitchFamily="34" charset="-120"/>
                        </a:rPr>
                        <a:t>Spark Worker 2</a:t>
                      </a:r>
                      <a:endParaRPr lang="en-US" sz="900" dirty="0">
                        <a:latin typeface="Calibri" charset="0"/>
                        <a:ea typeface="Calibri" charset="0"/>
                        <a:cs typeface="Calibri" charset="0"/>
                      </a:endParaRPr>
                    </a:p>
                  </a:txBody>
                  <a:tcP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marL="0" indent="0">
                        <a:buNone/>
                      </a:pPr>
                      <a:r>
                        <a:rPr lang="en-US" sz="900" dirty="0">
                          <a:solidFill>
                            <a:srgbClr val="000000"/>
                          </a:solidFill>
                          <a:latin typeface="Calibri" pitchFamily="34" charset="0"/>
                          <a:ea typeface="Calibri" pitchFamily="34" charset="-122"/>
                          <a:cs typeface="Calibri" pitchFamily="34" charset="-120"/>
                        </a:rPr>
                        <a:t>Spark 3.5.1</a:t>
                      </a:r>
                      <a:endParaRPr lang="en-US" sz="900" dirty="0">
                        <a:latin typeface="Calibri" charset="0"/>
                        <a:ea typeface="Calibri" charset="0"/>
                        <a:cs typeface="Calibri" charset="0"/>
                      </a:endParaRPr>
                    </a:p>
                  </a:txBody>
                  <a:tcP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marL="0" indent="0">
                        <a:buNone/>
                      </a:pPr>
                      <a:r>
                        <a:rPr lang="en-US" sz="900" dirty="0">
                          <a:solidFill>
                            <a:srgbClr val="000000"/>
                          </a:solidFill>
                          <a:latin typeface="Calibri" pitchFamily="34" charset="0"/>
                          <a:ea typeface="Calibri" pitchFamily="34" charset="-122"/>
                          <a:cs typeface="Calibri" pitchFamily="34" charset="-120"/>
                        </a:rPr>
                        <a:t>—</a:t>
                      </a:r>
                      <a:endParaRPr lang="en-US" sz="900" dirty="0">
                        <a:latin typeface="Calibri" charset="0"/>
                        <a:ea typeface="Calibri" charset="0"/>
                        <a:cs typeface="Calibri" charset="0"/>
                      </a:endParaRPr>
                    </a:p>
                  </a:txBody>
                  <a:tcP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marL="0" indent="0">
                        <a:buNone/>
                      </a:pPr>
                      <a:r>
                        <a:rPr lang="en-US" sz="900" dirty="0">
                          <a:solidFill>
                            <a:srgbClr val="000000"/>
                          </a:solidFill>
                          <a:latin typeface="Calibri" pitchFamily="34" charset="0"/>
                          <a:ea typeface="Calibri" pitchFamily="34" charset="-122"/>
                          <a:cs typeface="Calibri" pitchFamily="34" charset="-120"/>
                        </a:rPr>
                        <a:t>Second worker for parallel processing</a:t>
                      </a:r>
                      <a:endParaRPr lang="en-US" sz="900" dirty="0">
                        <a:latin typeface="Calibri" charset="0"/>
                        <a:ea typeface="Calibri" charset="0"/>
                        <a:cs typeface="Calibri" charset="0"/>
                      </a:endParaRPr>
                    </a:p>
                  </a:txBody>
                  <a:tcP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extLst>
                  <a:ext uri="{0D108BD9-81ED-4DB2-BD59-A6C34878D82A}">
                    <a16:rowId xmlns:a16="http://schemas.microsoft.com/office/drawing/2014/main" val="10003"/>
                  </a:ext>
                </a:extLst>
              </a:tr>
              <a:tr h="274320">
                <a:tc>
                  <a:txBody>
                    <a:bodyPr/>
                    <a:lstStyle/>
                    <a:p>
                      <a:pPr marL="0" indent="0">
                        <a:buNone/>
                      </a:pPr>
                      <a:r>
                        <a:rPr lang="en-US" sz="900" dirty="0">
                          <a:solidFill>
                            <a:srgbClr val="000000"/>
                          </a:solidFill>
                          <a:latin typeface="Calibri" pitchFamily="34" charset="0"/>
                          <a:ea typeface="Calibri" pitchFamily="34" charset="-122"/>
                          <a:cs typeface="Calibri" pitchFamily="34" charset="-120"/>
                        </a:rPr>
                        <a:t>PostgreSQL</a:t>
                      </a:r>
                      <a:endParaRPr lang="en-US" sz="900" dirty="0">
                        <a:latin typeface="Calibri" charset="0"/>
                        <a:ea typeface="Calibri" charset="0"/>
                        <a:cs typeface="Calibri" charset="0"/>
                      </a:endParaRPr>
                    </a:p>
                  </a:txBody>
                  <a:tcP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marL="0" indent="0">
                        <a:buNone/>
                      </a:pPr>
                      <a:r>
                        <a:rPr lang="en-US" sz="900" dirty="0">
                          <a:solidFill>
                            <a:srgbClr val="000000"/>
                          </a:solidFill>
                          <a:latin typeface="Calibri" pitchFamily="34" charset="0"/>
                          <a:ea typeface="Calibri" pitchFamily="34" charset="-122"/>
                          <a:cs typeface="Calibri" pitchFamily="34" charset="-120"/>
                        </a:rPr>
                        <a:t>PostgreSQL 15</a:t>
                      </a:r>
                      <a:endParaRPr lang="en-US" sz="900" dirty="0">
                        <a:latin typeface="Calibri" charset="0"/>
                        <a:ea typeface="Calibri" charset="0"/>
                        <a:cs typeface="Calibri" charset="0"/>
                      </a:endParaRPr>
                    </a:p>
                  </a:txBody>
                  <a:tcP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marL="0" indent="0">
                        <a:buNone/>
                      </a:pPr>
                      <a:r>
                        <a:rPr lang="en-US" sz="900" dirty="0">
                          <a:solidFill>
                            <a:srgbClr val="000000"/>
                          </a:solidFill>
                          <a:latin typeface="Calibri" pitchFamily="34" charset="0"/>
                          <a:ea typeface="Calibri" pitchFamily="34" charset="-122"/>
                          <a:cs typeface="Calibri" pitchFamily="34" charset="-120"/>
                        </a:rPr>
                        <a:t>5433</a:t>
                      </a:r>
                      <a:endParaRPr lang="en-US" sz="900" dirty="0">
                        <a:latin typeface="Calibri" charset="0"/>
                        <a:ea typeface="Calibri" charset="0"/>
                        <a:cs typeface="Calibri" charset="0"/>
                      </a:endParaRPr>
                    </a:p>
                  </a:txBody>
                  <a:tcP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marL="0" indent="0">
                        <a:buNone/>
                      </a:pPr>
                      <a:r>
                        <a:rPr lang="en-US" sz="900" dirty="0">
                          <a:solidFill>
                            <a:srgbClr val="000000"/>
                          </a:solidFill>
                          <a:latin typeface="Calibri" pitchFamily="34" charset="0"/>
                          <a:ea typeface="Calibri" pitchFamily="34" charset="-122"/>
                          <a:cs typeface="Calibri" pitchFamily="34" charset="-120"/>
                        </a:rPr>
                        <a:t>Metadata database for Airflow</a:t>
                      </a:r>
                      <a:endParaRPr lang="en-US" sz="900" dirty="0">
                        <a:latin typeface="Calibri" charset="0"/>
                        <a:ea typeface="Calibri" charset="0"/>
                        <a:cs typeface="Calibri" charset="0"/>
                      </a:endParaRPr>
                    </a:p>
                  </a:txBody>
                  <a:tcP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extLst>
                  <a:ext uri="{0D108BD9-81ED-4DB2-BD59-A6C34878D82A}">
                    <a16:rowId xmlns:a16="http://schemas.microsoft.com/office/drawing/2014/main" val="10004"/>
                  </a:ext>
                </a:extLst>
              </a:tr>
              <a:tr h="274320">
                <a:tc>
                  <a:txBody>
                    <a:bodyPr/>
                    <a:lstStyle/>
                    <a:p>
                      <a:pPr marL="0" indent="0">
                        <a:buNone/>
                      </a:pPr>
                      <a:r>
                        <a:rPr lang="en-US" sz="900" dirty="0">
                          <a:solidFill>
                            <a:srgbClr val="000000"/>
                          </a:solidFill>
                          <a:latin typeface="Calibri" pitchFamily="34" charset="0"/>
                          <a:ea typeface="Calibri" pitchFamily="34" charset="-122"/>
                          <a:cs typeface="Calibri" pitchFamily="34" charset="-120"/>
                        </a:rPr>
                        <a:t>Airflow Web</a:t>
                      </a:r>
                      <a:endParaRPr lang="en-US" sz="900" dirty="0">
                        <a:latin typeface="Calibri" charset="0"/>
                        <a:ea typeface="Calibri" charset="0"/>
                        <a:cs typeface="Calibri" charset="0"/>
                      </a:endParaRPr>
                    </a:p>
                  </a:txBody>
                  <a:tcP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marL="0" indent="0">
                        <a:buNone/>
                      </a:pPr>
                      <a:r>
                        <a:rPr lang="en-US" sz="900" dirty="0">
                          <a:solidFill>
                            <a:srgbClr val="000000"/>
                          </a:solidFill>
                          <a:latin typeface="Calibri" pitchFamily="34" charset="0"/>
                          <a:ea typeface="Calibri" pitchFamily="34" charset="-122"/>
                          <a:cs typeface="Calibri" pitchFamily="34" charset="-120"/>
                        </a:rPr>
                        <a:t>Airflow 2.8.1</a:t>
                      </a:r>
                      <a:endParaRPr lang="en-US" sz="900" dirty="0">
                        <a:latin typeface="Calibri" charset="0"/>
                        <a:ea typeface="Calibri" charset="0"/>
                        <a:cs typeface="Calibri" charset="0"/>
                      </a:endParaRPr>
                    </a:p>
                  </a:txBody>
                  <a:tcP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marL="0" indent="0">
                        <a:buNone/>
                      </a:pPr>
                      <a:r>
                        <a:rPr lang="en-US" sz="900" dirty="0">
                          <a:solidFill>
                            <a:srgbClr val="000000"/>
                          </a:solidFill>
                          <a:latin typeface="Calibri" pitchFamily="34" charset="0"/>
                          <a:ea typeface="Calibri" pitchFamily="34" charset="-122"/>
                          <a:cs typeface="Calibri" pitchFamily="34" charset="-120"/>
                        </a:rPr>
                        <a:t>8081</a:t>
                      </a:r>
                      <a:endParaRPr lang="en-US" sz="900" dirty="0">
                        <a:latin typeface="Calibri" charset="0"/>
                        <a:ea typeface="Calibri" charset="0"/>
                        <a:cs typeface="Calibri" charset="0"/>
                      </a:endParaRPr>
                    </a:p>
                  </a:txBody>
                  <a:tcP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marL="0" indent="0">
                        <a:buNone/>
                      </a:pPr>
                      <a:r>
                        <a:rPr lang="en-US" sz="900" dirty="0">
                          <a:solidFill>
                            <a:srgbClr val="000000"/>
                          </a:solidFill>
                          <a:latin typeface="Calibri" pitchFamily="34" charset="0"/>
                          <a:ea typeface="Calibri" pitchFamily="34" charset="-122"/>
                          <a:cs typeface="Calibri" pitchFamily="34" charset="-120"/>
                        </a:rPr>
                        <a:t>Pipeline monitoring UI</a:t>
                      </a:r>
                      <a:endParaRPr lang="en-US" sz="900" dirty="0">
                        <a:latin typeface="Calibri" charset="0"/>
                        <a:ea typeface="Calibri" charset="0"/>
                        <a:cs typeface="Calibri" charset="0"/>
                      </a:endParaRPr>
                    </a:p>
                  </a:txBody>
                  <a:tcP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extLst>
                  <a:ext uri="{0D108BD9-81ED-4DB2-BD59-A6C34878D82A}">
                    <a16:rowId xmlns:a16="http://schemas.microsoft.com/office/drawing/2014/main" val="10005"/>
                  </a:ext>
                </a:extLst>
              </a:tr>
              <a:tr h="274320">
                <a:tc>
                  <a:txBody>
                    <a:bodyPr/>
                    <a:lstStyle/>
                    <a:p>
                      <a:pPr marL="0" indent="0">
                        <a:buNone/>
                      </a:pPr>
                      <a:r>
                        <a:rPr lang="en-US" sz="900" dirty="0">
                          <a:solidFill>
                            <a:srgbClr val="000000"/>
                          </a:solidFill>
                          <a:latin typeface="Calibri" pitchFamily="34" charset="0"/>
                          <a:ea typeface="Calibri" pitchFamily="34" charset="-122"/>
                          <a:cs typeface="Calibri" pitchFamily="34" charset="-120"/>
                        </a:rPr>
                        <a:t>Airflow Scheduler</a:t>
                      </a:r>
                      <a:endParaRPr lang="en-US" sz="900" dirty="0">
                        <a:latin typeface="Calibri" charset="0"/>
                        <a:ea typeface="Calibri" charset="0"/>
                        <a:cs typeface="Calibri" charset="0"/>
                      </a:endParaRPr>
                    </a:p>
                  </a:txBody>
                  <a:tcP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marL="0" indent="0">
                        <a:buNone/>
                      </a:pPr>
                      <a:r>
                        <a:rPr lang="en-US" sz="900" dirty="0">
                          <a:solidFill>
                            <a:srgbClr val="000000"/>
                          </a:solidFill>
                          <a:latin typeface="Calibri" pitchFamily="34" charset="0"/>
                          <a:ea typeface="Calibri" pitchFamily="34" charset="-122"/>
                          <a:cs typeface="Calibri" pitchFamily="34" charset="-120"/>
                        </a:rPr>
                        <a:t>Airflow 2.8.1</a:t>
                      </a:r>
                      <a:endParaRPr lang="en-US" sz="900" dirty="0">
                        <a:latin typeface="Calibri" charset="0"/>
                        <a:ea typeface="Calibri" charset="0"/>
                        <a:cs typeface="Calibri" charset="0"/>
                      </a:endParaRPr>
                    </a:p>
                  </a:txBody>
                  <a:tcP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marL="0" indent="0">
                        <a:buNone/>
                      </a:pPr>
                      <a:r>
                        <a:rPr lang="en-US" sz="900" dirty="0">
                          <a:solidFill>
                            <a:srgbClr val="000000"/>
                          </a:solidFill>
                          <a:latin typeface="Calibri" pitchFamily="34" charset="0"/>
                          <a:ea typeface="Calibri" pitchFamily="34" charset="-122"/>
                          <a:cs typeface="Calibri" pitchFamily="34" charset="-120"/>
                        </a:rPr>
                        <a:t>—</a:t>
                      </a:r>
                      <a:endParaRPr lang="en-US" sz="900" dirty="0">
                        <a:latin typeface="Calibri" charset="0"/>
                        <a:ea typeface="Calibri" charset="0"/>
                        <a:cs typeface="Calibri" charset="0"/>
                      </a:endParaRPr>
                    </a:p>
                  </a:txBody>
                  <a:tcP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marL="0" indent="0">
                        <a:buNone/>
                      </a:pPr>
                      <a:r>
                        <a:rPr lang="en-US" sz="900" dirty="0">
                          <a:solidFill>
                            <a:srgbClr val="000000"/>
                          </a:solidFill>
                          <a:latin typeface="Calibri" pitchFamily="34" charset="0"/>
                          <a:ea typeface="Calibri" pitchFamily="34" charset="-122"/>
                          <a:cs typeface="Calibri" pitchFamily="34" charset="-120"/>
                        </a:rPr>
                        <a:t>Executes scheduled DAGs automatically</a:t>
                      </a:r>
                      <a:endParaRPr lang="en-US" sz="900" dirty="0">
                        <a:latin typeface="Calibri" charset="0"/>
                        <a:ea typeface="Calibri" charset="0"/>
                        <a:cs typeface="Calibri" charset="0"/>
                      </a:endParaRPr>
                    </a:p>
                  </a:txBody>
                  <a:tcP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extLst>
                  <a:ext uri="{0D108BD9-81ED-4DB2-BD59-A6C34878D82A}">
                    <a16:rowId xmlns:a16="http://schemas.microsoft.com/office/drawing/2014/main" val="10006"/>
                  </a:ext>
                </a:extLst>
              </a:tr>
              <a:tr h="274320">
                <a:tc>
                  <a:txBody>
                    <a:bodyPr/>
                    <a:lstStyle/>
                    <a:p>
                      <a:pPr marL="0" indent="0">
                        <a:buNone/>
                      </a:pPr>
                      <a:r>
                        <a:rPr lang="en-US" sz="900" dirty="0">
                          <a:solidFill>
                            <a:srgbClr val="000000"/>
                          </a:solidFill>
                          <a:latin typeface="Calibri" pitchFamily="34" charset="0"/>
                          <a:ea typeface="Calibri" pitchFamily="34" charset="-122"/>
                          <a:cs typeface="Calibri" pitchFamily="34" charset="-120"/>
                        </a:rPr>
                        <a:t>Jupyter</a:t>
                      </a:r>
                      <a:endParaRPr lang="en-US" sz="900" dirty="0">
                        <a:latin typeface="Calibri" charset="0"/>
                        <a:ea typeface="Calibri" charset="0"/>
                        <a:cs typeface="Calibri" charset="0"/>
                      </a:endParaRPr>
                    </a:p>
                  </a:txBody>
                  <a:tcP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marL="0" indent="0">
                        <a:buNone/>
                      </a:pPr>
                      <a:r>
                        <a:rPr lang="en-US" sz="900" dirty="0">
                          <a:solidFill>
                            <a:srgbClr val="000000"/>
                          </a:solidFill>
                          <a:latin typeface="Calibri" pitchFamily="34" charset="0"/>
                          <a:ea typeface="Calibri" pitchFamily="34" charset="-122"/>
                          <a:cs typeface="Calibri" pitchFamily="34" charset="-120"/>
                        </a:rPr>
                        <a:t>PySpark</a:t>
                      </a:r>
                      <a:endParaRPr lang="en-US" sz="900" dirty="0">
                        <a:latin typeface="Calibri" charset="0"/>
                        <a:ea typeface="Calibri" charset="0"/>
                        <a:cs typeface="Calibri" charset="0"/>
                      </a:endParaRPr>
                    </a:p>
                  </a:txBody>
                  <a:tcP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marL="0" indent="0">
                        <a:buNone/>
                      </a:pPr>
                      <a:r>
                        <a:rPr lang="en-US" sz="900" dirty="0">
                          <a:solidFill>
                            <a:srgbClr val="000000"/>
                          </a:solidFill>
                          <a:latin typeface="Calibri" pitchFamily="34" charset="0"/>
                          <a:ea typeface="Calibri" pitchFamily="34" charset="-122"/>
                          <a:cs typeface="Calibri" pitchFamily="34" charset="-120"/>
                        </a:rPr>
                        <a:t>8888</a:t>
                      </a:r>
                      <a:endParaRPr lang="en-US" sz="900" dirty="0">
                        <a:latin typeface="Calibri" charset="0"/>
                        <a:ea typeface="Calibri" charset="0"/>
                        <a:cs typeface="Calibri" charset="0"/>
                      </a:endParaRPr>
                    </a:p>
                  </a:txBody>
                  <a:tcP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marL="0" indent="0">
                        <a:buNone/>
                      </a:pPr>
                      <a:r>
                        <a:rPr lang="en-US" sz="900" dirty="0">
                          <a:solidFill>
                            <a:srgbClr val="000000"/>
                          </a:solidFill>
                          <a:latin typeface="Calibri" pitchFamily="34" charset="0"/>
                          <a:ea typeface="Calibri" pitchFamily="34" charset="-122"/>
                          <a:cs typeface="Calibri" pitchFamily="34" charset="-120"/>
                        </a:rPr>
                        <a:t>Interactive exploration environment</a:t>
                      </a:r>
                      <a:endParaRPr lang="en-US" sz="900" dirty="0">
                        <a:latin typeface="Calibri" charset="0"/>
                        <a:ea typeface="Calibri" charset="0"/>
                        <a:cs typeface="Calibri" charset="0"/>
                      </a:endParaRPr>
                    </a:p>
                  </a:txBody>
                  <a:tcP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extLst>
                  <a:ext uri="{0D108BD9-81ED-4DB2-BD59-A6C34878D82A}">
                    <a16:rowId xmlns:a16="http://schemas.microsoft.com/office/drawing/2014/main" val="10007"/>
                  </a:ext>
                </a:extLst>
              </a:tr>
            </a:tbl>
          </a:graphicData>
        </a:graphic>
      </p:graphicFrame>
      <p:sp>
        <p:nvSpPr>
          <p:cNvPr id="7" name="Shape 5"/>
          <p:cNvSpPr/>
          <p:nvPr/>
        </p:nvSpPr>
        <p:spPr>
          <a:xfrm>
            <a:off x="365760" y="3383280"/>
            <a:ext cx="2651760" cy="1097280"/>
          </a:xfrm>
          <a:prstGeom prst="rect">
            <a:avLst/>
          </a:prstGeom>
          <a:solidFill>
            <a:srgbClr val="FFFFFF"/>
          </a:solidFill>
          <a:ln/>
          <a:effectLst>
            <a:outerShdw blurRad="50800" dist="25400" dir="8100000" algn="bl" rotWithShape="0">
              <a:srgbClr val="000000">
                <a:alpha val="10000"/>
              </a:srgbClr>
            </a:outerShdw>
          </a:effectLst>
        </p:spPr>
        <p:txBody>
          <a:bodyPr/>
          <a:lstStyle/>
          <a:p>
            <a:endParaRPr lang="en-US"/>
          </a:p>
        </p:txBody>
      </p:sp>
      <p:sp>
        <p:nvSpPr>
          <p:cNvPr id="9" name="Shape 6"/>
          <p:cNvSpPr/>
          <p:nvPr/>
        </p:nvSpPr>
        <p:spPr>
          <a:xfrm>
            <a:off x="365760" y="3383280"/>
            <a:ext cx="54864" cy="1097280"/>
          </a:xfrm>
          <a:prstGeom prst="rect">
            <a:avLst/>
          </a:prstGeom>
          <a:solidFill>
            <a:srgbClr val="2563EB"/>
          </a:solidFill>
          <a:ln/>
        </p:spPr>
        <p:txBody>
          <a:bodyPr/>
          <a:lstStyle/>
          <a:p>
            <a:endParaRPr lang="en-US"/>
          </a:p>
        </p:txBody>
      </p:sp>
      <p:pic>
        <p:nvPicPr>
          <p:cNvPr id="10" name="Image 0" descr="preencoded.png"/>
          <p:cNvPicPr>
            <a:picLocks noChangeAspect="1"/>
          </p:cNvPicPr>
          <p:nvPr/>
        </p:nvPicPr>
        <p:blipFill>
          <a:blip r:embed="rId3"/>
          <a:stretch>
            <a:fillRect/>
          </a:stretch>
        </p:blipFill>
        <p:spPr>
          <a:xfrm>
            <a:off x="502920" y="3493008"/>
            <a:ext cx="256032" cy="256032"/>
          </a:xfrm>
          <a:prstGeom prst="rect">
            <a:avLst/>
          </a:prstGeom>
        </p:spPr>
      </p:pic>
      <p:sp>
        <p:nvSpPr>
          <p:cNvPr id="11" name="Text 7"/>
          <p:cNvSpPr/>
          <p:nvPr/>
        </p:nvSpPr>
        <p:spPr>
          <a:xfrm>
            <a:off x="822960" y="3456432"/>
            <a:ext cx="2057400" cy="292608"/>
          </a:xfrm>
          <a:prstGeom prst="rect">
            <a:avLst/>
          </a:prstGeom>
          <a:noFill/>
          <a:ln/>
        </p:spPr>
        <p:txBody>
          <a:bodyPr wrap="square" lIns="0" tIns="0" rIns="0" bIns="0" rtlCol="0" anchor="ctr"/>
          <a:lstStyle/>
          <a:p>
            <a:pPr marL="0" indent="0">
              <a:buNone/>
            </a:pPr>
            <a:r>
              <a:rPr lang="en-US" sz="1200" b="1" dirty="0">
                <a:solidFill>
                  <a:srgbClr val="2563EB"/>
                </a:solidFill>
                <a:latin typeface="Georgia" pitchFamily="34" charset="0"/>
                <a:ea typeface="Georgia" pitchFamily="34" charset="-122"/>
                <a:cs typeface="Georgia" pitchFamily="34" charset="-120"/>
              </a:rPr>
              <a:t>Processing</a:t>
            </a:r>
            <a:endParaRPr lang="en-US" sz="1200" dirty="0"/>
          </a:p>
        </p:txBody>
      </p:sp>
      <p:sp>
        <p:nvSpPr>
          <p:cNvPr id="12" name="Text 8"/>
          <p:cNvSpPr/>
          <p:nvPr/>
        </p:nvSpPr>
        <p:spPr>
          <a:xfrm>
            <a:off x="502920" y="3794760"/>
            <a:ext cx="2377440" cy="594360"/>
          </a:xfrm>
          <a:prstGeom prst="rect">
            <a:avLst/>
          </a:prstGeom>
          <a:noFill/>
          <a:ln/>
        </p:spPr>
        <p:txBody>
          <a:bodyPr wrap="square" rtlCol="0" anchor="t"/>
          <a:lstStyle/>
          <a:p>
            <a:pPr marL="0" indent="0">
              <a:lnSpc>
                <a:spcPct val="125000"/>
              </a:lnSpc>
              <a:buNone/>
            </a:pPr>
            <a:r>
              <a:rPr lang="en-US" sz="950" dirty="0">
                <a:solidFill>
                  <a:srgbClr val="444444"/>
                </a:solidFill>
                <a:latin typeface="Calibri" pitchFamily="34" charset="0"/>
                <a:ea typeface="Calibri" pitchFamily="34" charset="-122"/>
                <a:cs typeface="Calibri" pitchFamily="34" charset="-120"/>
              </a:rPr>
              <a:t>Apache Spark 3.5.1 — 2 workers, 4 cores</a:t>
            </a:r>
            <a:endParaRPr lang="en-US" sz="950" dirty="0"/>
          </a:p>
          <a:p>
            <a:pPr marL="0" indent="0">
              <a:lnSpc>
                <a:spcPct val="125000"/>
              </a:lnSpc>
              <a:buNone/>
            </a:pPr>
            <a:r>
              <a:rPr lang="en-US" sz="950" dirty="0">
                <a:solidFill>
                  <a:srgbClr val="444444"/>
                </a:solidFill>
                <a:latin typeface="Calibri" pitchFamily="34" charset="0"/>
                <a:ea typeface="Calibri" pitchFamily="34" charset="-122"/>
                <a:cs typeface="Calibri" pitchFamily="34" charset="-120"/>
              </a:rPr>
              <a:t>Parquet columnar storage</a:t>
            </a:r>
            <a:endParaRPr lang="en-US" sz="950" dirty="0"/>
          </a:p>
          <a:p>
            <a:pPr marL="0" indent="0">
              <a:lnSpc>
                <a:spcPct val="125000"/>
              </a:lnSpc>
              <a:buNone/>
            </a:pPr>
            <a:r>
              <a:rPr lang="en-US" sz="950" dirty="0">
                <a:solidFill>
                  <a:srgbClr val="444444"/>
                </a:solidFill>
                <a:latin typeface="Calibri" pitchFamily="34" charset="0"/>
                <a:ea typeface="Calibri" pitchFamily="34" charset="-122"/>
                <a:cs typeface="Calibri" pitchFamily="34" charset="-120"/>
              </a:rPr>
              <a:t>Docker Compose orchestration</a:t>
            </a:r>
            <a:endParaRPr lang="en-US" sz="950" dirty="0"/>
          </a:p>
        </p:txBody>
      </p:sp>
      <p:sp>
        <p:nvSpPr>
          <p:cNvPr id="13" name="Shape 9"/>
          <p:cNvSpPr/>
          <p:nvPr/>
        </p:nvSpPr>
        <p:spPr>
          <a:xfrm>
            <a:off x="3200400" y="3383280"/>
            <a:ext cx="2651760" cy="1097280"/>
          </a:xfrm>
          <a:prstGeom prst="rect">
            <a:avLst/>
          </a:prstGeom>
          <a:solidFill>
            <a:srgbClr val="FFFFFF"/>
          </a:solidFill>
          <a:ln/>
          <a:effectLst>
            <a:outerShdw blurRad="50800" dist="25400" dir="8100000" algn="bl" rotWithShape="0">
              <a:srgbClr val="000000">
                <a:alpha val="10000"/>
              </a:srgbClr>
            </a:outerShdw>
          </a:effectLst>
        </p:spPr>
        <p:txBody>
          <a:bodyPr/>
          <a:lstStyle/>
          <a:p>
            <a:endParaRPr lang="en-US"/>
          </a:p>
        </p:txBody>
      </p:sp>
      <p:sp>
        <p:nvSpPr>
          <p:cNvPr id="14" name="Shape 10"/>
          <p:cNvSpPr/>
          <p:nvPr/>
        </p:nvSpPr>
        <p:spPr>
          <a:xfrm>
            <a:off x="3200400" y="3383280"/>
            <a:ext cx="54864" cy="1097280"/>
          </a:xfrm>
          <a:prstGeom prst="rect">
            <a:avLst/>
          </a:prstGeom>
          <a:solidFill>
            <a:srgbClr val="059669"/>
          </a:solidFill>
          <a:ln/>
        </p:spPr>
        <p:txBody>
          <a:bodyPr/>
          <a:lstStyle/>
          <a:p>
            <a:endParaRPr lang="en-US"/>
          </a:p>
        </p:txBody>
      </p:sp>
      <p:pic>
        <p:nvPicPr>
          <p:cNvPr id="15" name="Image 1" descr="preencoded.png"/>
          <p:cNvPicPr>
            <a:picLocks noChangeAspect="1"/>
          </p:cNvPicPr>
          <p:nvPr/>
        </p:nvPicPr>
        <p:blipFill>
          <a:blip r:embed="rId4"/>
          <a:stretch>
            <a:fillRect/>
          </a:stretch>
        </p:blipFill>
        <p:spPr>
          <a:xfrm>
            <a:off x="3337560" y="3493008"/>
            <a:ext cx="256032" cy="256032"/>
          </a:xfrm>
          <a:prstGeom prst="rect">
            <a:avLst/>
          </a:prstGeom>
        </p:spPr>
      </p:pic>
      <p:sp>
        <p:nvSpPr>
          <p:cNvPr id="16" name="Text 11"/>
          <p:cNvSpPr/>
          <p:nvPr/>
        </p:nvSpPr>
        <p:spPr>
          <a:xfrm>
            <a:off x="3657600" y="3456432"/>
            <a:ext cx="2057400" cy="292608"/>
          </a:xfrm>
          <a:prstGeom prst="rect">
            <a:avLst/>
          </a:prstGeom>
          <a:noFill/>
          <a:ln/>
        </p:spPr>
        <p:txBody>
          <a:bodyPr wrap="square" lIns="0" tIns="0" rIns="0" bIns="0" rtlCol="0" anchor="ctr"/>
          <a:lstStyle/>
          <a:p>
            <a:pPr marL="0" indent="0">
              <a:buNone/>
            </a:pPr>
            <a:r>
              <a:rPr lang="en-US" sz="1200" b="1" dirty="0">
                <a:solidFill>
                  <a:srgbClr val="059669"/>
                </a:solidFill>
                <a:latin typeface="Georgia" pitchFamily="34" charset="0"/>
                <a:ea typeface="Georgia" pitchFamily="34" charset="-122"/>
                <a:cs typeface="Georgia" pitchFamily="34" charset="-120"/>
              </a:rPr>
              <a:t>Scheduling</a:t>
            </a:r>
            <a:endParaRPr lang="en-US" sz="1200" dirty="0"/>
          </a:p>
        </p:txBody>
      </p:sp>
      <p:sp>
        <p:nvSpPr>
          <p:cNvPr id="17" name="Text 12"/>
          <p:cNvSpPr/>
          <p:nvPr/>
        </p:nvSpPr>
        <p:spPr>
          <a:xfrm>
            <a:off x="3337560" y="3794760"/>
            <a:ext cx="2377440" cy="594360"/>
          </a:xfrm>
          <a:prstGeom prst="rect">
            <a:avLst/>
          </a:prstGeom>
          <a:noFill/>
          <a:ln/>
        </p:spPr>
        <p:txBody>
          <a:bodyPr wrap="square" rtlCol="0" anchor="t"/>
          <a:lstStyle/>
          <a:p>
            <a:pPr marL="0" indent="0">
              <a:lnSpc>
                <a:spcPct val="125000"/>
              </a:lnSpc>
              <a:buNone/>
            </a:pPr>
            <a:r>
              <a:rPr lang="en-US" sz="950" dirty="0">
                <a:solidFill>
                  <a:srgbClr val="444444"/>
                </a:solidFill>
                <a:latin typeface="Calibri" pitchFamily="34" charset="0"/>
                <a:ea typeface="Calibri" pitchFamily="34" charset="-122"/>
                <a:cs typeface="Calibri" pitchFamily="34" charset="-120"/>
              </a:rPr>
              <a:t>Apache Airflow — Monday 6AM</a:t>
            </a:r>
            <a:endParaRPr lang="en-US" sz="950" dirty="0"/>
          </a:p>
          <a:p>
            <a:pPr marL="0" indent="0">
              <a:lnSpc>
                <a:spcPct val="125000"/>
              </a:lnSpc>
              <a:buNone/>
            </a:pPr>
            <a:r>
              <a:rPr lang="en-US" sz="950" dirty="0">
                <a:solidFill>
                  <a:srgbClr val="444444"/>
                </a:solidFill>
                <a:latin typeface="Calibri" pitchFamily="34" charset="0"/>
                <a:ea typeface="Calibri" pitchFamily="34" charset="-122"/>
                <a:cs typeface="Calibri" pitchFamily="34" charset="-120"/>
              </a:rPr>
              <a:t>5-task automated pipeline</a:t>
            </a:r>
            <a:endParaRPr lang="en-US" sz="950" dirty="0"/>
          </a:p>
          <a:p>
            <a:pPr marL="0" indent="0">
              <a:lnSpc>
                <a:spcPct val="125000"/>
              </a:lnSpc>
              <a:buNone/>
            </a:pPr>
            <a:r>
              <a:rPr lang="en-US" sz="950" dirty="0">
                <a:solidFill>
                  <a:srgbClr val="444444"/>
                </a:solidFill>
                <a:latin typeface="Calibri" pitchFamily="34" charset="0"/>
                <a:ea typeface="Calibri" pitchFamily="34" charset="-122"/>
                <a:cs typeface="Calibri" pitchFamily="34" charset="-120"/>
              </a:rPr>
              <a:t>PostgreSQL metadata</a:t>
            </a:r>
            <a:endParaRPr lang="en-US" sz="950" dirty="0"/>
          </a:p>
        </p:txBody>
      </p:sp>
      <p:sp>
        <p:nvSpPr>
          <p:cNvPr id="18" name="Shape 13"/>
          <p:cNvSpPr/>
          <p:nvPr/>
        </p:nvSpPr>
        <p:spPr>
          <a:xfrm>
            <a:off x="6035040" y="3383280"/>
            <a:ext cx="2651760" cy="1097280"/>
          </a:xfrm>
          <a:prstGeom prst="rect">
            <a:avLst/>
          </a:prstGeom>
          <a:solidFill>
            <a:srgbClr val="FFFFFF"/>
          </a:solidFill>
          <a:ln/>
          <a:effectLst>
            <a:outerShdw blurRad="50800" dist="25400" dir="8100000" algn="bl" rotWithShape="0">
              <a:srgbClr val="000000">
                <a:alpha val="10000"/>
              </a:srgbClr>
            </a:outerShdw>
          </a:effectLst>
        </p:spPr>
        <p:txBody>
          <a:bodyPr/>
          <a:lstStyle/>
          <a:p>
            <a:endParaRPr lang="en-US"/>
          </a:p>
        </p:txBody>
      </p:sp>
      <p:sp>
        <p:nvSpPr>
          <p:cNvPr id="19" name="Shape 14"/>
          <p:cNvSpPr/>
          <p:nvPr/>
        </p:nvSpPr>
        <p:spPr>
          <a:xfrm>
            <a:off x="6035040" y="3383280"/>
            <a:ext cx="54864" cy="1097280"/>
          </a:xfrm>
          <a:prstGeom prst="rect">
            <a:avLst/>
          </a:prstGeom>
          <a:solidFill>
            <a:srgbClr val="7C3AED"/>
          </a:solidFill>
          <a:ln/>
        </p:spPr>
        <p:txBody>
          <a:bodyPr/>
          <a:lstStyle/>
          <a:p>
            <a:endParaRPr lang="en-US"/>
          </a:p>
        </p:txBody>
      </p:sp>
      <p:pic>
        <p:nvPicPr>
          <p:cNvPr id="20" name="Image 2" descr="preencoded.png"/>
          <p:cNvPicPr>
            <a:picLocks noChangeAspect="1"/>
          </p:cNvPicPr>
          <p:nvPr/>
        </p:nvPicPr>
        <p:blipFill>
          <a:blip r:embed="rId5"/>
          <a:stretch>
            <a:fillRect/>
          </a:stretch>
        </p:blipFill>
        <p:spPr>
          <a:xfrm>
            <a:off x="6172200" y="3493008"/>
            <a:ext cx="256032" cy="256032"/>
          </a:xfrm>
          <a:prstGeom prst="rect">
            <a:avLst/>
          </a:prstGeom>
        </p:spPr>
      </p:pic>
      <p:sp>
        <p:nvSpPr>
          <p:cNvPr id="21" name="Text 15"/>
          <p:cNvSpPr/>
          <p:nvPr/>
        </p:nvSpPr>
        <p:spPr>
          <a:xfrm>
            <a:off x="6492240" y="3456432"/>
            <a:ext cx="2057400" cy="292608"/>
          </a:xfrm>
          <a:prstGeom prst="rect">
            <a:avLst/>
          </a:prstGeom>
          <a:noFill/>
          <a:ln/>
        </p:spPr>
        <p:txBody>
          <a:bodyPr wrap="square" lIns="0" tIns="0" rIns="0" bIns="0" rtlCol="0" anchor="ctr"/>
          <a:lstStyle/>
          <a:p>
            <a:pPr marL="0" indent="0">
              <a:buNone/>
            </a:pPr>
            <a:r>
              <a:rPr lang="en-US" sz="1200" b="1" dirty="0">
                <a:solidFill>
                  <a:srgbClr val="7C3AED"/>
                </a:solidFill>
                <a:latin typeface="Georgia" pitchFamily="34" charset="0"/>
                <a:ea typeface="Georgia" pitchFamily="34" charset="-122"/>
                <a:cs typeface="Georgia" pitchFamily="34" charset="-120"/>
              </a:rPr>
              <a:t>ML &amp; AI</a:t>
            </a:r>
            <a:endParaRPr lang="en-US" sz="1200" dirty="0"/>
          </a:p>
        </p:txBody>
      </p:sp>
      <p:sp>
        <p:nvSpPr>
          <p:cNvPr id="22" name="Text 16"/>
          <p:cNvSpPr/>
          <p:nvPr/>
        </p:nvSpPr>
        <p:spPr>
          <a:xfrm>
            <a:off x="6172200" y="3794760"/>
            <a:ext cx="2377440" cy="594360"/>
          </a:xfrm>
          <a:prstGeom prst="rect">
            <a:avLst/>
          </a:prstGeom>
          <a:noFill/>
          <a:ln/>
        </p:spPr>
        <p:txBody>
          <a:bodyPr wrap="square" rtlCol="0" anchor="t"/>
          <a:lstStyle/>
          <a:p>
            <a:pPr marL="0" indent="0">
              <a:lnSpc>
                <a:spcPct val="125000"/>
              </a:lnSpc>
              <a:buNone/>
            </a:pPr>
            <a:r>
              <a:rPr lang="en-US" sz="950" dirty="0">
                <a:solidFill>
                  <a:srgbClr val="444444"/>
                </a:solidFill>
                <a:latin typeface="Calibri" pitchFamily="34" charset="0"/>
                <a:ea typeface="Calibri" pitchFamily="34" charset="-122"/>
                <a:cs typeface="Calibri" pitchFamily="34" charset="-120"/>
              </a:rPr>
              <a:t>RF, GradientBoosting, XGBoost</a:t>
            </a:r>
            <a:endParaRPr lang="en-US" sz="950" dirty="0"/>
          </a:p>
          <a:p>
            <a:pPr marL="0" indent="0">
              <a:lnSpc>
                <a:spcPct val="125000"/>
              </a:lnSpc>
              <a:buNone/>
            </a:pPr>
            <a:r>
              <a:rPr lang="en-US" sz="950" dirty="0">
                <a:solidFill>
                  <a:srgbClr val="444444"/>
                </a:solidFill>
                <a:latin typeface="Calibri" pitchFamily="34" charset="0"/>
                <a:ea typeface="Calibri" pitchFamily="34" charset="-122"/>
                <a:cs typeface="Calibri" pitchFamily="34" charset="-120"/>
              </a:rPr>
              <a:t>LangGraph — 4 AI agents</a:t>
            </a:r>
            <a:endParaRPr lang="en-US" sz="950" dirty="0"/>
          </a:p>
          <a:p>
            <a:pPr marL="0" indent="0">
              <a:lnSpc>
                <a:spcPct val="125000"/>
              </a:lnSpc>
              <a:buNone/>
            </a:pPr>
            <a:r>
              <a:rPr lang="en-US" sz="950" dirty="0">
                <a:solidFill>
                  <a:srgbClr val="444444"/>
                </a:solidFill>
                <a:latin typeface="Calibri" pitchFamily="34" charset="0"/>
                <a:ea typeface="Calibri" pitchFamily="34" charset="-122"/>
                <a:cs typeface="Calibri" pitchFamily="34" charset="-120"/>
              </a:rPr>
              <a:t>Streamlit + Plotly dashboard</a:t>
            </a:r>
            <a:endParaRPr lang="en-US" sz="950" dirty="0"/>
          </a:p>
        </p:txBody>
      </p:sp>
      <p:sp>
        <p:nvSpPr>
          <p:cNvPr id="23" name="Text 17"/>
          <p:cNvSpPr/>
          <p:nvPr/>
        </p:nvSpPr>
        <p:spPr>
          <a:xfrm>
            <a:off x="457200" y="4709160"/>
            <a:ext cx="6400800" cy="365760"/>
          </a:xfrm>
          <a:prstGeom prst="rect">
            <a:avLst/>
          </a:prstGeom>
          <a:noFill/>
          <a:ln/>
        </p:spPr>
        <p:txBody>
          <a:bodyPr wrap="square" rtlCol="0" anchor="ctr"/>
          <a:lstStyle/>
          <a:p>
            <a:pPr marL="0" indent="0">
              <a:buNone/>
            </a:pPr>
            <a:r>
              <a:rPr lang="en-US" sz="900" dirty="0">
                <a:solidFill>
                  <a:srgbClr val="949594"/>
                </a:solidFill>
                <a:latin typeface="Calibri" pitchFamily="34" charset="0"/>
                <a:ea typeface="Calibri" pitchFamily="34" charset="-122"/>
                <a:cs typeface="Calibri" pitchFamily="34" charset="-120"/>
              </a:rPr>
              <a:t>Speaker 1 — Problem &amp; Architecture</a:t>
            </a:r>
            <a:endParaRPr lang="en-US" sz="900" dirty="0"/>
          </a:p>
        </p:txBody>
      </p:sp>
      <p:sp>
        <p:nvSpPr>
          <p:cNvPr id="24" name="Text 18"/>
          <p:cNvSpPr/>
          <p:nvPr/>
        </p:nvSpPr>
        <p:spPr>
          <a:xfrm>
            <a:off x="8412480" y="4709160"/>
            <a:ext cx="548640" cy="365760"/>
          </a:xfrm>
          <a:prstGeom prst="rect">
            <a:avLst/>
          </a:prstGeom>
          <a:noFill/>
          <a:ln/>
        </p:spPr>
        <p:txBody>
          <a:bodyPr wrap="square" rtlCol="0" anchor="ctr"/>
          <a:lstStyle/>
          <a:p>
            <a:pPr marL="0" indent="0" algn="r">
              <a:buNone/>
            </a:pPr>
            <a:r>
              <a:rPr lang="en-US" sz="900" dirty="0">
                <a:solidFill>
                  <a:srgbClr val="949594"/>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5F5"/>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C41E1E"/>
          </a:solidFill>
          <a:ln/>
        </p:spPr>
        <p:txBody>
          <a:bodyPr/>
          <a:lstStyle/>
          <a:p>
            <a:endParaRPr lang="en-US"/>
          </a:p>
        </p:txBody>
      </p:sp>
      <p:sp>
        <p:nvSpPr>
          <p:cNvPr id="3" name="Shape 1"/>
          <p:cNvSpPr/>
          <p:nvPr/>
        </p:nvSpPr>
        <p:spPr>
          <a:xfrm>
            <a:off x="8778240" y="0"/>
            <a:ext cx="137160" cy="5143500"/>
          </a:xfrm>
          <a:prstGeom prst="rect">
            <a:avLst/>
          </a:prstGeom>
          <a:solidFill>
            <a:srgbClr val="C41E1E"/>
          </a:solidFill>
          <a:ln/>
        </p:spPr>
        <p:txBody>
          <a:bodyPr/>
          <a:lstStyle/>
          <a:p>
            <a:endParaRPr lang="en-US"/>
          </a:p>
        </p:txBody>
      </p:sp>
      <p:sp>
        <p:nvSpPr>
          <p:cNvPr id="4" name="Shape 2"/>
          <p:cNvSpPr/>
          <p:nvPr/>
        </p:nvSpPr>
        <p:spPr>
          <a:xfrm>
            <a:off x="8961120" y="0"/>
            <a:ext cx="73152" cy="5143500"/>
          </a:xfrm>
          <a:prstGeom prst="rect">
            <a:avLst/>
          </a:prstGeom>
          <a:solidFill>
            <a:srgbClr val="C41E1E">
              <a:alpha val="40000"/>
            </a:srgbClr>
          </a:solidFill>
          <a:ln/>
        </p:spPr>
        <p:txBody>
          <a:bodyPr/>
          <a:lstStyle/>
          <a:p>
            <a:endParaRPr lang="en-US"/>
          </a:p>
        </p:txBody>
      </p:sp>
      <p:pic>
        <p:nvPicPr>
          <p:cNvPr id="5" name="Image 0" descr="preencoded.png"/>
          <p:cNvPicPr>
            <a:picLocks noChangeAspect="1"/>
          </p:cNvPicPr>
          <p:nvPr/>
        </p:nvPicPr>
        <p:blipFill>
          <a:blip r:embed="rId3"/>
          <a:stretch>
            <a:fillRect/>
          </a:stretch>
        </p:blipFill>
        <p:spPr>
          <a:xfrm>
            <a:off x="365760" y="182880"/>
            <a:ext cx="320040" cy="320040"/>
          </a:xfrm>
          <a:prstGeom prst="rect">
            <a:avLst/>
          </a:prstGeom>
        </p:spPr>
      </p:pic>
      <p:sp>
        <p:nvSpPr>
          <p:cNvPr id="6" name="Text 3"/>
          <p:cNvSpPr/>
          <p:nvPr/>
        </p:nvSpPr>
        <p:spPr>
          <a:xfrm>
            <a:off x="777240" y="182880"/>
            <a:ext cx="7315200" cy="548640"/>
          </a:xfrm>
          <a:prstGeom prst="rect">
            <a:avLst/>
          </a:prstGeom>
          <a:noFill/>
          <a:ln/>
        </p:spPr>
        <p:txBody>
          <a:bodyPr wrap="square" lIns="0" tIns="0" rIns="0" bIns="0" rtlCol="0" anchor="ctr"/>
          <a:lstStyle/>
          <a:p>
            <a:pPr marL="0" indent="0">
              <a:buNone/>
            </a:pPr>
            <a:r>
              <a:rPr lang="en-US" sz="2600" b="1" dirty="0">
                <a:solidFill>
                  <a:srgbClr val="1A1A2E"/>
                </a:solidFill>
                <a:latin typeface="Georgia" pitchFamily="34" charset="0"/>
                <a:ea typeface="Georgia" pitchFamily="34" charset="-122"/>
                <a:cs typeface="Georgia" pitchFamily="34" charset="-120"/>
              </a:rPr>
              <a:t>Data Engineering — ETL Pipeline</a:t>
            </a:r>
            <a:endParaRPr lang="en-US" sz="2600" dirty="0"/>
          </a:p>
        </p:txBody>
      </p:sp>
      <p:sp>
        <p:nvSpPr>
          <p:cNvPr id="7" name="Text 4"/>
          <p:cNvSpPr/>
          <p:nvPr/>
        </p:nvSpPr>
        <p:spPr>
          <a:xfrm>
            <a:off x="777240" y="685800"/>
            <a:ext cx="7315200" cy="228600"/>
          </a:xfrm>
          <a:prstGeom prst="rect">
            <a:avLst/>
          </a:prstGeom>
          <a:noFill/>
          <a:ln/>
        </p:spPr>
        <p:txBody>
          <a:bodyPr wrap="square" lIns="0" tIns="0" rIns="0" bIns="0" rtlCol="0" anchor="ctr"/>
          <a:lstStyle/>
          <a:p>
            <a:pPr marL="0" indent="0">
              <a:buNone/>
            </a:pPr>
            <a:r>
              <a:rPr lang="en-US" sz="1100" dirty="0">
                <a:solidFill>
                  <a:srgbClr val="949594"/>
                </a:solidFill>
                <a:latin typeface="Calibri" pitchFamily="34" charset="0"/>
                <a:ea typeface="Calibri" pitchFamily="34" charset="-122"/>
                <a:cs typeface="Calibri" pitchFamily="34" charset="-120"/>
              </a:rPr>
              <a:t>From raw API calls to ML-ready features — fully automated</a:t>
            </a:r>
            <a:endParaRPr lang="en-US" sz="1100" dirty="0"/>
          </a:p>
        </p:txBody>
      </p:sp>
      <p:sp>
        <p:nvSpPr>
          <p:cNvPr id="8" name="Shape 5"/>
          <p:cNvSpPr/>
          <p:nvPr/>
        </p:nvSpPr>
        <p:spPr>
          <a:xfrm>
            <a:off x="182880" y="1051560"/>
            <a:ext cx="1572768" cy="1280160"/>
          </a:xfrm>
          <a:prstGeom prst="rect">
            <a:avLst/>
          </a:prstGeom>
          <a:solidFill>
            <a:srgbClr val="FFFFFF"/>
          </a:solidFill>
          <a:ln/>
          <a:effectLst>
            <a:outerShdw blurRad="50800" dist="25400" dir="8100000" algn="bl" rotWithShape="0">
              <a:srgbClr val="000000">
                <a:alpha val="10000"/>
              </a:srgbClr>
            </a:outerShdw>
          </a:effectLst>
        </p:spPr>
        <p:txBody>
          <a:bodyPr/>
          <a:lstStyle/>
          <a:p>
            <a:endParaRPr lang="en-US"/>
          </a:p>
        </p:txBody>
      </p:sp>
      <p:sp>
        <p:nvSpPr>
          <p:cNvPr id="9" name="Shape 6"/>
          <p:cNvSpPr/>
          <p:nvPr/>
        </p:nvSpPr>
        <p:spPr>
          <a:xfrm>
            <a:off x="182880" y="1051560"/>
            <a:ext cx="1572768" cy="45720"/>
          </a:xfrm>
          <a:prstGeom prst="rect">
            <a:avLst/>
          </a:prstGeom>
          <a:solidFill>
            <a:srgbClr val="0891B2"/>
          </a:solidFill>
          <a:ln/>
        </p:spPr>
        <p:txBody>
          <a:bodyPr/>
          <a:lstStyle/>
          <a:p>
            <a:endParaRPr lang="en-US"/>
          </a:p>
        </p:txBody>
      </p:sp>
      <p:sp>
        <p:nvSpPr>
          <p:cNvPr id="10" name="Text 7"/>
          <p:cNvSpPr/>
          <p:nvPr/>
        </p:nvSpPr>
        <p:spPr>
          <a:xfrm>
            <a:off x="182880" y="1143000"/>
            <a:ext cx="1572768" cy="274320"/>
          </a:xfrm>
          <a:prstGeom prst="rect">
            <a:avLst/>
          </a:prstGeom>
          <a:noFill/>
          <a:ln/>
        </p:spPr>
        <p:txBody>
          <a:bodyPr wrap="square" lIns="0" tIns="0" rIns="0" bIns="0" rtlCol="0" anchor="ctr"/>
          <a:lstStyle/>
          <a:p>
            <a:pPr marL="0" indent="0" algn="ctr">
              <a:buNone/>
            </a:pPr>
            <a:r>
              <a:rPr lang="en-US" sz="1000" b="1" dirty="0">
                <a:solidFill>
                  <a:srgbClr val="0891B2"/>
                </a:solidFill>
                <a:latin typeface="Georgia" pitchFamily="34" charset="0"/>
                <a:ea typeface="Georgia" pitchFamily="34" charset="-122"/>
                <a:cs typeface="Georgia" pitchFamily="34" charset="-120"/>
              </a:rPr>
              <a:t>1. Ingest</a:t>
            </a:r>
            <a:endParaRPr lang="en-US" sz="1000" dirty="0"/>
          </a:p>
        </p:txBody>
      </p:sp>
      <p:sp>
        <p:nvSpPr>
          <p:cNvPr id="11" name="Text 8"/>
          <p:cNvSpPr/>
          <p:nvPr/>
        </p:nvSpPr>
        <p:spPr>
          <a:xfrm>
            <a:off x="182880" y="1463040"/>
            <a:ext cx="1572768" cy="731520"/>
          </a:xfrm>
          <a:prstGeom prst="rect">
            <a:avLst/>
          </a:prstGeom>
          <a:noFill/>
          <a:ln/>
        </p:spPr>
        <p:txBody>
          <a:bodyPr wrap="square" lIns="0" tIns="0" rIns="0" bIns="0" rtlCol="0" anchor="t"/>
          <a:lstStyle/>
          <a:p>
            <a:pPr marL="0" indent="0" algn="ctr">
              <a:buNone/>
            </a:pPr>
            <a:r>
              <a:rPr lang="en-US" sz="850" dirty="0">
                <a:solidFill>
                  <a:srgbClr val="444444"/>
                </a:solidFill>
                <a:latin typeface="Calibri" pitchFamily="34" charset="0"/>
                <a:ea typeface="Calibri" pitchFamily="34" charset="-122"/>
                <a:cs typeface="Calibri" pitchFamily="34" charset="-120"/>
              </a:rPr>
              <a:t>Python + APIs</a:t>
            </a:r>
            <a:endParaRPr lang="en-US" sz="850" dirty="0"/>
          </a:p>
          <a:p>
            <a:pPr marL="0" indent="0" algn="ctr">
              <a:buNone/>
            </a:pPr>
            <a:r>
              <a:rPr lang="en-US" sz="850" dirty="0">
                <a:solidFill>
                  <a:srgbClr val="444444"/>
                </a:solidFill>
                <a:latin typeface="Calibri" pitchFamily="34" charset="0"/>
                <a:ea typeface="Calibri" pitchFamily="34" charset="-122"/>
                <a:cs typeface="Calibri" pitchFamily="34" charset="-120"/>
              </a:rPr>
              <a:t>Retry logic</a:t>
            </a:r>
            <a:endParaRPr lang="en-US" sz="850" dirty="0"/>
          </a:p>
          <a:p>
            <a:pPr marL="0" indent="0" algn="ctr">
              <a:buNone/>
            </a:pPr>
            <a:r>
              <a:rPr lang="en-US" sz="850" dirty="0">
                <a:solidFill>
                  <a:srgbClr val="444444"/>
                </a:solidFill>
                <a:latin typeface="Calibri" pitchFamily="34" charset="0"/>
                <a:ea typeface="Calibri" pitchFamily="34" charset="-122"/>
                <a:cs typeface="Calibri" pitchFamily="34" charset="-120"/>
              </a:rPr>
              <a:t>429 handling</a:t>
            </a:r>
            <a:endParaRPr lang="en-US" sz="850" dirty="0"/>
          </a:p>
        </p:txBody>
      </p:sp>
      <p:sp>
        <p:nvSpPr>
          <p:cNvPr id="12" name="Text 9"/>
          <p:cNvSpPr/>
          <p:nvPr/>
        </p:nvSpPr>
        <p:spPr>
          <a:xfrm>
            <a:off x="1691640" y="1417320"/>
            <a:ext cx="274320" cy="365760"/>
          </a:xfrm>
          <a:prstGeom prst="rect">
            <a:avLst/>
          </a:prstGeom>
          <a:noFill/>
          <a:ln/>
        </p:spPr>
        <p:txBody>
          <a:bodyPr wrap="square" rtlCol="0" anchor="ctr"/>
          <a:lstStyle/>
          <a:p>
            <a:pPr marL="0" indent="0" algn="ctr">
              <a:buNone/>
            </a:pPr>
            <a:r>
              <a:rPr lang="en-US" sz="1400" dirty="0">
                <a:solidFill>
                  <a:srgbClr val="949594"/>
                </a:solidFill>
              </a:rPr>
              <a:t>→</a:t>
            </a:r>
            <a:endParaRPr lang="en-US" sz="1400" dirty="0"/>
          </a:p>
        </p:txBody>
      </p:sp>
      <p:sp>
        <p:nvSpPr>
          <p:cNvPr id="13" name="Shape 10"/>
          <p:cNvSpPr/>
          <p:nvPr/>
        </p:nvSpPr>
        <p:spPr>
          <a:xfrm>
            <a:off x="1901952" y="1051560"/>
            <a:ext cx="1572768" cy="1280160"/>
          </a:xfrm>
          <a:prstGeom prst="rect">
            <a:avLst/>
          </a:prstGeom>
          <a:solidFill>
            <a:srgbClr val="FFFFFF"/>
          </a:solidFill>
          <a:ln/>
          <a:effectLst>
            <a:outerShdw blurRad="50800" dist="25400" dir="8100000" algn="bl" rotWithShape="0">
              <a:srgbClr val="000000">
                <a:alpha val="10000"/>
              </a:srgbClr>
            </a:outerShdw>
          </a:effectLst>
        </p:spPr>
        <p:txBody>
          <a:bodyPr/>
          <a:lstStyle/>
          <a:p>
            <a:endParaRPr lang="en-US"/>
          </a:p>
        </p:txBody>
      </p:sp>
      <p:sp>
        <p:nvSpPr>
          <p:cNvPr id="14" name="Shape 11"/>
          <p:cNvSpPr/>
          <p:nvPr/>
        </p:nvSpPr>
        <p:spPr>
          <a:xfrm>
            <a:off x="1901952" y="1051560"/>
            <a:ext cx="1572768" cy="45720"/>
          </a:xfrm>
          <a:prstGeom prst="rect">
            <a:avLst/>
          </a:prstGeom>
          <a:solidFill>
            <a:srgbClr val="CD7F32"/>
          </a:solidFill>
          <a:ln/>
        </p:spPr>
        <p:txBody>
          <a:bodyPr/>
          <a:lstStyle/>
          <a:p>
            <a:endParaRPr lang="en-US"/>
          </a:p>
        </p:txBody>
      </p:sp>
      <p:sp>
        <p:nvSpPr>
          <p:cNvPr id="15" name="Text 12"/>
          <p:cNvSpPr/>
          <p:nvPr/>
        </p:nvSpPr>
        <p:spPr>
          <a:xfrm>
            <a:off x="1901952" y="1143000"/>
            <a:ext cx="1572768" cy="274320"/>
          </a:xfrm>
          <a:prstGeom prst="rect">
            <a:avLst/>
          </a:prstGeom>
          <a:noFill/>
          <a:ln/>
        </p:spPr>
        <p:txBody>
          <a:bodyPr wrap="square" lIns="0" tIns="0" rIns="0" bIns="0" rtlCol="0" anchor="ctr"/>
          <a:lstStyle/>
          <a:p>
            <a:pPr marL="0" indent="0" algn="ctr">
              <a:buNone/>
            </a:pPr>
            <a:r>
              <a:rPr lang="en-US" sz="1000" b="1" dirty="0">
                <a:solidFill>
                  <a:srgbClr val="CD7F32"/>
                </a:solidFill>
                <a:latin typeface="Georgia" pitchFamily="34" charset="0"/>
                <a:ea typeface="Georgia" pitchFamily="34" charset="-122"/>
                <a:cs typeface="Georgia" pitchFamily="34" charset="-120"/>
              </a:rPr>
              <a:t>2. Silver</a:t>
            </a:r>
            <a:endParaRPr lang="en-US" sz="1000" dirty="0"/>
          </a:p>
        </p:txBody>
      </p:sp>
      <p:sp>
        <p:nvSpPr>
          <p:cNvPr id="16" name="Text 13"/>
          <p:cNvSpPr/>
          <p:nvPr/>
        </p:nvSpPr>
        <p:spPr>
          <a:xfrm>
            <a:off x="1901952" y="1463040"/>
            <a:ext cx="1572768" cy="731520"/>
          </a:xfrm>
          <a:prstGeom prst="rect">
            <a:avLst/>
          </a:prstGeom>
          <a:noFill/>
          <a:ln/>
        </p:spPr>
        <p:txBody>
          <a:bodyPr wrap="square" lIns="0" tIns="0" rIns="0" bIns="0" rtlCol="0" anchor="t"/>
          <a:lstStyle/>
          <a:p>
            <a:pPr marL="0" indent="0" algn="ctr">
              <a:buNone/>
            </a:pPr>
            <a:r>
              <a:rPr lang="en-US" sz="850" dirty="0">
                <a:solidFill>
                  <a:srgbClr val="444444"/>
                </a:solidFill>
                <a:latin typeface="Calibri" pitchFamily="34" charset="0"/>
                <a:ea typeface="Calibri" pitchFamily="34" charset="-122"/>
                <a:cs typeface="Calibri" pitchFamily="34" charset="-120"/>
              </a:rPr>
              <a:t>Spark cluster</a:t>
            </a:r>
            <a:endParaRPr lang="en-US" sz="850" dirty="0"/>
          </a:p>
          <a:p>
            <a:pPr marL="0" indent="0" algn="ctr">
              <a:buNone/>
            </a:pPr>
            <a:r>
              <a:rPr lang="en-US" sz="850" dirty="0">
                <a:solidFill>
                  <a:srgbClr val="444444"/>
                </a:solidFill>
                <a:latin typeface="Calibri" pitchFamily="34" charset="0"/>
                <a:ea typeface="Calibri" pitchFamily="34" charset="-122"/>
                <a:cs typeface="Calibri" pitchFamily="34" charset="-120"/>
              </a:rPr>
              <a:t>Clean + join</a:t>
            </a:r>
            <a:endParaRPr lang="en-US" sz="850" dirty="0"/>
          </a:p>
          <a:p>
            <a:pPr marL="0" indent="0" algn="ctr">
              <a:buNone/>
            </a:pPr>
            <a:r>
              <a:rPr lang="en-US" sz="850" dirty="0">
                <a:solidFill>
                  <a:srgbClr val="444444"/>
                </a:solidFill>
                <a:latin typeface="Calibri" pitchFamily="34" charset="0"/>
                <a:ea typeface="Calibri" pitchFamily="34" charset="-122"/>
                <a:cs typeface="Calibri" pitchFamily="34" charset="-120"/>
              </a:rPr>
              <a:t>Schema fix</a:t>
            </a:r>
            <a:endParaRPr lang="en-US" sz="850" dirty="0"/>
          </a:p>
        </p:txBody>
      </p:sp>
      <p:sp>
        <p:nvSpPr>
          <p:cNvPr id="17" name="Text 14"/>
          <p:cNvSpPr/>
          <p:nvPr/>
        </p:nvSpPr>
        <p:spPr>
          <a:xfrm>
            <a:off x="3410712" y="1417320"/>
            <a:ext cx="274320" cy="365760"/>
          </a:xfrm>
          <a:prstGeom prst="rect">
            <a:avLst/>
          </a:prstGeom>
          <a:noFill/>
          <a:ln/>
        </p:spPr>
        <p:txBody>
          <a:bodyPr wrap="square" rtlCol="0" anchor="ctr"/>
          <a:lstStyle/>
          <a:p>
            <a:pPr marL="0" indent="0" algn="ctr">
              <a:buNone/>
            </a:pPr>
            <a:r>
              <a:rPr lang="en-US" sz="1400" dirty="0">
                <a:solidFill>
                  <a:srgbClr val="949594"/>
                </a:solidFill>
              </a:rPr>
              <a:t>→</a:t>
            </a:r>
            <a:endParaRPr lang="en-US" sz="1400" dirty="0"/>
          </a:p>
        </p:txBody>
      </p:sp>
      <p:sp>
        <p:nvSpPr>
          <p:cNvPr id="18" name="Shape 15"/>
          <p:cNvSpPr/>
          <p:nvPr/>
        </p:nvSpPr>
        <p:spPr>
          <a:xfrm>
            <a:off x="3621024" y="1051560"/>
            <a:ext cx="1572768" cy="1280160"/>
          </a:xfrm>
          <a:prstGeom prst="rect">
            <a:avLst/>
          </a:prstGeom>
          <a:solidFill>
            <a:srgbClr val="FFFFFF"/>
          </a:solidFill>
          <a:ln/>
          <a:effectLst>
            <a:outerShdw blurRad="50800" dist="25400" dir="8100000" algn="bl" rotWithShape="0">
              <a:srgbClr val="000000">
                <a:alpha val="10000"/>
              </a:srgbClr>
            </a:outerShdw>
          </a:effectLst>
        </p:spPr>
        <p:txBody>
          <a:bodyPr/>
          <a:lstStyle/>
          <a:p>
            <a:endParaRPr lang="en-US"/>
          </a:p>
        </p:txBody>
      </p:sp>
      <p:sp>
        <p:nvSpPr>
          <p:cNvPr id="19" name="Shape 16"/>
          <p:cNvSpPr/>
          <p:nvPr/>
        </p:nvSpPr>
        <p:spPr>
          <a:xfrm>
            <a:off x="3621024" y="1051560"/>
            <a:ext cx="1572768" cy="45720"/>
          </a:xfrm>
          <a:prstGeom prst="rect">
            <a:avLst/>
          </a:prstGeom>
          <a:solidFill>
            <a:srgbClr val="A8A8A8"/>
          </a:solidFill>
          <a:ln/>
        </p:spPr>
        <p:txBody>
          <a:bodyPr/>
          <a:lstStyle/>
          <a:p>
            <a:endParaRPr lang="en-US"/>
          </a:p>
        </p:txBody>
      </p:sp>
      <p:sp>
        <p:nvSpPr>
          <p:cNvPr id="20" name="Text 17"/>
          <p:cNvSpPr/>
          <p:nvPr/>
        </p:nvSpPr>
        <p:spPr>
          <a:xfrm>
            <a:off x="3621024" y="1143000"/>
            <a:ext cx="1572768" cy="274320"/>
          </a:xfrm>
          <a:prstGeom prst="rect">
            <a:avLst/>
          </a:prstGeom>
          <a:noFill/>
          <a:ln/>
        </p:spPr>
        <p:txBody>
          <a:bodyPr wrap="square" lIns="0" tIns="0" rIns="0" bIns="0" rtlCol="0" anchor="ctr"/>
          <a:lstStyle/>
          <a:p>
            <a:pPr marL="0" indent="0" algn="ctr">
              <a:buNone/>
            </a:pPr>
            <a:r>
              <a:rPr lang="en-US" sz="1000" b="1" dirty="0">
                <a:solidFill>
                  <a:srgbClr val="A8A8A8"/>
                </a:solidFill>
                <a:latin typeface="Georgia" pitchFamily="34" charset="0"/>
                <a:ea typeface="Georgia" pitchFamily="34" charset="-122"/>
                <a:cs typeface="Georgia" pitchFamily="34" charset="-120"/>
              </a:rPr>
              <a:t>3. Gold</a:t>
            </a:r>
            <a:endParaRPr lang="en-US" sz="1000" dirty="0"/>
          </a:p>
        </p:txBody>
      </p:sp>
      <p:sp>
        <p:nvSpPr>
          <p:cNvPr id="21" name="Text 18"/>
          <p:cNvSpPr/>
          <p:nvPr/>
        </p:nvSpPr>
        <p:spPr>
          <a:xfrm>
            <a:off x="3621024" y="1463040"/>
            <a:ext cx="1572768" cy="731520"/>
          </a:xfrm>
          <a:prstGeom prst="rect">
            <a:avLst/>
          </a:prstGeom>
          <a:noFill/>
          <a:ln/>
        </p:spPr>
        <p:txBody>
          <a:bodyPr wrap="square" lIns="0" tIns="0" rIns="0" bIns="0" rtlCol="0" anchor="t"/>
          <a:lstStyle/>
          <a:p>
            <a:pPr marL="0" indent="0" algn="ctr">
              <a:buNone/>
            </a:pPr>
            <a:r>
              <a:rPr lang="en-US" sz="850" dirty="0">
                <a:solidFill>
                  <a:srgbClr val="444444"/>
                </a:solidFill>
                <a:latin typeface="Calibri" pitchFamily="34" charset="0"/>
                <a:ea typeface="Calibri" pitchFamily="34" charset="-122"/>
                <a:cs typeface="Calibri" pitchFamily="34" charset="-120"/>
              </a:rPr>
              <a:t>Spark Windows</a:t>
            </a:r>
            <a:endParaRPr lang="en-US" sz="850" dirty="0"/>
          </a:p>
          <a:p>
            <a:pPr marL="0" indent="0" algn="ctr">
              <a:buNone/>
            </a:pPr>
            <a:r>
              <a:rPr lang="en-US" sz="850" dirty="0">
                <a:solidFill>
                  <a:srgbClr val="444444"/>
                </a:solidFill>
                <a:latin typeface="Calibri" pitchFamily="34" charset="0"/>
                <a:ea typeface="Calibri" pitchFamily="34" charset="-122"/>
                <a:cs typeface="Calibri" pitchFamily="34" charset="-120"/>
              </a:rPr>
              <a:t>85 features</a:t>
            </a:r>
            <a:endParaRPr lang="en-US" sz="850" dirty="0"/>
          </a:p>
          <a:p>
            <a:pPr marL="0" indent="0" algn="ctr">
              <a:buNone/>
            </a:pPr>
            <a:r>
              <a:rPr lang="en-US" sz="850" dirty="0">
                <a:solidFill>
                  <a:srgbClr val="444444"/>
                </a:solidFill>
                <a:latin typeface="Calibri" pitchFamily="34" charset="0"/>
                <a:ea typeface="Calibri" pitchFamily="34" charset="-122"/>
                <a:cs typeface="Calibri" pitchFamily="34" charset="-120"/>
              </a:rPr>
              <a:t>ELO + tire</a:t>
            </a:r>
            <a:endParaRPr lang="en-US" sz="850" dirty="0"/>
          </a:p>
        </p:txBody>
      </p:sp>
      <p:sp>
        <p:nvSpPr>
          <p:cNvPr id="22" name="Text 19"/>
          <p:cNvSpPr/>
          <p:nvPr/>
        </p:nvSpPr>
        <p:spPr>
          <a:xfrm>
            <a:off x="5129784" y="1417320"/>
            <a:ext cx="274320" cy="365760"/>
          </a:xfrm>
          <a:prstGeom prst="rect">
            <a:avLst/>
          </a:prstGeom>
          <a:noFill/>
          <a:ln/>
        </p:spPr>
        <p:txBody>
          <a:bodyPr wrap="square" rtlCol="0" anchor="ctr"/>
          <a:lstStyle/>
          <a:p>
            <a:pPr marL="0" indent="0" algn="ctr">
              <a:buNone/>
            </a:pPr>
            <a:r>
              <a:rPr lang="en-US" sz="1400" dirty="0">
                <a:solidFill>
                  <a:srgbClr val="949594"/>
                </a:solidFill>
              </a:rPr>
              <a:t>→</a:t>
            </a:r>
            <a:endParaRPr lang="en-US" sz="1400" dirty="0"/>
          </a:p>
        </p:txBody>
      </p:sp>
      <p:sp>
        <p:nvSpPr>
          <p:cNvPr id="23" name="Shape 20"/>
          <p:cNvSpPr/>
          <p:nvPr/>
        </p:nvSpPr>
        <p:spPr>
          <a:xfrm>
            <a:off x="5340096" y="1051560"/>
            <a:ext cx="1572768" cy="1280160"/>
          </a:xfrm>
          <a:prstGeom prst="rect">
            <a:avLst/>
          </a:prstGeom>
          <a:solidFill>
            <a:srgbClr val="FFFFFF"/>
          </a:solidFill>
          <a:ln/>
          <a:effectLst>
            <a:outerShdw blurRad="50800" dist="25400" dir="8100000" algn="bl" rotWithShape="0">
              <a:srgbClr val="000000">
                <a:alpha val="10000"/>
              </a:srgbClr>
            </a:outerShdw>
          </a:effectLst>
        </p:spPr>
        <p:txBody>
          <a:bodyPr/>
          <a:lstStyle/>
          <a:p>
            <a:endParaRPr lang="en-US"/>
          </a:p>
        </p:txBody>
      </p:sp>
      <p:sp>
        <p:nvSpPr>
          <p:cNvPr id="24" name="Shape 21"/>
          <p:cNvSpPr/>
          <p:nvPr/>
        </p:nvSpPr>
        <p:spPr>
          <a:xfrm>
            <a:off x="5340096" y="1051560"/>
            <a:ext cx="1572768" cy="45720"/>
          </a:xfrm>
          <a:prstGeom prst="rect">
            <a:avLst/>
          </a:prstGeom>
          <a:solidFill>
            <a:srgbClr val="D97706"/>
          </a:solidFill>
          <a:ln/>
        </p:spPr>
        <p:txBody>
          <a:bodyPr/>
          <a:lstStyle/>
          <a:p>
            <a:endParaRPr lang="en-US"/>
          </a:p>
        </p:txBody>
      </p:sp>
      <p:sp>
        <p:nvSpPr>
          <p:cNvPr id="25" name="Text 22"/>
          <p:cNvSpPr/>
          <p:nvPr/>
        </p:nvSpPr>
        <p:spPr>
          <a:xfrm>
            <a:off x="5340096" y="1143000"/>
            <a:ext cx="1572768" cy="274320"/>
          </a:xfrm>
          <a:prstGeom prst="rect">
            <a:avLst/>
          </a:prstGeom>
          <a:noFill/>
          <a:ln/>
        </p:spPr>
        <p:txBody>
          <a:bodyPr wrap="square" lIns="0" tIns="0" rIns="0" bIns="0" rtlCol="0" anchor="ctr"/>
          <a:lstStyle/>
          <a:p>
            <a:pPr marL="0" indent="0" algn="ctr">
              <a:buNone/>
            </a:pPr>
            <a:r>
              <a:rPr lang="en-US" sz="1000" b="1" dirty="0">
                <a:solidFill>
                  <a:srgbClr val="D97706"/>
                </a:solidFill>
                <a:latin typeface="Georgia" pitchFamily="34" charset="0"/>
                <a:ea typeface="Georgia" pitchFamily="34" charset="-122"/>
                <a:cs typeface="Georgia" pitchFamily="34" charset="-120"/>
              </a:rPr>
              <a:t>4. Retrain</a:t>
            </a:r>
            <a:endParaRPr lang="en-US" sz="1000" dirty="0"/>
          </a:p>
        </p:txBody>
      </p:sp>
      <p:sp>
        <p:nvSpPr>
          <p:cNvPr id="26" name="Text 23"/>
          <p:cNvSpPr/>
          <p:nvPr/>
        </p:nvSpPr>
        <p:spPr>
          <a:xfrm>
            <a:off x="5340096" y="1463040"/>
            <a:ext cx="1572768" cy="731520"/>
          </a:xfrm>
          <a:prstGeom prst="rect">
            <a:avLst/>
          </a:prstGeom>
          <a:noFill/>
          <a:ln/>
        </p:spPr>
        <p:txBody>
          <a:bodyPr wrap="square" lIns="0" tIns="0" rIns="0" bIns="0" rtlCol="0" anchor="t"/>
          <a:lstStyle/>
          <a:p>
            <a:pPr marL="0" indent="0" algn="ctr">
              <a:buNone/>
            </a:pPr>
            <a:r>
              <a:rPr lang="en-US" sz="850" dirty="0">
                <a:solidFill>
                  <a:srgbClr val="444444"/>
                </a:solidFill>
                <a:latin typeface="Calibri" pitchFamily="34" charset="0"/>
                <a:ea typeface="Calibri" pitchFamily="34" charset="-122"/>
                <a:cs typeface="Calibri" pitchFamily="34" charset="-120"/>
              </a:rPr>
              <a:t>3 ML models</a:t>
            </a:r>
            <a:endParaRPr lang="en-US" sz="850" dirty="0"/>
          </a:p>
          <a:p>
            <a:pPr marL="0" indent="0" algn="ctr">
              <a:buNone/>
            </a:pPr>
            <a:r>
              <a:rPr lang="en-US" sz="850" dirty="0">
                <a:solidFill>
                  <a:srgbClr val="444444"/>
                </a:solidFill>
                <a:latin typeface="Calibri" pitchFamily="34" charset="0"/>
                <a:ea typeface="Calibri" pitchFamily="34" charset="-122"/>
                <a:cs typeface="Calibri" pitchFamily="34" charset="-120"/>
              </a:rPr>
              <a:t>Compare all</a:t>
            </a:r>
            <a:endParaRPr lang="en-US" sz="850" dirty="0"/>
          </a:p>
          <a:p>
            <a:pPr marL="0" indent="0" algn="ctr">
              <a:buNone/>
            </a:pPr>
            <a:r>
              <a:rPr lang="en-US" sz="850" dirty="0">
                <a:solidFill>
                  <a:srgbClr val="444444"/>
                </a:solidFill>
                <a:latin typeface="Calibri" pitchFamily="34" charset="0"/>
                <a:ea typeface="Calibri" pitchFamily="34" charset="-122"/>
                <a:cs typeface="Calibri" pitchFamily="34" charset="-120"/>
              </a:rPr>
              <a:t>Save best</a:t>
            </a:r>
            <a:endParaRPr lang="en-US" sz="850" dirty="0"/>
          </a:p>
        </p:txBody>
      </p:sp>
      <p:sp>
        <p:nvSpPr>
          <p:cNvPr id="27" name="Text 24"/>
          <p:cNvSpPr/>
          <p:nvPr/>
        </p:nvSpPr>
        <p:spPr>
          <a:xfrm>
            <a:off x="6848856" y="1417320"/>
            <a:ext cx="274320" cy="365760"/>
          </a:xfrm>
          <a:prstGeom prst="rect">
            <a:avLst/>
          </a:prstGeom>
          <a:noFill/>
          <a:ln/>
        </p:spPr>
        <p:txBody>
          <a:bodyPr wrap="square" rtlCol="0" anchor="ctr"/>
          <a:lstStyle/>
          <a:p>
            <a:pPr marL="0" indent="0" algn="ctr">
              <a:buNone/>
            </a:pPr>
            <a:r>
              <a:rPr lang="en-US" sz="1400" dirty="0">
                <a:solidFill>
                  <a:srgbClr val="949594"/>
                </a:solidFill>
              </a:rPr>
              <a:t>→</a:t>
            </a:r>
            <a:endParaRPr lang="en-US" sz="1400" dirty="0"/>
          </a:p>
        </p:txBody>
      </p:sp>
      <p:sp>
        <p:nvSpPr>
          <p:cNvPr id="28" name="Shape 25"/>
          <p:cNvSpPr/>
          <p:nvPr/>
        </p:nvSpPr>
        <p:spPr>
          <a:xfrm>
            <a:off x="7059168" y="1051560"/>
            <a:ext cx="1572768" cy="1280160"/>
          </a:xfrm>
          <a:prstGeom prst="rect">
            <a:avLst/>
          </a:prstGeom>
          <a:solidFill>
            <a:srgbClr val="FFFFFF"/>
          </a:solidFill>
          <a:ln/>
          <a:effectLst>
            <a:outerShdw blurRad="50800" dist="25400" dir="8100000" algn="bl" rotWithShape="0">
              <a:srgbClr val="000000">
                <a:alpha val="10000"/>
              </a:srgbClr>
            </a:outerShdw>
          </a:effectLst>
        </p:spPr>
        <p:txBody>
          <a:bodyPr/>
          <a:lstStyle/>
          <a:p>
            <a:endParaRPr lang="en-US"/>
          </a:p>
        </p:txBody>
      </p:sp>
      <p:sp>
        <p:nvSpPr>
          <p:cNvPr id="29" name="Shape 26"/>
          <p:cNvSpPr/>
          <p:nvPr/>
        </p:nvSpPr>
        <p:spPr>
          <a:xfrm>
            <a:off x="7059168" y="1051560"/>
            <a:ext cx="1572768" cy="45720"/>
          </a:xfrm>
          <a:prstGeom prst="rect">
            <a:avLst/>
          </a:prstGeom>
          <a:solidFill>
            <a:srgbClr val="7C3AED"/>
          </a:solidFill>
          <a:ln/>
        </p:spPr>
        <p:txBody>
          <a:bodyPr/>
          <a:lstStyle/>
          <a:p>
            <a:endParaRPr lang="en-US"/>
          </a:p>
        </p:txBody>
      </p:sp>
      <p:sp>
        <p:nvSpPr>
          <p:cNvPr id="30" name="Text 27"/>
          <p:cNvSpPr/>
          <p:nvPr/>
        </p:nvSpPr>
        <p:spPr>
          <a:xfrm>
            <a:off x="7059168" y="1143000"/>
            <a:ext cx="1572768" cy="274320"/>
          </a:xfrm>
          <a:prstGeom prst="rect">
            <a:avLst/>
          </a:prstGeom>
          <a:noFill/>
          <a:ln/>
        </p:spPr>
        <p:txBody>
          <a:bodyPr wrap="square" lIns="0" tIns="0" rIns="0" bIns="0" rtlCol="0" anchor="ctr"/>
          <a:lstStyle/>
          <a:p>
            <a:pPr marL="0" indent="0" algn="ctr">
              <a:buNone/>
            </a:pPr>
            <a:r>
              <a:rPr lang="en-US" sz="1000" b="1" dirty="0">
                <a:solidFill>
                  <a:srgbClr val="7C3AED"/>
                </a:solidFill>
                <a:latin typeface="Georgia" pitchFamily="34" charset="0"/>
                <a:ea typeface="Georgia" pitchFamily="34" charset="-122"/>
                <a:cs typeface="Georgia" pitchFamily="34" charset="-120"/>
              </a:rPr>
              <a:t>5. Agents</a:t>
            </a:r>
            <a:endParaRPr lang="en-US" sz="1000" dirty="0"/>
          </a:p>
        </p:txBody>
      </p:sp>
      <p:sp>
        <p:nvSpPr>
          <p:cNvPr id="31" name="Text 28"/>
          <p:cNvSpPr/>
          <p:nvPr/>
        </p:nvSpPr>
        <p:spPr>
          <a:xfrm>
            <a:off x="7059168" y="1463040"/>
            <a:ext cx="1572768" cy="731520"/>
          </a:xfrm>
          <a:prstGeom prst="rect">
            <a:avLst/>
          </a:prstGeom>
          <a:noFill/>
          <a:ln/>
        </p:spPr>
        <p:txBody>
          <a:bodyPr wrap="square" lIns="0" tIns="0" rIns="0" bIns="0" rtlCol="0" anchor="t"/>
          <a:lstStyle/>
          <a:p>
            <a:pPr marL="0" indent="0" algn="ctr">
              <a:buNone/>
            </a:pPr>
            <a:r>
              <a:rPr lang="en-US" sz="850" dirty="0">
                <a:solidFill>
                  <a:srgbClr val="444444"/>
                </a:solidFill>
                <a:latin typeface="Calibri" pitchFamily="34" charset="0"/>
                <a:ea typeface="Calibri" pitchFamily="34" charset="-122"/>
                <a:cs typeface="Calibri" pitchFamily="34" charset="-120"/>
              </a:rPr>
              <a:t>4 AI agents</a:t>
            </a:r>
            <a:endParaRPr lang="en-US" sz="850" dirty="0"/>
          </a:p>
          <a:p>
            <a:pPr marL="0" indent="0" algn="ctr">
              <a:buNone/>
            </a:pPr>
            <a:r>
              <a:rPr lang="en-US" sz="850" dirty="0">
                <a:solidFill>
                  <a:srgbClr val="444444"/>
                </a:solidFill>
                <a:latin typeface="Calibri" pitchFamily="34" charset="0"/>
                <a:ea typeface="Calibri" pitchFamily="34" charset="-122"/>
                <a:cs typeface="Calibri" pitchFamily="34" charset="-120"/>
              </a:rPr>
              <a:t>Quality check</a:t>
            </a:r>
            <a:endParaRPr lang="en-US" sz="850" dirty="0"/>
          </a:p>
          <a:p>
            <a:pPr marL="0" indent="0" algn="ctr">
              <a:buNone/>
            </a:pPr>
            <a:r>
              <a:rPr lang="en-US" sz="850" dirty="0">
                <a:solidFill>
                  <a:srgbClr val="444444"/>
                </a:solidFill>
                <a:latin typeface="Calibri" pitchFamily="34" charset="0"/>
                <a:ea typeface="Calibri" pitchFamily="34" charset="-122"/>
                <a:cs typeface="Calibri" pitchFamily="34" charset="-120"/>
              </a:rPr>
              <a:t>Briefing</a:t>
            </a:r>
            <a:endParaRPr lang="en-US" sz="850" dirty="0"/>
          </a:p>
        </p:txBody>
      </p:sp>
      <p:sp>
        <p:nvSpPr>
          <p:cNvPr id="32" name="Text 29"/>
          <p:cNvSpPr/>
          <p:nvPr/>
        </p:nvSpPr>
        <p:spPr>
          <a:xfrm>
            <a:off x="457200" y="2468880"/>
            <a:ext cx="8229600" cy="228600"/>
          </a:xfrm>
          <a:prstGeom prst="rect">
            <a:avLst/>
          </a:prstGeom>
          <a:noFill/>
          <a:ln/>
        </p:spPr>
        <p:txBody>
          <a:bodyPr wrap="square" lIns="0" tIns="0" rIns="0" bIns="0" rtlCol="0" anchor="ctr"/>
          <a:lstStyle/>
          <a:p>
            <a:pPr marL="0" indent="0">
              <a:buNone/>
            </a:pPr>
            <a:r>
              <a:rPr lang="en-US" sz="1000" b="1" i="1" dirty="0">
                <a:solidFill>
                  <a:srgbClr val="0891B2"/>
                </a:solidFill>
                <a:latin typeface="Calibri" pitchFamily="34" charset="0"/>
                <a:ea typeface="Calibri" pitchFamily="34" charset="-122"/>
                <a:cs typeface="Calibri" pitchFamily="34" charset="-120"/>
              </a:rPr>
              <a:t>Triggered by Apache Airflow every Monday at 6:00 AM — no human intervention</a:t>
            </a:r>
            <a:endParaRPr lang="en-US" sz="1000" dirty="0"/>
          </a:p>
        </p:txBody>
      </p:sp>
      <p:sp>
        <p:nvSpPr>
          <p:cNvPr id="33" name="Text 30"/>
          <p:cNvSpPr/>
          <p:nvPr/>
        </p:nvSpPr>
        <p:spPr>
          <a:xfrm>
            <a:off x="457200" y="2834640"/>
            <a:ext cx="8229600" cy="274320"/>
          </a:xfrm>
          <a:prstGeom prst="rect">
            <a:avLst/>
          </a:prstGeom>
          <a:noFill/>
          <a:ln/>
        </p:spPr>
        <p:txBody>
          <a:bodyPr wrap="square" lIns="0" tIns="0" rIns="0" bIns="0" rtlCol="0" anchor="ctr"/>
          <a:lstStyle/>
          <a:p>
            <a:pPr marL="0" indent="0">
              <a:buNone/>
            </a:pPr>
            <a:r>
              <a:rPr lang="en-US" sz="1100" b="1" dirty="0">
                <a:solidFill>
                  <a:srgbClr val="1A1A2E"/>
                </a:solidFill>
                <a:latin typeface="Georgia" pitchFamily="34" charset="0"/>
                <a:ea typeface="Georgia" pitchFamily="34" charset="-122"/>
                <a:cs typeface="Georgia" pitchFamily="34" charset="-120"/>
              </a:rPr>
              <a:t>Feature Engineering — Raw Data → Spark Transform → ML Feature</a:t>
            </a:r>
            <a:endParaRPr lang="en-US" sz="1100" dirty="0"/>
          </a:p>
        </p:txBody>
      </p:sp>
      <p:graphicFrame>
        <p:nvGraphicFramePr>
          <p:cNvPr id="34" name="Table 0"/>
          <p:cNvGraphicFramePr>
            <a:graphicFrameLocks noGrp="1"/>
          </p:cNvGraphicFramePr>
          <p:nvPr>
            <p:extLst>
              <p:ext uri="{D42A27DB-BD31-4B8C-83A1-F6EECF244321}">
                <p14:modId xmlns:p14="http://schemas.microsoft.com/office/powerpoint/2010/main" val="1579011935"/>
              </p:ext>
            </p:extLst>
          </p:nvPr>
        </p:nvGraphicFramePr>
        <p:xfrm>
          <a:off x="365760" y="3154680"/>
          <a:ext cx="8321040" cy="914400"/>
        </p:xfrm>
        <a:graphic>
          <a:graphicData uri="http://schemas.openxmlformats.org/drawingml/2006/table">
            <a:tbl>
              <a:tblPr/>
              <a:tblGrid>
                <a:gridCol w="1645920">
                  <a:extLst>
                    <a:ext uri="{9D8B030D-6E8A-4147-A177-3AD203B41FA5}">
                      <a16:colId xmlns:a16="http://schemas.microsoft.com/office/drawing/2014/main" val="20000"/>
                    </a:ext>
                  </a:extLst>
                </a:gridCol>
                <a:gridCol w="2560320">
                  <a:extLst>
                    <a:ext uri="{9D8B030D-6E8A-4147-A177-3AD203B41FA5}">
                      <a16:colId xmlns:a16="http://schemas.microsoft.com/office/drawing/2014/main" val="20001"/>
                    </a:ext>
                  </a:extLst>
                </a:gridCol>
                <a:gridCol w="2560320">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tblGrid>
              <a:tr h="228600">
                <a:tc>
                  <a:txBody>
                    <a:bodyPr/>
                    <a:lstStyle/>
                    <a:p>
                      <a:pPr marL="0" indent="0">
                        <a:buNone/>
                      </a:pPr>
                      <a:r>
                        <a:rPr lang="en-US" sz="850" b="1" dirty="0">
                          <a:solidFill>
                            <a:srgbClr val="FFFFFF"/>
                          </a:solidFill>
                          <a:latin typeface="Calibri" pitchFamily="34" charset="0"/>
                          <a:ea typeface="Calibri" pitchFamily="34" charset="-122"/>
                          <a:cs typeface="Calibri" pitchFamily="34" charset="-120"/>
                        </a:rPr>
                        <a:t>Raw Data</a:t>
                      </a:r>
                      <a:endParaRPr lang="en-US" sz="850" dirty="0">
                        <a:latin typeface="Calibri" charset="0"/>
                        <a:ea typeface="Calibri" charset="0"/>
                        <a:cs typeface="Calibri" charset="0"/>
                      </a:endParaRPr>
                    </a:p>
                  </a:txBody>
                  <a:tcP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C41E1E"/>
                    </a:solidFill>
                  </a:tcPr>
                </a:tc>
                <a:tc>
                  <a:txBody>
                    <a:bodyPr/>
                    <a:lstStyle/>
                    <a:p>
                      <a:pPr marL="0" indent="0">
                        <a:buNone/>
                      </a:pPr>
                      <a:r>
                        <a:rPr lang="en-US" sz="850" b="1" dirty="0">
                          <a:solidFill>
                            <a:srgbClr val="FFFFFF"/>
                          </a:solidFill>
                          <a:latin typeface="Calibri" pitchFamily="34" charset="0"/>
                          <a:ea typeface="Calibri" pitchFamily="34" charset="-122"/>
                          <a:cs typeface="Calibri" pitchFamily="34" charset="-120"/>
                        </a:rPr>
                        <a:t>Spark Transform</a:t>
                      </a:r>
                      <a:endParaRPr lang="en-US" sz="850" dirty="0">
                        <a:latin typeface="Calibri" charset="0"/>
                        <a:ea typeface="Calibri" charset="0"/>
                        <a:cs typeface="Calibri" charset="0"/>
                      </a:endParaRPr>
                    </a:p>
                  </a:txBody>
                  <a:tcP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C41E1E"/>
                    </a:solidFill>
                  </a:tcPr>
                </a:tc>
                <a:tc>
                  <a:txBody>
                    <a:bodyPr/>
                    <a:lstStyle/>
                    <a:p>
                      <a:pPr marL="0" indent="0">
                        <a:buNone/>
                      </a:pPr>
                      <a:r>
                        <a:rPr lang="en-US" sz="850" b="1" dirty="0">
                          <a:solidFill>
                            <a:srgbClr val="FFFFFF"/>
                          </a:solidFill>
                          <a:latin typeface="Calibri" pitchFamily="34" charset="0"/>
                          <a:ea typeface="Calibri" pitchFamily="34" charset="-122"/>
                          <a:cs typeface="Calibri" pitchFamily="34" charset="-120"/>
                        </a:rPr>
                        <a:t>Gold Feature</a:t>
                      </a:r>
                      <a:endParaRPr lang="en-US" sz="850" dirty="0">
                        <a:latin typeface="Calibri" charset="0"/>
                        <a:ea typeface="Calibri" charset="0"/>
                        <a:cs typeface="Calibri" charset="0"/>
                      </a:endParaRPr>
                    </a:p>
                  </a:txBody>
                  <a:tcP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C41E1E"/>
                    </a:solidFill>
                  </a:tcPr>
                </a:tc>
                <a:tc>
                  <a:txBody>
                    <a:bodyPr/>
                    <a:lstStyle/>
                    <a:p>
                      <a:pPr marL="0" indent="0">
                        <a:buNone/>
                      </a:pPr>
                      <a:r>
                        <a:rPr lang="en-US" sz="850" b="1" dirty="0">
                          <a:solidFill>
                            <a:srgbClr val="FFFFFF"/>
                          </a:solidFill>
                          <a:latin typeface="Calibri" pitchFamily="34" charset="0"/>
                          <a:ea typeface="Calibri" pitchFamily="34" charset="-122"/>
                          <a:cs typeface="Calibri" pitchFamily="34" charset="-120"/>
                        </a:rPr>
                        <a:t>Importance</a:t>
                      </a:r>
                      <a:endParaRPr lang="en-US" sz="850" dirty="0">
                        <a:latin typeface="Calibri" charset="0"/>
                        <a:ea typeface="Calibri" charset="0"/>
                        <a:cs typeface="Calibri" charset="0"/>
                      </a:endParaRPr>
                    </a:p>
                  </a:txBody>
                  <a:tcP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C41E1E"/>
                    </a:solidFill>
                  </a:tcPr>
                </a:tc>
                <a:extLst>
                  <a:ext uri="{0D108BD9-81ED-4DB2-BD59-A6C34878D82A}">
                    <a16:rowId xmlns:a16="http://schemas.microsoft.com/office/drawing/2014/main" val="10000"/>
                  </a:ext>
                </a:extLst>
              </a:tr>
              <a:tr h="228600">
                <a:tc>
                  <a:txBody>
                    <a:bodyPr/>
                    <a:lstStyle/>
                    <a:p>
                      <a:pPr marL="0" indent="0">
                        <a:buNone/>
                      </a:pPr>
                      <a:r>
                        <a:rPr lang="en-US" sz="850" dirty="0">
                          <a:solidFill>
                            <a:srgbClr val="000000"/>
                          </a:solidFill>
                          <a:latin typeface="Calibri" pitchFamily="34" charset="0"/>
                          <a:ea typeface="Calibri" pitchFamily="34" charset="-122"/>
                          <a:cs typeface="Calibri" pitchFamily="34" charset="-120"/>
                        </a:rPr>
                        <a:t>Finish positions</a:t>
                      </a:r>
                      <a:endParaRPr lang="en-US" sz="850" dirty="0">
                        <a:latin typeface="Calibri" charset="0"/>
                        <a:ea typeface="Calibri" charset="0"/>
                        <a:cs typeface="Calibri" charset="0"/>
                      </a:endParaRPr>
                    </a:p>
                  </a:txBody>
                  <a:tcP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marL="0" indent="0">
                        <a:buNone/>
                      </a:pPr>
                      <a:r>
                        <a:rPr lang="en-US" sz="850" dirty="0">
                          <a:solidFill>
                            <a:srgbClr val="000000"/>
                          </a:solidFill>
                          <a:latin typeface="Calibri" pitchFamily="34" charset="0"/>
                          <a:ea typeface="Calibri" pitchFamily="34" charset="-122"/>
                          <a:cs typeface="Calibri" pitchFamily="34" charset="-120"/>
                        </a:rPr>
                        <a:t>Window AVG last 10 races/team</a:t>
                      </a:r>
                      <a:endParaRPr lang="en-US" sz="850" dirty="0">
                        <a:latin typeface="Calibri" charset="0"/>
                        <a:ea typeface="Calibri" charset="0"/>
                        <a:cs typeface="Calibri" charset="0"/>
                      </a:endParaRPr>
                    </a:p>
                  </a:txBody>
                  <a:tcP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marL="0" indent="0">
                        <a:buNone/>
                      </a:pPr>
                      <a:r>
                        <a:rPr lang="en-US" sz="850" dirty="0">
                          <a:solidFill>
                            <a:srgbClr val="000000"/>
                          </a:solidFill>
                          <a:latin typeface="Calibri" pitchFamily="34" charset="0"/>
                          <a:ea typeface="Calibri" pitchFamily="34" charset="-122"/>
                          <a:cs typeface="Calibri" pitchFamily="34" charset="-120"/>
                        </a:rPr>
                        <a:t>constructor_rolling_points</a:t>
                      </a:r>
                      <a:endParaRPr lang="en-US" sz="850" dirty="0">
                        <a:latin typeface="Calibri" charset="0"/>
                        <a:ea typeface="Calibri" charset="0"/>
                        <a:cs typeface="Calibri" charset="0"/>
                      </a:endParaRPr>
                    </a:p>
                  </a:txBody>
                  <a:tcP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marL="0" indent="0">
                        <a:buNone/>
                      </a:pPr>
                      <a:r>
                        <a:rPr lang="en-US" sz="850" dirty="0">
                          <a:solidFill>
                            <a:srgbClr val="000000"/>
                          </a:solidFill>
                          <a:latin typeface="Calibri" pitchFamily="34" charset="0"/>
                          <a:ea typeface="Calibri" pitchFamily="34" charset="-122"/>
                          <a:cs typeface="Calibri" pitchFamily="34" charset="-120"/>
                        </a:rPr>
                        <a:t>#1</a:t>
                      </a:r>
                      <a:endParaRPr lang="en-US" sz="850" dirty="0">
                        <a:latin typeface="Calibri" charset="0"/>
                        <a:ea typeface="Calibri" charset="0"/>
                        <a:cs typeface="Calibri" charset="0"/>
                      </a:endParaRPr>
                    </a:p>
                  </a:txBody>
                  <a:tcP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extLst>
                  <a:ext uri="{0D108BD9-81ED-4DB2-BD59-A6C34878D82A}">
                    <a16:rowId xmlns:a16="http://schemas.microsoft.com/office/drawing/2014/main" val="10001"/>
                  </a:ext>
                </a:extLst>
              </a:tr>
              <a:tr h="228600">
                <a:tc>
                  <a:txBody>
                    <a:bodyPr/>
                    <a:lstStyle/>
                    <a:p>
                      <a:pPr marL="0" indent="0">
                        <a:buNone/>
                      </a:pPr>
                      <a:r>
                        <a:rPr lang="en-US" sz="850" dirty="0">
                          <a:solidFill>
                            <a:srgbClr val="000000"/>
                          </a:solidFill>
                          <a:latin typeface="Calibri" pitchFamily="34" charset="0"/>
                          <a:ea typeface="Calibri" pitchFamily="34" charset="-122"/>
                          <a:cs typeface="Calibri" pitchFamily="34" charset="-120"/>
                        </a:rPr>
                        <a:t>Finish positions</a:t>
                      </a:r>
                      <a:endParaRPr lang="en-US" sz="850" dirty="0">
                        <a:latin typeface="Calibri" charset="0"/>
                        <a:ea typeface="Calibri" charset="0"/>
                        <a:cs typeface="Calibri" charset="0"/>
                      </a:endParaRPr>
                    </a:p>
                  </a:txBody>
                  <a:tcP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marL="0" indent="0">
                        <a:buNone/>
                      </a:pPr>
                      <a:r>
                        <a:rPr lang="en-US" sz="850" dirty="0">
                          <a:solidFill>
                            <a:srgbClr val="000000"/>
                          </a:solidFill>
                          <a:latin typeface="Calibri" pitchFamily="34" charset="0"/>
                          <a:ea typeface="Calibri" pitchFamily="34" charset="-122"/>
                          <a:cs typeface="Calibri" pitchFamily="34" charset="-120"/>
                        </a:rPr>
                        <a:t>Window AVG last 5 races/driver</a:t>
                      </a:r>
                      <a:endParaRPr lang="en-US" sz="850" dirty="0">
                        <a:latin typeface="Calibri" charset="0"/>
                        <a:ea typeface="Calibri" charset="0"/>
                        <a:cs typeface="Calibri" charset="0"/>
                      </a:endParaRPr>
                    </a:p>
                  </a:txBody>
                  <a:tcP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marL="0" indent="0">
                        <a:buNone/>
                      </a:pPr>
                      <a:r>
                        <a:rPr lang="en-US" sz="850" dirty="0">
                          <a:solidFill>
                            <a:srgbClr val="000000"/>
                          </a:solidFill>
                          <a:latin typeface="Calibri" pitchFamily="34" charset="0"/>
                          <a:ea typeface="Calibri" pitchFamily="34" charset="-122"/>
                          <a:cs typeface="Calibri" pitchFamily="34" charset="-120"/>
                        </a:rPr>
                        <a:t>rolling_avg_position_5</a:t>
                      </a:r>
                      <a:endParaRPr lang="en-US" sz="850" dirty="0">
                        <a:latin typeface="Calibri" charset="0"/>
                        <a:ea typeface="Calibri" charset="0"/>
                        <a:cs typeface="Calibri" charset="0"/>
                      </a:endParaRPr>
                    </a:p>
                  </a:txBody>
                  <a:tcP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marL="0" indent="0">
                        <a:buNone/>
                      </a:pPr>
                      <a:r>
                        <a:rPr lang="en-US" sz="850" dirty="0">
                          <a:solidFill>
                            <a:srgbClr val="000000"/>
                          </a:solidFill>
                          <a:latin typeface="Calibri" pitchFamily="34" charset="0"/>
                          <a:ea typeface="Calibri" pitchFamily="34" charset="-122"/>
                          <a:cs typeface="Calibri" pitchFamily="34" charset="-120"/>
                        </a:rPr>
                        <a:t>#2</a:t>
                      </a:r>
                      <a:endParaRPr lang="en-US" sz="850" dirty="0">
                        <a:latin typeface="Calibri" charset="0"/>
                        <a:ea typeface="Calibri" charset="0"/>
                        <a:cs typeface="Calibri" charset="0"/>
                      </a:endParaRPr>
                    </a:p>
                  </a:txBody>
                  <a:tcP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extLst>
                  <a:ext uri="{0D108BD9-81ED-4DB2-BD59-A6C34878D82A}">
                    <a16:rowId xmlns:a16="http://schemas.microsoft.com/office/drawing/2014/main" val="10002"/>
                  </a:ext>
                </a:extLst>
              </a:tr>
              <a:tr h="228600">
                <a:tc>
                  <a:txBody>
                    <a:bodyPr/>
                    <a:lstStyle/>
                    <a:p>
                      <a:pPr marL="0" indent="0">
                        <a:buNone/>
                      </a:pPr>
                      <a:r>
                        <a:rPr lang="en-US" sz="850" dirty="0">
                          <a:solidFill>
                            <a:srgbClr val="000000"/>
                          </a:solidFill>
                          <a:latin typeface="Calibri" pitchFamily="34" charset="0"/>
                          <a:ea typeface="Calibri" pitchFamily="34" charset="-122"/>
                          <a:cs typeface="Calibri" pitchFamily="34" charset="-120"/>
                        </a:rPr>
                        <a:t>Qualifying times</a:t>
                      </a:r>
                      <a:endParaRPr lang="en-US" sz="850" dirty="0">
                        <a:latin typeface="Calibri" charset="0"/>
                        <a:ea typeface="Calibri" charset="0"/>
                        <a:cs typeface="Calibri" charset="0"/>
                      </a:endParaRPr>
                    </a:p>
                  </a:txBody>
                  <a:tcP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marL="0" indent="0">
                        <a:buNone/>
                      </a:pPr>
                      <a:r>
                        <a:rPr lang="en-US" sz="850" dirty="0">
                          <a:solidFill>
                            <a:srgbClr val="000000"/>
                          </a:solidFill>
                          <a:latin typeface="Calibri" pitchFamily="34" charset="0"/>
                          <a:ea typeface="Calibri" pitchFamily="34" charset="-122"/>
                          <a:cs typeface="Calibri" pitchFamily="34" charset="-120"/>
                        </a:rPr>
                        <a:t>MIN(Q3) per race, gap calc</a:t>
                      </a:r>
                      <a:endParaRPr lang="en-US" sz="850" dirty="0">
                        <a:latin typeface="Calibri" charset="0"/>
                        <a:ea typeface="Calibri" charset="0"/>
                        <a:cs typeface="Calibri" charset="0"/>
                      </a:endParaRPr>
                    </a:p>
                  </a:txBody>
                  <a:tcP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marL="0" indent="0">
                        <a:buNone/>
                      </a:pPr>
                      <a:r>
                        <a:rPr lang="en-US" sz="850" dirty="0">
                          <a:solidFill>
                            <a:srgbClr val="000000"/>
                          </a:solidFill>
                          <a:latin typeface="Calibri" pitchFamily="34" charset="0"/>
                          <a:ea typeface="Calibri" pitchFamily="34" charset="-122"/>
                          <a:cs typeface="Calibri" pitchFamily="34" charset="-120"/>
                        </a:rPr>
                        <a:t>quali_gap_to_pole</a:t>
                      </a:r>
                      <a:endParaRPr lang="en-US" sz="850" dirty="0">
                        <a:latin typeface="Calibri" charset="0"/>
                        <a:ea typeface="Calibri" charset="0"/>
                        <a:cs typeface="Calibri" charset="0"/>
                      </a:endParaRPr>
                    </a:p>
                  </a:txBody>
                  <a:tcP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marL="0" indent="0">
                        <a:buNone/>
                      </a:pPr>
                      <a:r>
                        <a:rPr lang="en-US" sz="850" dirty="0">
                          <a:solidFill>
                            <a:srgbClr val="000000"/>
                          </a:solidFill>
                          <a:latin typeface="Calibri" pitchFamily="34" charset="0"/>
                          <a:ea typeface="Calibri" pitchFamily="34" charset="-122"/>
                          <a:cs typeface="Calibri" pitchFamily="34" charset="-120"/>
                        </a:rPr>
                        <a:t>#3</a:t>
                      </a:r>
                      <a:endParaRPr lang="en-US" sz="850" dirty="0">
                        <a:latin typeface="Calibri" charset="0"/>
                        <a:ea typeface="Calibri" charset="0"/>
                        <a:cs typeface="Calibri" charset="0"/>
                      </a:endParaRPr>
                    </a:p>
                  </a:txBody>
                  <a:tcP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extLst>
                  <a:ext uri="{0D108BD9-81ED-4DB2-BD59-A6C34878D82A}">
                    <a16:rowId xmlns:a16="http://schemas.microsoft.com/office/drawing/2014/main" val="10003"/>
                  </a:ext>
                </a:extLst>
              </a:tr>
              <a:tr h="228600">
                <a:tc>
                  <a:txBody>
                    <a:bodyPr/>
                    <a:lstStyle/>
                    <a:p>
                      <a:pPr marL="0" indent="0">
                        <a:buNone/>
                      </a:pPr>
                      <a:r>
                        <a:rPr lang="en-US" sz="850" dirty="0">
                          <a:solidFill>
                            <a:srgbClr val="000000"/>
                          </a:solidFill>
                          <a:latin typeface="Calibri" pitchFamily="34" charset="0"/>
                          <a:ea typeface="Calibri" pitchFamily="34" charset="-122"/>
                          <a:cs typeface="Calibri" pitchFamily="34" charset="-120"/>
                        </a:rPr>
                        <a:t>Race history</a:t>
                      </a:r>
                      <a:endParaRPr lang="en-US" sz="850" dirty="0">
                        <a:latin typeface="Calibri" charset="0"/>
                        <a:ea typeface="Calibri" charset="0"/>
                        <a:cs typeface="Calibri" charset="0"/>
                      </a:endParaRPr>
                    </a:p>
                  </a:txBody>
                  <a:tcP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marL="0" indent="0">
                        <a:buNone/>
                      </a:pPr>
                      <a:r>
                        <a:rPr lang="en-US" sz="850" dirty="0">
                          <a:solidFill>
                            <a:srgbClr val="000000"/>
                          </a:solidFill>
                          <a:latin typeface="Calibri" pitchFamily="34" charset="0"/>
                          <a:ea typeface="Calibri" pitchFamily="34" charset="-122"/>
                          <a:cs typeface="Calibri" pitchFamily="34" charset="-120"/>
                        </a:rPr>
                        <a:t>Chess-style ELO algorithm</a:t>
                      </a:r>
                      <a:endParaRPr lang="en-US" sz="850" dirty="0">
                        <a:latin typeface="Calibri" charset="0"/>
                        <a:ea typeface="Calibri" charset="0"/>
                        <a:cs typeface="Calibri" charset="0"/>
                      </a:endParaRPr>
                    </a:p>
                  </a:txBody>
                  <a:tcP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marL="0" indent="0">
                        <a:buNone/>
                      </a:pPr>
                      <a:r>
                        <a:rPr lang="en-US" sz="850" dirty="0">
                          <a:solidFill>
                            <a:srgbClr val="000000"/>
                          </a:solidFill>
                          <a:latin typeface="Calibri" pitchFamily="34" charset="0"/>
                          <a:ea typeface="Calibri" pitchFamily="34" charset="-122"/>
                          <a:cs typeface="Calibri" pitchFamily="34" charset="-120"/>
                        </a:rPr>
                        <a:t>driver_elo_rating</a:t>
                      </a:r>
                      <a:endParaRPr lang="en-US" sz="850" dirty="0">
                        <a:latin typeface="Calibri" charset="0"/>
                        <a:ea typeface="Calibri" charset="0"/>
                        <a:cs typeface="Calibri" charset="0"/>
                      </a:endParaRPr>
                    </a:p>
                  </a:txBody>
                  <a:tcP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marL="0" indent="0">
                        <a:buNone/>
                      </a:pPr>
                      <a:r>
                        <a:rPr lang="en-US" sz="850" dirty="0">
                          <a:solidFill>
                            <a:srgbClr val="000000"/>
                          </a:solidFill>
                          <a:latin typeface="Calibri" pitchFamily="34" charset="0"/>
                          <a:ea typeface="Calibri" pitchFamily="34" charset="-122"/>
                          <a:cs typeface="Calibri" pitchFamily="34" charset="-120"/>
                        </a:rPr>
                        <a:t>#5</a:t>
                      </a:r>
                      <a:endParaRPr lang="en-US" sz="850" dirty="0">
                        <a:latin typeface="Calibri" charset="0"/>
                        <a:ea typeface="Calibri" charset="0"/>
                        <a:cs typeface="Calibri" charset="0"/>
                      </a:endParaRPr>
                    </a:p>
                  </a:txBody>
                  <a:tcP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extLst>
                  <a:ext uri="{0D108BD9-81ED-4DB2-BD59-A6C34878D82A}">
                    <a16:rowId xmlns:a16="http://schemas.microsoft.com/office/drawing/2014/main" val="10004"/>
                  </a:ext>
                </a:extLst>
              </a:tr>
              <a:tr h="228600">
                <a:tc>
                  <a:txBody>
                    <a:bodyPr/>
                    <a:lstStyle/>
                    <a:p>
                      <a:pPr marL="0" indent="0">
                        <a:buNone/>
                      </a:pPr>
                      <a:r>
                        <a:rPr lang="en-US" sz="850" dirty="0">
                          <a:solidFill>
                            <a:srgbClr val="000000"/>
                          </a:solidFill>
                          <a:latin typeface="Calibri" pitchFamily="34" charset="0"/>
                          <a:ea typeface="Calibri" pitchFamily="34" charset="-122"/>
                          <a:cs typeface="Calibri" pitchFamily="34" charset="-120"/>
                        </a:rPr>
                        <a:t>Lap times/tire</a:t>
                      </a:r>
                      <a:endParaRPr lang="en-US" sz="850" dirty="0">
                        <a:latin typeface="Calibri" charset="0"/>
                        <a:ea typeface="Calibri" charset="0"/>
                        <a:cs typeface="Calibri" charset="0"/>
                      </a:endParaRPr>
                    </a:p>
                  </a:txBody>
                  <a:tcP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marL="0" indent="0">
                        <a:buNone/>
                      </a:pPr>
                      <a:r>
                        <a:rPr lang="en-US" sz="850" dirty="0">
                          <a:solidFill>
                            <a:srgbClr val="000000"/>
                          </a:solidFill>
                          <a:latin typeface="Calibri" pitchFamily="34" charset="0"/>
                          <a:ea typeface="Calibri" pitchFamily="34" charset="-122"/>
                          <a:cs typeface="Calibri" pitchFamily="34" charset="-120"/>
                        </a:rPr>
                        <a:t>Linear regression per stint</a:t>
                      </a:r>
                      <a:endParaRPr lang="en-US" sz="850" dirty="0">
                        <a:latin typeface="Calibri" charset="0"/>
                        <a:ea typeface="Calibri" charset="0"/>
                        <a:cs typeface="Calibri" charset="0"/>
                      </a:endParaRPr>
                    </a:p>
                  </a:txBody>
                  <a:tcP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marL="0" indent="0">
                        <a:buNone/>
                      </a:pPr>
                      <a:r>
                        <a:rPr lang="en-US" sz="850" dirty="0">
                          <a:solidFill>
                            <a:srgbClr val="000000"/>
                          </a:solidFill>
                          <a:latin typeface="Calibri" pitchFamily="34" charset="0"/>
                          <a:ea typeface="Calibri" pitchFamily="34" charset="-122"/>
                          <a:cs typeface="Calibri" pitchFamily="34" charset="-120"/>
                        </a:rPr>
                        <a:t>avg_tire_deg_slope</a:t>
                      </a:r>
                      <a:endParaRPr lang="en-US" sz="850" dirty="0">
                        <a:latin typeface="Calibri" charset="0"/>
                        <a:ea typeface="Calibri" charset="0"/>
                        <a:cs typeface="Calibri" charset="0"/>
                      </a:endParaRPr>
                    </a:p>
                  </a:txBody>
                  <a:tcP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marL="0" indent="0">
                        <a:buNone/>
                      </a:pPr>
                      <a:r>
                        <a:rPr lang="en-US" sz="850" dirty="0">
                          <a:solidFill>
                            <a:srgbClr val="000000"/>
                          </a:solidFill>
                          <a:latin typeface="Calibri" pitchFamily="34" charset="0"/>
                          <a:ea typeface="Calibri" pitchFamily="34" charset="-122"/>
                          <a:cs typeface="Calibri" pitchFamily="34" charset="-120"/>
                        </a:rPr>
                        <a:t>#7</a:t>
                      </a:r>
                      <a:endParaRPr lang="en-US" sz="850" dirty="0">
                        <a:latin typeface="Calibri" charset="0"/>
                        <a:ea typeface="Calibri" charset="0"/>
                        <a:cs typeface="Calibri" charset="0"/>
                      </a:endParaRPr>
                    </a:p>
                  </a:txBody>
                  <a:tcP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extLst>
                  <a:ext uri="{0D108BD9-81ED-4DB2-BD59-A6C34878D82A}">
                    <a16:rowId xmlns:a16="http://schemas.microsoft.com/office/drawing/2014/main" val="10005"/>
                  </a:ext>
                </a:extLst>
              </a:tr>
              <a:tr h="228600">
                <a:tc>
                  <a:txBody>
                    <a:bodyPr/>
                    <a:lstStyle/>
                    <a:p>
                      <a:pPr marL="0" indent="0">
                        <a:buNone/>
                      </a:pPr>
                      <a:r>
                        <a:rPr lang="en-US" sz="850" dirty="0">
                          <a:solidFill>
                            <a:srgbClr val="000000"/>
                          </a:solidFill>
                          <a:latin typeface="Calibri" pitchFamily="34" charset="0"/>
                          <a:ea typeface="Calibri" pitchFamily="34" charset="-122"/>
                          <a:cs typeface="Calibri" pitchFamily="34" charset="-120"/>
                        </a:rPr>
                        <a:t>Weather API</a:t>
                      </a:r>
                      <a:endParaRPr lang="en-US" sz="850" dirty="0">
                        <a:latin typeface="Calibri" charset="0"/>
                        <a:ea typeface="Calibri" charset="0"/>
                        <a:cs typeface="Calibri" charset="0"/>
                      </a:endParaRPr>
                    </a:p>
                  </a:txBody>
                  <a:tcP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marL="0" indent="0">
                        <a:buNone/>
                      </a:pPr>
                      <a:r>
                        <a:rPr lang="en-US" sz="850" dirty="0">
                          <a:solidFill>
                            <a:srgbClr val="000000"/>
                          </a:solidFill>
                          <a:latin typeface="Calibri" pitchFamily="34" charset="0"/>
                          <a:ea typeface="Calibri" pitchFamily="34" charset="-122"/>
                          <a:cs typeface="Calibri" pitchFamily="34" charset="-120"/>
                        </a:rPr>
                        <a:t>AVG temp per session</a:t>
                      </a:r>
                      <a:endParaRPr lang="en-US" sz="850" dirty="0">
                        <a:latin typeface="Calibri" charset="0"/>
                        <a:ea typeface="Calibri" charset="0"/>
                        <a:cs typeface="Calibri" charset="0"/>
                      </a:endParaRPr>
                    </a:p>
                  </a:txBody>
                  <a:tcP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marL="0" indent="0">
                        <a:buNone/>
                      </a:pPr>
                      <a:r>
                        <a:rPr lang="en-US" sz="850" dirty="0">
                          <a:solidFill>
                            <a:srgbClr val="000000"/>
                          </a:solidFill>
                          <a:latin typeface="Calibri" pitchFamily="34" charset="0"/>
                          <a:ea typeface="Calibri" pitchFamily="34" charset="-122"/>
                          <a:cs typeface="Calibri" pitchFamily="34" charset="-120"/>
                        </a:rPr>
                        <a:t>avg_track_temp</a:t>
                      </a:r>
                      <a:endParaRPr lang="en-US" sz="850" dirty="0">
                        <a:latin typeface="Calibri" charset="0"/>
                        <a:ea typeface="Calibri" charset="0"/>
                        <a:cs typeface="Calibri" charset="0"/>
                      </a:endParaRPr>
                    </a:p>
                  </a:txBody>
                  <a:tcP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marL="0" indent="0">
                        <a:buNone/>
                      </a:pPr>
                      <a:r>
                        <a:rPr lang="en-US" sz="850" dirty="0">
                          <a:solidFill>
                            <a:srgbClr val="000000"/>
                          </a:solidFill>
                          <a:latin typeface="Calibri" pitchFamily="34" charset="0"/>
                          <a:ea typeface="Calibri" pitchFamily="34" charset="-122"/>
                          <a:cs typeface="Calibri" pitchFamily="34" charset="-120"/>
                        </a:rPr>
                        <a:t>#12</a:t>
                      </a:r>
                      <a:endParaRPr lang="en-US" sz="850" dirty="0">
                        <a:latin typeface="Calibri" charset="0"/>
                        <a:ea typeface="Calibri" charset="0"/>
                        <a:cs typeface="Calibri" charset="0"/>
                      </a:endParaRPr>
                    </a:p>
                  </a:txBody>
                  <a:tcP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
        <p:nvSpPr>
          <p:cNvPr id="35" name="Text 31"/>
          <p:cNvSpPr/>
          <p:nvPr/>
        </p:nvSpPr>
        <p:spPr>
          <a:xfrm>
            <a:off x="457200" y="4709160"/>
            <a:ext cx="6400800" cy="365760"/>
          </a:xfrm>
          <a:prstGeom prst="rect">
            <a:avLst/>
          </a:prstGeom>
          <a:noFill/>
          <a:ln/>
        </p:spPr>
        <p:txBody>
          <a:bodyPr wrap="square" rtlCol="0" anchor="ctr"/>
          <a:lstStyle/>
          <a:p>
            <a:pPr marL="0" indent="0">
              <a:buNone/>
            </a:pPr>
            <a:r>
              <a:rPr lang="en-US" sz="900" dirty="0">
                <a:solidFill>
                  <a:srgbClr val="949594"/>
                </a:solidFill>
                <a:latin typeface="Calibri" pitchFamily="34" charset="0"/>
                <a:ea typeface="Calibri" pitchFamily="34" charset="-122"/>
                <a:cs typeface="Calibri" pitchFamily="34" charset="-120"/>
              </a:rPr>
              <a:t>Speaker 1 — Problem &amp; Architecture</a:t>
            </a:r>
            <a:endParaRPr lang="en-US" sz="900" dirty="0"/>
          </a:p>
        </p:txBody>
      </p:sp>
      <p:sp>
        <p:nvSpPr>
          <p:cNvPr id="36" name="Text 32"/>
          <p:cNvSpPr/>
          <p:nvPr/>
        </p:nvSpPr>
        <p:spPr>
          <a:xfrm>
            <a:off x="8412480" y="4709160"/>
            <a:ext cx="548640" cy="365760"/>
          </a:xfrm>
          <a:prstGeom prst="rect">
            <a:avLst/>
          </a:prstGeom>
          <a:noFill/>
          <a:ln/>
        </p:spPr>
        <p:txBody>
          <a:bodyPr wrap="square" rtlCol="0" anchor="ctr"/>
          <a:lstStyle/>
          <a:p>
            <a:pPr marL="0" indent="0" algn="r">
              <a:buNone/>
            </a:pPr>
            <a:r>
              <a:rPr lang="en-US" sz="900" dirty="0">
                <a:solidFill>
                  <a:srgbClr val="949594"/>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A1A2E"/>
        </a:solidFill>
        <a:effectLst/>
      </p:bgPr>
    </p:bg>
    <p:spTree>
      <p:nvGrpSpPr>
        <p:cNvPr id="1" name=""/>
        <p:cNvGrpSpPr/>
        <p:nvPr/>
      </p:nvGrpSpPr>
      <p:grpSpPr>
        <a:xfrm>
          <a:off x="0" y="0"/>
          <a:ext cx="0" cy="0"/>
          <a:chOff x="0" y="0"/>
          <a:chExt cx="0" cy="0"/>
        </a:xfrm>
      </p:grpSpPr>
      <p:sp>
        <p:nvSpPr>
          <p:cNvPr id="2" name="Shape 0"/>
          <p:cNvSpPr/>
          <p:nvPr/>
        </p:nvSpPr>
        <p:spPr>
          <a:xfrm>
            <a:off x="0" y="2011680"/>
            <a:ext cx="9144000" cy="36576"/>
          </a:xfrm>
          <a:prstGeom prst="rect">
            <a:avLst/>
          </a:prstGeom>
          <a:solidFill>
            <a:srgbClr val="C41E1E"/>
          </a:solidFill>
          <a:ln/>
        </p:spPr>
        <p:txBody>
          <a:bodyPr/>
          <a:lstStyle/>
          <a:p>
            <a:endParaRPr lang="en-US"/>
          </a:p>
        </p:txBody>
      </p:sp>
      <p:sp>
        <p:nvSpPr>
          <p:cNvPr id="3" name="Text 1"/>
          <p:cNvSpPr/>
          <p:nvPr/>
        </p:nvSpPr>
        <p:spPr>
          <a:xfrm>
            <a:off x="731520" y="914400"/>
            <a:ext cx="7315200" cy="731520"/>
          </a:xfrm>
          <a:prstGeom prst="rect">
            <a:avLst/>
          </a:prstGeom>
          <a:noFill/>
          <a:ln/>
        </p:spPr>
        <p:txBody>
          <a:bodyPr wrap="square" lIns="0" tIns="0" rIns="0" bIns="0" rtlCol="0" anchor="ctr"/>
          <a:lstStyle/>
          <a:p>
            <a:pPr marL="0" indent="0">
              <a:buNone/>
            </a:pPr>
            <a:r>
              <a:rPr lang="en-US" sz="5600" b="1" dirty="0">
                <a:solidFill>
                  <a:srgbClr val="C41E1E"/>
                </a:solidFill>
                <a:latin typeface="Georgia" pitchFamily="34" charset="0"/>
                <a:ea typeface="Georgia" pitchFamily="34" charset="-122"/>
                <a:cs typeface="Georgia" pitchFamily="34" charset="-120"/>
              </a:rPr>
              <a:t>02</a:t>
            </a:r>
            <a:endParaRPr lang="en-US" sz="5600" dirty="0"/>
          </a:p>
        </p:txBody>
      </p:sp>
      <p:sp>
        <p:nvSpPr>
          <p:cNvPr id="4" name="Text 2"/>
          <p:cNvSpPr/>
          <p:nvPr/>
        </p:nvSpPr>
        <p:spPr>
          <a:xfrm>
            <a:off x="731520" y="2286000"/>
            <a:ext cx="7315200" cy="731520"/>
          </a:xfrm>
          <a:prstGeom prst="rect">
            <a:avLst/>
          </a:prstGeom>
          <a:noFill/>
          <a:ln/>
        </p:spPr>
        <p:txBody>
          <a:bodyPr wrap="square" lIns="0" tIns="0" rIns="0" bIns="0" rtlCol="0" anchor="ctr"/>
          <a:lstStyle/>
          <a:p>
            <a:pPr marL="0" indent="0">
              <a:buNone/>
            </a:pPr>
            <a:r>
              <a:rPr lang="en-US" sz="3000" b="1" dirty="0">
                <a:solidFill>
                  <a:srgbClr val="FFFFFF"/>
                </a:solidFill>
                <a:latin typeface="Georgia" pitchFamily="34" charset="0"/>
                <a:ea typeface="Georgia" pitchFamily="34" charset="-122"/>
                <a:cs typeface="Georgia" pitchFamily="34" charset="-120"/>
              </a:rPr>
              <a:t>Data &amp; ML Models</a:t>
            </a:r>
            <a:endParaRPr lang="en-US" sz="3000" dirty="0"/>
          </a:p>
        </p:txBody>
      </p:sp>
      <p:sp>
        <p:nvSpPr>
          <p:cNvPr id="5" name="Text 3"/>
          <p:cNvSpPr/>
          <p:nvPr/>
        </p:nvSpPr>
        <p:spPr>
          <a:xfrm>
            <a:off x="731520" y="3108960"/>
            <a:ext cx="7315200" cy="457200"/>
          </a:xfrm>
          <a:prstGeom prst="rect">
            <a:avLst/>
          </a:prstGeom>
          <a:noFill/>
          <a:ln/>
        </p:spPr>
        <p:txBody>
          <a:bodyPr wrap="square" lIns="0" tIns="0" rIns="0" bIns="0" rtlCol="0" anchor="ctr"/>
          <a:lstStyle/>
          <a:p>
            <a:pPr marL="0" indent="0">
              <a:buNone/>
            </a:pPr>
            <a:r>
              <a:rPr lang="en-US" sz="1300" dirty="0">
                <a:solidFill>
                  <a:srgbClr val="949594"/>
                </a:solidFill>
                <a:latin typeface="Calibri" pitchFamily="34" charset="0"/>
                <a:ea typeface="Calibri" pitchFamily="34" charset="-122"/>
                <a:cs typeface="Calibri" pitchFamily="34" charset="-120"/>
              </a:rPr>
              <a:t>Speaker 2 — Tire Impact, Weather Impact, 3 Models Compared</a:t>
            </a:r>
            <a:endParaRPr lang="en-US" sz="1300" dirty="0"/>
          </a:p>
        </p:txBody>
      </p:sp>
      <p:pic>
        <p:nvPicPr>
          <p:cNvPr id="6" name="Image 0" descr="preencoded.png"/>
          <p:cNvPicPr>
            <a:picLocks noChangeAspect="1"/>
          </p:cNvPicPr>
          <p:nvPr/>
        </p:nvPicPr>
        <p:blipFill>
          <a:blip r:embed="rId3"/>
          <a:stretch>
            <a:fillRect/>
          </a:stretch>
        </p:blipFill>
        <p:spPr>
          <a:xfrm>
            <a:off x="7772400" y="4114800"/>
            <a:ext cx="548640" cy="54864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5F5"/>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C41E1E"/>
          </a:solidFill>
          <a:ln/>
        </p:spPr>
        <p:txBody>
          <a:bodyPr/>
          <a:lstStyle/>
          <a:p>
            <a:endParaRPr lang="en-US"/>
          </a:p>
        </p:txBody>
      </p:sp>
      <p:sp>
        <p:nvSpPr>
          <p:cNvPr id="3" name="Shape 1"/>
          <p:cNvSpPr/>
          <p:nvPr/>
        </p:nvSpPr>
        <p:spPr>
          <a:xfrm>
            <a:off x="8778240" y="0"/>
            <a:ext cx="137160" cy="5143500"/>
          </a:xfrm>
          <a:prstGeom prst="rect">
            <a:avLst/>
          </a:prstGeom>
          <a:solidFill>
            <a:srgbClr val="C41E1E"/>
          </a:solidFill>
          <a:ln/>
        </p:spPr>
        <p:txBody>
          <a:bodyPr/>
          <a:lstStyle/>
          <a:p>
            <a:endParaRPr lang="en-US"/>
          </a:p>
        </p:txBody>
      </p:sp>
      <p:sp>
        <p:nvSpPr>
          <p:cNvPr id="4" name="Shape 2"/>
          <p:cNvSpPr/>
          <p:nvPr/>
        </p:nvSpPr>
        <p:spPr>
          <a:xfrm>
            <a:off x="8961120" y="0"/>
            <a:ext cx="73152" cy="5143500"/>
          </a:xfrm>
          <a:prstGeom prst="rect">
            <a:avLst/>
          </a:prstGeom>
          <a:solidFill>
            <a:srgbClr val="C41E1E">
              <a:alpha val="40000"/>
            </a:srgbClr>
          </a:solidFill>
          <a:ln/>
        </p:spPr>
        <p:txBody>
          <a:bodyPr/>
          <a:lstStyle/>
          <a:p>
            <a:endParaRPr lang="en-US"/>
          </a:p>
        </p:txBody>
      </p:sp>
      <p:sp>
        <p:nvSpPr>
          <p:cNvPr id="5" name="Text 3"/>
          <p:cNvSpPr/>
          <p:nvPr/>
        </p:nvSpPr>
        <p:spPr>
          <a:xfrm>
            <a:off x="731520" y="182880"/>
            <a:ext cx="7315200" cy="548640"/>
          </a:xfrm>
          <a:prstGeom prst="rect">
            <a:avLst/>
          </a:prstGeom>
          <a:noFill/>
          <a:ln/>
        </p:spPr>
        <p:txBody>
          <a:bodyPr wrap="square" lIns="0" tIns="0" rIns="0" bIns="0" rtlCol="0" anchor="ctr"/>
          <a:lstStyle/>
          <a:p>
            <a:pPr marL="0" indent="0">
              <a:buNone/>
            </a:pPr>
            <a:r>
              <a:rPr lang="en-US" sz="2800" b="1" dirty="0">
                <a:solidFill>
                  <a:srgbClr val="1A1A2E"/>
                </a:solidFill>
                <a:latin typeface="Georgia" pitchFamily="34" charset="0"/>
                <a:ea typeface="Georgia" pitchFamily="34" charset="-122"/>
                <a:cs typeface="Georgia" pitchFamily="34" charset="-120"/>
              </a:rPr>
              <a:t>Data Sources &amp; Volume</a:t>
            </a:r>
            <a:endParaRPr lang="en-US" sz="28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365760" y="914400"/>
          <a:ext cx="8321040" cy="914400"/>
        </p:xfrm>
        <a:graphic>
          <a:graphicData uri="http://schemas.openxmlformats.org/drawingml/2006/table">
            <a:tbl>
              <a:tblPr/>
              <a:tblGrid>
                <a:gridCol w="1828800">
                  <a:extLst>
                    <a:ext uri="{9D8B030D-6E8A-4147-A177-3AD203B41FA5}">
                      <a16:colId xmlns:a16="http://schemas.microsoft.com/office/drawing/2014/main" val="20000"/>
                    </a:ext>
                  </a:extLst>
                </a:gridCol>
                <a:gridCol w="2286000">
                  <a:extLst>
                    <a:ext uri="{9D8B030D-6E8A-4147-A177-3AD203B41FA5}">
                      <a16:colId xmlns:a16="http://schemas.microsoft.com/office/drawing/2014/main" val="20001"/>
                    </a:ext>
                  </a:extLst>
                </a:gridCol>
                <a:gridCol w="2011680">
                  <a:extLst>
                    <a:ext uri="{9D8B030D-6E8A-4147-A177-3AD203B41FA5}">
                      <a16:colId xmlns:a16="http://schemas.microsoft.com/office/drawing/2014/main" val="20002"/>
                    </a:ext>
                  </a:extLst>
                </a:gridCol>
                <a:gridCol w="1371600">
                  <a:extLst>
                    <a:ext uri="{9D8B030D-6E8A-4147-A177-3AD203B41FA5}">
                      <a16:colId xmlns:a16="http://schemas.microsoft.com/office/drawing/2014/main" val="20003"/>
                    </a:ext>
                  </a:extLst>
                </a:gridCol>
              </a:tblGrid>
              <a:tr h="320040">
                <a:tc>
                  <a:txBody>
                    <a:bodyPr/>
                    <a:lstStyle/>
                    <a:p>
                      <a:pPr marL="0" indent="0">
                        <a:buNone/>
                      </a:pPr>
                      <a:r>
                        <a:rPr lang="en-US" sz="950" b="1" dirty="0">
                          <a:solidFill>
                            <a:srgbClr val="FFFFFF"/>
                          </a:solidFill>
                          <a:latin typeface="Calibri" pitchFamily="34" charset="0"/>
                          <a:ea typeface="Calibri" pitchFamily="34" charset="-122"/>
                          <a:cs typeface="Calibri" pitchFamily="34" charset="-120"/>
                        </a:rPr>
                        <a:t>Source</a:t>
                      </a:r>
                      <a:endParaRPr lang="en-US" sz="950" dirty="0">
                        <a:latin typeface="Calibri" charset="0"/>
                        <a:ea typeface="Calibri" charset="0"/>
                        <a:cs typeface="Calibri" charset="0"/>
                      </a:endParaRPr>
                    </a:p>
                  </a:txBody>
                  <a:tcP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C41E1E"/>
                    </a:solidFill>
                  </a:tcPr>
                </a:tc>
                <a:tc>
                  <a:txBody>
                    <a:bodyPr/>
                    <a:lstStyle/>
                    <a:p>
                      <a:pPr marL="0" indent="0">
                        <a:buNone/>
                      </a:pPr>
                      <a:r>
                        <a:rPr lang="en-US" sz="950" b="1" dirty="0">
                          <a:solidFill>
                            <a:srgbClr val="FFFFFF"/>
                          </a:solidFill>
                          <a:latin typeface="Calibri" pitchFamily="34" charset="0"/>
                          <a:ea typeface="Calibri" pitchFamily="34" charset="-122"/>
                          <a:cs typeface="Calibri" pitchFamily="34" charset="-120"/>
                        </a:rPr>
                        <a:t>Data Types</a:t>
                      </a:r>
                      <a:endParaRPr lang="en-US" sz="950" dirty="0">
                        <a:latin typeface="Calibri" charset="0"/>
                        <a:ea typeface="Calibri" charset="0"/>
                        <a:cs typeface="Calibri" charset="0"/>
                      </a:endParaRPr>
                    </a:p>
                  </a:txBody>
                  <a:tcP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C41E1E"/>
                    </a:solidFill>
                  </a:tcPr>
                </a:tc>
                <a:tc>
                  <a:txBody>
                    <a:bodyPr/>
                    <a:lstStyle/>
                    <a:p>
                      <a:pPr marL="0" indent="0">
                        <a:buNone/>
                      </a:pPr>
                      <a:r>
                        <a:rPr lang="en-US" sz="950" b="1" dirty="0">
                          <a:solidFill>
                            <a:srgbClr val="FFFFFF"/>
                          </a:solidFill>
                          <a:latin typeface="Calibri" pitchFamily="34" charset="0"/>
                          <a:ea typeface="Calibri" pitchFamily="34" charset="-122"/>
                          <a:cs typeface="Calibri" pitchFamily="34" charset="-120"/>
                        </a:rPr>
                        <a:t>Volume</a:t>
                      </a:r>
                      <a:endParaRPr lang="en-US" sz="950" dirty="0">
                        <a:latin typeface="Calibri" charset="0"/>
                        <a:ea typeface="Calibri" charset="0"/>
                        <a:cs typeface="Calibri" charset="0"/>
                      </a:endParaRPr>
                    </a:p>
                  </a:txBody>
                  <a:tcP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C41E1E"/>
                    </a:solidFill>
                  </a:tcPr>
                </a:tc>
                <a:tc>
                  <a:txBody>
                    <a:bodyPr/>
                    <a:lstStyle/>
                    <a:p>
                      <a:pPr marL="0" indent="0">
                        <a:buNone/>
                      </a:pPr>
                      <a:r>
                        <a:rPr lang="en-US" sz="950" b="1" dirty="0">
                          <a:solidFill>
                            <a:srgbClr val="FFFFFF"/>
                          </a:solidFill>
                          <a:latin typeface="Calibri" pitchFamily="34" charset="0"/>
                          <a:ea typeface="Calibri" pitchFamily="34" charset="-122"/>
                          <a:cs typeface="Calibri" pitchFamily="34" charset="-120"/>
                        </a:rPr>
                        <a:t>Phase</a:t>
                      </a:r>
                      <a:endParaRPr lang="en-US" sz="950" dirty="0">
                        <a:latin typeface="Calibri" charset="0"/>
                        <a:ea typeface="Calibri" charset="0"/>
                        <a:cs typeface="Calibri" charset="0"/>
                      </a:endParaRPr>
                    </a:p>
                  </a:txBody>
                  <a:tcP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C41E1E"/>
                    </a:solidFill>
                  </a:tcPr>
                </a:tc>
                <a:extLst>
                  <a:ext uri="{0D108BD9-81ED-4DB2-BD59-A6C34878D82A}">
                    <a16:rowId xmlns:a16="http://schemas.microsoft.com/office/drawing/2014/main" val="10000"/>
                  </a:ext>
                </a:extLst>
              </a:tr>
              <a:tr h="502920">
                <a:tc>
                  <a:txBody>
                    <a:bodyPr/>
                    <a:lstStyle/>
                    <a:p>
                      <a:pPr marL="0" indent="0">
                        <a:buNone/>
                      </a:pPr>
                      <a:r>
                        <a:rPr lang="en-US" sz="950" dirty="0">
                          <a:solidFill>
                            <a:srgbClr val="000000"/>
                          </a:solidFill>
                          <a:latin typeface="Calibri" pitchFamily="34" charset="0"/>
                          <a:ea typeface="Calibri" pitchFamily="34" charset="-122"/>
                          <a:cs typeface="Calibri" pitchFamily="34" charset="-120"/>
                        </a:rPr>
                        <a:t>Jolpica API</a:t>
                      </a:r>
                      <a:endParaRPr lang="en-US" sz="950" dirty="0">
                        <a:latin typeface="Calibri" charset="0"/>
                        <a:ea typeface="Calibri" charset="0"/>
                        <a:cs typeface="Calibri" charset="0"/>
                      </a:endParaRPr>
                    </a:p>
                    <a:p>
                      <a:pPr marL="0" indent="0">
                        <a:buNone/>
                      </a:pPr>
                      <a:r>
                        <a:rPr lang="en-US" sz="950" dirty="0">
                          <a:solidFill>
                            <a:srgbClr val="000000"/>
                          </a:solidFill>
                          <a:latin typeface="Calibri" pitchFamily="34" charset="0"/>
                          <a:ea typeface="Calibri" pitchFamily="34" charset="-122"/>
                          <a:cs typeface="Calibri" pitchFamily="34" charset="-120"/>
                        </a:rPr>
                        <a:t>(Ergast replacement)</a:t>
                      </a:r>
                      <a:endParaRPr lang="en-US" sz="950" dirty="0">
                        <a:latin typeface="Calibri" charset="0"/>
                        <a:ea typeface="Calibri" charset="0"/>
                        <a:cs typeface="Calibri" charset="0"/>
                      </a:endParaRPr>
                    </a:p>
                  </a:txBody>
                  <a:tcP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marL="0" indent="0">
                        <a:buNone/>
                      </a:pPr>
                      <a:r>
                        <a:rPr lang="en-US" sz="950" dirty="0">
                          <a:solidFill>
                            <a:srgbClr val="000000"/>
                          </a:solidFill>
                          <a:latin typeface="Calibri" pitchFamily="34" charset="0"/>
                          <a:ea typeface="Calibri" pitchFamily="34" charset="-122"/>
                          <a:cs typeface="Calibri" pitchFamily="34" charset="-120"/>
                        </a:rPr>
                        <a:t>Race results, qualifying,</a:t>
                      </a:r>
                      <a:endParaRPr lang="en-US" sz="950" dirty="0">
                        <a:latin typeface="Calibri" charset="0"/>
                        <a:ea typeface="Calibri" charset="0"/>
                        <a:cs typeface="Calibri" charset="0"/>
                      </a:endParaRPr>
                    </a:p>
                    <a:p>
                      <a:pPr marL="0" indent="0">
                        <a:buNone/>
                      </a:pPr>
                      <a:r>
                        <a:rPr lang="en-US" sz="950" dirty="0">
                          <a:solidFill>
                            <a:srgbClr val="000000"/>
                          </a:solidFill>
                          <a:latin typeface="Calibri" pitchFamily="34" charset="0"/>
                          <a:ea typeface="Calibri" pitchFamily="34" charset="-122"/>
                          <a:cs typeface="Calibri" pitchFamily="34" charset="-120"/>
                        </a:rPr>
                        <a:t>pit stops, standings</a:t>
                      </a:r>
                      <a:endParaRPr lang="en-US" sz="950" dirty="0">
                        <a:latin typeface="Calibri" charset="0"/>
                        <a:ea typeface="Calibri" charset="0"/>
                        <a:cs typeface="Calibri" charset="0"/>
                      </a:endParaRPr>
                    </a:p>
                  </a:txBody>
                  <a:tcP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marL="0" indent="0">
                        <a:buNone/>
                      </a:pPr>
                      <a:r>
                        <a:rPr lang="en-US" sz="950" dirty="0">
                          <a:solidFill>
                            <a:srgbClr val="000000"/>
                          </a:solidFill>
                          <a:latin typeface="Calibri" pitchFamily="34" charset="0"/>
                          <a:ea typeface="Calibri" pitchFamily="34" charset="-122"/>
                          <a:cs typeface="Calibri" pitchFamily="34" charset="-120"/>
                        </a:rPr>
                        <a:t>3,524 + 3,518 +</a:t>
                      </a:r>
                      <a:endParaRPr lang="en-US" sz="950" dirty="0">
                        <a:latin typeface="Calibri" charset="0"/>
                        <a:ea typeface="Calibri" charset="0"/>
                        <a:cs typeface="Calibri" charset="0"/>
                      </a:endParaRPr>
                    </a:p>
                    <a:p>
                      <a:pPr marL="0" indent="0">
                        <a:buNone/>
                      </a:pPr>
                      <a:r>
                        <a:rPr lang="en-US" sz="950" dirty="0">
                          <a:solidFill>
                            <a:srgbClr val="000000"/>
                          </a:solidFill>
                          <a:latin typeface="Calibri" pitchFamily="34" charset="0"/>
                          <a:ea typeface="Calibri" pitchFamily="34" charset="-122"/>
                          <a:cs typeface="Calibri" pitchFamily="34" charset="-120"/>
                        </a:rPr>
                        <a:t>5,674 + 195 records</a:t>
                      </a:r>
                      <a:endParaRPr lang="en-US" sz="950" dirty="0">
                        <a:latin typeface="Calibri" charset="0"/>
                        <a:ea typeface="Calibri" charset="0"/>
                        <a:cs typeface="Calibri" charset="0"/>
                      </a:endParaRPr>
                    </a:p>
                  </a:txBody>
                  <a:tcP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marL="0" indent="0">
                        <a:buNone/>
                      </a:pPr>
                      <a:r>
                        <a:rPr lang="en-US" sz="950" dirty="0">
                          <a:solidFill>
                            <a:srgbClr val="000000"/>
                          </a:solidFill>
                          <a:latin typeface="Calibri" pitchFamily="34" charset="0"/>
                          <a:ea typeface="Calibri" pitchFamily="34" charset="-122"/>
                          <a:cs typeface="Calibri" pitchFamily="34" charset="-120"/>
                        </a:rPr>
                        <a:t>Phase 1</a:t>
                      </a:r>
                      <a:endParaRPr lang="en-US" sz="950" dirty="0">
                        <a:latin typeface="Calibri" charset="0"/>
                        <a:ea typeface="Calibri" charset="0"/>
                        <a:cs typeface="Calibri" charset="0"/>
                      </a:endParaRPr>
                    </a:p>
                  </a:txBody>
                  <a:tcP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extLst>
                  <a:ext uri="{0D108BD9-81ED-4DB2-BD59-A6C34878D82A}">
                    <a16:rowId xmlns:a16="http://schemas.microsoft.com/office/drawing/2014/main" val="10001"/>
                  </a:ext>
                </a:extLst>
              </a:tr>
              <a:tr h="502920">
                <a:tc>
                  <a:txBody>
                    <a:bodyPr/>
                    <a:lstStyle/>
                    <a:p>
                      <a:pPr marL="0" indent="0">
                        <a:buNone/>
                      </a:pPr>
                      <a:r>
                        <a:rPr lang="en-US" sz="950" dirty="0">
                          <a:solidFill>
                            <a:srgbClr val="000000"/>
                          </a:solidFill>
                          <a:latin typeface="Calibri" pitchFamily="34" charset="0"/>
                          <a:ea typeface="Calibri" pitchFamily="34" charset="-122"/>
                          <a:cs typeface="Calibri" pitchFamily="34" charset="-120"/>
                        </a:rPr>
                        <a:t>FastF1</a:t>
                      </a:r>
                      <a:endParaRPr lang="en-US" sz="950" dirty="0">
                        <a:latin typeface="Calibri" charset="0"/>
                        <a:ea typeface="Calibri" charset="0"/>
                        <a:cs typeface="Calibri" charset="0"/>
                      </a:endParaRPr>
                    </a:p>
                    <a:p>
                      <a:pPr marL="0" indent="0">
                        <a:buNone/>
                      </a:pPr>
                      <a:r>
                        <a:rPr lang="en-US" sz="950" dirty="0">
                          <a:solidFill>
                            <a:srgbClr val="000000"/>
                          </a:solidFill>
                          <a:latin typeface="Calibri" pitchFamily="34" charset="0"/>
                          <a:ea typeface="Calibri" pitchFamily="34" charset="-122"/>
                          <a:cs typeface="Calibri" pitchFamily="34" charset="-120"/>
                        </a:rPr>
                        <a:t>(Lap Telemetry)</a:t>
                      </a:r>
                      <a:endParaRPr lang="en-US" sz="950" dirty="0">
                        <a:latin typeface="Calibri" charset="0"/>
                        <a:ea typeface="Calibri" charset="0"/>
                        <a:cs typeface="Calibri" charset="0"/>
                      </a:endParaRPr>
                    </a:p>
                  </a:txBody>
                  <a:tcP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marL="0" indent="0">
                        <a:buNone/>
                      </a:pPr>
                      <a:r>
                        <a:rPr lang="en-US" sz="950" dirty="0">
                          <a:solidFill>
                            <a:srgbClr val="000000"/>
                          </a:solidFill>
                          <a:latin typeface="Calibri" pitchFamily="34" charset="0"/>
                          <a:ea typeface="Calibri" pitchFamily="34" charset="-122"/>
                          <a:cs typeface="Calibri" pitchFamily="34" charset="-120"/>
                        </a:rPr>
                        <a:t>Individual lap times,</a:t>
                      </a:r>
                      <a:endParaRPr lang="en-US" sz="950" dirty="0">
                        <a:latin typeface="Calibri" charset="0"/>
                        <a:ea typeface="Calibri" charset="0"/>
                        <a:cs typeface="Calibri" charset="0"/>
                      </a:endParaRPr>
                    </a:p>
                    <a:p>
                      <a:pPr marL="0" indent="0">
                        <a:buNone/>
                      </a:pPr>
                      <a:r>
                        <a:rPr lang="en-US" sz="950" dirty="0">
                          <a:solidFill>
                            <a:srgbClr val="000000"/>
                          </a:solidFill>
                          <a:latin typeface="Calibri" pitchFamily="34" charset="0"/>
                          <a:ea typeface="Calibri" pitchFamily="34" charset="-122"/>
                          <a:cs typeface="Calibri" pitchFamily="34" charset="-120"/>
                        </a:rPr>
                        <a:t>tire compounds, stints</a:t>
                      </a:r>
                      <a:endParaRPr lang="en-US" sz="950" dirty="0">
                        <a:latin typeface="Calibri" charset="0"/>
                        <a:ea typeface="Calibri" charset="0"/>
                        <a:cs typeface="Calibri" charset="0"/>
                      </a:endParaRPr>
                    </a:p>
                  </a:txBody>
                  <a:tcP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marL="0" indent="0">
                        <a:buNone/>
                      </a:pPr>
                      <a:r>
                        <a:rPr lang="en-US" sz="950" dirty="0">
                          <a:solidFill>
                            <a:srgbClr val="000000"/>
                          </a:solidFill>
                          <a:latin typeface="Calibri" pitchFamily="34" charset="0"/>
                          <a:ea typeface="Calibri" pitchFamily="34" charset="-122"/>
                          <a:cs typeface="Calibri" pitchFamily="34" charset="-120"/>
                        </a:rPr>
                        <a:t>181,721 laps +</a:t>
                      </a:r>
                      <a:endParaRPr lang="en-US" sz="950" dirty="0">
                        <a:latin typeface="Calibri" charset="0"/>
                        <a:ea typeface="Calibri" charset="0"/>
                        <a:cs typeface="Calibri" charset="0"/>
                      </a:endParaRPr>
                    </a:p>
                    <a:p>
                      <a:pPr marL="0" indent="0">
                        <a:buNone/>
                      </a:pPr>
                      <a:r>
                        <a:rPr lang="en-US" sz="950" dirty="0">
                          <a:solidFill>
                            <a:srgbClr val="000000"/>
                          </a:solidFill>
                          <a:latin typeface="Calibri" pitchFamily="34" charset="0"/>
                          <a:ea typeface="Calibri" pitchFamily="34" charset="-122"/>
                          <a:cs typeface="Calibri" pitchFamily="34" charset="-120"/>
                        </a:rPr>
                        <a:t>7,996 tire records</a:t>
                      </a:r>
                      <a:endParaRPr lang="en-US" sz="950" dirty="0">
                        <a:latin typeface="Calibri" charset="0"/>
                        <a:ea typeface="Calibri" charset="0"/>
                        <a:cs typeface="Calibri" charset="0"/>
                      </a:endParaRPr>
                    </a:p>
                  </a:txBody>
                  <a:tcP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marL="0" indent="0">
                        <a:buNone/>
                      </a:pPr>
                      <a:r>
                        <a:rPr lang="en-US" sz="950" dirty="0">
                          <a:solidFill>
                            <a:srgbClr val="000000"/>
                          </a:solidFill>
                          <a:latin typeface="Calibri" pitchFamily="34" charset="0"/>
                          <a:ea typeface="Calibri" pitchFamily="34" charset="-122"/>
                          <a:cs typeface="Calibri" pitchFamily="34" charset="-120"/>
                        </a:rPr>
                        <a:t>Phase 2</a:t>
                      </a:r>
                      <a:endParaRPr lang="en-US" sz="950" dirty="0">
                        <a:latin typeface="Calibri" charset="0"/>
                        <a:ea typeface="Calibri" charset="0"/>
                        <a:cs typeface="Calibri" charset="0"/>
                      </a:endParaRPr>
                    </a:p>
                  </a:txBody>
                  <a:tcP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extLst>
                  <a:ext uri="{0D108BD9-81ED-4DB2-BD59-A6C34878D82A}">
                    <a16:rowId xmlns:a16="http://schemas.microsoft.com/office/drawing/2014/main" val="10002"/>
                  </a:ext>
                </a:extLst>
              </a:tr>
              <a:tr h="502920">
                <a:tc>
                  <a:txBody>
                    <a:bodyPr/>
                    <a:lstStyle/>
                    <a:p>
                      <a:pPr marL="0" indent="0">
                        <a:buNone/>
                      </a:pPr>
                      <a:r>
                        <a:rPr lang="en-US" sz="950" dirty="0">
                          <a:solidFill>
                            <a:srgbClr val="000000"/>
                          </a:solidFill>
                          <a:latin typeface="Calibri" pitchFamily="34" charset="0"/>
                          <a:ea typeface="Calibri" pitchFamily="34" charset="-122"/>
                          <a:cs typeface="Calibri" pitchFamily="34" charset="-120"/>
                        </a:rPr>
                        <a:t>FastF1</a:t>
                      </a:r>
                      <a:endParaRPr lang="en-US" sz="950" dirty="0">
                        <a:latin typeface="Calibri" charset="0"/>
                        <a:ea typeface="Calibri" charset="0"/>
                        <a:cs typeface="Calibri" charset="0"/>
                      </a:endParaRPr>
                    </a:p>
                    <a:p>
                      <a:pPr marL="0" indent="0">
                        <a:buNone/>
                      </a:pPr>
                      <a:r>
                        <a:rPr lang="en-US" sz="950" dirty="0">
                          <a:solidFill>
                            <a:srgbClr val="000000"/>
                          </a:solidFill>
                          <a:latin typeface="Calibri" pitchFamily="34" charset="0"/>
                          <a:ea typeface="Calibri" pitchFamily="34" charset="-122"/>
                          <a:cs typeface="Calibri" pitchFamily="34" charset="-120"/>
                        </a:rPr>
                        <a:t>(Weather)</a:t>
                      </a:r>
                      <a:endParaRPr lang="en-US" sz="950" dirty="0">
                        <a:latin typeface="Calibri" charset="0"/>
                        <a:ea typeface="Calibri" charset="0"/>
                        <a:cs typeface="Calibri" charset="0"/>
                      </a:endParaRPr>
                    </a:p>
                  </a:txBody>
                  <a:tcP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marL="0" indent="0">
                        <a:buNone/>
                      </a:pPr>
                      <a:r>
                        <a:rPr lang="en-US" sz="950" dirty="0">
                          <a:solidFill>
                            <a:srgbClr val="000000"/>
                          </a:solidFill>
                          <a:latin typeface="Calibri" pitchFamily="34" charset="0"/>
                          <a:ea typeface="Calibri" pitchFamily="34" charset="-122"/>
                          <a:cs typeface="Calibri" pitchFamily="34" charset="-120"/>
                        </a:rPr>
                        <a:t>Track temp, air temp,</a:t>
                      </a:r>
                      <a:endParaRPr lang="en-US" sz="950" dirty="0">
                        <a:latin typeface="Calibri" charset="0"/>
                        <a:ea typeface="Calibri" charset="0"/>
                        <a:cs typeface="Calibri" charset="0"/>
                      </a:endParaRPr>
                    </a:p>
                    <a:p>
                      <a:pPr marL="0" indent="0">
                        <a:buNone/>
                      </a:pPr>
                      <a:r>
                        <a:rPr lang="en-US" sz="950" dirty="0">
                          <a:solidFill>
                            <a:srgbClr val="000000"/>
                          </a:solidFill>
                          <a:latin typeface="Calibri" pitchFamily="34" charset="0"/>
                          <a:ea typeface="Calibri" pitchFamily="34" charset="-122"/>
                          <a:cs typeface="Calibri" pitchFamily="34" charset="-120"/>
                        </a:rPr>
                        <a:t>humidity, rainfall</a:t>
                      </a:r>
                      <a:endParaRPr lang="en-US" sz="950" dirty="0">
                        <a:latin typeface="Calibri" charset="0"/>
                        <a:ea typeface="Calibri" charset="0"/>
                        <a:cs typeface="Calibri" charset="0"/>
                      </a:endParaRPr>
                    </a:p>
                  </a:txBody>
                  <a:tcP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marL="0" indent="0">
                        <a:buNone/>
                      </a:pPr>
                      <a:r>
                        <a:rPr lang="en-US" sz="950" dirty="0">
                          <a:solidFill>
                            <a:srgbClr val="000000"/>
                          </a:solidFill>
                          <a:latin typeface="Calibri" pitchFamily="34" charset="0"/>
                          <a:ea typeface="Calibri" pitchFamily="34" charset="-122"/>
                          <a:cs typeface="Calibri" pitchFamily="34" charset="-120"/>
                        </a:rPr>
                        <a:t>24,435 measurements</a:t>
                      </a:r>
                      <a:endParaRPr lang="en-US" sz="950" dirty="0">
                        <a:latin typeface="Calibri" charset="0"/>
                        <a:ea typeface="Calibri" charset="0"/>
                        <a:cs typeface="Calibri" charset="0"/>
                      </a:endParaRPr>
                    </a:p>
                    <a:p>
                      <a:pPr marL="0" indent="0">
                        <a:buNone/>
                      </a:pPr>
                      <a:r>
                        <a:rPr lang="en-US" sz="950" dirty="0">
                          <a:solidFill>
                            <a:srgbClr val="000000"/>
                          </a:solidFill>
                          <a:latin typeface="Calibri" pitchFamily="34" charset="0"/>
                          <a:ea typeface="Calibri" pitchFamily="34" charset="-122"/>
                          <a:cs typeface="Calibri" pitchFamily="34" charset="-120"/>
                        </a:rPr>
                        <a:t>across 166 sessions</a:t>
                      </a:r>
                      <a:endParaRPr lang="en-US" sz="950" dirty="0">
                        <a:latin typeface="Calibri" charset="0"/>
                        <a:ea typeface="Calibri" charset="0"/>
                        <a:cs typeface="Calibri" charset="0"/>
                      </a:endParaRPr>
                    </a:p>
                  </a:txBody>
                  <a:tcP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marL="0" indent="0">
                        <a:buNone/>
                      </a:pPr>
                      <a:r>
                        <a:rPr lang="en-US" sz="950" dirty="0">
                          <a:solidFill>
                            <a:srgbClr val="000000"/>
                          </a:solidFill>
                          <a:latin typeface="Calibri" pitchFamily="34" charset="0"/>
                          <a:ea typeface="Calibri" pitchFamily="34" charset="-122"/>
                          <a:cs typeface="Calibri" pitchFamily="34" charset="-120"/>
                        </a:rPr>
                        <a:t>Phase 3</a:t>
                      </a:r>
                      <a:endParaRPr lang="en-US" sz="950" dirty="0">
                        <a:latin typeface="Calibri" charset="0"/>
                        <a:ea typeface="Calibri" charset="0"/>
                        <a:cs typeface="Calibri" charset="0"/>
                      </a:endParaRPr>
                    </a:p>
                  </a:txBody>
                  <a:tcP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7" name="Shape 4"/>
          <p:cNvSpPr/>
          <p:nvPr/>
        </p:nvSpPr>
        <p:spPr>
          <a:xfrm>
            <a:off x="365760" y="2743200"/>
            <a:ext cx="1920240" cy="1005840"/>
          </a:xfrm>
          <a:prstGeom prst="rect">
            <a:avLst/>
          </a:prstGeom>
          <a:solidFill>
            <a:srgbClr val="FDF2F2"/>
          </a:solidFill>
          <a:ln/>
          <a:effectLst>
            <a:outerShdw blurRad="50800" dist="25400" dir="8100000" algn="bl" rotWithShape="0">
              <a:srgbClr val="000000">
                <a:alpha val="10000"/>
              </a:srgbClr>
            </a:outerShdw>
          </a:effectLst>
        </p:spPr>
        <p:txBody>
          <a:bodyPr/>
          <a:lstStyle/>
          <a:p>
            <a:endParaRPr lang="en-US"/>
          </a:p>
        </p:txBody>
      </p:sp>
      <p:sp>
        <p:nvSpPr>
          <p:cNvPr id="8" name="Text 5"/>
          <p:cNvSpPr/>
          <p:nvPr/>
        </p:nvSpPr>
        <p:spPr>
          <a:xfrm>
            <a:off x="365760" y="2834640"/>
            <a:ext cx="1920240" cy="502920"/>
          </a:xfrm>
          <a:prstGeom prst="rect">
            <a:avLst/>
          </a:prstGeom>
          <a:noFill/>
          <a:ln/>
        </p:spPr>
        <p:txBody>
          <a:bodyPr wrap="square" lIns="0" tIns="0" rIns="0" bIns="0" rtlCol="0" anchor="ctr"/>
          <a:lstStyle/>
          <a:p>
            <a:pPr marL="0" indent="0" algn="ctr">
              <a:buNone/>
            </a:pPr>
            <a:r>
              <a:rPr lang="en-US" sz="2800" b="1" dirty="0">
                <a:solidFill>
                  <a:srgbClr val="C41E1E"/>
                </a:solidFill>
                <a:latin typeface="Georgia" pitchFamily="34" charset="0"/>
                <a:ea typeface="Georgia" pitchFamily="34" charset="-122"/>
                <a:cs typeface="Georgia" pitchFamily="34" charset="-120"/>
              </a:rPr>
              <a:t>223K+</a:t>
            </a:r>
            <a:endParaRPr lang="en-US" sz="2800" dirty="0"/>
          </a:p>
        </p:txBody>
      </p:sp>
      <p:sp>
        <p:nvSpPr>
          <p:cNvPr id="9" name="Text 6"/>
          <p:cNvSpPr/>
          <p:nvPr/>
        </p:nvSpPr>
        <p:spPr>
          <a:xfrm>
            <a:off x="365760" y="3246120"/>
            <a:ext cx="1920240" cy="274320"/>
          </a:xfrm>
          <a:prstGeom prst="rect">
            <a:avLst/>
          </a:prstGeom>
          <a:noFill/>
          <a:ln/>
        </p:spPr>
        <p:txBody>
          <a:bodyPr wrap="square" lIns="0" tIns="0" rIns="0" bIns="0" rtlCol="0" anchor="ctr"/>
          <a:lstStyle/>
          <a:p>
            <a:pPr marL="0" indent="0" algn="ctr">
              <a:buNone/>
            </a:pPr>
            <a:r>
              <a:rPr lang="en-US" sz="1000" dirty="0">
                <a:solidFill>
                  <a:srgbClr val="C41E1E"/>
                </a:solidFill>
                <a:latin typeface="Calibri" pitchFamily="34" charset="0"/>
                <a:ea typeface="Calibri" pitchFamily="34" charset="-122"/>
                <a:cs typeface="Calibri" pitchFamily="34" charset="-120"/>
              </a:rPr>
              <a:t>Raw Records</a:t>
            </a:r>
            <a:endParaRPr lang="en-US" sz="1000" dirty="0"/>
          </a:p>
        </p:txBody>
      </p:sp>
      <p:sp>
        <p:nvSpPr>
          <p:cNvPr id="10" name="Text 7"/>
          <p:cNvSpPr/>
          <p:nvPr/>
        </p:nvSpPr>
        <p:spPr>
          <a:xfrm>
            <a:off x="365760" y="3520440"/>
            <a:ext cx="1920240" cy="274320"/>
          </a:xfrm>
          <a:prstGeom prst="rect">
            <a:avLst/>
          </a:prstGeom>
          <a:noFill/>
          <a:ln/>
        </p:spPr>
        <p:txBody>
          <a:bodyPr wrap="square" lIns="0" tIns="0" rIns="0" bIns="0" rtlCol="0" anchor="ctr"/>
          <a:lstStyle/>
          <a:p>
            <a:pPr marL="0" indent="0" algn="ctr">
              <a:buNone/>
            </a:pPr>
            <a:r>
              <a:rPr lang="en-US" sz="800" dirty="0">
                <a:solidFill>
                  <a:srgbClr val="949594"/>
                </a:solidFill>
                <a:latin typeface="Calibri" pitchFamily="34" charset="0"/>
                <a:ea typeface="Calibri" pitchFamily="34" charset="-122"/>
                <a:cs typeface="Calibri" pitchFamily="34" charset="-120"/>
              </a:rPr>
              <a:t>Bronze layer</a:t>
            </a:r>
            <a:endParaRPr lang="en-US" sz="800" dirty="0"/>
          </a:p>
        </p:txBody>
      </p:sp>
      <p:sp>
        <p:nvSpPr>
          <p:cNvPr id="6" name="Shape 8"/>
          <p:cNvSpPr/>
          <p:nvPr/>
        </p:nvSpPr>
        <p:spPr>
          <a:xfrm>
            <a:off x="2468880" y="2743200"/>
            <a:ext cx="1920240" cy="1005840"/>
          </a:xfrm>
          <a:prstGeom prst="rect">
            <a:avLst/>
          </a:prstGeom>
          <a:solidFill>
            <a:srgbClr val="E8F0FE"/>
          </a:solidFill>
          <a:ln/>
          <a:effectLst>
            <a:outerShdw blurRad="50800" dist="25400" dir="8100000" algn="bl" rotWithShape="0">
              <a:srgbClr val="000000">
                <a:alpha val="10000"/>
              </a:srgbClr>
            </a:outerShdw>
          </a:effectLst>
        </p:spPr>
        <p:txBody>
          <a:bodyPr/>
          <a:lstStyle/>
          <a:p>
            <a:endParaRPr lang="en-US"/>
          </a:p>
        </p:txBody>
      </p:sp>
      <p:sp>
        <p:nvSpPr>
          <p:cNvPr id="12" name="Text 9"/>
          <p:cNvSpPr/>
          <p:nvPr/>
        </p:nvSpPr>
        <p:spPr>
          <a:xfrm>
            <a:off x="2468880" y="2834640"/>
            <a:ext cx="1920240" cy="502920"/>
          </a:xfrm>
          <a:prstGeom prst="rect">
            <a:avLst/>
          </a:prstGeom>
          <a:noFill/>
          <a:ln/>
        </p:spPr>
        <p:txBody>
          <a:bodyPr wrap="square" lIns="0" tIns="0" rIns="0" bIns="0" rtlCol="0" anchor="ctr"/>
          <a:lstStyle/>
          <a:p>
            <a:pPr marL="0" indent="0" algn="ctr">
              <a:buNone/>
            </a:pPr>
            <a:r>
              <a:rPr lang="en-US" sz="2800" b="1" dirty="0">
                <a:solidFill>
                  <a:srgbClr val="2563EB"/>
                </a:solidFill>
                <a:latin typeface="Georgia" pitchFamily="34" charset="0"/>
                <a:ea typeface="Georgia" pitchFamily="34" charset="-122"/>
                <a:cs typeface="Georgia" pitchFamily="34" charset="-120"/>
              </a:rPr>
              <a:t>3,524</a:t>
            </a:r>
            <a:endParaRPr lang="en-US" sz="2800" dirty="0"/>
          </a:p>
        </p:txBody>
      </p:sp>
      <p:sp>
        <p:nvSpPr>
          <p:cNvPr id="13" name="Text 10"/>
          <p:cNvSpPr/>
          <p:nvPr/>
        </p:nvSpPr>
        <p:spPr>
          <a:xfrm>
            <a:off x="2468880" y="3246120"/>
            <a:ext cx="1920240" cy="274320"/>
          </a:xfrm>
          <a:prstGeom prst="rect">
            <a:avLst/>
          </a:prstGeom>
          <a:noFill/>
          <a:ln/>
        </p:spPr>
        <p:txBody>
          <a:bodyPr wrap="square" lIns="0" tIns="0" rIns="0" bIns="0" rtlCol="0" anchor="ctr"/>
          <a:lstStyle/>
          <a:p>
            <a:pPr marL="0" indent="0" algn="ctr">
              <a:buNone/>
            </a:pPr>
            <a:r>
              <a:rPr lang="en-US" sz="1000" dirty="0">
                <a:solidFill>
                  <a:srgbClr val="2563EB"/>
                </a:solidFill>
                <a:latin typeface="Calibri" pitchFamily="34" charset="0"/>
                <a:ea typeface="Calibri" pitchFamily="34" charset="-122"/>
                <a:cs typeface="Calibri" pitchFamily="34" charset="-120"/>
              </a:rPr>
              <a:t>Clean Rows</a:t>
            </a:r>
            <a:endParaRPr lang="en-US" sz="1000" dirty="0"/>
          </a:p>
        </p:txBody>
      </p:sp>
      <p:sp>
        <p:nvSpPr>
          <p:cNvPr id="14" name="Text 11"/>
          <p:cNvSpPr/>
          <p:nvPr/>
        </p:nvSpPr>
        <p:spPr>
          <a:xfrm>
            <a:off x="2468880" y="3520440"/>
            <a:ext cx="1920240" cy="274320"/>
          </a:xfrm>
          <a:prstGeom prst="rect">
            <a:avLst/>
          </a:prstGeom>
          <a:noFill/>
          <a:ln/>
        </p:spPr>
        <p:txBody>
          <a:bodyPr wrap="square" lIns="0" tIns="0" rIns="0" bIns="0" rtlCol="0" anchor="ctr"/>
          <a:lstStyle/>
          <a:p>
            <a:pPr marL="0" indent="0" algn="ctr">
              <a:buNone/>
            </a:pPr>
            <a:r>
              <a:rPr lang="en-US" sz="800" dirty="0">
                <a:solidFill>
                  <a:srgbClr val="949594"/>
                </a:solidFill>
                <a:latin typeface="Calibri" pitchFamily="34" charset="0"/>
                <a:ea typeface="Calibri" pitchFamily="34" charset="-122"/>
                <a:cs typeface="Calibri" pitchFamily="34" charset="-120"/>
              </a:rPr>
              <a:t>Silver layer</a:t>
            </a:r>
            <a:endParaRPr lang="en-US" sz="800" dirty="0"/>
          </a:p>
        </p:txBody>
      </p:sp>
      <p:sp>
        <p:nvSpPr>
          <p:cNvPr id="15" name="Shape 12"/>
          <p:cNvSpPr/>
          <p:nvPr/>
        </p:nvSpPr>
        <p:spPr>
          <a:xfrm>
            <a:off x="4572000" y="2743200"/>
            <a:ext cx="1920240" cy="1005840"/>
          </a:xfrm>
          <a:prstGeom prst="rect">
            <a:avLst/>
          </a:prstGeom>
          <a:solidFill>
            <a:srgbClr val="FEF9E7"/>
          </a:solidFill>
          <a:ln/>
          <a:effectLst>
            <a:outerShdw blurRad="50800" dist="25400" dir="8100000" algn="bl" rotWithShape="0">
              <a:srgbClr val="000000">
                <a:alpha val="10000"/>
              </a:srgbClr>
            </a:outerShdw>
          </a:effectLst>
        </p:spPr>
        <p:txBody>
          <a:bodyPr/>
          <a:lstStyle/>
          <a:p>
            <a:endParaRPr lang="en-US"/>
          </a:p>
        </p:txBody>
      </p:sp>
      <p:sp>
        <p:nvSpPr>
          <p:cNvPr id="16" name="Text 13"/>
          <p:cNvSpPr/>
          <p:nvPr/>
        </p:nvSpPr>
        <p:spPr>
          <a:xfrm>
            <a:off x="4572000" y="2834640"/>
            <a:ext cx="1920240" cy="502920"/>
          </a:xfrm>
          <a:prstGeom prst="rect">
            <a:avLst/>
          </a:prstGeom>
          <a:noFill/>
          <a:ln/>
        </p:spPr>
        <p:txBody>
          <a:bodyPr wrap="square" lIns="0" tIns="0" rIns="0" bIns="0" rtlCol="0" anchor="ctr"/>
          <a:lstStyle/>
          <a:p>
            <a:pPr marL="0" indent="0" algn="ctr">
              <a:buNone/>
            </a:pPr>
            <a:r>
              <a:rPr lang="en-US" sz="2800" b="1" dirty="0">
                <a:solidFill>
                  <a:srgbClr val="D97706"/>
                </a:solidFill>
                <a:latin typeface="Georgia" pitchFamily="34" charset="0"/>
                <a:ea typeface="Georgia" pitchFamily="34" charset="-122"/>
                <a:cs typeface="Georgia" pitchFamily="34" charset="-120"/>
              </a:rPr>
              <a:t>85</a:t>
            </a:r>
            <a:endParaRPr lang="en-US" sz="2800" dirty="0"/>
          </a:p>
        </p:txBody>
      </p:sp>
      <p:sp>
        <p:nvSpPr>
          <p:cNvPr id="17" name="Text 14"/>
          <p:cNvSpPr/>
          <p:nvPr/>
        </p:nvSpPr>
        <p:spPr>
          <a:xfrm>
            <a:off x="4572000" y="3246120"/>
            <a:ext cx="1920240" cy="274320"/>
          </a:xfrm>
          <a:prstGeom prst="rect">
            <a:avLst/>
          </a:prstGeom>
          <a:noFill/>
          <a:ln/>
        </p:spPr>
        <p:txBody>
          <a:bodyPr wrap="square" lIns="0" tIns="0" rIns="0" bIns="0" rtlCol="0" anchor="ctr"/>
          <a:lstStyle/>
          <a:p>
            <a:pPr marL="0" indent="0" algn="ctr">
              <a:buNone/>
            </a:pPr>
            <a:r>
              <a:rPr lang="en-US" sz="1000" dirty="0">
                <a:solidFill>
                  <a:srgbClr val="D97706"/>
                </a:solidFill>
                <a:latin typeface="Calibri" pitchFamily="34" charset="0"/>
                <a:ea typeface="Calibri" pitchFamily="34" charset="-122"/>
                <a:cs typeface="Calibri" pitchFamily="34" charset="-120"/>
              </a:rPr>
              <a:t>ML Features</a:t>
            </a:r>
            <a:endParaRPr lang="en-US" sz="1000" dirty="0"/>
          </a:p>
        </p:txBody>
      </p:sp>
      <p:sp>
        <p:nvSpPr>
          <p:cNvPr id="18" name="Text 15"/>
          <p:cNvSpPr/>
          <p:nvPr/>
        </p:nvSpPr>
        <p:spPr>
          <a:xfrm>
            <a:off x="4572000" y="3520440"/>
            <a:ext cx="1920240" cy="274320"/>
          </a:xfrm>
          <a:prstGeom prst="rect">
            <a:avLst/>
          </a:prstGeom>
          <a:noFill/>
          <a:ln/>
        </p:spPr>
        <p:txBody>
          <a:bodyPr wrap="square" lIns="0" tIns="0" rIns="0" bIns="0" rtlCol="0" anchor="ctr"/>
          <a:lstStyle/>
          <a:p>
            <a:pPr marL="0" indent="0" algn="ctr">
              <a:buNone/>
            </a:pPr>
            <a:r>
              <a:rPr lang="en-US" sz="800" dirty="0">
                <a:solidFill>
                  <a:srgbClr val="949594"/>
                </a:solidFill>
                <a:latin typeface="Calibri" pitchFamily="34" charset="0"/>
                <a:ea typeface="Calibri" pitchFamily="34" charset="-122"/>
                <a:cs typeface="Calibri" pitchFamily="34" charset="-120"/>
              </a:rPr>
              <a:t>Gold layer</a:t>
            </a:r>
            <a:endParaRPr lang="en-US" sz="800" dirty="0"/>
          </a:p>
        </p:txBody>
      </p:sp>
      <p:sp>
        <p:nvSpPr>
          <p:cNvPr id="19" name="Shape 16"/>
          <p:cNvSpPr/>
          <p:nvPr/>
        </p:nvSpPr>
        <p:spPr>
          <a:xfrm>
            <a:off x="6675120" y="2743200"/>
            <a:ext cx="1920240" cy="1005840"/>
          </a:xfrm>
          <a:prstGeom prst="rect">
            <a:avLst/>
          </a:prstGeom>
          <a:solidFill>
            <a:srgbClr val="E6F4EA"/>
          </a:solidFill>
          <a:ln/>
          <a:effectLst>
            <a:outerShdw blurRad="50800" dist="25400" dir="8100000" algn="bl" rotWithShape="0">
              <a:srgbClr val="000000">
                <a:alpha val="10000"/>
              </a:srgbClr>
            </a:outerShdw>
          </a:effectLst>
        </p:spPr>
        <p:txBody>
          <a:bodyPr/>
          <a:lstStyle/>
          <a:p>
            <a:endParaRPr lang="en-US"/>
          </a:p>
        </p:txBody>
      </p:sp>
      <p:sp>
        <p:nvSpPr>
          <p:cNvPr id="20" name="Text 17"/>
          <p:cNvSpPr/>
          <p:nvPr/>
        </p:nvSpPr>
        <p:spPr>
          <a:xfrm>
            <a:off x="6675120" y="2834640"/>
            <a:ext cx="1920240" cy="502920"/>
          </a:xfrm>
          <a:prstGeom prst="rect">
            <a:avLst/>
          </a:prstGeom>
          <a:noFill/>
          <a:ln/>
        </p:spPr>
        <p:txBody>
          <a:bodyPr wrap="square" lIns="0" tIns="0" rIns="0" bIns="0" rtlCol="0" anchor="ctr"/>
          <a:lstStyle/>
          <a:p>
            <a:pPr marL="0" indent="0" algn="ctr">
              <a:buNone/>
            </a:pPr>
            <a:r>
              <a:rPr lang="en-US" sz="2800" b="1" dirty="0">
                <a:solidFill>
                  <a:srgbClr val="059669"/>
                </a:solidFill>
                <a:latin typeface="Georgia" pitchFamily="34" charset="0"/>
                <a:ea typeface="Georgia" pitchFamily="34" charset="-122"/>
                <a:cs typeface="Georgia" pitchFamily="34" charset="-120"/>
              </a:rPr>
              <a:t>300K</a:t>
            </a:r>
            <a:endParaRPr lang="en-US" sz="2800" dirty="0"/>
          </a:p>
        </p:txBody>
      </p:sp>
      <p:sp>
        <p:nvSpPr>
          <p:cNvPr id="21" name="Text 18"/>
          <p:cNvSpPr/>
          <p:nvPr/>
        </p:nvSpPr>
        <p:spPr>
          <a:xfrm>
            <a:off x="6675120" y="3246120"/>
            <a:ext cx="1920240" cy="274320"/>
          </a:xfrm>
          <a:prstGeom prst="rect">
            <a:avLst/>
          </a:prstGeom>
          <a:noFill/>
          <a:ln/>
        </p:spPr>
        <p:txBody>
          <a:bodyPr wrap="square" lIns="0" tIns="0" rIns="0" bIns="0" rtlCol="0" anchor="ctr"/>
          <a:lstStyle/>
          <a:p>
            <a:pPr marL="0" indent="0" algn="ctr">
              <a:buNone/>
            </a:pPr>
            <a:r>
              <a:rPr lang="en-US" sz="1000" dirty="0">
                <a:solidFill>
                  <a:srgbClr val="059669"/>
                </a:solidFill>
                <a:latin typeface="Calibri" pitchFamily="34" charset="0"/>
                <a:ea typeface="Calibri" pitchFamily="34" charset="-122"/>
                <a:cs typeface="Calibri" pitchFamily="34" charset="-120"/>
              </a:rPr>
              <a:t>Feature Values</a:t>
            </a:r>
            <a:endParaRPr lang="en-US" sz="1000" dirty="0"/>
          </a:p>
        </p:txBody>
      </p:sp>
      <p:sp>
        <p:nvSpPr>
          <p:cNvPr id="22" name="Text 19"/>
          <p:cNvSpPr/>
          <p:nvPr/>
        </p:nvSpPr>
        <p:spPr>
          <a:xfrm>
            <a:off x="6675120" y="3520440"/>
            <a:ext cx="1920240" cy="274320"/>
          </a:xfrm>
          <a:prstGeom prst="rect">
            <a:avLst/>
          </a:prstGeom>
          <a:noFill/>
          <a:ln/>
        </p:spPr>
        <p:txBody>
          <a:bodyPr wrap="square" lIns="0" tIns="0" rIns="0" bIns="0" rtlCol="0" anchor="ctr"/>
          <a:lstStyle/>
          <a:p>
            <a:pPr marL="0" indent="0" algn="ctr">
              <a:buNone/>
            </a:pPr>
            <a:r>
              <a:rPr lang="en-US" sz="800" dirty="0">
                <a:solidFill>
                  <a:srgbClr val="949594"/>
                </a:solidFill>
                <a:latin typeface="Calibri" pitchFamily="34" charset="0"/>
                <a:ea typeface="Calibri" pitchFamily="34" charset="-122"/>
                <a:cs typeface="Calibri" pitchFamily="34" charset="-120"/>
              </a:rPr>
              <a:t>3,524 × 85</a:t>
            </a:r>
            <a:endParaRPr lang="en-US" sz="800" dirty="0"/>
          </a:p>
        </p:txBody>
      </p:sp>
      <p:sp>
        <p:nvSpPr>
          <p:cNvPr id="23" name="Shape 20"/>
          <p:cNvSpPr/>
          <p:nvPr/>
        </p:nvSpPr>
        <p:spPr>
          <a:xfrm>
            <a:off x="365760" y="3931920"/>
            <a:ext cx="8321040" cy="640080"/>
          </a:xfrm>
          <a:prstGeom prst="rect">
            <a:avLst/>
          </a:prstGeom>
          <a:solidFill>
            <a:srgbClr val="E8F0FE"/>
          </a:solidFill>
          <a:ln/>
          <a:effectLst>
            <a:outerShdw blurRad="50800" dist="25400" dir="8100000" algn="bl" rotWithShape="0">
              <a:srgbClr val="000000">
                <a:alpha val="10000"/>
              </a:srgbClr>
            </a:outerShdw>
          </a:effectLst>
        </p:spPr>
        <p:txBody>
          <a:bodyPr/>
          <a:lstStyle/>
          <a:p>
            <a:endParaRPr lang="en-US"/>
          </a:p>
        </p:txBody>
      </p:sp>
      <p:sp>
        <p:nvSpPr>
          <p:cNvPr id="24" name="Text 21"/>
          <p:cNvSpPr/>
          <p:nvPr/>
        </p:nvSpPr>
        <p:spPr>
          <a:xfrm>
            <a:off x="548640" y="3977640"/>
            <a:ext cx="8046720" cy="502920"/>
          </a:xfrm>
          <a:prstGeom prst="rect">
            <a:avLst/>
          </a:prstGeom>
          <a:noFill/>
          <a:ln/>
        </p:spPr>
        <p:txBody>
          <a:bodyPr wrap="square" lIns="0" tIns="0" rIns="0" bIns="0" rtlCol="0" anchor="ctr"/>
          <a:lstStyle/>
          <a:p>
            <a:pPr marL="0" indent="0">
              <a:buNone/>
            </a:pPr>
            <a:r>
              <a:rPr lang="en-US" sz="1000" dirty="0">
                <a:solidFill>
                  <a:srgbClr val="2563EB"/>
                </a:solidFill>
                <a:latin typeface="Calibri" pitchFamily="34" charset="0"/>
                <a:ea typeface="Calibri" pitchFamily="34" charset="-122"/>
                <a:cs typeface="Calibri" pitchFamily="34" charset="-120"/>
              </a:rPr>
              <a:t>ETL Pattern: Extract 223K raw records → Transform (join + deduplicate via Spark) → Load 3,524 rows × 85 features = ~300K feature values ready for ML training</a:t>
            </a:r>
            <a:endParaRPr lang="en-US" sz="1000" dirty="0"/>
          </a:p>
        </p:txBody>
      </p:sp>
      <p:sp>
        <p:nvSpPr>
          <p:cNvPr id="25" name="Text 22"/>
          <p:cNvSpPr/>
          <p:nvPr/>
        </p:nvSpPr>
        <p:spPr>
          <a:xfrm>
            <a:off x="457200" y="4709160"/>
            <a:ext cx="6400800" cy="365760"/>
          </a:xfrm>
          <a:prstGeom prst="rect">
            <a:avLst/>
          </a:prstGeom>
          <a:noFill/>
          <a:ln/>
        </p:spPr>
        <p:txBody>
          <a:bodyPr wrap="square" rtlCol="0" anchor="ctr"/>
          <a:lstStyle/>
          <a:p>
            <a:pPr marL="0" indent="0">
              <a:buNone/>
            </a:pPr>
            <a:r>
              <a:rPr lang="en-US" sz="900" dirty="0">
                <a:solidFill>
                  <a:srgbClr val="949594"/>
                </a:solidFill>
                <a:latin typeface="Calibri" pitchFamily="34" charset="0"/>
                <a:ea typeface="Calibri" pitchFamily="34" charset="-122"/>
                <a:cs typeface="Calibri" pitchFamily="34" charset="-120"/>
              </a:rPr>
              <a:t>Speaker 2 — Data &amp; ML Models</a:t>
            </a:r>
            <a:endParaRPr lang="en-US" sz="900" dirty="0"/>
          </a:p>
        </p:txBody>
      </p:sp>
      <p:sp>
        <p:nvSpPr>
          <p:cNvPr id="26" name="Text 23"/>
          <p:cNvSpPr/>
          <p:nvPr/>
        </p:nvSpPr>
        <p:spPr>
          <a:xfrm>
            <a:off x="8412480" y="4709160"/>
            <a:ext cx="548640" cy="365760"/>
          </a:xfrm>
          <a:prstGeom prst="rect">
            <a:avLst/>
          </a:prstGeom>
          <a:noFill/>
          <a:ln/>
        </p:spPr>
        <p:txBody>
          <a:bodyPr wrap="square" rtlCol="0" anchor="ctr"/>
          <a:lstStyle/>
          <a:p>
            <a:pPr marL="0" indent="0" algn="r">
              <a:buNone/>
            </a:pPr>
            <a:r>
              <a:rPr lang="en-US" sz="900" dirty="0">
                <a:solidFill>
                  <a:srgbClr val="949594"/>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5F5"/>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C41E1E"/>
          </a:solidFill>
          <a:ln/>
        </p:spPr>
        <p:txBody>
          <a:bodyPr/>
          <a:lstStyle/>
          <a:p>
            <a:endParaRPr lang="en-US"/>
          </a:p>
        </p:txBody>
      </p:sp>
      <p:sp>
        <p:nvSpPr>
          <p:cNvPr id="3" name="Shape 1"/>
          <p:cNvSpPr/>
          <p:nvPr/>
        </p:nvSpPr>
        <p:spPr>
          <a:xfrm>
            <a:off x="8778240" y="0"/>
            <a:ext cx="137160" cy="5143500"/>
          </a:xfrm>
          <a:prstGeom prst="rect">
            <a:avLst/>
          </a:prstGeom>
          <a:solidFill>
            <a:srgbClr val="C41E1E"/>
          </a:solidFill>
          <a:ln/>
        </p:spPr>
        <p:txBody>
          <a:bodyPr/>
          <a:lstStyle/>
          <a:p>
            <a:endParaRPr lang="en-US"/>
          </a:p>
        </p:txBody>
      </p:sp>
      <p:sp>
        <p:nvSpPr>
          <p:cNvPr id="4" name="Shape 2"/>
          <p:cNvSpPr/>
          <p:nvPr/>
        </p:nvSpPr>
        <p:spPr>
          <a:xfrm>
            <a:off x="8961120" y="0"/>
            <a:ext cx="73152" cy="5143500"/>
          </a:xfrm>
          <a:prstGeom prst="rect">
            <a:avLst/>
          </a:prstGeom>
          <a:solidFill>
            <a:srgbClr val="C41E1E">
              <a:alpha val="40000"/>
            </a:srgbClr>
          </a:solidFill>
          <a:ln/>
        </p:spPr>
        <p:txBody>
          <a:bodyPr/>
          <a:lstStyle/>
          <a:p>
            <a:endParaRPr lang="en-US"/>
          </a:p>
        </p:txBody>
      </p:sp>
      <p:sp>
        <p:nvSpPr>
          <p:cNvPr id="5" name="Text 3"/>
          <p:cNvSpPr/>
          <p:nvPr/>
        </p:nvSpPr>
        <p:spPr>
          <a:xfrm>
            <a:off x="731520" y="182880"/>
            <a:ext cx="7315200" cy="548640"/>
          </a:xfrm>
          <a:prstGeom prst="rect">
            <a:avLst/>
          </a:prstGeom>
          <a:noFill/>
          <a:ln/>
        </p:spPr>
        <p:txBody>
          <a:bodyPr wrap="square" lIns="0" tIns="0" rIns="0" bIns="0" rtlCol="0" anchor="ctr"/>
          <a:lstStyle/>
          <a:p>
            <a:pPr marL="0" indent="0">
              <a:buNone/>
            </a:pPr>
            <a:r>
              <a:rPr lang="en-US" sz="2800" b="1" dirty="0">
                <a:solidFill>
                  <a:srgbClr val="1A1A2E"/>
                </a:solidFill>
                <a:latin typeface="Georgia" pitchFamily="34" charset="0"/>
                <a:ea typeface="Georgia" pitchFamily="34" charset="-122"/>
                <a:cs typeface="Georgia" pitchFamily="34" charset="-120"/>
              </a:rPr>
              <a:t>Spark &amp; Airflow in Action</a:t>
            </a:r>
            <a:endParaRPr lang="en-US" sz="2800" dirty="0"/>
          </a:p>
        </p:txBody>
      </p:sp>
      <p:sp>
        <p:nvSpPr>
          <p:cNvPr id="6" name="Shape 4"/>
          <p:cNvSpPr/>
          <p:nvPr/>
        </p:nvSpPr>
        <p:spPr>
          <a:xfrm>
            <a:off x="365760" y="914400"/>
            <a:ext cx="4023360" cy="2011680"/>
          </a:xfrm>
          <a:prstGeom prst="rect">
            <a:avLst/>
          </a:prstGeom>
          <a:solidFill>
            <a:srgbClr val="FFFFFF"/>
          </a:solidFill>
          <a:ln/>
          <a:effectLst>
            <a:outerShdw blurRad="50800" dist="25400" dir="8100000" algn="bl" rotWithShape="0">
              <a:srgbClr val="000000">
                <a:alpha val="10000"/>
              </a:srgbClr>
            </a:outerShdw>
          </a:effectLst>
        </p:spPr>
        <p:txBody>
          <a:bodyPr/>
          <a:lstStyle/>
          <a:p>
            <a:endParaRPr lang="en-US"/>
          </a:p>
        </p:txBody>
      </p:sp>
      <p:sp>
        <p:nvSpPr>
          <p:cNvPr id="7" name="Shape 5"/>
          <p:cNvSpPr/>
          <p:nvPr/>
        </p:nvSpPr>
        <p:spPr>
          <a:xfrm>
            <a:off x="365760" y="914400"/>
            <a:ext cx="54864" cy="2011680"/>
          </a:xfrm>
          <a:prstGeom prst="rect">
            <a:avLst/>
          </a:prstGeom>
          <a:solidFill>
            <a:srgbClr val="2563EB"/>
          </a:solidFill>
          <a:ln/>
        </p:spPr>
        <p:txBody>
          <a:bodyPr/>
          <a:lstStyle/>
          <a:p>
            <a:endParaRPr lang="en-US"/>
          </a:p>
        </p:txBody>
      </p:sp>
      <p:pic>
        <p:nvPicPr>
          <p:cNvPr id="8" name="Image 0" descr="preencoded.png"/>
          <p:cNvPicPr>
            <a:picLocks noChangeAspect="1"/>
          </p:cNvPicPr>
          <p:nvPr/>
        </p:nvPicPr>
        <p:blipFill>
          <a:blip r:embed="rId3"/>
          <a:stretch>
            <a:fillRect/>
          </a:stretch>
        </p:blipFill>
        <p:spPr>
          <a:xfrm>
            <a:off x="502920" y="1024128"/>
            <a:ext cx="256032" cy="256032"/>
          </a:xfrm>
          <a:prstGeom prst="rect">
            <a:avLst/>
          </a:prstGeom>
        </p:spPr>
      </p:pic>
      <p:sp>
        <p:nvSpPr>
          <p:cNvPr id="9" name="Text 6"/>
          <p:cNvSpPr/>
          <p:nvPr/>
        </p:nvSpPr>
        <p:spPr>
          <a:xfrm>
            <a:off x="822960" y="987552"/>
            <a:ext cx="3429000" cy="292608"/>
          </a:xfrm>
          <a:prstGeom prst="rect">
            <a:avLst/>
          </a:prstGeom>
          <a:noFill/>
          <a:ln/>
        </p:spPr>
        <p:txBody>
          <a:bodyPr wrap="square" lIns="0" tIns="0" rIns="0" bIns="0" rtlCol="0" anchor="ctr"/>
          <a:lstStyle/>
          <a:p>
            <a:pPr marL="0" indent="0">
              <a:buNone/>
            </a:pPr>
            <a:r>
              <a:rPr lang="en-US" sz="1200" b="1" dirty="0">
                <a:solidFill>
                  <a:srgbClr val="2563EB"/>
                </a:solidFill>
                <a:latin typeface="Georgia" pitchFamily="34" charset="0"/>
                <a:ea typeface="Georgia" pitchFamily="34" charset="-122"/>
                <a:cs typeface="Georgia" pitchFamily="34" charset="-120"/>
              </a:rPr>
              <a:t>Apache Spark — Window Functions</a:t>
            </a:r>
            <a:endParaRPr lang="en-US" sz="1200" dirty="0"/>
          </a:p>
        </p:txBody>
      </p:sp>
      <p:sp>
        <p:nvSpPr>
          <p:cNvPr id="10" name="Text 7"/>
          <p:cNvSpPr/>
          <p:nvPr/>
        </p:nvSpPr>
        <p:spPr>
          <a:xfrm>
            <a:off x="502920" y="1325880"/>
            <a:ext cx="3749040" cy="1508760"/>
          </a:xfrm>
          <a:prstGeom prst="rect">
            <a:avLst/>
          </a:prstGeom>
          <a:noFill/>
          <a:ln/>
        </p:spPr>
        <p:txBody>
          <a:bodyPr wrap="square" rtlCol="0" anchor="t"/>
          <a:lstStyle/>
          <a:p>
            <a:pPr marL="0" indent="0">
              <a:lnSpc>
                <a:spcPct val="125000"/>
              </a:lnSpc>
              <a:buNone/>
            </a:pPr>
            <a:r>
              <a:rPr lang="en-US" sz="950" dirty="0">
                <a:solidFill>
                  <a:srgbClr val="444444"/>
                </a:solidFill>
                <a:latin typeface="Calibri" pitchFamily="34" charset="0"/>
                <a:ea typeface="Calibri" pitchFamily="34" charset="-122"/>
                <a:cs typeface="Calibri" pitchFamily="34" charset="-120"/>
              </a:rPr>
              <a:t>Computes values across related rows:</a:t>
            </a:r>
            <a:endParaRPr lang="en-US" sz="950" dirty="0"/>
          </a:p>
          <a:p>
            <a:pPr marL="0" indent="0">
              <a:lnSpc>
                <a:spcPct val="125000"/>
              </a:lnSpc>
              <a:buNone/>
            </a:pPr>
            <a:endParaRPr lang="en-US" sz="950" dirty="0"/>
          </a:p>
          <a:p>
            <a:pPr marL="0" indent="0">
              <a:lnSpc>
                <a:spcPct val="125000"/>
              </a:lnSpc>
              <a:buNone/>
            </a:pPr>
            <a:r>
              <a:rPr lang="en-US" sz="950" dirty="0">
                <a:solidFill>
                  <a:srgbClr val="444444"/>
                </a:solidFill>
                <a:latin typeface="Calibri" pitchFamily="34" charset="0"/>
                <a:ea typeface="Calibri" pitchFamily="34" charset="-122"/>
                <a:cs typeface="Calibri" pitchFamily="34" charset="-120"/>
              </a:rPr>
              <a:t>AVG(position) OVER (</a:t>
            </a:r>
            <a:endParaRPr lang="en-US" sz="950" dirty="0"/>
          </a:p>
          <a:p>
            <a:pPr marL="0" indent="0">
              <a:lnSpc>
                <a:spcPct val="125000"/>
              </a:lnSpc>
              <a:buNone/>
            </a:pPr>
            <a:r>
              <a:rPr lang="en-US" sz="950" dirty="0">
                <a:solidFill>
                  <a:srgbClr val="444444"/>
                </a:solidFill>
                <a:latin typeface="Calibri" pitchFamily="34" charset="0"/>
                <a:ea typeface="Calibri" pitchFamily="34" charset="-122"/>
                <a:cs typeface="Calibri" pitchFamily="34" charset="-120"/>
              </a:rPr>
              <a:t>  PARTITION BY driver_id</a:t>
            </a:r>
            <a:endParaRPr lang="en-US" sz="950" dirty="0"/>
          </a:p>
          <a:p>
            <a:pPr marL="0" indent="0">
              <a:lnSpc>
                <a:spcPct val="125000"/>
              </a:lnSpc>
              <a:buNone/>
            </a:pPr>
            <a:r>
              <a:rPr lang="en-US" sz="950" dirty="0">
                <a:solidFill>
                  <a:srgbClr val="444444"/>
                </a:solidFill>
                <a:latin typeface="Calibri" pitchFamily="34" charset="0"/>
                <a:ea typeface="Calibri" pitchFamily="34" charset="-122"/>
                <a:cs typeface="Calibri" pitchFamily="34" charset="-120"/>
              </a:rPr>
              <a:t>  ORDER BY season, round</a:t>
            </a:r>
            <a:endParaRPr lang="en-US" sz="950" dirty="0"/>
          </a:p>
          <a:p>
            <a:pPr marL="0" indent="0">
              <a:lnSpc>
                <a:spcPct val="125000"/>
              </a:lnSpc>
              <a:buNone/>
            </a:pPr>
            <a:r>
              <a:rPr lang="en-US" sz="950" dirty="0">
                <a:solidFill>
                  <a:srgbClr val="444444"/>
                </a:solidFill>
                <a:latin typeface="Calibri" pitchFamily="34" charset="0"/>
                <a:ea typeface="Calibri" pitchFamily="34" charset="-122"/>
                <a:cs typeface="Calibri" pitchFamily="34" charset="-120"/>
              </a:rPr>
              <a:t>  ROWS BETWEEN 4 PRECEDING AND CURRENT ROW</a:t>
            </a:r>
            <a:endParaRPr lang="en-US" sz="950" dirty="0"/>
          </a:p>
          <a:p>
            <a:pPr marL="0" indent="0">
              <a:lnSpc>
                <a:spcPct val="125000"/>
              </a:lnSpc>
              <a:buNone/>
            </a:pPr>
            <a:r>
              <a:rPr lang="en-US" sz="950" dirty="0">
                <a:solidFill>
                  <a:srgbClr val="444444"/>
                </a:solidFill>
                <a:latin typeface="Calibri" pitchFamily="34" charset="0"/>
                <a:ea typeface="Calibri" pitchFamily="34" charset="-122"/>
                <a:cs typeface="Calibri" pitchFamily="34" charset="-120"/>
              </a:rPr>
              <a:t>)</a:t>
            </a:r>
            <a:endParaRPr lang="en-US" sz="950" dirty="0"/>
          </a:p>
          <a:p>
            <a:pPr marL="0" indent="0">
              <a:lnSpc>
                <a:spcPct val="125000"/>
              </a:lnSpc>
              <a:buNone/>
            </a:pPr>
            <a:endParaRPr lang="en-US" sz="950" dirty="0"/>
          </a:p>
          <a:p>
            <a:pPr marL="0" indent="0">
              <a:lnSpc>
                <a:spcPct val="125000"/>
              </a:lnSpc>
              <a:buNone/>
            </a:pPr>
            <a:r>
              <a:rPr lang="en-US" sz="950" dirty="0">
                <a:solidFill>
                  <a:srgbClr val="444444"/>
                </a:solidFill>
                <a:latin typeface="Calibri" pitchFamily="34" charset="0"/>
                <a:ea typeface="Calibri" pitchFamily="34" charset="-122"/>
                <a:cs typeface="Calibri" pitchFamily="34" charset="-120"/>
              </a:rPr>
              <a:t>This computes each driver's last 5-race</a:t>
            </a:r>
            <a:endParaRPr lang="en-US" sz="950" dirty="0"/>
          </a:p>
          <a:p>
            <a:pPr marL="0" indent="0">
              <a:lnSpc>
                <a:spcPct val="125000"/>
              </a:lnSpc>
              <a:buNone/>
            </a:pPr>
            <a:r>
              <a:rPr lang="en-US" sz="950" dirty="0">
                <a:solidFill>
                  <a:srgbClr val="444444"/>
                </a:solidFill>
                <a:latin typeface="Calibri" pitchFamily="34" charset="0"/>
                <a:ea typeface="Calibri" pitchFamily="34" charset="-122"/>
                <a:cs typeface="Calibri" pitchFamily="34" charset="-120"/>
              </a:rPr>
              <a:t>average — distributed across 2 workers.</a:t>
            </a:r>
            <a:endParaRPr lang="en-US" sz="950" dirty="0"/>
          </a:p>
          <a:p>
            <a:pPr marL="0" indent="0">
              <a:lnSpc>
                <a:spcPct val="125000"/>
              </a:lnSpc>
              <a:buNone/>
            </a:pPr>
            <a:r>
              <a:rPr lang="en-US" sz="950" dirty="0">
                <a:solidFill>
                  <a:srgbClr val="444444"/>
                </a:solidFill>
                <a:latin typeface="Calibri" pitchFamily="34" charset="0"/>
                <a:ea typeface="Calibri" pitchFamily="34" charset="-122"/>
                <a:cs typeface="Calibri" pitchFamily="34" charset="-120"/>
              </a:rPr>
              <a:t>3,524 records × 30+ window features.</a:t>
            </a:r>
            <a:endParaRPr lang="en-US" sz="950" dirty="0"/>
          </a:p>
        </p:txBody>
      </p:sp>
      <p:sp>
        <p:nvSpPr>
          <p:cNvPr id="11" name="Shape 8"/>
          <p:cNvSpPr/>
          <p:nvPr/>
        </p:nvSpPr>
        <p:spPr>
          <a:xfrm>
            <a:off x="4572000" y="914400"/>
            <a:ext cx="4023360" cy="2011680"/>
          </a:xfrm>
          <a:prstGeom prst="rect">
            <a:avLst/>
          </a:prstGeom>
          <a:solidFill>
            <a:srgbClr val="FFFFFF"/>
          </a:solidFill>
          <a:ln/>
          <a:effectLst>
            <a:outerShdw blurRad="50800" dist="25400" dir="8100000" algn="bl" rotWithShape="0">
              <a:srgbClr val="000000">
                <a:alpha val="10000"/>
              </a:srgbClr>
            </a:outerShdw>
          </a:effectLst>
        </p:spPr>
        <p:txBody>
          <a:bodyPr/>
          <a:lstStyle/>
          <a:p>
            <a:endParaRPr lang="en-US"/>
          </a:p>
        </p:txBody>
      </p:sp>
      <p:sp>
        <p:nvSpPr>
          <p:cNvPr id="12" name="Shape 9"/>
          <p:cNvSpPr/>
          <p:nvPr/>
        </p:nvSpPr>
        <p:spPr>
          <a:xfrm>
            <a:off x="4572000" y="914400"/>
            <a:ext cx="54864" cy="2011680"/>
          </a:xfrm>
          <a:prstGeom prst="rect">
            <a:avLst/>
          </a:prstGeom>
          <a:solidFill>
            <a:srgbClr val="059669"/>
          </a:solidFill>
          <a:ln/>
        </p:spPr>
        <p:txBody>
          <a:bodyPr/>
          <a:lstStyle/>
          <a:p>
            <a:endParaRPr lang="en-US"/>
          </a:p>
        </p:txBody>
      </p:sp>
      <p:pic>
        <p:nvPicPr>
          <p:cNvPr id="13" name="Image 1" descr="preencoded.png"/>
          <p:cNvPicPr>
            <a:picLocks noChangeAspect="1"/>
          </p:cNvPicPr>
          <p:nvPr/>
        </p:nvPicPr>
        <p:blipFill>
          <a:blip r:embed="rId4"/>
          <a:stretch>
            <a:fillRect/>
          </a:stretch>
        </p:blipFill>
        <p:spPr>
          <a:xfrm>
            <a:off x="4709160" y="1024128"/>
            <a:ext cx="256032" cy="256032"/>
          </a:xfrm>
          <a:prstGeom prst="rect">
            <a:avLst/>
          </a:prstGeom>
        </p:spPr>
      </p:pic>
      <p:sp>
        <p:nvSpPr>
          <p:cNvPr id="14" name="Text 10"/>
          <p:cNvSpPr/>
          <p:nvPr/>
        </p:nvSpPr>
        <p:spPr>
          <a:xfrm>
            <a:off x="5029200" y="987552"/>
            <a:ext cx="3429000" cy="292608"/>
          </a:xfrm>
          <a:prstGeom prst="rect">
            <a:avLst/>
          </a:prstGeom>
          <a:noFill/>
          <a:ln/>
        </p:spPr>
        <p:txBody>
          <a:bodyPr wrap="square" lIns="0" tIns="0" rIns="0" bIns="0" rtlCol="0" anchor="ctr"/>
          <a:lstStyle/>
          <a:p>
            <a:pPr marL="0" indent="0">
              <a:buNone/>
            </a:pPr>
            <a:r>
              <a:rPr lang="en-US" sz="1200" b="1" dirty="0">
                <a:solidFill>
                  <a:srgbClr val="059669"/>
                </a:solidFill>
                <a:latin typeface="Georgia" pitchFamily="34" charset="0"/>
                <a:ea typeface="Georgia" pitchFamily="34" charset="-122"/>
                <a:cs typeface="Georgia" pitchFamily="34" charset="-120"/>
              </a:rPr>
              <a:t>Apache Airflow — Monday Pipeline</a:t>
            </a:r>
            <a:endParaRPr lang="en-US" sz="1200" dirty="0"/>
          </a:p>
        </p:txBody>
      </p:sp>
      <p:sp>
        <p:nvSpPr>
          <p:cNvPr id="15" name="Text 11"/>
          <p:cNvSpPr/>
          <p:nvPr/>
        </p:nvSpPr>
        <p:spPr>
          <a:xfrm>
            <a:off x="4709160" y="1325880"/>
            <a:ext cx="3749040" cy="1508760"/>
          </a:xfrm>
          <a:prstGeom prst="rect">
            <a:avLst/>
          </a:prstGeom>
          <a:noFill/>
          <a:ln/>
        </p:spPr>
        <p:txBody>
          <a:bodyPr wrap="square" rtlCol="0" anchor="t"/>
          <a:lstStyle/>
          <a:p>
            <a:pPr marL="0" indent="0">
              <a:lnSpc>
                <a:spcPct val="125000"/>
              </a:lnSpc>
              <a:buNone/>
            </a:pPr>
            <a:r>
              <a:rPr lang="en-US" sz="950" dirty="0">
                <a:solidFill>
                  <a:srgbClr val="444444"/>
                </a:solidFill>
                <a:latin typeface="Calibri" pitchFamily="34" charset="0"/>
                <a:ea typeface="Calibri" pitchFamily="34" charset="-122"/>
                <a:cs typeface="Calibri" pitchFamily="34" charset="-120"/>
              </a:rPr>
              <a:t>5-task DAG runs every Monday 6 AM:</a:t>
            </a:r>
            <a:endParaRPr lang="en-US" sz="950" dirty="0"/>
          </a:p>
          <a:p>
            <a:pPr marL="0" indent="0">
              <a:lnSpc>
                <a:spcPct val="125000"/>
              </a:lnSpc>
              <a:buNone/>
            </a:pPr>
            <a:endParaRPr lang="en-US" sz="950" dirty="0"/>
          </a:p>
          <a:p>
            <a:pPr marL="0" indent="0">
              <a:lnSpc>
                <a:spcPct val="125000"/>
              </a:lnSpc>
              <a:buNone/>
            </a:pPr>
            <a:r>
              <a:rPr lang="en-US" sz="950" dirty="0">
                <a:solidFill>
                  <a:srgbClr val="444444"/>
                </a:solidFill>
                <a:latin typeface="Calibri" pitchFamily="34" charset="0"/>
                <a:ea typeface="Calibri" pitchFamily="34" charset="-122"/>
                <a:cs typeface="Calibri" pitchFamily="34" charset="-120"/>
              </a:rPr>
              <a:t>1. Ingest → pull latest from APIs</a:t>
            </a:r>
            <a:endParaRPr lang="en-US" sz="950" dirty="0"/>
          </a:p>
          <a:p>
            <a:pPr marL="0" indent="0">
              <a:lnSpc>
                <a:spcPct val="125000"/>
              </a:lnSpc>
              <a:buNone/>
            </a:pPr>
            <a:r>
              <a:rPr lang="en-US" sz="950" dirty="0">
                <a:solidFill>
                  <a:srgbClr val="444444"/>
                </a:solidFill>
                <a:latin typeface="Calibri" pitchFamily="34" charset="0"/>
                <a:ea typeface="Calibri" pitchFamily="34" charset="-122"/>
                <a:cs typeface="Calibri" pitchFamily="34" charset="-120"/>
              </a:rPr>
              <a:t>2. Spark Silver → clean on cluster</a:t>
            </a:r>
            <a:endParaRPr lang="en-US" sz="950" dirty="0"/>
          </a:p>
          <a:p>
            <a:pPr marL="0" indent="0">
              <a:lnSpc>
                <a:spcPct val="125000"/>
              </a:lnSpc>
              <a:buNone/>
            </a:pPr>
            <a:r>
              <a:rPr lang="en-US" sz="950" dirty="0">
                <a:solidFill>
                  <a:srgbClr val="444444"/>
                </a:solidFill>
                <a:latin typeface="Calibri" pitchFamily="34" charset="0"/>
                <a:ea typeface="Calibri" pitchFamily="34" charset="-122"/>
                <a:cs typeface="Calibri" pitchFamily="34" charset="-120"/>
              </a:rPr>
              <a:t>3. Spark Gold → features on cluster</a:t>
            </a:r>
            <a:endParaRPr lang="en-US" sz="950" dirty="0"/>
          </a:p>
          <a:p>
            <a:pPr marL="0" indent="0">
              <a:lnSpc>
                <a:spcPct val="125000"/>
              </a:lnSpc>
              <a:buNone/>
            </a:pPr>
            <a:r>
              <a:rPr lang="en-US" sz="950" dirty="0">
                <a:solidFill>
                  <a:srgbClr val="444444"/>
                </a:solidFill>
                <a:latin typeface="Calibri" pitchFamily="34" charset="0"/>
                <a:ea typeface="Calibri" pitchFamily="34" charset="-122"/>
                <a:cs typeface="Calibri" pitchFamily="34" charset="-120"/>
              </a:rPr>
              <a:t>4. Retrain → compare 3 ML models</a:t>
            </a:r>
            <a:endParaRPr lang="en-US" sz="950" dirty="0"/>
          </a:p>
          <a:p>
            <a:pPr marL="0" indent="0">
              <a:lnSpc>
                <a:spcPct val="125000"/>
              </a:lnSpc>
              <a:buNone/>
            </a:pPr>
            <a:r>
              <a:rPr lang="en-US" sz="950" dirty="0">
                <a:solidFill>
                  <a:srgbClr val="444444"/>
                </a:solidFill>
                <a:latin typeface="Calibri" pitchFamily="34" charset="0"/>
                <a:ea typeface="Calibri" pitchFamily="34" charset="-122"/>
                <a:cs typeface="Calibri" pitchFamily="34" charset="-120"/>
              </a:rPr>
              <a:t>5. Agents → 4 AI agents evaluate</a:t>
            </a:r>
            <a:endParaRPr lang="en-US" sz="950" dirty="0"/>
          </a:p>
          <a:p>
            <a:pPr marL="0" indent="0">
              <a:lnSpc>
                <a:spcPct val="125000"/>
              </a:lnSpc>
              <a:buNone/>
            </a:pPr>
            <a:endParaRPr lang="en-US" sz="950" dirty="0"/>
          </a:p>
          <a:p>
            <a:pPr marL="0" indent="0">
              <a:lnSpc>
                <a:spcPct val="125000"/>
              </a:lnSpc>
              <a:buNone/>
            </a:pPr>
            <a:r>
              <a:rPr lang="en-US" sz="950" dirty="0">
                <a:solidFill>
                  <a:srgbClr val="444444"/>
                </a:solidFill>
                <a:latin typeface="Calibri" pitchFamily="34" charset="0"/>
                <a:ea typeface="Calibri" pitchFamily="34" charset="-122"/>
                <a:cs typeface="Calibri" pitchFamily="34" charset="-120"/>
              </a:rPr>
              <a:t>Automatic retry on failure. The Spark</a:t>
            </a:r>
            <a:endParaRPr lang="en-US" sz="950" dirty="0"/>
          </a:p>
          <a:p>
            <a:pPr marL="0" indent="0">
              <a:lnSpc>
                <a:spcPct val="125000"/>
              </a:lnSpc>
              <a:buNone/>
            </a:pPr>
            <a:r>
              <a:rPr lang="en-US" sz="950" dirty="0">
                <a:solidFill>
                  <a:srgbClr val="444444"/>
                </a:solidFill>
                <a:latin typeface="Calibri" pitchFamily="34" charset="0"/>
                <a:ea typeface="Calibri" pitchFamily="34" charset="-122"/>
                <a:cs typeface="Calibri" pitchFamily="34" charset="-120"/>
              </a:rPr>
              <a:t>OOM crash was caught and re-run.</a:t>
            </a:r>
            <a:endParaRPr lang="en-US" sz="950" dirty="0"/>
          </a:p>
        </p:txBody>
      </p:sp>
      <p:sp>
        <p:nvSpPr>
          <p:cNvPr id="16" name="Shape 12"/>
          <p:cNvSpPr/>
          <p:nvPr/>
        </p:nvSpPr>
        <p:spPr>
          <a:xfrm>
            <a:off x="365760" y="3108960"/>
            <a:ext cx="4023360" cy="1371600"/>
          </a:xfrm>
          <a:prstGeom prst="rect">
            <a:avLst/>
          </a:prstGeom>
          <a:solidFill>
            <a:srgbClr val="FFFFFF"/>
          </a:solidFill>
          <a:ln/>
          <a:effectLst>
            <a:outerShdw blurRad="50800" dist="25400" dir="8100000" algn="bl" rotWithShape="0">
              <a:srgbClr val="000000">
                <a:alpha val="10000"/>
              </a:srgbClr>
            </a:outerShdw>
          </a:effectLst>
        </p:spPr>
        <p:txBody>
          <a:bodyPr/>
          <a:lstStyle/>
          <a:p>
            <a:endParaRPr lang="en-US"/>
          </a:p>
        </p:txBody>
      </p:sp>
      <p:sp>
        <p:nvSpPr>
          <p:cNvPr id="17" name="Shape 13"/>
          <p:cNvSpPr/>
          <p:nvPr/>
        </p:nvSpPr>
        <p:spPr>
          <a:xfrm>
            <a:off x="365760" y="3108960"/>
            <a:ext cx="54864" cy="1371600"/>
          </a:xfrm>
          <a:prstGeom prst="rect">
            <a:avLst/>
          </a:prstGeom>
          <a:solidFill>
            <a:srgbClr val="D97706"/>
          </a:solidFill>
          <a:ln/>
        </p:spPr>
        <p:txBody>
          <a:bodyPr/>
          <a:lstStyle/>
          <a:p>
            <a:endParaRPr lang="en-US"/>
          </a:p>
        </p:txBody>
      </p:sp>
      <p:pic>
        <p:nvPicPr>
          <p:cNvPr id="18" name="Image 2" descr="preencoded.png"/>
          <p:cNvPicPr>
            <a:picLocks noChangeAspect="1"/>
          </p:cNvPicPr>
          <p:nvPr/>
        </p:nvPicPr>
        <p:blipFill>
          <a:blip r:embed="rId5"/>
          <a:stretch>
            <a:fillRect/>
          </a:stretch>
        </p:blipFill>
        <p:spPr>
          <a:xfrm>
            <a:off x="502920" y="3218688"/>
            <a:ext cx="256032" cy="256032"/>
          </a:xfrm>
          <a:prstGeom prst="rect">
            <a:avLst/>
          </a:prstGeom>
        </p:spPr>
      </p:pic>
      <p:sp>
        <p:nvSpPr>
          <p:cNvPr id="19" name="Text 14"/>
          <p:cNvSpPr/>
          <p:nvPr/>
        </p:nvSpPr>
        <p:spPr>
          <a:xfrm>
            <a:off x="822960" y="3182112"/>
            <a:ext cx="3429000" cy="292608"/>
          </a:xfrm>
          <a:prstGeom prst="rect">
            <a:avLst/>
          </a:prstGeom>
          <a:noFill/>
          <a:ln/>
        </p:spPr>
        <p:txBody>
          <a:bodyPr wrap="square" lIns="0" tIns="0" rIns="0" bIns="0" rtlCol="0" anchor="ctr"/>
          <a:lstStyle/>
          <a:p>
            <a:pPr marL="0" indent="0">
              <a:buNone/>
            </a:pPr>
            <a:r>
              <a:rPr lang="en-US" sz="1200" b="1" dirty="0">
                <a:solidFill>
                  <a:srgbClr val="D97706"/>
                </a:solidFill>
                <a:latin typeface="Georgia" pitchFamily="34" charset="0"/>
                <a:ea typeface="Georgia" pitchFamily="34" charset="-122"/>
                <a:cs typeface="Georgia" pitchFamily="34" charset="-120"/>
              </a:rPr>
              <a:t>Real Bug: Schema Evolution</a:t>
            </a:r>
            <a:endParaRPr lang="en-US" sz="1200" dirty="0"/>
          </a:p>
        </p:txBody>
      </p:sp>
      <p:sp>
        <p:nvSpPr>
          <p:cNvPr id="20" name="Text 15"/>
          <p:cNvSpPr/>
          <p:nvPr/>
        </p:nvSpPr>
        <p:spPr>
          <a:xfrm>
            <a:off x="502920" y="3520440"/>
            <a:ext cx="3749040" cy="868680"/>
          </a:xfrm>
          <a:prstGeom prst="rect">
            <a:avLst/>
          </a:prstGeom>
          <a:noFill/>
          <a:ln/>
        </p:spPr>
        <p:txBody>
          <a:bodyPr wrap="square" rtlCol="0" anchor="t"/>
          <a:lstStyle/>
          <a:p>
            <a:pPr marL="0" indent="0">
              <a:lnSpc>
                <a:spcPct val="125000"/>
              </a:lnSpc>
              <a:buNone/>
            </a:pPr>
            <a:r>
              <a:rPr lang="en-US" sz="950" dirty="0">
                <a:solidFill>
                  <a:srgbClr val="444444"/>
                </a:solidFill>
                <a:latin typeface="Calibri" pitchFamily="34" charset="0"/>
                <a:ea typeface="Calibri" pitchFamily="34" charset="-122"/>
                <a:cs typeface="Calibri" pitchFamily="34" charset="-120"/>
              </a:rPr>
              <a:t>2018-2024: avg_speed_kph = STRING ("210.5")</a:t>
            </a:r>
            <a:endParaRPr lang="en-US" sz="950" dirty="0"/>
          </a:p>
          <a:p>
            <a:pPr marL="0" indent="0">
              <a:lnSpc>
                <a:spcPct val="125000"/>
              </a:lnSpc>
              <a:buNone/>
            </a:pPr>
            <a:r>
              <a:rPr lang="en-US" sz="950" dirty="0">
                <a:solidFill>
                  <a:srgbClr val="444444"/>
                </a:solidFill>
                <a:latin typeface="Calibri" pitchFamily="34" charset="0"/>
                <a:ea typeface="Calibri" pitchFamily="34" charset="-122"/>
                <a:cs typeface="Calibri" pitchFamily="34" charset="-120"/>
              </a:rPr>
              <a:t>2025: avg_speed_kph = INT (210)</a:t>
            </a:r>
            <a:endParaRPr lang="en-US" sz="950" dirty="0"/>
          </a:p>
          <a:p>
            <a:pPr marL="0" indent="0">
              <a:lnSpc>
                <a:spcPct val="125000"/>
              </a:lnSpc>
              <a:buNone/>
            </a:pPr>
            <a:r>
              <a:rPr lang="en-US" sz="950" dirty="0">
                <a:solidFill>
                  <a:srgbClr val="444444"/>
                </a:solidFill>
                <a:latin typeface="Calibri" pitchFamily="34" charset="0"/>
                <a:ea typeface="Calibri" pitchFamily="34" charset="-122"/>
                <a:cs typeface="Calibri" pitchFamily="34" charset="-120"/>
              </a:rPr>
              <a:t>Spark refused to merge schemas!</a:t>
            </a:r>
            <a:endParaRPr lang="en-US" sz="950" dirty="0"/>
          </a:p>
          <a:p>
            <a:pPr marL="0" indent="0">
              <a:lnSpc>
                <a:spcPct val="125000"/>
              </a:lnSpc>
              <a:buNone/>
            </a:pPr>
            <a:endParaRPr lang="en-US" sz="950" dirty="0"/>
          </a:p>
          <a:p>
            <a:pPr marL="0" indent="0">
              <a:lnSpc>
                <a:spcPct val="125000"/>
              </a:lnSpc>
              <a:buNone/>
            </a:pPr>
            <a:r>
              <a:rPr lang="en-US" sz="950" dirty="0">
                <a:solidFill>
                  <a:srgbClr val="444444"/>
                </a:solidFill>
                <a:latin typeface="Calibri" pitchFamily="34" charset="0"/>
                <a:ea typeface="Calibri" pitchFamily="34" charset="-122"/>
                <a:cs typeface="Calibri" pitchFamily="34" charset="-120"/>
              </a:rPr>
              <a:t>Solution: Cast all columns to StringType</a:t>
            </a:r>
            <a:endParaRPr lang="en-US" sz="950" dirty="0"/>
          </a:p>
          <a:p>
            <a:pPr marL="0" indent="0">
              <a:lnSpc>
                <a:spcPct val="125000"/>
              </a:lnSpc>
              <a:buNone/>
            </a:pPr>
            <a:r>
              <a:rPr lang="en-US" sz="950" dirty="0">
                <a:solidFill>
                  <a:srgbClr val="444444"/>
                </a:solidFill>
                <a:latin typeface="Calibri" pitchFamily="34" charset="0"/>
                <a:ea typeface="Calibri" pitchFamily="34" charset="-122"/>
                <a:cs typeface="Calibri" pitchFamily="34" charset="-120"/>
              </a:rPr>
              <a:t>per file → unionByName → re-cast.</a:t>
            </a:r>
            <a:endParaRPr lang="en-US" sz="950" dirty="0"/>
          </a:p>
          <a:p>
            <a:pPr marL="0" indent="0">
              <a:lnSpc>
                <a:spcPct val="125000"/>
              </a:lnSpc>
              <a:buNone/>
            </a:pPr>
            <a:r>
              <a:rPr lang="en-US" sz="950" dirty="0">
                <a:solidFill>
                  <a:srgbClr val="444444"/>
                </a:solidFill>
                <a:latin typeface="Calibri" pitchFamily="34" charset="0"/>
                <a:ea typeface="Calibri" pitchFamily="34" charset="-122"/>
                <a:cs typeface="Calibri" pitchFamily="34" charset="-120"/>
              </a:rPr>
              <a:t>Standard production pattern.</a:t>
            </a:r>
            <a:endParaRPr lang="en-US" sz="950" dirty="0"/>
          </a:p>
        </p:txBody>
      </p:sp>
      <p:sp>
        <p:nvSpPr>
          <p:cNvPr id="21" name="Shape 16"/>
          <p:cNvSpPr/>
          <p:nvPr/>
        </p:nvSpPr>
        <p:spPr>
          <a:xfrm>
            <a:off x="4572000" y="3108960"/>
            <a:ext cx="4023360" cy="1371600"/>
          </a:xfrm>
          <a:prstGeom prst="rect">
            <a:avLst/>
          </a:prstGeom>
          <a:solidFill>
            <a:srgbClr val="FFFFFF"/>
          </a:solidFill>
          <a:ln/>
          <a:effectLst>
            <a:outerShdw blurRad="50800" dist="25400" dir="8100000" algn="bl" rotWithShape="0">
              <a:srgbClr val="000000">
                <a:alpha val="10000"/>
              </a:srgbClr>
            </a:outerShdw>
          </a:effectLst>
        </p:spPr>
        <p:txBody>
          <a:bodyPr/>
          <a:lstStyle/>
          <a:p>
            <a:endParaRPr lang="en-US"/>
          </a:p>
        </p:txBody>
      </p:sp>
      <p:sp>
        <p:nvSpPr>
          <p:cNvPr id="22" name="Shape 17"/>
          <p:cNvSpPr/>
          <p:nvPr/>
        </p:nvSpPr>
        <p:spPr>
          <a:xfrm>
            <a:off x="4572000" y="3108960"/>
            <a:ext cx="54864" cy="1371600"/>
          </a:xfrm>
          <a:prstGeom prst="rect">
            <a:avLst/>
          </a:prstGeom>
          <a:solidFill>
            <a:srgbClr val="7C3AED"/>
          </a:solidFill>
          <a:ln/>
        </p:spPr>
        <p:txBody>
          <a:bodyPr/>
          <a:lstStyle/>
          <a:p>
            <a:endParaRPr lang="en-US"/>
          </a:p>
        </p:txBody>
      </p:sp>
      <p:pic>
        <p:nvPicPr>
          <p:cNvPr id="23" name="Image 3" descr="preencoded.png"/>
          <p:cNvPicPr>
            <a:picLocks noChangeAspect="1"/>
          </p:cNvPicPr>
          <p:nvPr/>
        </p:nvPicPr>
        <p:blipFill>
          <a:blip r:embed="rId5"/>
          <a:stretch>
            <a:fillRect/>
          </a:stretch>
        </p:blipFill>
        <p:spPr>
          <a:xfrm>
            <a:off x="4709160" y="3218688"/>
            <a:ext cx="256032" cy="256032"/>
          </a:xfrm>
          <a:prstGeom prst="rect">
            <a:avLst/>
          </a:prstGeom>
        </p:spPr>
      </p:pic>
      <p:sp>
        <p:nvSpPr>
          <p:cNvPr id="24" name="Text 18"/>
          <p:cNvSpPr/>
          <p:nvPr/>
        </p:nvSpPr>
        <p:spPr>
          <a:xfrm>
            <a:off x="5029200" y="3182112"/>
            <a:ext cx="3429000" cy="292608"/>
          </a:xfrm>
          <a:prstGeom prst="rect">
            <a:avLst/>
          </a:prstGeom>
          <a:noFill/>
          <a:ln/>
        </p:spPr>
        <p:txBody>
          <a:bodyPr wrap="square" lIns="0" tIns="0" rIns="0" bIns="0" rtlCol="0" anchor="ctr"/>
          <a:lstStyle/>
          <a:p>
            <a:pPr marL="0" indent="0">
              <a:buNone/>
            </a:pPr>
            <a:r>
              <a:rPr lang="en-US" sz="1200" b="1" dirty="0">
                <a:solidFill>
                  <a:srgbClr val="7C3AED"/>
                </a:solidFill>
                <a:latin typeface="Georgia" pitchFamily="34" charset="0"/>
                <a:ea typeface="Georgia" pitchFamily="34" charset="-122"/>
                <a:cs typeface="Georgia" pitchFamily="34" charset="-120"/>
              </a:rPr>
              <a:t>Real Bug: Spark OOM (Code 137)</a:t>
            </a:r>
            <a:endParaRPr lang="en-US" sz="1200" dirty="0"/>
          </a:p>
        </p:txBody>
      </p:sp>
      <p:sp>
        <p:nvSpPr>
          <p:cNvPr id="25" name="Text 19"/>
          <p:cNvSpPr/>
          <p:nvPr/>
        </p:nvSpPr>
        <p:spPr>
          <a:xfrm>
            <a:off x="4709160" y="3520440"/>
            <a:ext cx="3749040" cy="868680"/>
          </a:xfrm>
          <a:prstGeom prst="rect">
            <a:avLst/>
          </a:prstGeom>
          <a:noFill/>
          <a:ln/>
        </p:spPr>
        <p:txBody>
          <a:bodyPr wrap="square" rtlCol="0" anchor="t"/>
          <a:lstStyle/>
          <a:p>
            <a:pPr marL="0" indent="0">
              <a:lnSpc>
                <a:spcPct val="125000"/>
              </a:lnSpc>
              <a:buNone/>
            </a:pPr>
            <a:r>
              <a:rPr lang="en-US" sz="950" dirty="0">
                <a:solidFill>
                  <a:srgbClr val="444444"/>
                </a:solidFill>
                <a:latin typeface="Calibri" pitchFamily="34" charset="0"/>
                <a:ea typeface="Calibri" pitchFamily="34" charset="-122"/>
                <a:cs typeface="Calibri" pitchFamily="34" charset="-120"/>
              </a:rPr>
              <a:t>Workers crashed on 181K laps with 2GB RAM.</a:t>
            </a:r>
            <a:endParaRPr lang="en-US" sz="950" dirty="0"/>
          </a:p>
          <a:p>
            <a:pPr marL="0" indent="0">
              <a:lnSpc>
                <a:spcPct val="125000"/>
              </a:lnSpc>
              <a:buNone/>
            </a:pPr>
            <a:r>
              <a:rPr lang="en-US" sz="950" dirty="0">
                <a:solidFill>
                  <a:srgbClr val="444444"/>
                </a:solidFill>
                <a:latin typeface="Calibri" pitchFamily="34" charset="0"/>
                <a:ea typeface="Calibri" pitchFamily="34" charset="-122"/>
                <a:cs typeface="Calibri" pitchFamily="34" charset="-120"/>
              </a:rPr>
              <a:t>Airflow retry logic automatically re-ran.</a:t>
            </a:r>
            <a:endParaRPr lang="en-US" sz="950" dirty="0"/>
          </a:p>
          <a:p>
            <a:pPr marL="0" indent="0">
              <a:lnSpc>
                <a:spcPct val="125000"/>
              </a:lnSpc>
              <a:buNone/>
            </a:pPr>
            <a:r>
              <a:rPr lang="en-US" sz="950" dirty="0">
                <a:solidFill>
                  <a:srgbClr val="444444"/>
                </a:solidFill>
                <a:latin typeface="Calibri" pitchFamily="34" charset="0"/>
                <a:ea typeface="Calibri" pitchFamily="34" charset="-122"/>
                <a:cs typeface="Calibri" pitchFamily="34" charset="-120"/>
              </a:rPr>
              <a:t>Succeeded on second attempt.</a:t>
            </a:r>
            <a:endParaRPr lang="en-US" sz="950" dirty="0"/>
          </a:p>
          <a:p>
            <a:pPr marL="0" indent="0">
              <a:lnSpc>
                <a:spcPct val="125000"/>
              </a:lnSpc>
              <a:buNone/>
            </a:pPr>
            <a:endParaRPr lang="en-US" sz="950" dirty="0"/>
          </a:p>
          <a:p>
            <a:pPr marL="0" indent="0">
              <a:lnSpc>
                <a:spcPct val="125000"/>
              </a:lnSpc>
              <a:buNone/>
            </a:pPr>
            <a:r>
              <a:rPr lang="en-US" sz="950" dirty="0">
                <a:solidFill>
                  <a:srgbClr val="444444"/>
                </a:solidFill>
                <a:latin typeface="Calibri" pitchFamily="34" charset="0"/>
                <a:ea typeface="Calibri" pitchFamily="34" charset="-122"/>
                <a:cs typeface="Calibri" pitchFamily="34" charset="-120"/>
              </a:rPr>
              <a:t>This is fault tolerance in action — the system</a:t>
            </a:r>
            <a:endParaRPr lang="en-US" sz="950" dirty="0"/>
          </a:p>
          <a:p>
            <a:pPr marL="0" indent="0">
              <a:lnSpc>
                <a:spcPct val="125000"/>
              </a:lnSpc>
              <a:buNone/>
            </a:pPr>
            <a:r>
              <a:rPr lang="en-US" sz="950" dirty="0">
                <a:solidFill>
                  <a:srgbClr val="444444"/>
                </a:solidFill>
                <a:latin typeface="Calibri" pitchFamily="34" charset="0"/>
                <a:ea typeface="Calibri" pitchFamily="34" charset="-122"/>
                <a:cs typeface="Calibri" pitchFamily="34" charset="-120"/>
              </a:rPr>
              <a:t>recovered without human intervention.</a:t>
            </a:r>
            <a:endParaRPr lang="en-US" sz="950" dirty="0"/>
          </a:p>
          <a:p>
            <a:pPr marL="0" indent="0">
              <a:lnSpc>
                <a:spcPct val="125000"/>
              </a:lnSpc>
              <a:buNone/>
            </a:pPr>
            <a:r>
              <a:rPr lang="en-US" sz="950" dirty="0">
                <a:solidFill>
                  <a:srgbClr val="444444"/>
                </a:solidFill>
                <a:latin typeface="Calibri" pitchFamily="34" charset="0"/>
                <a:ea typeface="Calibri" pitchFamily="34" charset="-122"/>
                <a:cs typeface="Calibri" pitchFamily="34" charset="-120"/>
              </a:rPr>
              <a:t>Exactly how production pipelines should work.</a:t>
            </a:r>
            <a:endParaRPr lang="en-US" sz="950" dirty="0"/>
          </a:p>
        </p:txBody>
      </p:sp>
      <p:sp>
        <p:nvSpPr>
          <p:cNvPr id="26" name="Text 20"/>
          <p:cNvSpPr/>
          <p:nvPr/>
        </p:nvSpPr>
        <p:spPr>
          <a:xfrm>
            <a:off x="457200" y="4709160"/>
            <a:ext cx="6400800" cy="365760"/>
          </a:xfrm>
          <a:prstGeom prst="rect">
            <a:avLst/>
          </a:prstGeom>
          <a:noFill/>
          <a:ln/>
        </p:spPr>
        <p:txBody>
          <a:bodyPr wrap="square" rtlCol="0" anchor="ctr"/>
          <a:lstStyle/>
          <a:p>
            <a:pPr marL="0" indent="0">
              <a:buNone/>
            </a:pPr>
            <a:r>
              <a:rPr lang="en-US" sz="900" dirty="0">
                <a:solidFill>
                  <a:srgbClr val="949594"/>
                </a:solidFill>
                <a:latin typeface="Calibri" pitchFamily="34" charset="0"/>
                <a:ea typeface="Calibri" pitchFamily="34" charset="-122"/>
                <a:cs typeface="Calibri" pitchFamily="34" charset="-120"/>
              </a:rPr>
              <a:t>Speaker 2 — Data &amp; ML Models</a:t>
            </a:r>
            <a:endParaRPr lang="en-US" sz="900" dirty="0"/>
          </a:p>
        </p:txBody>
      </p:sp>
      <p:sp>
        <p:nvSpPr>
          <p:cNvPr id="27" name="Text 21"/>
          <p:cNvSpPr/>
          <p:nvPr/>
        </p:nvSpPr>
        <p:spPr>
          <a:xfrm>
            <a:off x="8412480" y="4709160"/>
            <a:ext cx="548640" cy="365760"/>
          </a:xfrm>
          <a:prstGeom prst="rect">
            <a:avLst/>
          </a:prstGeom>
          <a:noFill/>
          <a:ln/>
        </p:spPr>
        <p:txBody>
          <a:bodyPr wrap="square" rtlCol="0" anchor="ctr"/>
          <a:lstStyle/>
          <a:p>
            <a:pPr marL="0" indent="0" algn="r">
              <a:buNone/>
            </a:pPr>
            <a:r>
              <a:rPr lang="en-US" sz="900" dirty="0">
                <a:solidFill>
                  <a:srgbClr val="949594"/>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5F5F5"/>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C41E1E"/>
          </a:solidFill>
          <a:ln/>
        </p:spPr>
        <p:txBody>
          <a:bodyPr/>
          <a:lstStyle/>
          <a:p>
            <a:endParaRPr lang="en-US"/>
          </a:p>
        </p:txBody>
      </p:sp>
      <p:sp>
        <p:nvSpPr>
          <p:cNvPr id="3" name="Shape 1"/>
          <p:cNvSpPr/>
          <p:nvPr/>
        </p:nvSpPr>
        <p:spPr>
          <a:xfrm>
            <a:off x="8778240" y="0"/>
            <a:ext cx="137160" cy="5143500"/>
          </a:xfrm>
          <a:prstGeom prst="rect">
            <a:avLst/>
          </a:prstGeom>
          <a:solidFill>
            <a:srgbClr val="C41E1E"/>
          </a:solidFill>
          <a:ln/>
        </p:spPr>
        <p:txBody>
          <a:bodyPr/>
          <a:lstStyle/>
          <a:p>
            <a:endParaRPr lang="en-US"/>
          </a:p>
        </p:txBody>
      </p:sp>
      <p:sp>
        <p:nvSpPr>
          <p:cNvPr id="4" name="Shape 2"/>
          <p:cNvSpPr/>
          <p:nvPr/>
        </p:nvSpPr>
        <p:spPr>
          <a:xfrm>
            <a:off x="8961120" y="0"/>
            <a:ext cx="73152" cy="5143500"/>
          </a:xfrm>
          <a:prstGeom prst="rect">
            <a:avLst/>
          </a:prstGeom>
          <a:solidFill>
            <a:srgbClr val="C41E1E">
              <a:alpha val="40000"/>
            </a:srgbClr>
          </a:solidFill>
          <a:ln/>
        </p:spPr>
        <p:txBody>
          <a:bodyPr/>
          <a:lstStyle/>
          <a:p>
            <a:endParaRPr lang="en-US"/>
          </a:p>
        </p:txBody>
      </p:sp>
      <p:pic>
        <p:nvPicPr>
          <p:cNvPr id="5" name="Image 0" descr="preencoded.png"/>
          <p:cNvPicPr>
            <a:picLocks noChangeAspect="1"/>
          </p:cNvPicPr>
          <p:nvPr/>
        </p:nvPicPr>
        <p:blipFill>
          <a:blip r:embed="rId3"/>
          <a:stretch>
            <a:fillRect/>
          </a:stretch>
        </p:blipFill>
        <p:spPr>
          <a:xfrm>
            <a:off x="365760" y="182880"/>
            <a:ext cx="320040" cy="320040"/>
          </a:xfrm>
          <a:prstGeom prst="rect">
            <a:avLst/>
          </a:prstGeom>
        </p:spPr>
      </p:pic>
      <p:sp>
        <p:nvSpPr>
          <p:cNvPr id="6" name="Text 3"/>
          <p:cNvSpPr/>
          <p:nvPr/>
        </p:nvSpPr>
        <p:spPr>
          <a:xfrm>
            <a:off x="777240" y="182880"/>
            <a:ext cx="7315200" cy="548640"/>
          </a:xfrm>
          <a:prstGeom prst="rect">
            <a:avLst/>
          </a:prstGeom>
          <a:noFill/>
          <a:ln/>
        </p:spPr>
        <p:txBody>
          <a:bodyPr wrap="square" lIns="0" tIns="0" rIns="0" bIns="0" rtlCol="0" anchor="ctr"/>
          <a:lstStyle/>
          <a:p>
            <a:pPr marL="0" indent="0">
              <a:buNone/>
            </a:pPr>
            <a:r>
              <a:rPr lang="en-US" sz="2600" b="1" dirty="0">
                <a:solidFill>
                  <a:srgbClr val="1A1A2E"/>
                </a:solidFill>
                <a:latin typeface="Georgia" pitchFamily="34" charset="0"/>
                <a:ea typeface="Georgia" pitchFamily="34" charset="-122"/>
                <a:cs typeface="Georgia" pitchFamily="34" charset="-120"/>
              </a:rPr>
              <a:t>Phase 2 — Tire &amp; Lap Data Impact</a:t>
            </a:r>
            <a:endParaRPr lang="en-US" sz="2600" dirty="0"/>
          </a:p>
        </p:txBody>
      </p:sp>
      <p:sp>
        <p:nvSpPr>
          <p:cNvPr id="7" name="Shape 4"/>
          <p:cNvSpPr/>
          <p:nvPr/>
        </p:nvSpPr>
        <p:spPr>
          <a:xfrm>
            <a:off x="365760" y="914400"/>
            <a:ext cx="1691640" cy="1188720"/>
          </a:xfrm>
          <a:prstGeom prst="rect">
            <a:avLst/>
          </a:prstGeom>
          <a:solidFill>
            <a:srgbClr val="FFFFFF"/>
          </a:solidFill>
          <a:ln/>
          <a:effectLst>
            <a:outerShdw blurRad="50800" dist="25400" dir="8100000" algn="bl" rotWithShape="0">
              <a:srgbClr val="000000">
                <a:alpha val="10000"/>
              </a:srgbClr>
            </a:outerShdw>
          </a:effectLst>
        </p:spPr>
        <p:txBody>
          <a:bodyPr/>
          <a:lstStyle/>
          <a:p>
            <a:endParaRPr lang="en-US"/>
          </a:p>
        </p:txBody>
      </p:sp>
      <p:sp>
        <p:nvSpPr>
          <p:cNvPr id="8" name="Shape 5"/>
          <p:cNvSpPr/>
          <p:nvPr/>
        </p:nvSpPr>
        <p:spPr>
          <a:xfrm>
            <a:off x="365760" y="914400"/>
            <a:ext cx="1691640" cy="54864"/>
          </a:xfrm>
          <a:prstGeom prst="rect">
            <a:avLst/>
          </a:prstGeom>
          <a:solidFill>
            <a:srgbClr val="C41E1E"/>
          </a:solidFill>
          <a:ln/>
        </p:spPr>
        <p:txBody>
          <a:bodyPr/>
          <a:lstStyle/>
          <a:p>
            <a:endParaRPr lang="en-US"/>
          </a:p>
        </p:txBody>
      </p:sp>
      <p:sp>
        <p:nvSpPr>
          <p:cNvPr id="9" name="Text 6"/>
          <p:cNvSpPr/>
          <p:nvPr/>
        </p:nvSpPr>
        <p:spPr>
          <a:xfrm>
            <a:off x="365760" y="1051560"/>
            <a:ext cx="1691640" cy="274320"/>
          </a:xfrm>
          <a:prstGeom prst="rect">
            <a:avLst/>
          </a:prstGeom>
          <a:noFill/>
          <a:ln/>
        </p:spPr>
        <p:txBody>
          <a:bodyPr wrap="square" lIns="0" tIns="0" rIns="0" bIns="0" rtlCol="0" anchor="ctr"/>
          <a:lstStyle/>
          <a:p>
            <a:pPr marL="0" indent="0" algn="ctr">
              <a:buNone/>
            </a:pPr>
            <a:r>
              <a:rPr lang="en-US" sz="1200" b="1" dirty="0">
                <a:solidFill>
                  <a:srgbClr val="C41E1E"/>
                </a:solidFill>
                <a:latin typeface="Georgia" pitchFamily="34" charset="0"/>
                <a:ea typeface="Georgia" pitchFamily="34" charset="-122"/>
                <a:cs typeface="Georgia" pitchFamily="34" charset="-120"/>
              </a:rPr>
              <a:t>SOFT</a:t>
            </a:r>
            <a:endParaRPr lang="en-US" sz="1200" dirty="0"/>
          </a:p>
        </p:txBody>
      </p:sp>
      <p:sp>
        <p:nvSpPr>
          <p:cNvPr id="10" name="Text 7"/>
          <p:cNvSpPr/>
          <p:nvPr/>
        </p:nvSpPr>
        <p:spPr>
          <a:xfrm>
            <a:off x="365760" y="1371600"/>
            <a:ext cx="1691640" cy="594360"/>
          </a:xfrm>
          <a:prstGeom prst="rect">
            <a:avLst/>
          </a:prstGeom>
          <a:noFill/>
          <a:ln/>
        </p:spPr>
        <p:txBody>
          <a:bodyPr wrap="square" lIns="0" tIns="0" rIns="0" bIns="0" rtlCol="0" anchor="ctr"/>
          <a:lstStyle/>
          <a:p>
            <a:pPr marL="0" indent="0" algn="ctr">
              <a:buNone/>
            </a:pPr>
            <a:r>
              <a:rPr lang="en-US" sz="900" dirty="0">
                <a:solidFill>
                  <a:srgbClr val="444444"/>
                </a:solidFill>
                <a:latin typeface="Calibri" pitchFamily="34" charset="0"/>
                <a:ea typeface="Calibri" pitchFamily="34" charset="-122"/>
                <a:cs typeface="Calibri" pitchFamily="34" charset="-120"/>
              </a:rPr>
              <a:t>🔴 Fastest</a:t>
            </a:r>
            <a:endParaRPr lang="en-US" sz="900" dirty="0"/>
          </a:p>
          <a:p>
            <a:pPr marL="0" indent="0" algn="ctr">
              <a:buNone/>
            </a:pPr>
            <a:r>
              <a:rPr lang="en-US" sz="900" dirty="0">
                <a:solidFill>
                  <a:srgbClr val="444444"/>
                </a:solidFill>
                <a:latin typeface="Calibri" pitchFamily="34" charset="0"/>
                <a:ea typeface="Calibri" pitchFamily="34" charset="-122"/>
                <a:cs typeface="Calibri" pitchFamily="34" charset="-120"/>
              </a:rPr>
              <a:t>10-15 laps</a:t>
            </a:r>
            <a:endParaRPr lang="en-US" sz="900" dirty="0"/>
          </a:p>
          <a:p>
            <a:pPr marL="0" indent="0" algn="ctr">
              <a:buNone/>
            </a:pPr>
            <a:r>
              <a:rPr lang="en-US" sz="900" dirty="0">
                <a:solidFill>
                  <a:srgbClr val="444444"/>
                </a:solidFill>
                <a:latin typeface="Calibri" pitchFamily="34" charset="0"/>
                <a:ea typeface="Calibri" pitchFamily="34" charset="-122"/>
                <a:cs typeface="Calibri" pitchFamily="34" charset="-120"/>
              </a:rPr>
              <a:t>High risk</a:t>
            </a:r>
            <a:endParaRPr lang="en-US" sz="900" dirty="0"/>
          </a:p>
        </p:txBody>
      </p:sp>
      <p:sp>
        <p:nvSpPr>
          <p:cNvPr id="11" name="Shape 8"/>
          <p:cNvSpPr/>
          <p:nvPr/>
        </p:nvSpPr>
        <p:spPr>
          <a:xfrm>
            <a:off x="2240280" y="914400"/>
            <a:ext cx="1691640" cy="1188720"/>
          </a:xfrm>
          <a:prstGeom prst="rect">
            <a:avLst/>
          </a:prstGeom>
          <a:solidFill>
            <a:srgbClr val="FFFFFF"/>
          </a:solidFill>
          <a:ln/>
          <a:effectLst>
            <a:outerShdw blurRad="50800" dist="25400" dir="8100000" algn="bl" rotWithShape="0">
              <a:srgbClr val="000000">
                <a:alpha val="10000"/>
              </a:srgbClr>
            </a:outerShdw>
          </a:effectLst>
        </p:spPr>
        <p:txBody>
          <a:bodyPr/>
          <a:lstStyle/>
          <a:p>
            <a:endParaRPr lang="en-US"/>
          </a:p>
        </p:txBody>
      </p:sp>
      <p:sp>
        <p:nvSpPr>
          <p:cNvPr id="12" name="Shape 9"/>
          <p:cNvSpPr/>
          <p:nvPr/>
        </p:nvSpPr>
        <p:spPr>
          <a:xfrm>
            <a:off x="2240280" y="914400"/>
            <a:ext cx="1691640" cy="54864"/>
          </a:xfrm>
          <a:prstGeom prst="rect">
            <a:avLst/>
          </a:prstGeom>
          <a:solidFill>
            <a:srgbClr val="D97706"/>
          </a:solidFill>
          <a:ln/>
        </p:spPr>
        <p:txBody>
          <a:bodyPr/>
          <a:lstStyle/>
          <a:p>
            <a:endParaRPr lang="en-US"/>
          </a:p>
        </p:txBody>
      </p:sp>
      <p:sp>
        <p:nvSpPr>
          <p:cNvPr id="13" name="Text 10"/>
          <p:cNvSpPr/>
          <p:nvPr/>
        </p:nvSpPr>
        <p:spPr>
          <a:xfrm>
            <a:off x="2240280" y="1051560"/>
            <a:ext cx="1691640" cy="274320"/>
          </a:xfrm>
          <a:prstGeom prst="rect">
            <a:avLst/>
          </a:prstGeom>
          <a:noFill/>
          <a:ln/>
        </p:spPr>
        <p:txBody>
          <a:bodyPr wrap="square" lIns="0" tIns="0" rIns="0" bIns="0" rtlCol="0" anchor="ctr"/>
          <a:lstStyle/>
          <a:p>
            <a:pPr marL="0" indent="0" algn="ctr">
              <a:buNone/>
            </a:pPr>
            <a:r>
              <a:rPr lang="en-US" sz="1200" b="1" dirty="0">
                <a:solidFill>
                  <a:srgbClr val="D97706"/>
                </a:solidFill>
                <a:latin typeface="Georgia" pitchFamily="34" charset="0"/>
                <a:ea typeface="Georgia" pitchFamily="34" charset="-122"/>
                <a:cs typeface="Georgia" pitchFamily="34" charset="-120"/>
              </a:rPr>
              <a:t>MEDIUM</a:t>
            </a:r>
            <a:endParaRPr lang="en-US" sz="1200" dirty="0"/>
          </a:p>
        </p:txBody>
      </p:sp>
      <p:sp>
        <p:nvSpPr>
          <p:cNvPr id="14" name="Text 11"/>
          <p:cNvSpPr/>
          <p:nvPr/>
        </p:nvSpPr>
        <p:spPr>
          <a:xfrm>
            <a:off x="2240280" y="1371600"/>
            <a:ext cx="1691640" cy="594360"/>
          </a:xfrm>
          <a:prstGeom prst="rect">
            <a:avLst/>
          </a:prstGeom>
          <a:noFill/>
          <a:ln/>
        </p:spPr>
        <p:txBody>
          <a:bodyPr wrap="square" lIns="0" tIns="0" rIns="0" bIns="0" rtlCol="0" anchor="ctr"/>
          <a:lstStyle/>
          <a:p>
            <a:pPr marL="0" indent="0" algn="ctr">
              <a:buNone/>
            </a:pPr>
            <a:r>
              <a:rPr lang="en-US" sz="900" dirty="0">
                <a:solidFill>
                  <a:srgbClr val="444444"/>
                </a:solidFill>
                <a:latin typeface="Calibri" pitchFamily="34" charset="0"/>
                <a:ea typeface="Calibri" pitchFamily="34" charset="-122"/>
                <a:cs typeface="Calibri" pitchFamily="34" charset="-120"/>
              </a:rPr>
              <a:t>🟡 Balanced</a:t>
            </a:r>
            <a:endParaRPr lang="en-US" sz="900" dirty="0"/>
          </a:p>
          <a:p>
            <a:pPr marL="0" indent="0" algn="ctr">
              <a:buNone/>
            </a:pPr>
            <a:r>
              <a:rPr lang="en-US" sz="900" dirty="0">
                <a:solidFill>
                  <a:srgbClr val="444444"/>
                </a:solidFill>
                <a:latin typeface="Calibri" pitchFamily="34" charset="0"/>
                <a:ea typeface="Calibri" pitchFamily="34" charset="-122"/>
                <a:cs typeface="Calibri" pitchFamily="34" charset="-120"/>
              </a:rPr>
              <a:t>20-30 laps</a:t>
            </a:r>
            <a:endParaRPr lang="en-US" sz="900" dirty="0"/>
          </a:p>
          <a:p>
            <a:pPr marL="0" indent="0" algn="ctr">
              <a:buNone/>
            </a:pPr>
            <a:r>
              <a:rPr lang="en-US" sz="900" dirty="0">
                <a:solidFill>
                  <a:srgbClr val="444444"/>
                </a:solidFill>
                <a:latin typeface="Calibri" pitchFamily="34" charset="0"/>
                <a:ea typeface="Calibri" pitchFamily="34" charset="-122"/>
                <a:cs typeface="Calibri" pitchFamily="34" charset="-120"/>
              </a:rPr>
              <a:t>Safe choice</a:t>
            </a:r>
            <a:endParaRPr lang="en-US" sz="900" dirty="0"/>
          </a:p>
        </p:txBody>
      </p:sp>
      <p:sp>
        <p:nvSpPr>
          <p:cNvPr id="15" name="Shape 12"/>
          <p:cNvSpPr/>
          <p:nvPr/>
        </p:nvSpPr>
        <p:spPr>
          <a:xfrm>
            <a:off x="4114800" y="914400"/>
            <a:ext cx="1691640" cy="1188720"/>
          </a:xfrm>
          <a:prstGeom prst="rect">
            <a:avLst/>
          </a:prstGeom>
          <a:solidFill>
            <a:srgbClr val="FFFFFF"/>
          </a:solidFill>
          <a:ln/>
          <a:effectLst>
            <a:outerShdw blurRad="50800" dist="25400" dir="8100000" algn="bl" rotWithShape="0">
              <a:srgbClr val="000000">
                <a:alpha val="10000"/>
              </a:srgbClr>
            </a:outerShdw>
          </a:effectLst>
        </p:spPr>
        <p:txBody>
          <a:bodyPr/>
          <a:lstStyle/>
          <a:p>
            <a:endParaRPr lang="en-US"/>
          </a:p>
        </p:txBody>
      </p:sp>
      <p:sp>
        <p:nvSpPr>
          <p:cNvPr id="16" name="Shape 13"/>
          <p:cNvSpPr/>
          <p:nvPr/>
        </p:nvSpPr>
        <p:spPr>
          <a:xfrm>
            <a:off x="4114800" y="914400"/>
            <a:ext cx="1691640" cy="54864"/>
          </a:xfrm>
          <a:prstGeom prst="rect">
            <a:avLst/>
          </a:prstGeom>
          <a:solidFill>
            <a:srgbClr val="888888"/>
          </a:solidFill>
          <a:ln/>
        </p:spPr>
        <p:txBody>
          <a:bodyPr/>
          <a:lstStyle/>
          <a:p>
            <a:endParaRPr lang="en-US"/>
          </a:p>
        </p:txBody>
      </p:sp>
      <p:sp>
        <p:nvSpPr>
          <p:cNvPr id="17" name="Text 14"/>
          <p:cNvSpPr/>
          <p:nvPr/>
        </p:nvSpPr>
        <p:spPr>
          <a:xfrm>
            <a:off x="4114800" y="1051560"/>
            <a:ext cx="1691640" cy="274320"/>
          </a:xfrm>
          <a:prstGeom prst="rect">
            <a:avLst/>
          </a:prstGeom>
          <a:noFill/>
          <a:ln/>
        </p:spPr>
        <p:txBody>
          <a:bodyPr wrap="square" lIns="0" tIns="0" rIns="0" bIns="0" rtlCol="0" anchor="ctr"/>
          <a:lstStyle/>
          <a:p>
            <a:pPr marL="0" indent="0" algn="ctr">
              <a:buNone/>
            </a:pPr>
            <a:r>
              <a:rPr lang="en-US" sz="1200" b="1" dirty="0">
                <a:solidFill>
                  <a:srgbClr val="888888"/>
                </a:solidFill>
                <a:latin typeface="Georgia" pitchFamily="34" charset="0"/>
                <a:ea typeface="Georgia" pitchFamily="34" charset="-122"/>
                <a:cs typeface="Georgia" pitchFamily="34" charset="-120"/>
              </a:rPr>
              <a:t>HARD</a:t>
            </a:r>
            <a:endParaRPr lang="en-US" sz="1200" dirty="0"/>
          </a:p>
        </p:txBody>
      </p:sp>
      <p:sp>
        <p:nvSpPr>
          <p:cNvPr id="18" name="Text 15"/>
          <p:cNvSpPr/>
          <p:nvPr/>
        </p:nvSpPr>
        <p:spPr>
          <a:xfrm>
            <a:off x="4114800" y="1371600"/>
            <a:ext cx="1691640" cy="594360"/>
          </a:xfrm>
          <a:prstGeom prst="rect">
            <a:avLst/>
          </a:prstGeom>
          <a:noFill/>
          <a:ln/>
        </p:spPr>
        <p:txBody>
          <a:bodyPr wrap="square" lIns="0" tIns="0" rIns="0" bIns="0" rtlCol="0" anchor="ctr"/>
          <a:lstStyle/>
          <a:p>
            <a:pPr marL="0" indent="0" algn="ctr">
              <a:buNone/>
            </a:pPr>
            <a:r>
              <a:rPr lang="en-US" sz="900" dirty="0">
                <a:solidFill>
                  <a:srgbClr val="444444"/>
                </a:solidFill>
                <a:latin typeface="Calibri" pitchFamily="34" charset="0"/>
                <a:ea typeface="Calibri" pitchFamily="34" charset="-122"/>
                <a:cs typeface="Calibri" pitchFamily="34" charset="-120"/>
              </a:rPr>
              <a:t>⚪ Durable</a:t>
            </a:r>
            <a:endParaRPr lang="en-US" sz="900" dirty="0"/>
          </a:p>
          <a:p>
            <a:pPr marL="0" indent="0" algn="ctr">
              <a:buNone/>
            </a:pPr>
            <a:r>
              <a:rPr lang="en-US" sz="900" dirty="0">
                <a:solidFill>
                  <a:srgbClr val="444444"/>
                </a:solidFill>
                <a:latin typeface="Calibri" pitchFamily="34" charset="0"/>
                <a:ea typeface="Calibri" pitchFamily="34" charset="-122"/>
                <a:cs typeface="Calibri" pitchFamily="34" charset="-120"/>
              </a:rPr>
              <a:t>30-40 laps</a:t>
            </a:r>
            <a:endParaRPr lang="en-US" sz="900" dirty="0"/>
          </a:p>
          <a:p>
            <a:pPr marL="0" indent="0" algn="ctr">
              <a:buNone/>
            </a:pPr>
            <a:r>
              <a:rPr lang="en-US" sz="900" dirty="0">
                <a:solidFill>
                  <a:srgbClr val="444444"/>
                </a:solidFill>
                <a:latin typeface="Calibri" pitchFamily="34" charset="0"/>
                <a:ea typeface="Calibri" pitchFamily="34" charset="-122"/>
                <a:cs typeface="Calibri" pitchFamily="34" charset="-120"/>
              </a:rPr>
              <a:t>Fewest stops</a:t>
            </a:r>
            <a:endParaRPr lang="en-US" sz="900" dirty="0"/>
          </a:p>
        </p:txBody>
      </p:sp>
      <p:sp>
        <p:nvSpPr>
          <p:cNvPr id="19" name="Shape 16"/>
          <p:cNvSpPr/>
          <p:nvPr/>
        </p:nvSpPr>
        <p:spPr>
          <a:xfrm>
            <a:off x="6035040" y="914400"/>
            <a:ext cx="2651760" cy="1188720"/>
          </a:xfrm>
          <a:prstGeom prst="rect">
            <a:avLst/>
          </a:prstGeom>
          <a:solidFill>
            <a:srgbClr val="FEF9E7"/>
          </a:solidFill>
          <a:ln/>
          <a:effectLst>
            <a:outerShdw blurRad="50800" dist="25400" dir="8100000" algn="bl" rotWithShape="0">
              <a:srgbClr val="000000">
                <a:alpha val="10000"/>
              </a:srgbClr>
            </a:outerShdw>
          </a:effectLst>
        </p:spPr>
        <p:txBody>
          <a:bodyPr/>
          <a:lstStyle/>
          <a:p>
            <a:endParaRPr lang="en-US"/>
          </a:p>
        </p:txBody>
      </p:sp>
      <p:sp>
        <p:nvSpPr>
          <p:cNvPr id="20" name="Text 17"/>
          <p:cNvSpPr/>
          <p:nvPr/>
        </p:nvSpPr>
        <p:spPr>
          <a:xfrm>
            <a:off x="6035040" y="1005840"/>
            <a:ext cx="2651760" cy="457200"/>
          </a:xfrm>
          <a:prstGeom prst="rect">
            <a:avLst/>
          </a:prstGeom>
          <a:noFill/>
          <a:ln/>
        </p:spPr>
        <p:txBody>
          <a:bodyPr wrap="square" lIns="0" tIns="0" rIns="0" bIns="0" rtlCol="0" anchor="ctr"/>
          <a:lstStyle/>
          <a:p>
            <a:pPr marL="0" indent="0" algn="ctr">
              <a:buNone/>
            </a:pPr>
            <a:r>
              <a:rPr lang="en-US" sz="1800" b="1" dirty="0">
                <a:solidFill>
                  <a:srgbClr val="D97706"/>
                </a:solidFill>
                <a:latin typeface="Georgia" pitchFamily="34" charset="0"/>
                <a:ea typeface="Georgia" pitchFamily="34" charset="-122"/>
                <a:cs typeface="Georgia" pitchFamily="34" charset="-120"/>
              </a:rPr>
              <a:t>MAE: 2.74 → 2.10</a:t>
            </a:r>
            <a:endParaRPr lang="en-US" sz="1800" dirty="0"/>
          </a:p>
        </p:txBody>
      </p:sp>
      <p:sp>
        <p:nvSpPr>
          <p:cNvPr id="21" name="Text 18"/>
          <p:cNvSpPr/>
          <p:nvPr/>
        </p:nvSpPr>
        <p:spPr>
          <a:xfrm>
            <a:off x="6035040" y="1463040"/>
            <a:ext cx="2651760" cy="457200"/>
          </a:xfrm>
          <a:prstGeom prst="rect">
            <a:avLst/>
          </a:prstGeom>
          <a:noFill/>
          <a:ln/>
        </p:spPr>
        <p:txBody>
          <a:bodyPr wrap="square" lIns="0" tIns="0" rIns="0" bIns="0" rtlCol="0" anchor="ctr"/>
          <a:lstStyle/>
          <a:p>
            <a:pPr marL="0" indent="0" algn="ctr">
              <a:buNone/>
            </a:pPr>
            <a:r>
              <a:rPr lang="en-US" sz="1000" dirty="0">
                <a:solidFill>
                  <a:srgbClr val="D97706"/>
                </a:solidFill>
                <a:latin typeface="Calibri" pitchFamily="34" charset="0"/>
                <a:ea typeface="Calibri" pitchFamily="34" charset="-122"/>
                <a:cs typeface="Calibri" pitchFamily="34" charset="-120"/>
              </a:rPr>
              <a:t>23% improvement</a:t>
            </a:r>
            <a:endParaRPr lang="en-US" sz="1000" dirty="0"/>
          </a:p>
          <a:p>
            <a:pPr marL="0" indent="0" algn="ctr">
              <a:buNone/>
            </a:pPr>
            <a:r>
              <a:rPr lang="en-US" sz="1000" dirty="0">
                <a:solidFill>
                  <a:srgbClr val="D97706"/>
                </a:solidFill>
                <a:latin typeface="Calibri" pitchFamily="34" charset="0"/>
                <a:ea typeface="Calibri" pitchFamily="34" charset="-122"/>
                <a:cs typeface="Calibri" pitchFamily="34" charset="-120"/>
              </a:rPr>
              <a:t>Positions off: ~3 → ~2</a:t>
            </a:r>
            <a:endParaRPr lang="en-US" sz="10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365760" y="2331720"/>
          <a:ext cx="8321040" cy="914400"/>
        </p:xfrm>
        <a:graphic>
          <a:graphicData uri="http://schemas.openxmlformats.org/drawingml/2006/table">
            <a:tbl>
              <a:tblPr/>
              <a:tblGrid>
                <a:gridCol w="2286000">
                  <a:extLst>
                    <a:ext uri="{9D8B030D-6E8A-4147-A177-3AD203B41FA5}">
                      <a16:colId xmlns:a16="http://schemas.microsoft.com/office/drawing/2014/main" val="20000"/>
                    </a:ext>
                  </a:extLst>
                </a:gridCol>
                <a:gridCol w="3657600">
                  <a:extLst>
                    <a:ext uri="{9D8B030D-6E8A-4147-A177-3AD203B41FA5}">
                      <a16:colId xmlns:a16="http://schemas.microsoft.com/office/drawing/2014/main" val="20001"/>
                    </a:ext>
                  </a:extLst>
                </a:gridCol>
                <a:gridCol w="1920240">
                  <a:extLst>
                    <a:ext uri="{9D8B030D-6E8A-4147-A177-3AD203B41FA5}">
                      <a16:colId xmlns:a16="http://schemas.microsoft.com/office/drawing/2014/main" val="20002"/>
                    </a:ext>
                  </a:extLst>
                </a:gridCol>
              </a:tblGrid>
              <a:tr h="256032">
                <a:tc>
                  <a:txBody>
                    <a:bodyPr/>
                    <a:lstStyle/>
                    <a:p>
                      <a:pPr marL="0" indent="0">
                        <a:buNone/>
                      </a:pPr>
                      <a:r>
                        <a:rPr lang="en-US" sz="900" b="1" dirty="0">
                          <a:solidFill>
                            <a:srgbClr val="FFFFFF"/>
                          </a:solidFill>
                          <a:latin typeface="Calibri" pitchFamily="34" charset="0"/>
                          <a:ea typeface="Calibri" pitchFamily="34" charset="-122"/>
                          <a:cs typeface="Calibri" pitchFamily="34" charset="-120"/>
                        </a:rPr>
                        <a:t>Feature</a:t>
                      </a:r>
                      <a:endParaRPr lang="en-US" sz="900" dirty="0">
                        <a:latin typeface="Calibri" charset="0"/>
                        <a:ea typeface="Calibri" charset="0"/>
                        <a:cs typeface="Calibri" charset="0"/>
                      </a:endParaRPr>
                    </a:p>
                  </a:txBody>
                  <a:tcP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D97706"/>
                    </a:solidFill>
                  </a:tcPr>
                </a:tc>
                <a:tc>
                  <a:txBody>
                    <a:bodyPr/>
                    <a:lstStyle/>
                    <a:p>
                      <a:pPr marL="0" indent="0">
                        <a:buNone/>
                      </a:pPr>
                      <a:r>
                        <a:rPr lang="en-US" sz="900" b="1" dirty="0">
                          <a:solidFill>
                            <a:srgbClr val="FFFFFF"/>
                          </a:solidFill>
                          <a:latin typeface="Calibri" pitchFamily="34" charset="0"/>
                          <a:ea typeface="Calibri" pitchFamily="34" charset="-122"/>
                          <a:cs typeface="Calibri" pitchFamily="34" charset="-120"/>
                        </a:rPr>
                        <a:t>What It Measures</a:t>
                      </a:r>
                      <a:endParaRPr lang="en-US" sz="900" dirty="0">
                        <a:latin typeface="Calibri" charset="0"/>
                        <a:ea typeface="Calibri" charset="0"/>
                        <a:cs typeface="Calibri" charset="0"/>
                      </a:endParaRPr>
                    </a:p>
                  </a:txBody>
                  <a:tcP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D97706"/>
                    </a:solidFill>
                  </a:tcPr>
                </a:tc>
                <a:tc>
                  <a:txBody>
                    <a:bodyPr/>
                    <a:lstStyle/>
                    <a:p>
                      <a:pPr marL="0" indent="0">
                        <a:buNone/>
                      </a:pPr>
                      <a:r>
                        <a:rPr lang="en-US" sz="900" b="1" dirty="0">
                          <a:solidFill>
                            <a:srgbClr val="FFFFFF"/>
                          </a:solidFill>
                          <a:latin typeface="Calibri" pitchFamily="34" charset="0"/>
                          <a:ea typeface="Calibri" pitchFamily="34" charset="-122"/>
                          <a:cs typeface="Calibri" pitchFamily="34" charset="-120"/>
                        </a:rPr>
                        <a:t>Source</a:t>
                      </a:r>
                      <a:endParaRPr lang="en-US" sz="900" dirty="0">
                        <a:latin typeface="Calibri" charset="0"/>
                        <a:ea typeface="Calibri" charset="0"/>
                        <a:cs typeface="Calibri" charset="0"/>
                      </a:endParaRPr>
                    </a:p>
                  </a:txBody>
                  <a:tcP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D97706"/>
                    </a:solidFill>
                  </a:tcPr>
                </a:tc>
                <a:extLst>
                  <a:ext uri="{0D108BD9-81ED-4DB2-BD59-A6C34878D82A}">
                    <a16:rowId xmlns:a16="http://schemas.microsoft.com/office/drawing/2014/main" val="10000"/>
                  </a:ext>
                </a:extLst>
              </a:tr>
              <a:tr h="256032">
                <a:tc>
                  <a:txBody>
                    <a:bodyPr/>
                    <a:lstStyle/>
                    <a:p>
                      <a:pPr marL="0" indent="0">
                        <a:buNone/>
                      </a:pPr>
                      <a:r>
                        <a:rPr lang="en-US" sz="900" dirty="0">
                          <a:solidFill>
                            <a:srgbClr val="000000"/>
                          </a:solidFill>
                          <a:latin typeface="Calibri" pitchFamily="34" charset="0"/>
                          <a:ea typeface="Calibri" pitchFamily="34" charset="-122"/>
                          <a:cs typeface="Calibri" pitchFamily="34" charset="-120"/>
                        </a:rPr>
                        <a:t>avg_tire_deg_slope</a:t>
                      </a:r>
                      <a:endParaRPr lang="en-US" sz="900" dirty="0">
                        <a:latin typeface="Calibri" charset="0"/>
                        <a:ea typeface="Calibri" charset="0"/>
                        <a:cs typeface="Calibri" charset="0"/>
                      </a:endParaRPr>
                    </a:p>
                  </a:txBody>
                  <a:tcP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marL="0" indent="0">
                        <a:buNone/>
                      </a:pPr>
                      <a:r>
                        <a:rPr lang="en-US" sz="900" dirty="0">
                          <a:solidFill>
                            <a:srgbClr val="000000"/>
                          </a:solidFill>
                          <a:latin typeface="Calibri" pitchFamily="34" charset="0"/>
                          <a:ea typeface="Calibri" pitchFamily="34" charset="-122"/>
                          <a:cs typeface="Calibri" pitchFamily="34" charset="-120"/>
                        </a:rPr>
                        <a:t>Seconds lost per lap as tires wear</a:t>
                      </a:r>
                      <a:endParaRPr lang="en-US" sz="900" dirty="0">
                        <a:latin typeface="Calibri" charset="0"/>
                        <a:ea typeface="Calibri" charset="0"/>
                        <a:cs typeface="Calibri" charset="0"/>
                      </a:endParaRPr>
                    </a:p>
                  </a:txBody>
                  <a:tcP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marL="0" indent="0">
                        <a:buNone/>
                      </a:pPr>
                      <a:r>
                        <a:rPr lang="en-US" sz="900" dirty="0">
                          <a:solidFill>
                            <a:srgbClr val="000000"/>
                          </a:solidFill>
                          <a:latin typeface="Calibri" pitchFamily="34" charset="0"/>
                          <a:ea typeface="Calibri" pitchFamily="34" charset="-122"/>
                          <a:cs typeface="Calibri" pitchFamily="34" charset="-120"/>
                        </a:rPr>
                        <a:t>7,996 tire models</a:t>
                      </a:r>
                      <a:endParaRPr lang="en-US" sz="900" dirty="0">
                        <a:latin typeface="Calibri" charset="0"/>
                        <a:ea typeface="Calibri" charset="0"/>
                        <a:cs typeface="Calibri" charset="0"/>
                      </a:endParaRPr>
                    </a:p>
                  </a:txBody>
                  <a:tcP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extLst>
                  <a:ext uri="{0D108BD9-81ED-4DB2-BD59-A6C34878D82A}">
                    <a16:rowId xmlns:a16="http://schemas.microsoft.com/office/drawing/2014/main" val="10001"/>
                  </a:ext>
                </a:extLst>
              </a:tr>
              <a:tr h="256032">
                <a:tc>
                  <a:txBody>
                    <a:bodyPr/>
                    <a:lstStyle/>
                    <a:p>
                      <a:pPr marL="0" indent="0">
                        <a:buNone/>
                      </a:pPr>
                      <a:r>
                        <a:rPr lang="en-US" sz="900" dirty="0">
                          <a:solidFill>
                            <a:srgbClr val="000000"/>
                          </a:solidFill>
                          <a:latin typeface="Calibri" pitchFamily="34" charset="0"/>
                          <a:ea typeface="Calibri" pitchFamily="34" charset="-122"/>
                          <a:cs typeface="Calibri" pitchFamily="34" charset="-120"/>
                        </a:rPr>
                        <a:t>soft_deg_slope</a:t>
                      </a:r>
                      <a:endParaRPr lang="en-US" sz="900" dirty="0">
                        <a:latin typeface="Calibri" charset="0"/>
                        <a:ea typeface="Calibri" charset="0"/>
                        <a:cs typeface="Calibri" charset="0"/>
                      </a:endParaRPr>
                    </a:p>
                  </a:txBody>
                  <a:tcP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marL="0" indent="0">
                        <a:buNone/>
                      </a:pPr>
                      <a:r>
                        <a:rPr lang="en-US" sz="900" dirty="0">
                          <a:solidFill>
                            <a:srgbClr val="000000"/>
                          </a:solidFill>
                          <a:latin typeface="Calibri" pitchFamily="34" charset="0"/>
                          <a:ea typeface="Calibri" pitchFamily="34" charset="-122"/>
                          <a:cs typeface="Calibri" pitchFamily="34" charset="-120"/>
                        </a:rPr>
                        <a:t>Degradation specifically on soft compound</a:t>
                      </a:r>
                      <a:endParaRPr lang="en-US" sz="900" dirty="0">
                        <a:latin typeface="Calibri" charset="0"/>
                        <a:ea typeface="Calibri" charset="0"/>
                        <a:cs typeface="Calibri" charset="0"/>
                      </a:endParaRPr>
                    </a:p>
                  </a:txBody>
                  <a:tcP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marL="0" indent="0">
                        <a:buNone/>
                      </a:pPr>
                      <a:r>
                        <a:rPr lang="en-US" sz="900" dirty="0">
                          <a:solidFill>
                            <a:srgbClr val="000000"/>
                          </a:solidFill>
                          <a:latin typeface="Calibri" pitchFamily="34" charset="0"/>
                          <a:ea typeface="Calibri" pitchFamily="34" charset="-122"/>
                          <a:cs typeface="Calibri" pitchFamily="34" charset="-120"/>
                        </a:rPr>
                        <a:t>Soft tire stints</a:t>
                      </a:r>
                      <a:endParaRPr lang="en-US" sz="900" dirty="0">
                        <a:latin typeface="Calibri" charset="0"/>
                        <a:ea typeface="Calibri" charset="0"/>
                        <a:cs typeface="Calibri" charset="0"/>
                      </a:endParaRPr>
                    </a:p>
                  </a:txBody>
                  <a:tcP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extLst>
                  <a:ext uri="{0D108BD9-81ED-4DB2-BD59-A6C34878D82A}">
                    <a16:rowId xmlns:a16="http://schemas.microsoft.com/office/drawing/2014/main" val="10002"/>
                  </a:ext>
                </a:extLst>
              </a:tr>
              <a:tr h="256032">
                <a:tc>
                  <a:txBody>
                    <a:bodyPr/>
                    <a:lstStyle/>
                    <a:p>
                      <a:pPr marL="0" indent="0">
                        <a:buNone/>
                      </a:pPr>
                      <a:r>
                        <a:rPr lang="en-US" sz="900" dirty="0">
                          <a:solidFill>
                            <a:srgbClr val="000000"/>
                          </a:solidFill>
                          <a:latin typeface="Calibri" pitchFamily="34" charset="0"/>
                          <a:ea typeface="Calibri" pitchFamily="34" charset="-122"/>
                          <a:cs typeface="Calibri" pitchFamily="34" charset="-120"/>
                        </a:rPr>
                        <a:t>driver_avg_deg_5</a:t>
                      </a:r>
                      <a:endParaRPr lang="en-US" sz="900" dirty="0">
                        <a:latin typeface="Calibri" charset="0"/>
                        <a:ea typeface="Calibri" charset="0"/>
                        <a:cs typeface="Calibri" charset="0"/>
                      </a:endParaRPr>
                    </a:p>
                  </a:txBody>
                  <a:tcP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marL="0" indent="0">
                        <a:buNone/>
                      </a:pPr>
                      <a:r>
                        <a:rPr lang="en-US" sz="900" dirty="0">
                          <a:solidFill>
                            <a:srgbClr val="000000"/>
                          </a:solidFill>
                          <a:latin typeface="Calibri" pitchFamily="34" charset="0"/>
                          <a:ea typeface="Calibri" pitchFamily="34" charset="-122"/>
                          <a:cs typeface="Calibri" pitchFamily="34" charset="-120"/>
                        </a:rPr>
                        <a:t>Rolling avg degradation over 5 races</a:t>
                      </a:r>
                      <a:endParaRPr lang="en-US" sz="900" dirty="0">
                        <a:latin typeface="Calibri" charset="0"/>
                        <a:ea typeface="Calibri" charset="0"/>
                        <a:cs typeface="Calibri" charset="0"/>
                      </a:endParaRPr>
                    </a:p>
                  </a:txBody>
                  <a:tcP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marL="0" indent="0">
                        <a:buNone/>
                      </a:pPr>
                      <a:r>
                        <a:rPr lang="en-US" sz="900" dirty="0">
                          <a:solidFill>
                            <a:srgbClr val="000000"/>
                          </a:solidFill>
                          <a:latin typeface="Calibri" pitchFamily="34" charset="0"/>
                          <a:ea typeface="Calibri" pitchFamily="34" charset="-122"/>
                          <a:cs typeface="Calibri" pitchFamily="34" charset="-120"/>
                        </a:rPr>
                        <a:t>Spark Window</a:t>
                      </a:r>
                      <a:endParaRPr lang="en-US" sz="900" dirty="0">
                        <a:latin typeface="Calibri" charset="0"/>
                        <a:ea typeface="Calibri" charset="0"/>
                        <a:cs typeface="Calibri" charset="0"/>
                      </a:endParaRPr>
                    </a:p>
                  </a:txBody>
                  <a:tcP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extLst>
                  <a:ext uri="{0D108BD9-81ED-4DB2-BD59-A6C34878D82A}">
                    <a16:rowId xmlns:a16="http://schemas.microsoft.com/office/drawing/2014/main" val="10003"/>
                  </a:ext>
                </a:extLst>
              </a:tr>
              <a:tr h="256032">
                <a:tc>
                  <a:txBody>
                    <a:bodyPr/>
                    <a:lstStyle/>
                    <a:p>
                      <a:pPr marL="0" indent="0">
                        <a:buNone/>
                      </a:pPr>
                      <a:r>
                        <a:rPr lang="en-US" sz="900" dirty="0">
                          <a:solidFill>
                            <a:srgbClr val="000000"/>
                          </a:solidFill>
                          <a:latin typeface="Calibri" pitchFamily="34" charset="0"/>
                          <a:ea typeface="Calibri" pitchFamily="34" charset="-122"/>
                          <a:cs typeface="Calibri" pitchFamily="34" charset="-120"/>
                        </a:rPr>
                        <a:t>lap_consistency</a:t>
                      </a:r>
                      <a:endParaRPr lang="en-US" sz="900" dirty="0">
                        <a:latin typeface="Calibri" charset="0"/>
                        <a:ea typeface="Calibri" charset="0"/>
                        <a:cs typeface="Calibri" charset="0"/>
                      </a:endParaRPr>
                    </a:p>
                  </a:txBody>
                  <a:tcP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marL="0" indent="0">
                        <a:buNone/>
                      </a:pPr>
                      <a:r>
                        <a:rPr lang="en-US" sz="900" dirty="0">
                          <a:solidFill>
                            <a:srgbClr val="000000"/>
                          </a:solidFill>
                          <a:latin typeface="Calibri" pitchFamily="34" charset="0"/>
                          <a:ea typeface="Calibri" pitchFamily="34" charset="-122"/>
                          <a:cs typeface="Calibri" pitchFamily="34" charset="-120"/>
                        </a:rPr>
                        <a:t>Std deviation of lap times per race</a:t>
                      </a:r>
                      <a:endParaRPr lang="en-US" sz="900" dirty="0">
                        <a:latin typeface="Calibri" charset="0"/>
                        <a:ea typeface="Calibri" charset="0"/>
                        <a:cs typeface="Calibri" charset="0"/>
                      </a:endParaRPr>
                    </a:p>
                  </a:txBody>
                  <a:tcP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marL="0" indent="0">
                        <a:buNone/>
                      </a:pPr>
                      <a:r>
                        <a:rPr lang="en-US" sz="900" dirty="0">
                          <a:solidFill>
                            <a:srgbClr val="000000"/>
                          </a:solidFill>
                          <a:latin typeface="Calibri" pitchFamily="34" charset="0"/>
                          <a:ea typeface="Calibri" pitchFamily="34" charset="-122"/>
                          <a:cs typeface="Calibri" pitchFamily="34" charset="-120"/>
                        </a:rPr>
                        <a:t>181K individual laps</a:t>
                      </a:r>
                      <a:endParaRPr lang="en-US" sz="900" dirty="0">
                        <a:latin typeface="Calibri" charset="0"/>
                        <a:ea typeface="Calibri" charset="0"/>
                        <a:cs typeface="Calibri" charset="0"/>
                      </a:endParaRPr>
                    </a:p>
                  </a:txBody>
                  <a:tcP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extLst>
                  <a:ext uri="{0D108BD9-81ED-4DB2-BD59-A6C34878D82A}">
                    <a16:rowId xmlns:a16="http://schemas.microsoft.com/office/drawing/2014/main" val="10004"/>
                  </a:ext>
                </a:extLst>
              </a:tr>
              <a:tr h="256032">
                <a:tc>
                  <a:txBody>
                    <a:bodyPr/>
                    <a:lstStyle/>
                    <a:p>
                      <a:pPr marL="0" indent="0">
                        <a:buNone/>
                      </a:pPr>
                      <a:r>
                        <a:rPr lang="en-US" sz="900" dirty="0">
                          <a:solidFill>
                            <a:srgbClr val="000000"/>
                          </a:solidFill>
                          <a:latin typeface="Calibri" pitchFamily="34" charset="0"/>
                          <a:ea typeface="Calibri" pitchFamily="34" charset="-122"/>
                          <a:cs typeface="Calibri" pitchFamily="34" charset="-120"/>
                        </a:rPr>
                        <a:t>num_stints</a:t>
                      </a:r>
                      <a:endParaRPr lang="en-US" sz="900" dirty="0">
                        <a:latin typeface="Calibri" charset="0"/>
                        <a:ea typeface="Calibri" charset="0"/>
                        <a:cs typeface="Calibri" charset="0"/>
                      </a:endParaRPr>
                    </a:p>
                  </a:txBody>
                  <a:tcP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marL="0" indent="0">
                        <a:buNone/>
                      </a:pPr>
                      <a:r>
                        <a:rPr lang="en-US" sz="900" dirty="0">
                          <a:solidFill>
                            <a:srgbClr val="000000"/>
                          </a:solidFill>
                          <a:latin typeface="Calibri" pitchFamily="34" charset="0"/>
                          <a:ea typeface="Calibri" pitchFamily="34" charset="-122"/>
                          <a:cs typeface="Calibri" pitchFamily="34" charset="-120"/>
                        </a:rPr>
                        <a:t>Number of tire changes during race</a:t>
                      </a:r>
                      <a:endParaRPr lang="en-US" sz="900" dirty="0">
                        <a:latin typeface="Calibri" charset="0"/>
                        <a:ea typeface="Calibri" charset="0"/>
                        <a:cs typeface="Calibri" charset="0"/>
                      </a:endParaRPr>
                    </a:p>
                  </a:txBody>
                  <a:tcP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marL="0" indent="0">
                        <a:buNone/>
                      </a:pPr>
                      <a:r>
                        <a:rPr lang="en-US" sz="900" dirty="0">
                          <a:solidFill>
                            <a:srgbClr val="000000"/>
                          </a:solidFill>
                          <a:latin typeface="Calibri" pitchFamily="34" charset="0"/>
                          <a:ea typeface="Calibri" pitchFamily="34" charset="-122"/>
                          <a:cs typeface="Calibri" pitchFamily="34" charset="-120"/>
                        </a:rPr>
                        <a:t>Pit stop + compound data</a:t>
                      </a:r>
                      <a:endParaRPr lang="en-US" sz="900" dirty="0">
                        <a:latin typeface="Calibri" charset="0"/>
                        <a:ea typeface="Calibri" charset="0"/>
                        <a:cs typeface="Calibri" charset="0"/>
                      </a:endParaRPr>
                    </a:p>
                  </a:txBody>
                  <a:tcP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23" name="Shape 19"/>
          <p:cNvSpPr/>
          <p:nvPr/>
        </p:nvSpPr>
        <p:spPr>
          <a:xfrm>
            <a:off x="365760" y="4023360"/>
            <a:ext cx="8321040" cy="594360"/>
          </a:xfrm>
          <a:prstGeom prst="rect">
            <a:avLst/>
          </a:prstGeom>
          <a:solidFill>
            <a:srgbClr val="FEF9E7"/>
          </a:solidFill>
          <a:ln/>
          <a:effectLst>
            <a:outerShdw blurRad="50800" dist="25400" dir="8100000" algn="bl" rotWithShape="0">
              <a:srgbClr val="000000">
                <a:alpha val="10000"/>
              </a:srgbClr>
            </a:outerShdw>
          </a:effectLst>
        </p:spPr>
        <p:txBody>
          <a:bodyPr/>
          <a:lstStyle/>
          <a:p>
            <a:endParaRPr lang="en-US"/>
          </a:p>
        </p:txBody>
      </p:sp>
      <p:sp>
        <p:nvSpPr>
          <p:cNvPr id="24" name="Text 20"/>
          <p:cNvSpPr/>
          <p:nvPr/>
        </p:nvSpPr>
        <p:spPr>
          <a:xfrm>
            <a:off x="548640" y="4069080"/>
            <a:ext cx="8046720" cy="457200"/>
          </a:xfrm>
          <a:prstGeom prst="rect">
            <a:avLst/>
          </a:prstGeom>
          <a:noFill/>
          <a:ln/>
        </p:spPr>
        <p:txBody>
          <a:bodyPr wrap="square" lIns="0" tIns="0" rIns="0" bIns="0" rtlCol="0" anchor="ctr"/>
          <a:lstStyle/>
          <a:p>
            <a:pPr marL="0" indent="0">
              <a:buNone/>
            </a:pPr>
            <a:r>
              <a:rPr lang="en-US" sz="1000" dirty="0">
                <a:solidFill>
                  <a:srgbClr val="D97706"/>
                </a:solidFill>
                <a:latin typeface="Calibri" pitchFamily="34" charset="0"/>
                <a:ea typeface="Calibri" pitchFamily="34" charset="-122"/>
                <a:cs typeface="Calibri" pitchFamily="34" charset="-120"/>
              </a:rPr>
              <a:t>Key Insight: Knowing how a driver manages their tires tells us more about where they'll finish than qualifying time alone. Tire management is the hidden skill that separates good drivers from great ones.</a:t>
            </a:r>
            <a:endParaRPr lang="en-US" sz="1000" dirty="0"/>
          </a:p>
        </p:txBody>
      </p:sp>
      <p:sp>
        <p:nvSpPr>
          <p:cNvPr id="25" name="Text 21"/>
          <p:cNvSpPr/>
          <p:nvPr/>
        </p:nvSpPr>
        <p:spPr>
          <a:xfrm>
            <a:off x="457200" y="4709160"/>
            <a:ext cx="6400800" cy="365760"/>
          </a:xfrm>
          <a:prstGeom prst="rect">
            <a:avLst/>
          </a:prstGeom>
          <a:noFill/>
          <a:ln/>
        </p:spPr>
        <p:txBody>
          <a:bodyPr wrap="square" rtlCol="0" anchor="ctr"/>
          <a:lstStyle/>
          <a:p>
            <a:pPr marL="0" indent="0">
              <a:buNone/>
            </a:pPr>
            <a:r>
              <a:rPr lang="en-US" sz="900" dirty="0">
                <a:solidFill>
                  <a:srgbClr val="949594"/>
                </a:solidFill>
                <a:latin typeface="Calibri" pitchFamily="34" charset="0"/>
                <a:ea typeface="Calibri" pitchFamily="34" charset="-122"/>
                <a:cs typeface="Calibri" pitchFamily="34" charset="-120"/>
              </a:rPr>
              <a:t>Speaker 2 — Data &amp; ML Models</a:t>
            </a:r>
            <a:endParaRPr lang="en-US" sz="900" dirty="0"/>
          </a:p>
        </p:txBody>
      </p:sp>
      <p:sp>
        <p:nvSpPr>
          <p:cNvPr id="26" name="Text 22"/>
          <p:cNvSpPr/>
          <p:nvPr/>
        </p:nvSpPr>
        <p:spPr>
          <a:xfrm>
            <a:off x="8412480" y="4709160"/>
            <a:ext cx="548640" cy="365760"/>
          </a:xfrm>
          <a:prstGeom prst="rect">
            <a:avLst/>
          </a:prstGeom>
          <a:noFill/>
          <a:ln/>
        </p:spPr>
        <p:txBody>
          <a:bodyPr wrap="square" rtlCol="0" anchor="ctr"/>
          <a:lstStyle/>
          <a:p>
            <a:pPr marL="0" indent="0" algn="r">
              <a:buNone/>
            </a:pPr>
            <a:r>
              <a:rPr lang="en-US" sz="900" dirty="0">
                <a:solidFill>
                  <a:srgbClr val="949594"/>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5F5F5"/>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C41E1E"/>
          </a:solidFill>
          <a:ln/>
        </p:spPr>
        <p:txBody>
          <a:bodyPr/>
          <a:lstStyle/>
          <a:p>
            <a:endParaRPr lang="en-US"/>
          </a:p>
        </p:txBody>
      </p:sp>
      <p:sp>
        <p:nvSpPr>
          <p:cNvPr id="3" name="Shape 1"/>
          <p:cNvSpPr/>
          <p:nvPr/>
        </p:nvSpPr>
        <p:spPr>
          <a:xfrm>
            <a:off x="8778240" y="0"/>
            <a:ext cx="137160" cy="5143500"/>
          </a:xfrm>
          <a:prstGeom prst="rect">
            <a:avLst/>
          </a:prstGeom>
          <a:solidFill>
            <a:srgbClr val="C41E1E"/>
          </a:solidFill>
          <a:ln/>
        </p:spPr>
        <p:txBody>
          <a:bodyPr/>
          <a:lstStyle/>
          <a:p>
            <a:endParaRPr lang="en-US"/>
          </a:p>
        </p:txBody>
      </p:sp>
      <p:sp>
        <p:nvSpPr>
          <p:cNvPr id="4" name="Shape 2"/>
          <p:cNvSpPr/>
          <p:nvPr/>
        </p:nvSpPr>
        <p:spPr>
          <a:xfrm>
            <a:off x="8961120" y="0"/>
            <a:ext cx="73152" cy="5143500"/>
          </a:xfrm>
          <a:prstGeom prst="rect">
            <a:avLst/>
          </a:prstGeom>
          <a:solidFill>
            <a:srgbClr val="C41E1E">
              <a:alpha val="40000"/>
            </a:srgbClr>
          </a:solidFill>
          <a:ln/>
        </p:spPr>
        <p:txBody>
          <a:bodyPr/>
          <a:lstStyle/>
          <a:p>
            <a:endParaRPr lang="en-US"/>
          </a:p>
        </p:txBody>
      </p:sp>
      <p:pic>
        <p:nvPicPr>
          <p:cNvPr id="5" name="Image 0" descr="preencoded.png"/>
          <p:cNvPicPr>
            <a:picLocks noChangeAspect="1"/>
          </p:cNvPicPr>
          <p:nvPr/>
        </p:nvPicPr>
        <p:blipFill>
          <a:blip r:embed="rId3"/>
          <a:stretch>
            <a:fillRect/>
          </a:stretch>
        </p:blipFill>
        <p:spPr>
          <a:xfrm>
            <a:off x="365760" y="182880"/>
            <a:ext cx="320040" cy="320040"/>
          </a:xfrm>
          <a:prstGeom prst="rect">
            <a:avLst/>
          </a:prstGeom>
        </p:spPr>
      </p:pic>
      <p:sp>
        <p:nvSpPr>
          <p:cNvPr id="6" name="Text 3"/>
          <p:cNvSpPr/>
          <p:nvPr/>
        </p:nvSpPr>
        <p:spPr>
          <a:xfrm>
            <a:off x="777240" y="182880"/>
            <a:ext cx="7315200" cy="548640"/>
          </a:xfrm>
          <a:prstGeom prst="rect">
            <a:avLst/>
          </a:prstGeom>
          <a:noFill/>
          <a:ln/>
        </p:spPr>
        <p:txBody>
          <a:bodyPr wrap="square" lIns="0" tIns="0" rIns="0" bIns="0" rtlCol="0" anchor="ctr"/>
          <a:lstStyle/>
          <a:p>
            <a:pPr marL="0" indent="0">
              <a:buNone/>
            </a:pPr>
            <a:r>
              <a:rPr lang="en-US" sz="2800" b="1" dirty="0">
                <a:solidFill>
                  <a:srgbClr val="1A1A2E"/>
                </a:solidFill>
                <a:latin typeface="Georgia" pitchFamily="34" charset="0"/>
                <a:ea typeface="Georgia" pitchFamily="34" charset="-122"/>
                <a:cs typeface="Georgia" pitchFamily="34" charset="-120"/>
              </a:rPr>
              <a:t>Phase 3 — Weather Impact</a:t>
            </a:r>
            <a:endParaRPr lang="en-US" sz="2800" dirty="0"/>
          </a:p>
        </p:txBody>
      </p:sp>
      <p:sp>
        <p:nvSpPr>
          <p:cNvPr id="7" name="Text 4"/>
          <p:cNvSpPr/>
          <p:nvPr/>
        </p:nvSpPr>
        <p:spPr>
          <a:xfrm>
            <a:off x="777240" y="685800"/>
            <a:ext cx="7315200" cy="228600"/>
          </a:xfrm>
          <a:prstGeom prst="rect">
            <a:avLst/>
          </a:prstGeom>
          <a:noFill/>
          <a:ln/>
        </p:spPr>
        <p:txBody>
          <a:bodyPr wrap="square" lIns="0" tIns="0" rIns="0" bIns="0" rtlCol="0" anchor="ctr"/>
          <a:lstStyle/>
          <a:p>
            <a:pPr marL="0" indent="0">
              <a:buNone/>
            </a:pPr>
            <a:r>
              <a:rPr lang="en-US" sz="1100" i="1" dirty="0">
                <a:solidFill>
                  <a:srgbClr val="2563EB"/>
                </a:solidFill>
                <a:latin typeface="Calibri" pitchFamily="34" charset="0"/>
                <a:ea typeface="Calibri" pitchFamily="34" charset="-122"/>
                <a:cs typeface="Calibri" pitchFamily="34" charset="-120"/>
              </a:rPr>
              <a:t>Rain is the great equalizer — the one factor that makes F1 truly unpredictable</a:t>
            </a:r>
            <a:endParaRPr lang="en-US" sz="1100" dirty="0"/>
          </a:p>
        </p:txBody>
      </p:sp>
      <p:sp>
        <p:nvSpPr>
          <p:cNvPr id="8" name="Shape 5"/>
          <p:cNvSpPr/>
          <p:nvPr/>
        </p:nvSpPr>
        <p:spPr>
          <a:xfrm>
            <a:off x="365760" y="1051560"/>
            <a:ext cx="1920240" cy="914400"/>
          </a:xfrm>
          <a:prstGeom prst="rect">
            <a:avLst/>
          </a:prstGeom>
          <a:solidFill>
            <a:srgbClr val="E8F0FE"/>
          </a:solidFill>
          <a:ln/>
          <a:effectLst>
            <a:outerShdw blurRad="50800" dist="25400" dir="8100000" algn="bl" rotWithShape="0">
              <a:srgbClr val="000000">
                <a:alpha val="10000"/>
              </a:srgbClr>
            </a:outerShdw>
          </a:effectLst>
        </p:spPr>
        <p:txBody>
          <a:bodyPr/>
          <a:lstStyle/>
          <a:p>
            <a:endParaRPr lang="en-US"/>
          </a:p>
        </p:txBody>
      </p:sp>
      <p:sp>
        <p:nvSpPr>
          <p:cNvPr id="9" name="Text 6"/>
          <p:cNvSpPr/>
          <p:nvPr/>
        </p:nvSpPr>
        <p:spPr>
          <a:xfrm>
            <a:off x="365760" y="1143000"/>
            <a:ext cx="1920240" cy="457200"/>
          </a:xfrm>
          <a:prstGeom prst="rect">
            <a:avLst/>
          </a:prstGeom>
          <a:noFill/>
          <a:ln/>
        </p:spPr>
        <p:txBody>
          <a:bodyPr wrap="square" lIns="0" tIns="0" rIns="0" bIns="0" rtlCol="0" anchor="ctr"/>
          <a:lstStyle/>
          <a:p>
            <a:pPr marL="0" indent="0" algn="ctr">
              <a:buNone/>
            </a:pPr>
            <a:r>
              <a:rPr lang="en-US" sz="2800" b="1" dirty="0">
                <a:solidFill>
                  <a:srgbClr val="2563EB"/>
                </a:solidFill>
                <a:latin typeface="Georgia" pitchFamily="34" charset="0"/>
                <a:ea typeface="Georgia" pitchFamily="34" charset="-122"/>
                <a:cs typeface="Georgia" pitchFamily="34" charset="-120"/>
              </a:rPr>
              <a:t>24,435</a:t>
            </a:r>
            <a:endParaRPr lang="en-US" sz="2800" dirty="0"/>
          </a:p>
        </p:txBody>
      </p:sp>
      <p:sp>
        <p:nvSpPr>
          <p:cNvPr id="10" name="Text 7"/>
          <p:cNvSpPr/>
          <p:nvPr/>
        </p:nvSpPr>
        <p:spPr>
          <a:xfrm>
            <a:off x="365760" y="1508760"/>
            <a:ext cx="1920240" cy="274320"/>
          </a:xfrm>
          <a:prstGeom prst="rect">
            <a:avLst/>
          </a:prstGeom>
          <a:noFill/>
          <a:ln/>
        </p:spPr>
        <p:txBody>
          <a:bodyPr wrap="square" lIns="0" tIns="0" rIns="0" bIns="0" rtlCol="0" anchor="ctr"/>
          <a:lstStyle/>
          <a:p>
            <a:pPr marL="0" indent="0" algn="ctr">
              <a:buNone/>
            </a:pPr>
            <a:r>
              <a:rPr lang="en-US" sz="1000" dirty="0">
                <a:solidFill>
                  <a:srgbClr val="2563EB"/>
                </a:solidFill>
                <a:latin typeface="Calibri" pitchFamily="34" charset="0"/>
                <a:ea typeface="Calibri" pitchFamily="34" charset="-122"/>
                <a:cs typeface="Calibri" pitchFamily="34" charset="-120"/>
              </a:rPr>
              <a:t>Weather Records</a:t>
            </a:r>
            <a:endParaRPr lang="en-US" sz="1000" dirty="0"/>
          </a:p>
        </p:txBody>
      </p:sp>
      <p:sp>
        <p:nvSpPr>
          <p:cNvPr id="11" name="Text 8"/>
          <p:cNvSpPr/>
          <p:nvPr/>
        </p:nvSpPr>
        <p:spPr>
          <a:xfrm>
            <a:off x="365760" y="1783080"/>
            <a:ext cx="1920240" cy="274320"/>
          </a:xfrm>
          <a:prstGeom prst="rect">
            <a:avLst/>
          </a:prstGeom>
          <a:noFill/>
          <a:ln/>
        </p:spPr>
        <p:txBody>
          <a:bodyPr wrap="square" lIns="0" tIns="0" rIns="0" bIns="0" rtlCol="0" anchor="ctr"/>
          <a:lstStyle/>
          <a:p>
            <a:pPr marL="0" indent="0" algn="ctr">
              <a:buNone/>
            </a:pPr>
            <a:r>
              <a:rPr lang="en-US" sz="800" dirty="0">
                <a:solidFill>
                  <a:srgbClr val="949594"/>
                </a:solidFill>
                <a:latin typeface="Calibri" pitchFamily="34" charset="0"/>
                <a:ea typeface="Calibri" pitchFamily="34" charset="-122"/>
                <a:cs typeface="Calibri" pitchFamily="34" charset="-120"/>
              </a:rPr>
              <a:t>166 sessions</a:t>
            </a:r>
            <a:endParaRPr lang="en-US" sz="800" dirty="0"/>
          </a:p>
        </p:txBody>
      </p:sp>
      <p:sp>
        <p:nvSpPr>
          <p:cNvPr id="12" name="Shape 9"/>
          <p:cNvSpPr/>
          <p:nvPr/>
        </p:nvSpPr>
        <p:spPr>
          <a:xfrm>
            <a:off x="2468880" y="1051560"/>
            <a:ext cx="1920240" cy="914400"/>
          </a:xfrm>
          <a:prstGeom prst="rect">
            <a:avLst/>
          </a:prstGeom>
          <a:solidFill>
            <a:srgbClr val="E6F4EA"/>
          </a:solidFill>
          <a:ln/>
          <a:effectLst>
            <a:outerShdw blurRad="50800" dist="25400" dir="8100000" algn="bl" rotWithShape="0">
              <a:srgbClr val="000000">
                <a:alpha val="10000"/>
              </a:srgbClr>
            </a:outerShdw>
          </a:effectLst>
        </p:spPr>
        <p:txBody>
          <a:bodyPr/>
          <a:lstStyle/>
          <a:p>
            <a:endParaRPr lang="en-US"/>
          </a:p>
        </p:txBody>
      </p:sp>
      <p:sp>
        <p:nvSpPr>
          <p:cNvPr id="13" name="Text 10"/>
          <p:cNvSpPr/>
          <p:nvPr/>
        </p:nvSpPr>
        <p:spPr>
          <a:xfrm>
            <a:off x="2468880" y="1143000"/>
            <a:ext cx="1920240" cy="457200"/>
          </a:xfrm>
          <a:prstGeom prst="rect">
            <a:avLst/>
          </a:prstGeom>
          <a:noFill/>
          <a:ln/>
        </p:spPr>
        <p:txBody>
          <a:bodyPr wrap="square" lIns="0" tIns="0" rIns="0" bIns="0" rtlCol="0" anchor="ctr"/>
          <a:lstStyle/>
          <a:p>
            <a:pPr marL="0" indent="0" algn="ctr">
              <a:buNone/>
            </a:pPr>
            <a:r>
              <a:rPr lang="en-US" sz="2800" b="1" dirty="0">
                <a:solidFill>
                  <a:srgbClr val="059669"/>
                </a:solidFill>
                <a:latin typeface="Georgia" pitchFamily="34" charset="0"/>
                <a:ea typeface="Georgia" pitchFamily="34" charset="-122"/>
                <a:cs typeface="Georgia" pitchFamily="34" charset="-120"/>
              </a:rPr>
              <a:t>94%</a:t>
            </a:r>
            <a:endParaRPr lang="en-US" sz="2800" dirty="0"/>
          </a:p>
        </p:txBody>
      </p:sp>
      <p:sp>
        <p:nvSpPr>
          <p:cNvPr id="14" name="Text 11"/>
          <p:cNvSpPr/>
          <p:nvPr/>
        </p:nvSpPr>
        <p:spPr>
          <a:xfrm>
            <a:off x="2468880" y="1508760"/>
            <a:ext cx="1920240" cy="274320"/>
          </a:xfrm>
          <a:prstGeom prst="rect">
            <a:avLst/>
          </a:prstGeom>
          <a:noFill/>
          <a:ln/>
        </p:spPr>
        <p:txBody>
          <a:bodyPr wrap="square" lIns="0" tIns="0" rIns="0" bIns="0" rtlCol="0" anchor="ctr"/>
          <a:lstStyle/>
          <a:p>
            <a:pPr marL="0" indent="0" algn="ctr">
              <a:buNone/>
            </a:pPr>
            <a:r>
              <a:rPr lang="en-US" sz="1000" dirty="0">
                <a:solidFill>
                  <a:srgbClr val="059669"/>
                </a:solidFill>
                <a:latin typeface="Calibri" pitchFamily="34" charset="0"/>
                <a:ea typeface="Calibri" pitchFamily="34" charset="-122"/>
                <a:cs typeface="Calibri" pitchFamily="34" charset="-120"/>
              </a:rPr>
              <a:t>Race Coverage</a:t>
            </a:r>
            <a:endParaRPr lang="en-US" sz="1000" dirty="0"/>
          </a:p>
        </p:txBody>
      </p:sp>
      <p:sp>
        <p:nvSpPr>
          <p:cNvPr id="15" name="Text 12"/>
          <p:cNvSpPr/>
          <p:nvPr/>
        </p:nvSpPr>
        <p:spPr>
          <a:xfrm>
            <a:off x="2468880" y="1783080"/>
            <a:ext cx="1920240" cy="274320"/>
          </a:xfrm>
          <a:prstGeom prst="rect">
            <a:avLst/>
          </a:prstGeom>
          <a:noFill/>
          <a:ln/>
        </p:spPr>
        <p:txBody>
          <a:bodyPr wrap="square" lIns="0" tIns="0" rIns="0" bIns="0" rtlCol="0" anchor="ctr"/>
          <a:lstStyle/>
          <a:p>
            <a:pPr marL="0" indent="0" algn="ctr">
              <a:buNone/>
            </a:pPr>
            <a:r>
              <a:rPr lang="en-US" sz="800" dirty="0">
                <a:solidFill>
                  <a:srgbClr val="949594"/>
                </a:solidFill>
                <a:latin typeface="Calibri" pitchFamily="34" charset="0"/>
                <a:ea typeface="Calibri" pitchFamily="34" charset="-122"/>
                <a:cs typeface="Calibri" pitchFamily="34" charset="-120"/>
              </a:rPr>
              <a:t>of all races</a:t>
            </a:r>
            <a:endParaRPr lang="en-US" sz="800" dirty="0"/>
          </a:p>
        </p:txBody>
      </p:sp>
      <p:sp>
        <p:nvSpPr>
          <p:cNvPr id="16" name="Shape 13"/>
          <p:cNvSpPr/>
          <p:nvPr/>
        </p:nvSpPr>
        <p:spPr>
          <a:xfrm>
            <a:off x="4572000" y="1051560"/>
            <a:ext cx="1920240" cy="914400"/>
          </a:xfrm>
          <a:prstGeom prst="rect">
            <a:avLst/>
          </a:prstGeom>
          <a:solidFill>
            <a:srgbClr val="FEF9E7"/>
          </a:solidFill>
          <a:ln/>
          <a:effectLst>
            <a:outerShdw blurRad="50800" dist="25400" dir="8100000" algn="bl" rotWithShape="0">
              <a:srgbClr val="000000">
                <a:alpha val="10000"/>
              </a:srgbClr>
            </a:outerShdw>
          </a:effectLst>
        </p:spPr>
        <p:txBody>
          <a:bodyPr/>
          <a:lstStyle/>
          <a:p>
            <a:endParaRPr lang="en-US"/>
          </a:p>
        </p:txBody>
      </p:sp>
      <p:sp>
        <p:nvSpPr>
          <p:cNvPr id="17" name="Text 14"/>
          <p:cNvSpPr/>
          <p:nvPr/>
        </p:nvSpPr>
        <p:spPr>
          <a:xfrm>
            <a:off x="4572000" y="1143000"/>
            <a:ext cx="1920240" cy="457200"/>
          </a:xfrm>
          <a:prstGeom prst="rect">
            <a:avLst/>
          </a:prstGeom>
          <a:noFill/>
          <a:ln/>
        </p:spPr>
        <p:txBody>
          <a:bodyPr wrap="square" lIns="0" tIns="0" rIns="0" bIns="0" rtlCol="0" anchor="ctr"/>
          <a:lstStyle/>
          <a:p>
            <a:pPr marL="0" indent="0" algn="ctr">
              <a:buNone/>
            </a:pPr>
            <a:r>
              <a:rPr lang="en-US" sz="2800" b="1" dirty="0">
                <a:solidFill>
                  <a:srgbClr val="D97706"/>
                </a:solidFill>
                <a:latin typeface="Georgia" pitchFamily="34" charset="0"/>
                <a:ea typeface="Georgia" pitchFamily="34" charset="-122"/>
                <a:cs typeface="Georgia" pitchFamily="34" charset="-120"/>
              </a:rPr>
              <a:t>~8%</a:t>
            </a:r>
            <a:endParaRPr lang="en-US" sz="2800" dirty="0"/>
          </a:p>
        </p:txBody>
      </p:sp>
      <p:sp>
        <p:nvSpPr>
          <p:cNvPr id="18" name="Text 15"/>
          <p:cNvSpPr/>
          <p:nvPr/>
        </p:nvSpPr>
        <p:spPr>
          <a:xfrm>
            <a:off x="4572000" y="1508760"/>
            <a:ext cx="1920240" cy="274320"/>
          </a:xfrm>
          <a:prstGeom prst="rect">
            <a:avLst/>
          </a:prstGeom>
          <a:noFill/>
          <a:ln/>
        </p:spPr>
        <p:txBody>
          <a:bodyPr wrap="square" lIns="0" tIns="0" rIns="0" bIns="0" rtlCol="0" anchor="ctr"/>
          <a:lstStyle/>
          <a:p>
            <a:pPr marL="0" indent="0" algn="ctr">
              <a:buNone/>
            </a:pPr>
            <a:r>
              <a:rPr lang="en-US" sz="1000" dirty="0">
                <a:solidFill>
                  <a:srgbClr val="D97706"/>
                </a:solidFill>
                <a:latin typeface="Calibri" pitchFamily="34" charset="0"/>
                <a:ea typeface="Calibri" pitchFamily="34" charset="-122"/>
                <a:cs typeface="Calibri" pitchFamily="34" charset="-120"/>
              </a:rPr>
              <a:t>Races With Rain</a:t>
            </a:r>
            <a:endParaRPr lang="en-US" sz="1000" dirty="0"/>
          </a:p>
        </p:txBody>
      </p:sp>
      <p:sp>
        <p:nvSpPr>
          <p:cNvPr id="19" name="Text 16"/>
          <p:cNvSpPr/>
          <p:nvPr/>
        </p:nvSpPr>
        <p:spPr>
          <a:xfrm>
            <a:off x="4572000" y="1783080"/>
            <a:ext cx="1920240" cy="274320"/>
          </a:xfrm>
          <a:prstGeom prst="rect">
            <a:avLst/>
          </a:prstGeom>
          <a:noFill/>
          <a:ln/>
        </p:spPr>
        <p:txBody>
          <a:bodyPr wrap="square" lIns="0" tIns="0" rIns="0" bIns="0" rtlCol="0" anchor="ctr"/>
          <a:lstStyle/>
          <a:p>
            <a:pPr marL="0" indent="0" algn="ctr">
              <a:buNone/>
            </a:pPr>
            <a:r>
              <a:rPr lang="en-US" sz="800" dirty="0">
                <a:solidFill>
                  <a:srgbClr val="949594"/>
                </a:solidFill>
                <a:latin typeface="Calibri" pitchFamily="34" charset="0"/>
                <a:ea typeface="Calibri" pitchFamily="34" charset="-122"/>
                <a:cs typeface="Calibri" pitchFamily="34" charset="-120"/>
              </a:rPr>
              <a:t>rare but impactful</a:t>
            </a:r>
            <a:endParaRPr lang="en-US" sz="800" dirty="0"/>
          </a:p>
        </p:txBody>
      </p:sp>
      <p:sp>
        <p:nvSpPr>
          <p:cNvPr id="20" name="Shape 17"/>
          <p:cNvSpPr/>
          <p:nvPr/>
        </p:nvSpPr>
        <p:spPr>
          <a:xfrm>
            <a:off x="6675120" y="1051560"/>
            <a:ext cx="1920240" cy="914400"/>
          </a:xfrm>
          <a:prstGeom prst="rect">
            <a:avLst/>
          </a:prstGeom>
          <a:solidFill>
            <a:srgbClr val="FDF2F2"/>
          </a:solidFill>
          <a:ln/>
          <a:effectLst>
            <a:outerShdw blurRad="50800" dist="25400" dir="8100000" algn="bl" rotWithShape="0">
              <a:srgbClr val="000000">
                <a:alpha val="10000"/>
              </a:srgbClr>
            </a:outerShdw>
          </a:effectLst>
        </p:spPr>
        <p:txBody>
          <a:bodyPr/>
          <a:lstStyle/>
          <a:p>
            <a:endParaRPr lang="en-US"/>
          </a:p>
        </p:txBody>
      </p:sp>
      <p:sp>
        <p:nvSpPr>
          <p:cNvPr id="21" name="Text 18"/>
          <p:cNvSpPr/>
          <p:nvPr/>
        </p:nvSpPr>
        <p:spPr>
          <a:xfrm>
            <a:off x="6675120" y="1143000"/>
            <a:ext cx="1920240" cy="457200"/>
          </a:xfrm>
          <a:prstGeom prst="rect">
            <a:avLst/>
          </a:prstGeom>
          <a:noFill/>
          <a:ln/>
        </p:spPr>
        <p:txBody>
          <a:bodyPr wrap="square" lIns="0" tIns="0" rIns="0" bIns="0" rtlCol="0" anchor="ctr"/>
          <a:lstStyle/>
          <a:p>
            <a:pPr marL="0" indent="0" algn="ctr">
              <a:buNone/>
            </a:pPr>
            <a:r>
              <a:rPr lang="en-US" sz="2800" b="1" dirty="0">
                <a:solidFill>
                  <a:srgbClr val="C41E1E"/>
                </a:solidFill>
                <a:latin typeface="Georgia" pitchFamily="34" charset="0"/>
                <a:ea typeface="Georgia" pitchFamily="34" charset="-122"/>
                <a:cs typeface="Georgia" pitchFamily="34" charset="-120"/>
              </a:rPr>
              <a:t>+20.4%</a:t>
            </a:r>
            <a:endParaRPr lang="en-US" sz="2800" dirty="0"/>
          </a:p>
        </p:txBody>
      </p:sp>
      <p:sp>
        <p:nvSpPr>
          <p:cNvPr id="22" name="Text 19"/>
          <p:cNvSpPr/>
          <p:nvPr/>
        </p:nvSpPr>
        <p:spPr>
          <a:xfrm>
            <a:off x="6675120" y="1508760"/>
            <a:ext cx="1920240" cy="274320"/>
          </a:xfrm>
          <a:prstGeom prst="rect">
            <a:avLst/>
          </a:prstGeom>
          <a:noFill/>
          <a:ln/>
        </p:spPr>
        <p:txBody>
          <a:bodyPr wrap="square" lIns="0" tIns="0" rIns="0" bIns="0" rtlCol="0" anchor="ctr"/>
          <a:lstStyle/>
          <a:p>
            <a:pPr marL="0" indent="0" algn="ctr">
              <a:buNone/>
            </a:pPr>
            <a:r>
              <a:rPr lang="en-US" sz="1000" dirty="0">
                <a:solidFill>
                  <a:srgbClr val="C41E1E"/>
                </a:solidFill>
                <a:latin typeface="Calibri" pitchFamily="34" charset="0"/>
                <a:ea typeface="Calibri" pitchFamily="34" charset="-122"/>
                <a:cs typeface="Calibri" pitchFamily="34" charset="-120"/>
              </a:rPr>
              <a:t>Winner Gain</a:t>
            </a:r>
            <a:endParaRPr lang="en-US" sz="1000" dirty="0"/>
          </a:p>
        </p:txBody>
      </p:sp>
      <p:sp>
        <p:nvSpPr>
          <p:cNvPr id="23" name="Text 20"/>
          <p:cNvSpPr/>
          <p:nvPr/>
        </p:nvSpPr>
        <p:spPr>
          <a:xfrm>
            <a:off x="6675120" y="1783080"/>
            <a:ext cx="1920240" cy="274320"/>
          </a:xfrm>
          <a:prstGeom prst="rect">
            <a:avLst/>
          </a:prstGeom>
          <a:noFill/>
          <a:ln/>
        </p:spPr>
        <p:txBody>
          <a:bodyPr wrap="square" lIns="0" tIns="0" rIns="0" bIns="0" rtlCol="0" anchor="ctr"/>
          <a:lstStyle/>
          <a:p>
            <a:pPr marL="0" indent="0" algn="ctr">
              <a:buNone/>
            </a:pPr>
            <a:r>
              <a:rPr lang="en-US" sz="800" dirty="0">
                <a:solidFill>
                  <a:srgbClr val="949594"/>
                </a:solidFill>
                <a:latin typeface="Calibri" pitchFamily="34" charset="0"/>
                <a:ea typeface="Calibri" pitchFamily="34" charset="-122"/>
                <a:cs typeface="Calibri" pitchFamily="34" charset="-120"/>
              </a:rPr>
              <a:t>50% → 70.4%</a:t>
            </a:r>
            <a:endParaRPr lang="en-US" sz="80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365760" y="2194560"/>
          <a:ext cx="7863840" cy="2048256"/>
        </p:xfrm>
        <a:graphic>
          <a:graphicData uri="http://schemas.openxmlformats.org/drawingml/2006/table">
            <a:tbl>
              <a:tblPr/>
              <a:tblGrid>
                <a:gridCol w="2011680">
                  <a:extLst>
                    <a:ext uri="{9D8B030D-6E8A-4147-A177-3AD203B41FA5}">
                      <a16:colId xmlns:a16="http://schemas.microsoft.com/office/drawing/2014/main" val="20000"/>
                    </a:ext>
                  </a:extLst>
                </a:gridCol>
                <a:gridCol w="2743200">
                  <a:extLst>
                    <a:ext uri="{9D8B030D-6E8A-4147-A177-3AD203B41FA5}">
                      <a16:colId xmlns:a16="http://schemas.microsoft.com/office/drawing/2014/main" val="20001"/>
                    </a:ext>
                  </a:extLst>
                </a:gridCol>
                <a:gridCol w="3108960">
                  <a:extLst>
                    <a:ext uri="{9D8B030D-6E8A-4147-A177-3AD203B41FA5}">
                      <a16:colId xmlns:a16="http://schemas.microsoft.com/office/drawing/2014/main" val="20002"/>
                    </a:ext>
                  </a:extLst>
                </a:gridCol>
              </a:tblGrid>
              <a:tr h="256032">
                <a:tc>
                  <a:txBody>
                    <a:bodyPr/>
                    <a:lstStyle/>
                    <a:p>
                      <a:pPr marL="0" indent="0">
                        <a:buNone/>
                      </a:pPr>
                      <a:r>
                        <a:rPr lang="en-US" sz="900" b="1" dirty="0">
                          <a:solidFill>
                            <a:srgbClr val="FFFFFF"/>
                          </a:solidFill>
                          <a:latin typeface="Calibri" pitchFamily="34" charset="0"/>
                          <a:ea typeface="Calibri" pitchFamily="34" charset="-122"/>
                          <a:cs typeface="Calibri" pitchFamily="34" charset="-120"/>
                        </a:rPr>
                        <a:t>Feature</a:t>
                      </a:r>
                      <a:endParaRPr lang="en-US" sz="900" dirty="0">
                        <a:latin typeface="Calibri" charset="0"/>
                        <a:ea typeface="Calibri" charset="0"/>
                        <a:cs typeface="Calibri" charset="0"/>
                      </a:endParaRPr>
                    </a:p>
                  </a:txBody>
                  <a:tcP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2563EB"/>
                    </a:solidFill>
                  </a:tcPr>
                </a:tc>
                <a:tc>
                  <a:txBody>
                    <a:bodyPr/>
                    <a:lstStyle/>
                    <a:p>
                      <a:pPr marL="0" indent="0">
                        <a:buNone/>
                      </a:pPr>
                      <a:r>
                        <a:rPr lang="en-US" sz="900" b="1" dirty="0">
                          <a:solidFill>
                            <a:srgbClr val="FFFFFF"/>
                          </a:solidFill>
                          <a:latin typeface="Calibri" pitchFamily="34" charset="0"/>
                          <a:ea typeface="Calibri" pitchFamily="34" charset="-122"/>
                          <a:cs typeface="Calibri" pitchFamily="34" charset="-120"/>
                        </a:rPr>
                        <a:t>Description</a:t>
                      </a:r>
                      <a:endParaRPr lang="en-US" sz="900" dirty="0">
                        <a:latin typeface="Calibri" charset="0"/>
                        <a:ea typeface="Calibri" charset="0"/>
                        <a:cs typeface="Calibri" charset="0"/>
                      </a:endParaRPr>
                    </a:p>
                  </a:txBody>
                  <a:tcP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2563EB"/>
                    </a:solidFill>
                  </a:tcPr>
                </a:tc>
                <a:tc>
                  <a:txBody>
                    <a:bodyPr/>
                    <a:lstStyle/>
                    <a:p>
                      <a:pPr marL="0" indent="0">
                        <a:buNone/>
                      </a:pPr>
                      <a:r>
                        <a:rPr lang="en-US" sz="900" b="1" dirty="0">
                          <a:solidFill>
                            <a:srgbClr val="FFFFFF"/>
                          </a:solidFill>
                          <a:latin typeface="Calibri" pitchFamily="34" charset="0"/>
                          <a:ea typeface="Calibri" pitchFamily="34" charset="-122"/>
                          <a:cs typeface="Calibri" pitchFamily="34" charset="-120"/>
                        </a:rPr>
                        <a:t>Why It Matters</a:t>
                      </a:r>
                      <a:endParaRPr lang="en-US" sz="900" dirty="0">
                        <a:latin typeface="Calibri" charset="0"/>
                        <a:ea typeface="Calibri" charset="0"/>
                        <a:cs typeface="Calibri" charset="0"/>
                      </a:endParaRPr>
                    </a:p>
                  </a:txBody>
                  <a:tcP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2563EB"/>
                    </a:solidFill>
                  </a:tcPr>
                </a:tc>
                <a:extLst>
                  <a:ext uri="{0D108BD9-81ED-4DB2-BD59-A6C34878D82A}">
                    <a16:rowId xmlns:a16="http://schemas.microsoft.com/office/drawing/2014/main" val="10000"/>
                  </a:ext>
                </a:extLst>
              </a:tr>
              <a:tr h="256032">
                <a:tc>
                  <a:txBody>
                    <a:bodyPr/>
                    <a:lstStyle/>
                    <a:p>
                      <a:pPr marL="0" indent="0">
                        <a:buNone/>
                      </a:pPr>
                      <a:r>
                        <a:rPr lang="en-US" sz="900" dirty="0">
                          <a:solidFill>
                            <a:srgbClr val="000000"/>
                          </a:solidFill>
                          <a:latin typeface="Calibri" pitchFamily="34" charset="0"/>
                          <a:ea typeface="Calibri" pitchFamily="34" charset="-122"/>
                          <a:cs typeface="Calibri" pitchFamily="34" charset="-120"/>
                        </a:rPr>
                        <a:t>🌡️ avg_track_temp</a:t>
                      </a:r>
                      <a:endParaRPr lang="en-US" sz="900" dirty="0">
                        <a:latin typeface="Calibri" charset="0"/>
                        <a:ea typeface="Calibri" charset="0"/>
                        <a:cs typeface="Calibri" charset="0"/>
                      </a:endParaRPr>
                    </a:p>
                  </a:txBody>
                  <a:tcP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marL="0" indent="0">
                        <a:buNone/>
                      </a:pPr>
                      <a:r>
                        <a:rPr lang="en-US" sz="900" dirty="0">
                          <a:solidFill>
                            <a:srgbClr val="000000"/>
                          </a:solidFill>
                          <a:latin typeface="Calibri" pitchFamily="34" charset="0"/>
                          <a:ea typeface="Calibri" pitchFamily="34" charset="-122"/>
                          <a:cs typeface="Calibri" pitchFamily="34" charset="-120"/>
                        </a:rPr>
                        <a:t>Track surface temperature (°C)</a:t>
                      </a:r>
                      <a:endParaRPr lang="en-US" sz="900" dirty="0">
                        <a:latin typeface="Calibri" charset="0"/>
                        <a:ea typeface="Calibri" charset="0"/>
                        <a:cs typeface="Calibri" charset="0"/>
                      </a:endParaRPr>
                    </a:p>
                  </a:txBody>
                  <a:tcP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marL="0" indent="0">
                        <a:buNone/>
                      </a:pPr>
                      <a:r>
                        <a:rPr lang="en-US" sz="900" dirty="0">
                          <a:solidFill>
                            <a:srgbClr val="000000"/>
                          </a:solidFill>
                          <a:latin typeface="Calibri" pitchFamily="34" charset="0"/>
                          <a:ea typeface="Calibri" pitchFamily="34" charset="-122"/>
                          <a:cs typeface="Calibri" pitchFamily="34" charset="-120"/>
                        </a:rPr>
                        <a:t>Hot tracks destroy soft tires 30-50% faster</a:t>
                      </a:r>
                      <a:endParaRPr lang="en-US" sz="900" dirty="0">
                        <a:latin typeface="Calibri" charset="0"/>
                        <a:ea typeface="Calibri" charset="0"/>
                        <a:cs typeface="Calibri" charset="0"/>
                      </a:endParaRPr>
                    </a:p>
                  </a:txBody>
                  <a:tcP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extLst>
                  <a:ext uri="{0D108BD9-81ED-4DB2-BD59-A6C34878D82A}">
                    <a16:rowId xmlns:a16="http://schemas.microsoft.com/office/drawing/2014/main" val="10001"/>
                  </a:ext>
                </a:extLst>
              </a:tr>
              <a:tr h="256032">
                <a:tc>
                  <a:txBody>
                    <a:bodyPr/>
                    <a:lstStyle/>
                    <a:p>
                      <a:pPr marL="0" indent="0">
                        <a:buNone/>
                      </a:pPr>
                      <a:r>
                        <a:rPr lang="en-US" sz="900" dirty="0">
                          <a:solidFill>
                            <a:srgbClr val="000000"/>
                          </a:solidFill>
                          <a:latin typeface="Calibri" pitchFamily="34" charset="0"/>
                          <a:ea typeface="Calibri" pitchFamily="34" charset="-122"/>
                          <a:cs typeface="Calibri" pitchFamily="34" charset="-120"/>
                        </a:rPr>
                        <a:t>🌡️ avg_air_temp</a:t>
                      </a:r>
                      <a:endParaRPr lang="en-US" sz="900" dirty="0">
                        <a:latin typeface="Calibri" charset="0"/>
                        <a:ea typeface="Calibri" charset="0"/>
                        <a:cs typeface="Calibri" charset="0"/>
                      </a:endParaRPr>
                    </a:p>
                  </a:txBody>
                  <a:tcP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marL="0" indent="0">
                        <a:buNone/>
                      </a:pPr>
                      <a:r>
                        <a:rPr lang="en-US" sz="900" dirty="0">
                          <a:solidFill>
                            <a:srgbClr val="000000"/>
                          </a:solidFill>
                          <a:latin typeface="Calibri" pitchFamily="34" charset="0"/>
                          <a:ea typeface="Calibri" pitchFamily="34" charset="-122"/>
                          <a:cs typeface="Calibri" pitchFamily="34" charset="-120"/>
                        </a:rPr>
                        <a:t>Ambient air temperature</a:t>
                      </a:r>
                      <a:endParaRPr lang="en-US" sz="900" dirty="0">
                        <a:latin typeface="Calibri" charset="0"/>
                        <a:ea typeface="Calibri" charset="0"/>
                        <a:cs typeface="Calibri" charset="0"/>
                      </a:endParaRPr>
                    </a:p>
                  </a:txBody>
                  <a:tcP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marL="0" indent="0">
                        <a:buNone/>
                      </a:pPr>
                      <a:r>
                        <a:rPr lang="en-US" sz="900" dirty="0">
                          <a:solidFill>
                            <a:srgbClr val="000000"/>
                          </a:solidFill>
                          <a:latin typeface="Calibri" pitchFamily="34" charset="0"/>
                          <a:ea typeface="Calibri" pitchFamily="34" charset="-122"/>
                          <a:cs typeface="Calibri" pitchFamily="34" charset="-120"/>
                        </a:rPr>
                        <a:t>Affects engine cooling and aero efficiency</a:t>
                      </a:r>
                      <a:endParaRPr lang="en-US" sz="900" dirty="0">
                        <a:latin typeface="Calibri" charset="0"/>
                        <a:ea typeface="Calibri" charset="0"/>
                        <a:cs typeface="Calibri" charset="0"/>
                      </a:endParaRPr>
                    </a:p>
                  </a:txBody>
                  <a:tcP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extLst>
                  <a:ext uri="{0D108BD9-81ED-4DB2-BD59-A6C34878D82A}">
                    <a16:rowId xmlns:a16="http://schemas.microsoft.com/office/drawing/2014/main" val="10002"/>
                  </a:ext>
                </a:extLst>
              </a:tr>
              <a:tr h="256032">
                <a:tc>
                  <a:txBody>
                    <a:bodyPr/>
                    <a:lstStyle/>
                    <a:p>
                      <a:pPr marL="0" indent="0">
                        <a:buNone/>
                      </a:pPr>
                      <a:r>
                        <a:rPr lang="en-US" sz="900" dirty="0">
                          <a:solidFill>
                            <a:srgbClr val="000000"/>
                          </a:solidFill>
                          <a:latin typeface="Calibri" pitchFamily="34" charset="0"/>
                          <a:ea typeface="Calibri" pitchFamily="34" charset="-122"/>
                          <a:cs typeface="Calibri" pitchFamily="34" charset="-120"/>
                        </a:rPr>
                        <a:t>🔥 is_hot_race</a:t>
                      </a:r>
                      <a:endParaRPr lang="en-US" sz="900" dirty="0">
                        <a:latin typeface="Calibri" charset="0"/>
                        <a:ea typeface="Calibri" charset="0"/>
                        <a:cs typeface="Calibri" charset="0"/>
                      </a:endParaRPr>
                    </a:p>
                  </a:txBody>
                  <a:tcP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marL="0" indent="0">
                        <a:buNone/>
                      </a:pPr>
                      <a:r>
                        <a:rPr lang="en-US" sz="900" dirty="0">
                          <a:solidFill>
                            <a:srgbClr val="000000"/>
                          </a:solidFill>
                          <a:latin typeface="Calibri" pitchFamily="34" charset="0"/>
                          <a:ea typeface="Calibri" pitchFamily="34" charset="-122"/>
                          <a:cs typeface="Calibri" pitchFamily="34" charset="-120"/>
                        </a:rPr>
                        <a:t>Track temp &gt; 40°C (yes/no)</a:t>
                      </a:r>
                      <a:endParaRPr lang="en-US" sz="900" dirty="0">
                        <a:latin typeface="Calibri" charset="0"/>
                        <a:ea typeface="Calibri" charset="0"/>
                        <a:cs typeface="Calibri" charset="0"/>
                      </a:endParaRPr>
                    </a:p>
                  </a:txBody>
                  <a:tcP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marL="0" indent="0">
                        <a:buNone/>
                      </a:pPr>
                      <a:r>
                        <a:rPr lang="en-US" sz="900" dirty="0">
                          <a:solidFill>
                            <a:srgbClr val="000000"/>
                          </a:solidFill>
                          <a:latin typeface="Calibri" pitchFamily="34" charset="0"/>
                          <a:ea typeface="Calibri" pitchFamily="34" charset="-122"/>
                          <a:cs typeface="Calibri" pitchFamily="34" charset="-120"/>
                        </a:rPr>
                        <a:t>Signals extreme degradation conditions</a:t>
                      </a:r>
                      <a:endParaRPr lang="en-US" sz="900" dirty="0">
                        <a:latin typeface="Calibri" charset="0"/>
                        <a:ea typeface="Calibri" charset="0"/>
                        <a:cs typeface="Calibri" charset="0"/>
                      </a:endParaRPr>
                    </a:p>
                  </a:txBody>
                  <a:tcP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extLst>
                  <a:ext uri="{0D108BD9-81ED-4DB2-BD59-A6C34878D82A}">
                    <a16:rowId xmlns:a16="http://schemas.microsoft.com/office/drawing/2014/main" val="10003"/>
                  </a:ext>
                </a:extLst>
              </a:tr>
              <a:tr h="256032">
                <a:tc>
                  <a:txBody>
                    <a:bodyPr/>
                    <a:lstStyle/>
                    <a:p>
                      <a:pPr marL="0" indent="0">
                        <a:buNone/>
                      </a:pPr>
                      <a:r>
                        <a:rPr lang="en-US" sz="900" dirty="0">
                          <a:solidFill>
                            <a:srgbClr val="000000"/>
                          </a:solidFill>
                          <a:latin typeface="Calibri" pitchFamily="34" charset="0"/>
                          <a:ea typeface="Calibri" pitchFamily="34" charset="-122"/>
                          <a:cs typeface="Calibri" pitchFamily="34" charset="-120"/>
                        </a:rPr>
                        <a:t>❄️ is_cold_race</a:t>
                      </a:r>
                      <a:endParaRPr lang="en-US" sz="900" dirty="0">
                        <a:latin typeface="Calibri" charset="0"/>
                        <a:ea typeface="Calibri" charset="0"/>
                        <a:cs typeface="Calibri" charset="0"/>
                      </a:endParaRPr>
                    </a:p>
                  </a:txBody>
                  <a:tcP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marL="0" indent="0">
                        <a:buNone/>
                      </a:pPr>
                      <a:r>
                        <a:rPr lang="en-US" sz="900" dirty="0">
                          <a:solidFill>
                            <a:srgbClr val="000000"/>
                          </a:solidFill>
                          <a:latin typeface="Calibri" pitchFamily="34" charset="0"/>
                          <a:ea typeface="Calibri" pitchFamily="34" charset="-122"/>
                          <a:cs typeface="Calibri" pitchFamily="34" charset="-120"/>
                        </a:rPr>
                        <a:t>Track temp &lt; 25°C (yes/no)</a:t>
                      </a:r>
                      <a:endParaRPr lang="en-US" sz="900" dirty="0">
                        <a:latin typeface="Calibri" charset="0"/>
                        <a:ea typeface="Calibri" charset="0"/>
                        <a:cs typeface="Calibri" charset="0"/>
                      </a:endParaRPr>
                    </a:p>
                  </a:txBody>
                  <a:tcP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marL="0" indent="0">
                        <a:buNone/>
                      </a:pPr>
                      <a:r>
                        <a:rPr lang="en-US" sz="900" dirty="0">
                          <a:solidFill>
                            <a:srgbClr val="000000"/>
                          </a:solidFill>
                          <a:latin typeface="Calibri" pitchFamily="34" charset="0"/>
                          <a:ea typeface="Calibri" pitchFamily="34" charset="-122"/>
                          <a:cs typeface="Calibri" pitchFamily="34" charset="-120"/>
                        </a:rPr>
                        <a:t>Tires struggle to reach operating temp</a:t>
                      </a:r>
                      <a:endParaRPr lang="en-US" sz="900" dirty="0">
                        <a:latin typeface="Calibri" charset="0"/>
                        <a:ea typeface="Calibri" charset="0"/>
                        <a:cs typeface="Calibri" charset="0"/>
                      </a:endParaRPr>
                    </a:p>
                  </a:txBody>
                  <a:tcP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extLst>
                  <a:ext uri="{0D108BD9-81ED-4DB2-BD59-A6C34878D82A}">
                    <a16:rowId xmlns:a16="http://schemas.microsoft.com/office/drawing/2014/main" val="10004"/>
                  </a:ext>
                </a:extLst>
              </a:tr>
              <a:tr h="256032">
                <a:tc>
                  <a:txBody>
                    <a:bodyPr/>
                    <a:lstStyle/>
                    <a:p>
                      <a:pPr marL="0" indent="0">
                        <a:buNone/>
                      </a:pPr>
                      <a:r>
                        <a:rPr lang="en-US" sz="900" dirty="0">
                          <a:solidFill>
                            <a:srgbClr val="000000"/>
                          </a:solidFill>
                          <a:latin typeface="Calibri" pitchFamily="34" charset="0"/>
                          <a:ea typeface="Calibri" pitchFamily="34" charset="-122"/>
                          <a:cs typeface="Calibri" pitchFamily="34" charset="-120"/>
                        </a:rPr>
                        <a:t>🌧️ had_rain</a:t>
                      </a:r>
                      <a:endParaRPr lang="en-US" sz="900" dirty="0">
                        <a:latin typeface="Calibri" charset="0"/>
                        <a:ea typeface="Calibri" charset="0"/>
                        <a:cs typeface="Calibri" charset="0"/>
                      </a:endParaRPr>
                    </a:p>
                  </a:txBody>
                  <a:tcP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marL="0" indent="0">
                        <a:buNone/>
                      </a:pPr>
                      <a:r>
                        <a:rPr lang="en-US" sz="900" dirty="0">
                          <a:solidFill>
                            <a:srgbClr val="000000"/>
                          </a:solidFill>
                          <a:latin typeface="Calibri" pitchFamily="34" charset="0"/>
                          <a:ea typeface="Calibri" pitchFamily="34" charset="-122"/>
                          <a:cs typeface="Calibri" pitchFamily="34" charset="-120"/>
                        </a:rPr>
                        <a:t>Did it rain? (yes/no)</a:t>
                      </a:r>
                      <a:endParaRPr lang="en-US" sz="900" dirty="0">
                        <a:latin typeface="Calibri" charset="0"/>
                        <a:ea typeface="Calibri" charset="0"/>
                        <a:cs typeface="Calibri" charset="0"/>
                      </a:endParaRPr>
                    </a:p>
                  </a:txBody>
                  <a:tcP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marL="0" indent="0">
                        <a:buNone/>
                      </a:pPr>
                      <a:r>
                        <a:rPr lang="en-US" sz="900" dirty="0">
                          <a:solidFill>
                            <a:srgbClr val="000000"/>
                          </a:solidFill>
                          <a:latin typeface="Calibri" pitchFamily="34" charset="0"/>
                          <a:ea typeface="Calibri" pitchFamily="34" charset="-122"/>
                          <a:cs typeface="Calibri" pitchFamily="34" charset="-120"/>
                        </a:rPr>
                        <a:t>Rain completely changes race outcomes</a:t>
                      </a:r>
                      <a:endParaRPr lang="en-US" sz="900" dirty="0">
                        <a:latin typeface="Calibri" charset="0"/>
                        <a:ea typeface="Calibri" charset="0"/>
                        <a:cs typeface="Calibri" charset="0"/>
                      </a:endParaRPr>
                    </a:p>
                  </a:txBody>
                  <a:tcP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extLst>
                  <a:ext uri="{0D108BD9-81ED-4DB2-BD59-A6C34878D82A}">
                    <a16:rowId xmlns:a16="http://schemas.microsoft.com/office/drawing/2014/main" val="10005"/>
                  </a:ext>
                </a:extLst>
              </a:tr>
              <a:tr h="256032">
                <a:tc>
                  <a:txBody>
                    <a:bodyPr/>
                    <a:lstStyle/>
                    <a:p>
                      <a:pPr marL="0" indent="0">
                        <a:buNone/>
                      </a:pPr>
                      <a:r>
                        <a:rPr lang="en-US" sz="900" dirty="0">
                          <a:solidFill>
                            <a:srgbClr val="000000"/>
                          </a:solidFill>
                          <a:latin typeface="Calibri" pitchFamily="34" charset="0"/>
                          <a:ea typeface="Calibri" pitchFamily="34" charset="-122"/>
                          <a:cs typeface="Calibri" pitchFamily="34" charset="-120"/>
                        </a:rPr>
                        <a:t>💧 max_humidity</a:t>
                      </a:r>
                      <a:endParaRPr lang="en-US" sz="900" dirty="0">
                        <a:latin typeface="Calibri" charset="0"/>
                        <a:ea typeface="Calibri" charset="0"/>
                        <a:cs typeface="Calibri" charset="0"/>
                      </a:endParaRPr>
                    </a:p>
                  </a:txBody>
                  <a:tcP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marL="0" indent="0">
                        <a:buNone/>
                      </a:pPr>
                      <a:r>
                        <a:rPr lang="en-US" sz="900" dirty="0">
                          <a:solidFill>
                            <a:srgbClr val="000000"/>
                          </a:solidFill>
                          <a:latin typeface="Calibri" pitchFamily="34" charset="0"/>
                          <a:ea typeface="Calibri" pitchFamily="34" charset="-122"/>
                          <a:cs typeface="Calibri" pitchFamily="34" charset="-120"/>
                        </a:rPr>
                        <a:t>Peak humidity during race</a:t>
                      </a:r>
                      <a:endParaRPr lang="en-US" sz="900" dirty="0">
                        <a:latin typeface="Calibri" charset="0"/>
                        <a:ea typeface="Calibri" charset="0"/>
                        <a:cs typeface="Calibri" charset="0"/>
                      </a:endParaRPr>
                    </a:p>
                  </a:txBody>
                  <a:tcP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marL="0" indent="0">
                        <a:buNone/>
                      </a:pPr>
                      <a:r>
                        <a:rPr lang="en-US" sz="900" dirty="0">
                          <a:solidFill>
                            <a:srgbClr val="000000"/>
                          </a:solidFill>
                          <a:latin typeface="Calibri" pitchFamily="34" charset="0"/>
                          <a:ea typeface="Calibri" pitchFamily="34" charset="-122"/>
                          <a:cs typeface="Calibri" pitchFamily="34" charset="-120"/>
                        </a:rPr>
                        <a:t>Leading indicator of incoming rain</a:t>
                      </a:r>
                      <a:endParaRPr lang="en-US" sz="900" dirty="0">
                        <a:latin typeface="Calibri" charset="0"/>
                        <a:ea typeface="Calibri" charset="0"/>
                        <a:cs typeface="Calibri" charset="0"/>
                      </a:endParaRPr>
                    </a:p>
                  </a:txBody>
                  <a:tcP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extLst>
                  <a:ext uri="{0D108BD9-81ED-4DB2-BD59-A6C34878D82A}">
                    <a16:rowId xmlns:a16="http://schemas.microsoft.com/office/drawing/2014/main" val="10006"/>
                  </a:ext>
                </a:extLst>
              </a:tr>
              <a:tr h="256032">
                <a:tc>
                  <a:txBody>
                    <a:bodyPr/>
                    <a:lstStyle/>
                    <a:p>
                      <a:pPr marL="0" indent="0">
                        <a:buNone/>
                      </a:pPr>
                      <a:r>
                        <a:rPr lang="en-US" sz="900" dirty="0">
                          <a:solidFill>
                            <a:srgbClr val="000000"/>
                          </a:solidFill>
                          <a:latin typeface="Calibri" pitchFamily="34" charset="0"/>
                          <a:ea typeface="Calibri" pitchFamily="34" charset="-122"/>
                          <a:cs typeface="Calibri" pitchFamily="34" charset="-120"/>
                        </a:rPr>
                        <a:t>📊 temp_variation</a:t>
                      </a:r>
                      <a:endParaRPr lang="en-US" sz="900" dirty="0">
                        <a:latin typeface="Calibri" charset="0"/>
                        <a:ea typeface="Calibri" charset="0"/>
                        <a:cs typeface="Calibri" charset="0"/>
                      </a:endParaRPr>
                    </a:p>
                  </a:txBody>
                  <a:tcP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marL="0" indent="0">
                        <a:buNone/>
                      </a:pPr>
                      <a:r>
                        <a:rPr lang="en-US" sz="900" dirty="0">
                          <a:solidFill>
                            <a:srgbClr val="000000"/>
                          </a:solidFill>
                          <a:latin typeface="Calibri" pitchFamily="34" charset="0"/>
                          <a:ea typeface="Calibri" pitchFamily="34" charset="-122"/>
                          <a:cs typeface="Calibri" pitchFamily="34" charset="-120"/>
                        </a:rPr>
                        <a:t>Max minus min temp range</a:t>
                      </a:r>
                      <a:endParaRPr lang="en-US" sz="900" dirty="0">
                        <a:latin typeface="Calibri" charset="0"/>
                        <a:ea typeface="Calibri" charset="0"/>
                        <a:cs typeface="Calibri" charset="0"/>
                      </a:endParaRPr>
                    </a:p>
                  </a:txBody>
                  <a:tcP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marL="0" indent="0">
                        <a:buNone/>
                      </a:pPr>
                      <a:r>
                        <a:rPr lang="en-US" sz="900" dirty="0">
                          <a:solidFill>
                            <a:srgbClr val="000000"/>
                          </a:solidFill>
                          <a:latin typeface="Calibri" pitchFamily="34" charset="0"/>
                          <a:ea typeface="Calibri" pitchFamily="34" charset="-122"/>
                          <a:cs typeface="Calibri" pitchFamily="34" charset="-120"/>
                        </a:rPr>
                        <a:t>High variation = unpredictable conditions</a:t>
                      </a:r>
                      <a:endParaRPr lang="en-US" sz="900" dirty="0">
                        <a:latin typeface="Calibri" charset="0"/>
                        <a:ea typeface="Calibri" charset="0"/>
                        <a:cs typeface="Calibri" charset="0"/>
                      </a:endParaRPr>
                    </a:p>
                  </a:txBody>
                  <a:tcP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extLst>
                  <a:ext uri="{0D108BD9-81ED-4DB2-BD59-A6C34878D82A}">
                    <a16:rowId xmlns:a16="http://schemas.microsoft.com/office/drawing/2014/main" val="10007"/>
                  </a:ext>
                </a:extLst>
              </a:tr>
            </a:tbl>
          </a:graphicData>
        </a:graphic>
      </p:graphicFrame>
      <p:sp>
        <p:nvSpPr>
          <p:cNvPr id="25" name="Shape 21"/>
          <p:cNvSpPr/>
          <p:nvPr/>
        </p:nvSpPr>
        <p:spPr>
          <a:xfrm>
            <a:off x="365760" y="4251960"/>
            <a:ext cx="8321040" cy="457200"/>
          </a:xfrm>
          <a:prstGeom prst="rect">
            <a:avLst/>
          </a:prstGeom>
          <a:solidFill>
            <a:srgbClr val="E8F0FE"/>
          </a:solidFill>
          <a:ln/>
          <a:effectLst>
            <a:outerShdw blurRad="50800" dist="25400" dir="8100000" algn="bl" rotWithShape="0">
              <a:srgbClr val="000000">
                <a:alpha val="10000"/>
              </a:srgbClr>
            </a:outerShdw>
          </a:effectLst>
        </p:spPr>
        <p:txBody>
          <a:bodyPr/>
          <a:lstStyle/>
          <a:p>
            <a:endParaRPr lang="en-US"/>
          </a:p>
        </p:txBody>
      </p:sp>
      <p:sp>
        <p:nvSpPr>
          <p:cNvPr id="26" name="Text 22"/>
          <p:cNvSpPr/>
          <p:nvPr/>
        </p:nvSpPr>
        <p:spPr>
          <a:xfrm>
            <a:off x="548640" y="4297680"/>
            <a:ext cx="8046720" cy="320040"/>
          </a:xfrm>
          <a:prstGeom prst="rect">
            <a:avLst/>
          </a:prstGeom>
          <a:noFill/>
          <a:ln/>
        </p:spPr>
        <p:txBody>
          <a:bodyPr wrap="square" lIns="0" tIns="0" rIns="0" bIns="0" rtlCol="0" anchor="ctr"/>
          <a:lstStyle/>
          <a:p>
            <a:pPr marL="0" indent="0">
              <a:buNone/>
            </a:pPr>
            <a:r>
              <a:rPr lang="en-US" sz="1100" b="1" dirty="0">
                <a:solidFill>
                  <a:srgbClr val="2563EB"/>
                </a:solidFill>
                <a:latin typeface="Calibri" pitchFamily="34" charset="0"/>
                <a:ea typeface="Calibri" pitchFamily="34" charset="-122"/>
                <a:cs typeface="Calibri" pitchFamily="34" charset="-120"/>
              </a:rPr>
              <a:t>Weather was the SINGLE BIGGEST accuracy improvement — +20.4% in one step. Switching algorithms only added +7.4%.</a:t>
            </a:r>
            <a:endParaRPr lang="en-US" sz="1100" dirty="0"/>
          </a:p>
        </p:txBody>
      </p:sp>
      <p:sp>
        <p:nvSpPr>
          <p:cNvPr id="27" name="Text 23"/>
          <p:cNvSpPr/>
          <p:nvPr/>
        </p:nvSpPr>
        <p:spPr>
          <a:xfrm>
            <a:off x="457200" y="4709160"/>
            <a:ext cx="6400800" cy="365760"/>
          </a:xfrm>
          <a:prstGeom prst="rect">
            <a:avLst/>
          </a:prstGeom>
          <a:noFill/>
          <a:ln/>
        </p:spPr>
        <p:txBody>
          <a:bodyPr wrap="square" rtlCol="0" anchor="ctr"/>
          <a:lstStyle/>
          <a:p>
            <a:pPr marL="0" indent="0">
              <a:buNone/>
            </a:pPr>
            <a:r>
              <a:rPr lang="en-US" sz="900" dirty="0">
                <a:solidFill>
                  <a:srgbClr val="949594"/>
                </a:solidFill>
                <a:latin typeface="Calibri" pitchFamily="34" charset="0"/>
                <a:ea typeface="Calibri" pitchFamily="34" charset="-122"/>
                <a:cs typeface="Calibri" pitchFamily="34" charset="-120"/>
              </a:rPr>
              <a:t>Speaker 2 — Data &amp; ML Models</a:t>
            </a:r>
            <a:endParaRPr lang="en-US" sz="900" dirty="0"/>
          </a:p>
        </p:txBody>
      </p:sp>
      <p:sp>
        <p:nvSpPr>
          <p:cNvPr id="28" name="Text 24"/>
          <p:cNvSpPr/>
          <p:nvPr/>
        </p:nvSpPr>
        <p:spPr>
          <a:xfrm>
            <a:off x="8412480" y="4709160"/>
            <a:ext cx="548640" cy="365760"/>
          </a:xfrm>
          <a:prstGeom prst="rect">
            <a:avLst/>
          </a:prstGeom>
          <a:noFill/>
          <a:ln/>
        </p:spPr>
        <p:txBody>
          <a:bodyPr wrap="square" rtlCol="0" anchor="ctr"/>
          <a:lstStyle/>
          <a:p>
            <a:pPr marL="0" indent="0" algn="r">
              <a:buNone/>
            </a:pPr>
            <a:r>
              <a:rPr lang="en-US" sz="900" dirty="0">
                <a:solidFill>
                  <a:srgbClr val="949594"/>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5F5F5"/>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C41E1E"/>
          </a:solidFill>
          <a:ln/>
        </p:spPr>
        <p:txBody>
          <a:bodyPr/>
          <a:lstStyle/>
          <a:p>
            <a:endParaRPr lang="en-US"/>
          </a:p>
        </p:txBody>
      </p:sp>
      <p:sp>
        <p:nvSpPr>
          <p:cNvPr id="3" name="Shape 1"/>
          <p:cNvSpPr/>
          <p:nvPr/>
        </p:nvSpPr>
        <p:spPr>
          <a:xfrm>
            <a:off x="8778240" y="0"/>
            <a:ext cx="137160" cy="5143500"/>
          </a:xfrm>
          <a:prstGeom prst="rect">
            <a:avLst/>
          </a:prstGeom>
          <a:solidFill>
            <a:srgbClr val="C41E1E"/>
          </a:solidFill>
          <a:ln/>
        </p:spPr>
        <p:txBody>
          <a:bodyPr/>
          <a:lstStyle/>
          <a:p>
            <a:endParaRPr lang="en-US"/>
          </a:p>
        </p:txBody>
      </p:sp>
      <p:sp>
        <p:nvSpPr>
          <p:cNvPr id="4" name="Shape 2"/>
          <p:cNvSpPr/>
          <p:nvPr/>
        </p:nvSpPr>
        <p:spPr>
          <a:xfrm>
            <a:off x="8961120" y="0"/>
            <a:ext cx="73152" cy="5143500"/>
          </a:xfrm>
          <a:prstGeom prst="rect">
            <a:avLst/>
          </a:prstGeom>
          <a:solidFill>
            <a:srgbClr val="C41E1E">
              <a:alpha val="40000"/>
            </a:srgbClr>
          </a:solidFill>
          <a:ln/>
        </p:spPr>
        <p:txBody>
          <a:bodyPr/>
          <a:lstStyle/>
          <a:p>
            <a:endParaRPr lang="en-US"/>
          </a:p>
        </p:txBody>
      </p:sp>
      <p:sp>
        <p:nvSpPr>
          <p:cNvPr id="5" name="Text 3"/>
          <p:cNvSpPr/>
          <p:nvPr/>
        </p:nvSpPr>
        <p:spPr>
          <a:xfrm>
            <a:off x="731520" y="182880"/>
            <a:ext cx="7315200" cy="548640"/>
          </a:xfrm>
          <a:prstGeom prst="rect">
            <a:avLst/>
          </a:prstGeom>
          <a:noFill/>
          <a:ln/>
        </p:spPr>
        <p:txBody>
          <a:bodyPr wrap="square" lIns="0" tIns="0" rIns="0" bIns="0" rtlCol="0" anchor="ctr"/>
          <a:lstStyle/>
          <a:p>
            <a:pPr marL="0" indent="0">
              <a:buNone/>
            </a:pPr>
            <a:r>
              <a:rPr lang="en-US" sz="2800" b="1" dirty="0">
                <a:solidFill>
                  <a:srgbClr val="1A1A2E"/>
                </a:solidFill>
                <a:latin typeface="Georgia" pitchFamily="34" charset="0"/>
                <a:ea typeface="Georgia" pitchFamily="34" charset="-122"/>
                <a:cs typeface="Georgia" pitchFamily="34" charset="-120"/>
              </a:rPr>
              <a:t>3 ML Models — How They Work</a:t>
            </a:r>
            <a:endParaRPr lang="en-US" sz="2800" dirty="0"/>
          </a:p>
        </p:txBody>
      </p:sp>
      <p:sp>
        <p:nvSpPr>
          <p:cNvPr id="6" name="Text 4"/>
          <p:cNvSpPr/>
          <p:nvPr/>
        </p:nvSpPr>
        <p:spPr>
          <a:xfrm>
            <a:off x="731520" y="685800"/>
            <a:ext cx="7315200" cy="228600"/>
          </a:xfrm>
          <a:prstGeom prst="rect">
            <a:avLst/>
          </a:prstGeom>
          <a:noFill/>
          <a:ln/>
        </p:spPr>
        <p:txBody>
          <a:bodyPr wrap="square" lIns="0" tIns="0" rIns="0" bIns="0" rtlCol="0" anchor="ctr"/>
          <a:lstStyle/>
          <a:p>
            <a:pPr marL="0" indent="0">
              <a:buNone/>
            </a:pPr>
            <a:r>
              <a:rPr lang="en-US" sz="1100" dirty="0">
                <a:solidFill>
                  <a:srgbClr val="949594"/>
                </a:solidFill>
                <a:latin typeface="Calibri" pitchFamily="34" charset="0"/>
                <a:ea typeface="Calibri" pitchFamily="34" charset="-122"/>
                <a:cs typeface="Calibri" pitchFamily="34" charset="-120"/>
              </a:rPr>
              <a:t>Three strategies for combining decision trees — each with different strengths</a:t>
            </a:r>
            <a:endParaRPr lang="en-US" sz="1100" dirty="0"/>
          </a:p>
        </p:txBody>
      </p:sp>
      <p:sp>
        <p:nvSpPr>
          <p:cNvPr id="7" name="Shape 5"/>
          <p:cNvSpPr/>
          <p:nvPr/>
        </p:nvSpPr>
        <p:spPr>
          <a:xfrm>
            <a:off x="365760" y="1005840"/>
            <a:ext cx="2606040" cy="3474720"/>
          </a:xfrm>
          <a:prstGeom prst="rect">
            <a:avLst/>
          </a:prstGeom>
          <a:solidFill>
            <a:srgbClr val="E8F0FE"/>
          </a:solidFill>
          <a:ln/>
          <a:effectLst>
            <a:outerShdw blurRad="50800" dist="25400" dir="8100000" algn="bl" rotWithShape="0">
              <a:srgbClr val="000000">
                <a:alpha val="10000"/>
              </a:srgbClr>
            </a:outerShdw>
          </a:effectLst>
        </p:spPr>
        <p:txBody>
          <a:bodyPr/>
          <a:lstStyle/>
          <a:p>
            <a:endParaRPr lang="en-US"/>
          </a:p>
        </p:txBody>
      </p:sp>
      <p:sp>
        <p:nvSpPr>
          <p:cNvPr id="8" name="Shape 6"/>
          <p:cNvSpPr/>
          <p:nvPr/>
        </p:nvSpPr>
        <p:spPr>
          <a:xfrm>
            <a:off x="365760" y="1005840"/>
            <a:ext cx="2606040" cy="54864"/>
          </a:xfrm>
          <a:prstGeom prst="rect">
            <a:avLst/>
          </a:prstGeom>
          <a:solidFill>
            <a:srgbClr val="2563EB"/>
          </a:solidFill>
          <a:ln/>
        </p:spPr>
        <p:txBody>
          <a:bodyPr/>
          <a:lstStyle/>
          <a:p>
            <a:endParaRPr lang="en-US"/>
          </a:p>
        </p:txBody>
      </p:sp>
      <p:sp>
        <p:nvSpPr>
          <p:cNvPr id="9" name="Text 7"/>
          <p:cNvSpPr/>
          <p:nvPr/>
        </p:nvSpPr>
        <p:spPr>
          <a:xfrm>
            <a:off x="365760" y="1143000"/>
            <a:ext cx="2606040" cy="320040"/>
          </a:xfrm>
          <a:prstGeom prst="rect">
            <a:avLst/>
          </a:prstGeom>
          <a:noFill/>
          <a:ln/>
        </p:spPr>
        <p:txBody>
          <a:bodyPr wrap="square" lIns="0" tIns="0" rIns="0" bIns="0" rtlCol="0" anchor="ctr"/>
          <a:lstStyle/>
          <a:p>
            <a:pPr marL="0" indent="0" algn="ctr">
              <a:buNone/>
            </a:pPr>
            <a:r>
              <a:rPr lang="en-US" sz="1300" b="1" dirty="0">
                <a:solidFill>
                  <a:srgbClr val="2563EB"/>
                </a:solidFill>
                <a:latin typeface="Georgia" pitchFamily="34" charset="0"/>
                <a:ea typeface="Georgia" pitchFamily="34" charset="-122"/>
                <a:cs typeface="Georgia" pitchFamily="34" charset="-120"/>
              </a:rPr>
              <a:t>🌲 Random Forest</a:t>
            </a:r>
            <a:endParaRPr lang="en-US" sz="1300" dirty="0"/>
          </a:p>
        </p:txBody>
      </p:sp>
      <p:sp>
        <p:nvSpPr>
          <p:cNvPr id="10" name="Text 8"/>
          <p:cNvSpPr/>
          <p:nvPr/>
        </p:nvSpPr>
        <p:spPr>
          <a:xfrm>
            <a:off x="365760" y="1463040"/>
            <a:ext cx="2606040" cy="182880"/>
          </a:xfrm>
          <a:prstGeom prst="rect">
            <a:avLst/>
          </a:prstGeom>
          <a:noFill/>
          <a:ln/>
        </p:spPr>
        <p:txBody>
          <a:bodyPr wrap="square" lIns="0" tIns="0" rIns="0" bIns="0" rtlCol="0" anchor="ctr"/>
          <a:lstStyle/>
          <a:p>
            <a:pPr marL="0" indent="0" algn="ctr">
              <a:buNone/>
            </a:pPr>
            <a:r>
              <a:rPr lang="en-US" sz="750" dirty="0">
                <a:solidFill>
                  <a:srgbClr val="949594"/>
                </a:solidFill>
                <a:latin typeface="Calibri" pitchFamily="34" charset="0"/>
                <a:ea typeface="Calibri" pitchFamily="34" charset="-122"/>
                <a:cs typeface="Calibri" pitchFamily="34" charset="-120"/>
              </a:rPr>
              <a:t>BAGGING — PARALLEL</a:t>
            </a:r>
            <a:endParaRPr lang="en-US" sz="750" dirty="0"/>
          </a:p>
        </p:txBody>
      </p:sp>
      <p:sp>
        <p:nvSpPr>
          <p:cNvPr id="11" name="Text 9"/>
          <p:cNvSpPr/>
          <p:nvPr/>
        </p:nvSpPr>
        <p:spPr>
          <a:xfrm>
            <a:off x="475488" y="1737360"/>
            <a:ext cx="2377440" cy="868680"/>
          </a:xfrm>
          <a:prstGeom prst="rect">
            <a:avLst/>
          </a:prstGeom>
          <a:noFill/>
          <a:ln/>
        </p:spPr>
        <p:txBody>
          <a:bodyPr wrap="square" lIns="0" tIns="0" rIns="0" bIns="0" rtlCol="0" anchor="t"/>
          <a:lstStyle/>
          <a:p>
            <a:pPr marL="0" indent="0">
              <a:buNone/>
            </a:pPr>
            <a:r>
              <a:rPr lang="en-US" sz="850" dirty="0">
                <a:solidFill>
                  <a:srgbClr val="444444"/>
                </a:solidFill>
                <a:latin typeface="Calibri" pitchFamily="34" charset="0"/>
                <a:ea typeface="Calibri" pitchFamily="34" charset="-122"/>
                <a:cs typeface="Calibri" pitchFamily="34" charset="-120"/>
              </a:rPr>
              <a:t>Builds 200 trees independently.</a:t>
            </a:r>
            <a:endParaRPr lang="en-US" sz="850" dirty="0"/>
          </a:p>
          <a:p>
            <a:pPr marL="0" indent="0">
              <a:buNone/>
            </a:pPr>
            <a:r>
              <a:rPr lang="en-US" sz="850" dirty="0">
                <a:solidFill>
                  <a:srgbClr val="444444"/>
                </a:solidFill>
                <a:latin typeface="Calibri" pitchFamily="34" charset="0"/>
                <a:ea typeface="Calibri" pitchFamily="34" charset="-122"/>
                <a:cs typeface="Calibri" pitchFamily="34" charset="-120"/>
              </a:rPr>
              <a:t>Each sees random subset of data</a:t>
            </a:r>
            <a:endParaRPr lang="en-US" sz="850" dirty="0"/>
          </a:p>
          <a:p>
            <a:pPr marL="0" indent="0">
              <a:buNone/>
            </a:pPr>
            <a:r>
              <a:rPr lang="en-US" sz="850" dirty="0">
                <a:solidFill>
                  <a:srgbClr val="444444"/>
                </a:solidFill>
                <a:latin typeface="Calibri" pitchFamily="34" charset="0"/>
                <a:ea typeface="Calibri" pitchFamily="34" charset="-122"/>
                <a:cs typeface="Calibri" pitchFamily="34" charset="-120"/>
              </a:rPr>
              <a:t>and random features. Final answer</a:t>
            </a:r>
            <a:endParaRPr lang="en-US" sz="850" dirty="0"/>
          </a:p>
          <a:p>
            <a:pPr marL="0" indent="0">
              <a:buNone/>
            </a:pPr>
            <a:r>
              <a:rPr lang="en-US" sz="850" dirty="0">
                <a:solidFill>
                  <a:srgbClr val="444444"/>
                </a:solidFill>
                <a:latin typeface="Calibri" pitchFamily="34" charset="0"/>
                <a:ea typeface="Calibri" pitchFamily="34" charset="-122"/>
                <a:cs typeface="Calibri" pitchFamily="34" charset="-120"/>
              </a:rPr>
              <a:t>= average of all 200 trees.</a:t>
            </a:r>
            <a:endParaRPr lang="en-US" sz="850" dirty="0"/>
          </a:p>
        </p:txBody>
      </p:sp>
      <p:sp>
        <p:nvSpPr>
          <p:cNvPr id="12" name="Text 10"/>
          <p:cNvSpPr/>
          <p:nvPr/>
        </p:nvSpPr>
        <p:spPr>
          <a:xfrm>
            <a:off x="475488" y="2651760"/>
            <a:ext cx="2377440" cy="164592"/>
          </a:xfrm>
          <a:prstGeom prst="rect">
            <a:avLst/>
          </a:prstGeom>
          <a:noFill/>
          <a:ln/>
        </p:spPr>
        <p:txBody>
          <a:bodyPr wrap="square" lIns="0" tIns="0" rIns="0" bIns="0" rtlCol="0" anchor="ctr"/>
          <a:lstStyle/>
          <a:p>
            <a:pPr marL="0" indent="0">
              <a:buNone/>
            </a:pPr>
            <a:r>
              <a:rPr lang="en-US" sz="850" b="1" i="1" dirty="0">
                <a:solidFill>
                  <a:srgbClr val="2563EB"/>
                </a:solidFill>
                <a:latin typeface="Calibri" pitchFamily="34" charset="0"/>
                <a:ea typeface="Calibri" pitchFamily="34" charset="-122"/>
                <a:cs typeface="Calibri" pitchFamily="34" charset="-120"/>
              </a:rPr>
              <a:t>F1 Analogy:</a:t>
            </a:r>
            <a:endParaRPr lang="en-US" sz="850" dirty="0"/>
          </a:p>
        </p:txBody>
      </p:sp>
      <p:sp>
        <p:nvSpPr>
          <p:cNvPr id="13" name="Text 11"/>
          <p:cNvSpPr/>
          <p:nvPr/>
        </p:nvSpPr>
        <p:spPr>
          <a:xfrm>
            <a:off x="475488" y="2834640"/>
            <a:ext cx="2377440" cy="640080"/>
          </a:xfrm>
          <a:prstGeom prst="rect">
            <a:avLst/>
          </a:prstGeom>
          <a:noFill/>
          <a:ln/>
        </p:spPr>
        <p:txBody>
          <a:bodyPr wrap="square" lIns="0" tIns="0" rIns="0" bIns="0" rtlCol="0" anchor="t"/>
          <a:lstStyle/>
          <a:p>
            <a:pPr marL="0" indent="0">
              <a:buNone/>
            </a:pPr>
            <a:r>
              <a:rPr lang="en-US" sz="850" i="1" dirty="0">
                <a:solidFill>
                  <a:srgbClr val="666666"/>
                </a:solidFill>
                <a:latin typeface="Calibri" pitchFamily="34" charset="0"/>
                <a:ea typeface="Calibri" pitchFamily="34" charset="-122"/>
                <a:cs typeface="Calibri" pitchFamily="34" charset="-120"/>
              </a:rPr>
              <a:t>Like asking 200 separate F1 analysts</a:t>
            </a:r>
            <a:endParaRPr lang="en-US" sz="850" dirty="0"/>
          </a:p>
          <a:p>
            <a:pPr marL="0" indent="0">
              <a:buNone/>
            </a:pPr>
            <a:r>
              <a:rPr lang="en-US" sz="850" i="1" dirty="0">
                <a:solidFill>
                  <a:srgbClr val="666666"/>
                </a:solidFill>
                <a:latin typeface="Calibri" pitchFamily="34" charset="0"/>
                <a:ea typeface="Calibri" pitchFamily="34" charset="-122"/>
                <a:cs typeface="Calibri" pitchFamily="34" charset="-120"/>
              </a:rPr>
              <a:t>to predict independently, then</a:t>
            </a:r>
            <a:endParaRPr lang="en-US" sz="850" dirty="0"/>
          </a:p>
          <a:p>
            <a:pPr marL="0" indent="0">
              <a:buNone/>
            </a:pPr>
            <a:r>
              <a:rPr lang="en-US" sz="850" i="1" dirty="0">
                <a:solidFill>
                  <a:srgbClr val="666666"/>
                </a:solidFill>
                <a:latin typeface="Calibri" pitchFamily="34" charset="0"/>
                <a:ea typeface="Calibri" pitchFamily="34" charset="-122"/>
                <a:cs typeface="Calibri" pitchFamily="34" charset="-120"/>
              </a:rPr>
              <a:t>averaging. Mistakes cancel out.</a:t>
            </a:r>
            <a:endParaRPr lang="en-US" sz="850" dirty="0"/>
          </a:p>
        </p:txBody>
      </p:sp>
      <p:sp>
        <p:nvSpPr>
          <p:cNvPr id="14" name="Shape 12"/>
          <p:cNvSpPr/>
          <p:nvPr/>
        </p:nvSpPr>
        <p:spPr>
          <a:xfrm>
            <a:off x="475488" y="3566160"/>
            <a:ext cx="2377440" cy="36576"/>
          </a:xfrm>
          <a:prstGeom prst="rect">
            <a:avLst/>
          </a:prstGeom>
          <a:solidFill>
            <a:srgbClr val="2563EB">
              <a:alpha val="50000"/>
            </a:srgbClr>
          </a:solidFill>
          <a:ln/>
        </p:spPr>
        <p:txBody>
          <a:bodyPr/>
          <a:lstStyle/>
          <a:p>
            <a:endParaRPr lang="en-US"/>
          </a:p>
        </p:txBody>
      </p:sp>
      <p:sp>
        <p:nvSpPr>
          <p:cNvPr id="15" name="Text 13"/>
          <p:cNvSpPr/>
          <p:nvPr/>
        </p:nvSpPr>
        <p:spPr>
          <a:xfrm>
            <a:off x="475488" y="3611880"/>
            <a:ext cx="2377440" cy="365760"/>
          </a:xfrm>
          <a:prstGeom prst="rect">
            <a:avLst/>
          </a:prstGeom>
          <a:noFill/>
          <a:ln/>
        </p:spPr>
        <p:txBody>
          <a:bodyPr wrap="square" lIns="0" tIns="0" rIns="0" bIns="0" rtlCol="0" anchor="ctr"/>
          <a:lstStyle/>
          <a:p>
            <a:pPr marL="0" indent="0">
              <a:buNone/>
            </a:pPr>
            <a:r>
              <a:rPr lang="en-US" sz="900" b="1" dirty="0">
                <a:solidFill>
                  <a:srgbClr val="2563EB"/>
                </a:solidFill>
                <a:latin typeface="Calibri" pitchFamily="34" charset="0"/>
                <a:ea typeface="Calibri" pitchFamily="34" charset="-122"/>
                <a:cs typeface="Calibri" pitchFamily="34" charset="-120"/>
              </a:rPr>
              <a:t>Best at: Most consistent,</a:t>
            </a:r>
            <a:endParaRPr lang="en-US" sz="900" dirty="0"/>
          </a:p>
          <a:p>
            <a:pPr marL="0" indent="0">
              <a:buNone/>
            </a:pPr>
            <a:r>
              <a:rPr lang="en-US" sz="900" b="1" dirty="0">
                <a:solidFill>
                  <a:srgbClr val="2563EB"/>
                </a:solidFill>
                <a:latin typeface="Calibri" pitchFamily="34" charset="0"/>
                <a:ea typeface="Calibri" pitchFamily="34" charset="-122"/>
                <a:cs typeface="Calibri" pitchFamily="34" charset="-120"/>
              </a:rPr>
              <a:t>rarely terrible</a:t>
            </a:r>
            <a:endParaRPr lang="en-US" sz="900" dirty="0"/>
          </a:p>
        </p:txBody>
      </p:sp>
      <p:sp>
        <p:nvSpPr>
          <p:cNvPr id="16" name="Shape 14"/>
          <p:cNvSpPr/>
          <p:nvPr/>
        </p:nvSpPr>
        <p:spPr>
          <a:xfrm>
            <a:off x="3154680" y="1005840"/>
            <a:ext cx="2606040" cy="3474720"/>
          </a:xfrm>
          <a:prstGeom prst="rect">
            <a:avLst/>
          </a:prstGeom>
          <a:solidFill>
            <a:srgbClr val="E6F4EA"/>
          </a:solidFill>
          <a:ln/>
          <a:effectLst>
            <a:outerShdw blurRad="50800" dist="25400" dir="8100000" algn="bl" rotWithShape="0">
              <a:srgbClr val="000000">
                <a:alpha val="10000"/>
              </a:srgbClr>
            </a:outerShdw>
          </a:effectLst>
        </p:spPr>
        <p:txBody>
          <a:bodyPr/>
          <a:lstStyle/>
          <a:p>
            <a:endParaRPr lang="en-US"/>
          </a:p>
        </p:txBody>
      </p:sp>
      <p:sp>
        <p:nvSpPr>
          <p:cNvPr id="17" name="Shape 15"/>
          <p:cNvSpPr/>
          <p:nvPr/>
        </p:nvSpPr>
        <p:spPr>
          <a:xfrm>
            <a:off x="3154680" y="1005840"/>
            <a:ext cx="2606040" cy="54864"/>
          </a:xfrm>
          <a:prstGeom prst="rect">
            <a:avLst/>
          </a:prstGeom>
          <a:solidFill>
            <a:srgbClr val="059669"/>
          </a:solidFill>
          <a:ln/>
        </p:spPr>
        <p:txBody>
          <a:bodyPr/>
          <a:lstStyle/>
          <a:p>
            <a:endParaRPr lang="en-US"/>
          </a:p>
        </p:txBody>
      </p:sp>
      <p:sp>
        <p:nvSpPr>
          <p:cNvPr id="18" name="Text 16"/>
          <p:cNvSpPr/>
          <p:nvPr/>
        </p:nvSpPr>
        <p:spPr>
          <a:xfrm>
            <a:off x="3154680" y="1143000"/>
            <a:ext cx="2606040" cy="320040"/>
          </a:xfrm>
          <a:prstGeom prst="rect">
            <a:avLst/>
          </a:prstGeom>
          <a:noFill/>
          <a:ln/>
        </p:spPr>
        <p:txBody>
          <a:bodyPr wrap="square" lIns="0" tIns="0" rIns="0" bIns="0" rtlCol="0" anchor="ctr"/>
          <a:lstStyle/>
          <a:p>
            <a:pPr marL="0" indent="0" algn="ctr">
              <a:buNone/>
            </a:pPr>
            <a:r>
              <a:rPr lang="en-US" sz="1300" b="1" dirty="0">
                <a:solidFill>
                  <a:srgbClr val="059669"/>
                </a:solidFill>
                <a:latin typeface="Georgia" pitchFamily="34" charset="0"/>
                <a:ea typeface="Georgia" pitchFamily="34" charset="-122"/>
                <a:cs typeface="Georgia" pitchFamily="34" charset="-120"/>
              </a:rPr>
              <a:t>🎯 Gradient Boosting</a:t>
            </a:r>
            <a:endParaRPr lang="en-US" sz="1300" dirty="0"/>
          </a:p>
        </p:txBody>
      </p:sp>
      <p:sp>
        <p:nvSpPr>
          <p:cNvPr id="19" name="Text 17"/>
          <p:cNvSpPr/>
          <p:nvPr/>
        </p:nvSpPr>
        <p:spPr>
          <a:xfrm>
            <a:off x="3154680" y="1463040"/>
            <a:ext cx="2606040" cy="182880"/>
          </a:xfrm>
          <a:prstGeom prst="rect">
            <a:avLst/>
          </a:prstGeom>
          <a:noFill/>
          <a:ln/>
        </p:spPr>
        <p:txBody>
          <a:bodyPr wrap="square" lIns="0" tIns="0" rIns="0" bIns="0" rtlCol="0" anchor="ctr"/>
          <a:lstStyle/>
          <a:p>
            <a:pPr marL="0" indent="0" algn="ctr">
              <a:buNone/>
            </a:pPr>
            <a:r>
              <a:rPr lang="en-US" sz="750" dirty="0">
                <a:solidFill>
                  <a:srgbClr val="949594"/>
                </a:solidFill>
                <a:latin typeface="Calibri" pitchFamily="34" charset="0"/>
                <a:ea typeface="Calibri" pitchFamily="34" charset="-122"/>
                <a:cs typeface="Calibri" pitchFamily="34" charset="-120"/>
              </a:rPr>
              <a:t>BOOSTING — SEQUENTIAL</a:t>
            </a:r>
            <a:endParaRPr lang="en-US" sz="750" dirty="0"/>
          </a:p>
        </p:txBody>
      </p:sp>
      <p:sp>
        <p:nvSpPr>
          <p:cNvPr id="20" name="Text 18"/>
          <p:cNvSpPr/>
          <p:nvPr/>
        </p:nvSpPr>
        <p:spPr>
          <a:xfrm>
            <a:off x="3264408" y="1737360"/>
            <a:ext cx="2377440" cy="868680"/>
          </a:xfrm>
          <a:prstGeom prst="rect">
            <a:avLst/>
          </a:prstGeom>
          <a:noFill/>
          <a:ln/>
        </p:spPr>
        <p:txBody>
          <a:bodyPr wrap="square" lIns="0" tIns="0" rIns="0" bIns="0" rtlCol="0" anchor="t"/>
          <a:lstStyle/>
          <a:p>
            <a:pPr marL="0" indent="0">
              <a:buNone/>
            </a:pPr>
            <a:r>
              <a:rPr lang="en-US" sz="850" dirty="0">
                <a:solidFill>
                  <a:srgbClr val="444444"/>
                </a:solidFill>
                <a:latin typeface="Calibri" pitchFamily="34" charset="0"/>
                <a:ea typeface="Calibri" pitchFamily="34" charset="-122"/>
                <a:cs typeface="Calibri" pitchFamily="34" charset="-120"/>
              </a:rPr>
              <a:t>Builds 300 trees one after another.</a:t>
            </a:r>
            <a:endParaRPr lang="en-US" sz="850" dirty="0"/>
          </a:p>
          <a:p>
            <a:pPr marL="0" indent="0">
              <a:buNone/>
            </a:pPr>
            <a:r>
              <a:rPr lang="en-US" sz="850" dirty="0">
                <a:solidFill>
                  <a:srgbClr val="444444"/>
                </a:solidFill>
                <a:latin typeface="Calibri" pitchFamily="34" charset="0"/>
                <a:ea typeface="Calibri" pitchFamily="34" charset="-122"/>
                <a:cs typeface="Calibri" pitchFamily="34" charset="-120"/>
              </a:rPr>
              <a:t>Each new tree targets the specific</a:t>
            </a:r>
            <a:endParaRPr lang="en-US" sz="850" dirty="0"/>
          </a:p>
          <a:p>
            <a:pPr marL="0" indent="0">
              <a:buNone/>
            </a:pPr>
            <a:r>
              <a:rPr lang="en-US" sz="850" dirty="0">
                <a:solidFill>
                  <a:srgbClr val="444444"/>
                </a:solidFill>
                <a:latin typeface="Calibri" pitchFamily="34" charset="0"/>
                <a:ea typeface="Calibri" pitchFamily="34" charset="-122"/>
                <a:cs typeface="Calibri" pitchFamily="34" charset="-120"/>
              </a:rPr>
              <a:t>mistakes of all previous trees.</a:t>
            </a:r>
            <a:endParaRPr lang="en-US" sz="850" dirty="0"/>
          </a:p>
          <a:p>
            <a:pPr marL="0" indent="0">
              <a:buNone/>
            </a:pPr>
            <a:r>
              <a:rPr lang="en-US" sz="850" dirty="0">
                <a:solidFill>
                  <a:srgbClr val="444444"/>
                </a:solidFill>
                <a:latin typeface="Calibri" pitchFamily="34" charset="0"/>
                <a:ea typeface="Calibri" pitchFamily="34" charset="-122"/>
                <a:cs typeface="Calibri" pitchFamily="34" charset="-120"/>
              </a:rPr>
              <a:t>Learning rate = 0.03-0.05.</a:t>
            </a:r>
            <a:endParaRPr lang="en-US" sz="850" dirty="0"/>
          </a:p>
        </p:txBody>
      </p:sp>
      <p:sp>
        <p:nvSpPr>
          <p:cNvPr id="21" name="Text 19"/>
          <p:cNvSpPr/>
          <p:nvPr/>
        </p:nvSpPr>
        <p:spPr>
          <a:xfrm>
            <a:off x="3264408" y="2651760"/>
            <a:ext cx="2377440" cy="164592"/>
          </a:xfrm>
          <a:prstGeom prst="rect">
            <a:avLst/>
          </a:prstGeom>
          <a:noFill/>
          <a:ln/>
        </p:spPr>
        <p:txBody>
          <a:bodyPr wrap="square" lIns="0" tIns="0" rIns="0" bIns="0" rtlCol="0" anchor="ctr"/>
          <a:lstStyle/>
          <a:p>
            <a:pPr marL="0" indent="0">
              <a:buNone/>
            </a:pPr>
            <a:r>
              <a:rPr lang="en-US" sz="850" b="1" i="1" dirty="0">
                <a:solidFill>
                  <a:srgbClr val="059669"/>
                </a:solidFill>
                <a:latin typeface="Calibri" pitchFamily="34" charset="0"/>
                <a:ea typeface="Calibri" pitchFamily="34" charset="-122"/>
                <a:cs typeface="Calibri" pitchFamily="34" charset="-120"/>
              </a:rPr>
              <a:t>F1 Analogy:</a:t>
            </a:r>
            <a:endParaRPr lang="en-US" sz="850" dirty="0"/>
          </a:p>
        </p:txBody>
      </p:sp>
      <p:sp>
        <p:nvSpPr>
          <p:cNvPr id="22" name="Text 20"/>
          <p:cNvSpPr/>
          <p:nvPr/>
        </p:nvSpPr>
        <p:spPr>
          <a:xfrm>
            <a:off x="3264408" y="2834640"/>
            <a:ext cx="2377440" cy="640080"/>
          </a:xfrm>
          <a:prstGeom prst="rect">
            <a:avLst/>
          </a:prstGeom>
          <a:noFill/>
          <a:ln/>
        </p:spPr>
        <p:txBody>
          <a:bodyPr wrap="square" lIns="0" tIns="0" rIns="0" bIns="0" rtlCol="0" anchor="t"/>
          <a:lstStyle/>
          <a:p>
            <a:pPr marL="0" indent="0">
              <a:buNone/>
            </a:pPr>
            <a:r>
              <a:rPr lang="en-US" sz="850" i="1" dirty="0">
                <a:solidFill>
                  <a:srgbClr val="666666"/>
                </a:solidFill>
                <a:latin typeface="Calibri" pitchFamily="34" charset="0"/>
                <a:ea typeface="Calibri" pitchFamily="34" charset="-122"/>
                <a:cs typeface="Calibri" pitchFamily="34" charset="-120"/>
              </a:rPr>
              <a:t>Like F1 post-race debriefs — after</a:t>
            </a:r>
            <a:endParaRPr lang="en-US" sz="850" dirty="0"/>
          </a:p>
          <a:p>
            <a:pPr marL="0" indent="0">
              <a:buNone/>
            </a:pPr>
            <a:r>
              <a:rPr lang="en-US" sz="850" i="1" dirty="0">
                <a:solidFill>
                  <a:srgbClr val="666666"/>
                </a:solidFill>
                <a:latin typeface="Calibri" pitchFamily="34" charset="0"/>
                <a:ea typeface="Calibri" pitchFamily="34" charset="-122"/>
                <a:cs typeface="Calibri" pitchFamily="34" charset="-120"/>
              </a:rPr>
              <a:t>each race, engineers analyze exactly</a:t>
            </a:r>
            <a:endParaRPr lang="en-US" sz="850" dirty="0"/>
          </a:p>
          <a:p>
            <a:pPr marL="0" indent="0">
              <a:buNone/>
            </a:pPr>
            <a:r>
              <a:rPr lang="en-US" sz="850" i="1" dirty="0">
                <a:solidFill>
                  <a:srgbClr val="666666"/>
                </a:solidFill>
                <a:latin typeface="Calibri" pitchFamily="34" charset="0"/>
                <a:ea typeface="Calibri" pitchFamily="34" charset="-122"/>
                <a:cs typeface="Calibri" pitchFamily="34" charset="-120"/>
              </a:rPr>
              <a:t>what went wrong and fix it.</a:t>
            </a:r>
            <a:endParaRPr lang="en-US" sz="850" dirty="0"/>
          </a:p>
        </p:txBody>
      </p:sp>
      <p:sp>
        <p:nvSpPr>
          <p:cNvPr id="23" name="Shape 21"/>
          <p:cNvSpPr/>
          <p:nvPr/>
        </p:nvSpPr>
        <p:spPr>
          <a:xfrm>
            <a:off x="3264408" y="3566160"/>
            <a:ext cx="2377440" cy="36576"/>
          </a:xfrm>
          <a:prstGeom prst="rect">
            <a:avLst/>
          </a:prstGeom>
          <a:solidFill>
            <a:srgbClr val="059669">
              <a:alpha val="50000"/>
            </a:srgbClr>
          </a:solidFill>
          <a:ln/>
        </p:spPr>
        <p:txBody>
          <a:bodyPr/>
          <a:lstStyle/>
          <a:p>
            <a:endParaRPr lang="en-US"/>
          </a:p>
        </p:txBody>
      </p:sp>
      <p:sp>
        <p:nvSpPr>
          <p:cNvPr id="24" name="Text 22"/>
          <p:cNvSpPr/>
          <p:nvPr/>
        </p:nvSpPr>
        <p:spPr>
          <a:xfrm>
            <a:off x="3264408" y="3611880"/>
            <a:ext cx="2377440" cy="365760"/>
          </a:xfrm>
          <a:prstGeom prst="rect">
            <a:avLst/>
          </a:prstGeom>
          <a:noFill/>
          <a:ln/>
        </p:spPr>
        <p:txBody>
          <a:bodyPr wrap="square" lIns="0" tIns="0" rIns="0" bIns="0" rtlCol="0" anchor="ctr"/>
          <a:lstStyle/>
          <a:p>
            <a:pPr marL="0" indent="0">
              <a:buNone/>
            </a:pPr>
            <a:r>
              <a:rPr lang="en-US" sz="900" b="1" dirty="0">
                <a:solidFill>
                  <a:srgbClr val="059669"/>
                </a:solidFill>
                <a:latin typeface="Calibri" pitchFamily="34" charset="0"/>
                <a:ea typeface="Calibri" pitchFamily="34" charset="-122"/>
                <a:cs typeface="Calibri" pitchFamily="34" charset="-120"/>
              </a:rPr>
              <a:t>Best at: Winner: 77.8%</a:t>
            </a:r>
            <a:endParaRPr lang="en-US" sz="900" dirty="0"/>
          </a:p>
          <a:p>
            <a:pPr marL="0" indent="0">
              <a:buNone/>
            </a:pPr>
            <a:r>
              <a:rPr lang="en-US" sz="900" b="1" dirty="0">
                <a:solidFill>
                  <a:srgbClr val="059669"/>
                </a:solidFill>
                <a:latin typeface="Calibri" pitchFamily="34" charset="0"/>
                <a:ea typeface="Calibri" pitchFamily="34" charset="-122"/>
                <a:cs typeface="Calibri" pitchFamily="34" charset="-120"/>
              </a:rPr>
              <a:t>Podium F1: 0.780</a:t>
            </a:r>
            <a:endParaRPr lang="en-US" sz="900" dirty="0"/>
          </a:p>
        </p:txBody>
      </p:sp>
      <p:sp>
        <p:nvSpPr>
          <p:cNvPr id="25" name="Shape 23"/>
          <p:cNvSpPr/>
          <p:nvPr/>
        </p:nvSpPr>
        <p:spPr>
          <a:xfrm>
            <a:off x="5943600" y="1005840"/>
            <a:ext cx="2606040" cy="3474720"/>
          </a:xfrm>
          <a:prstGeom prst="rect">
            <a:avLst/>
          </a:prstGeom>
          <a:solidFill>
            <a:srgbClr val="F3E8FF"/>
          </a:solidFill>
          <a:ln/>
          <a:effectLst>
            <a:outerShdw blurRad="50800" dist="25400" dir="8100000" algn="bl" rotWithShape="0">
              <a:srgbClr val="000000">
                <a:alpha val="10000"/>
              </a:srgbClr>
            </a:outerShdw>
          </a:effectLst>
        </p:spPr>
        <p:txBody>
          <a:bodyPr/>
          <a:lstStyle/>
          <a:p>
            <a:endParaRPr lang="en-US"/>
          </a:p>
        </p:txBody>
      </p:sp>
      <p:sp>
        <p:nvSpPr>
          <p:cNvPr id="26" name="Shape 24"/>
          <p:cNvSpPr/>
          <p:nvPr/>
        </p:nvSpPr>
        <p:spPr>
          <a:xfrm>
            <a:off x="5943600" y="1005840"/>
            <a:ext cx="2606040" cy="54864"/>
          </a:xfrm>
          <a:prstGeom prst="rect">
            <a:avLst/>
          </a:prstGeom>
          <a:solidFill>
            <a:srgbClr val="7C3AED"/>
          </a:solidFill>
          <a:ln/>
        </p:spPr>
        <p:txBody>
          <a:bodyPr/>
          <a:lstStyle/>
          <a:p>
            <a:endParaRPr lang="en-US"/>
          </a:p>
        </p:txBody>
      </p:sp>
      <p:sp>
        <p:nvSpPr>
          <p:cNvPr id="27" name="Text 25"/>
          <p:cNvSpPr/>
          <p:nvPr/>
        </p:nvSpPr>
        <p:spPr>
          <a:xfrm>
            <a:off x="5943600" y="1143000"/>
            <a:ext cx="2606040" cy="320040"/>
          </a:xfrm>
          <a:prstGeom prst="rect">
            <a:avLst/>
          </a:prstGeom>
          <a:noFill/>
          <a:ln/>
        </p:spPr>
        <p:txBody>
          <a:bodyPr wrap="square" lIns="0" tIns="0" rIns="0" bIns="0" rtlCol="0" anchor="ctr"/>
          <a:lstStyle/>
          <a:p>
            <a:pPr marL="0" indent="0" algn="ctr">
              <a:buNone/>
            </a:pPr>
            <a:r>
              <a:rPr lang="en-US" sz="1300" b="1" dirty="0">
                <a:solidFill>
                  <a:srgbClr val="7C3AED"/>
                </a:solidFill>
                <a:latin typeface="Georgia" pitchFamily="34" charset="0"/>
                <a:ea typeface="Georgia" pitchFamily="34" charset="-122"/>
                <a:cs typeface="Georgia" pitchFamily="34" charset="-120"/>
              </a:rPr>
              <a:t>⚡ XGBoost</a:t>
            </a:r>
            <a:endParaRPr lang="en-US" sz="1300" dirty="0"/>
          </a:p>
        </p:txBody>
      </p:sp>
      <p:sp>
        <p:nvSpPr>
          <p:cNvPr id="28" name="Text 26"/>
          <p:cNvSpPr/>
          <p:nvPr/>
        </p:nvSpPr>
        <p:spPr>
          <a:xfrm>
            <a:off x="5943600" y="1463040"/>
            <a:ext cx="2606040" cy="182880"/>
          </a:xfrm>
          <a:prstGeom prst="rect">
            <a:avLst/>
          </a:prstGeom>
          <a:noFill/>
          <a:ln/>
        </p:spPr>
        <p:txBody>
          <a:bodyPr wrap="square" lIns="0" tIns="0" rIns="0" bIns="0" rtlCol="0" anchor="ctr"/>
          <a:lstStyle/>
          <a:p>
            <a:pPr marL="0" indent="0" algn="ctr">
              <a:buNone/>
            </a:pPr>
            <a:r>
              <a:rPr lang="en-US" sz="750" dirty="0">
                <a:solidFill>
                  <a:srgbClr val="949594"/>
                </a:solidFill>
                <a:latin typeface="Calibri" pitchFamily="34" charset="0"/>
                <a:ea typeface="Calibri" pitchFamily="34" charset="-122"/>
                <a:cs typeface="Calibri" pitchFamily="34" charset="-120"/>
              </a:rPr>
              <a:t>ADVANCED BOOSTING</a:t>
            </a:r>
            <a:endParaRPr lang="en-US" sz="750" dirty="0"/>
          </a:p>
        </p:txBody>
      </p:sp>
      <p:sp>
        <p:nvSpPr>
          <p:cNvPr id="29" name="Text 27"/>
          <p:cNvSpPr/>
          <p:nvPr/>
        </p:nvSpPr>
        <p:spPr>
          <a:xfrm>
            <a:off x="6053328" y="1737360"/>
            <a:ext cx="2377440" cy="868680"/>
          </a:xfrm>
          <a:prstGeom prst="rect">
            <a:avLst/>
          </a:prstGeom>
          <a:noFill/>
          <a:ln/>
        </p:spPr>
        <p:txBody>
          <a:bodyPr wrap="square" lIns="0" tIns="0" rIns="0" bIns="0" rtlCol="0" anchor="t"/>
          <a:lstStyle/>
          <a:p>
            <a:pPr marL="0" indent="0">
              <a:buNone/>
            </a:pPr>
            <a:r>
              <a:rPr lang="en-US" sz="850" dirty="0">
                <a:solidFill>
                  <a:srgbClr val="444444"/>
                </a:solidFill>
                <a:latin typeface="Calibri" pitchFamily="34" charset="0"/>
                <a:ea typeface="Calibri" pitchFamily="34" charset="-122"/>
                <a:cs typeface="Calibri" pitchFamily="34" charset="-120"/>
              </a:rPr>
              <a:t>Same sequential approach + L1/L2</a:t>
            </a:r>
            <a:endParaRPr lang="en-US" sz="850" dirty="0"/>
          </a:p>
          <a:p>
            <a:pPr marL="0" indent="0">
              <a:buNone/>
            </a:pPr>
            <a:r>
              <a:rPr lang="en-US" sz="850" dirty="0">
                <a:solidFill>
                  <a:srgbClr val="444444"/>
                </a:solidFill>
                <a:latin typeface="Calibri" pitchFamily="34" charset="0"/>
                <a:ea typeface="Calibri" pitchFamily="34" charset="-122"/>
                <a:cs typeface="Calibri" pitchFamily="34" charset="-120"/>
              </a:rPr>
              <a:t>regularization (penalty for</a:t>
            </a:r>
            <a:endParaRPr lang="en-US" sz="850" dirty="0"/>
          </a:p>
          <a:p>
            <a:pPr marL="0" indent="0">
              <a:buNone/>
            </a:pPr>
            <a:r>
              <a:rPr lang="en-US" sz="850" dirty="0">
                <a:solidFill>
                  <a:srgbClr val="444444"/>
                </a:solidFill>
                <a:latin typeface="Calibri" pitchFamily="34" charset="0"/>
                <a:ea typeface="Calibri" pitchFamily="34" charset="-122"/>
                <a:cs typeface="Calibri" pitchFamily="34" charset="-120"/>
              </a:rPr>
              <a:t>complexity), column subsampling,</a:t>
            </a:r>
            <a:endParaRPr lang="en-US" sz="850" dirty="0"/>
          </a:p>
          <a:p>
            <a:pPr marL="0" indent="0">
              <a:buNone/>
            </a:pPr>
            <a:r>
              <a:rPr lang="en-US" sz="850" dirty="0">
                <a:solidFill>
                  <a:srgbClr val="444444"/>
                </a:solidFill>
                <a:latin typeface="Calibri" pitchFamily="34" charset="0"/>
                <a:ea typeface="Calibri" pitchFamily="34" charset="-122"/>
                <a:cs typeface="Calibri" pitchFamily="34" charset="-120"/>
              </a:rPr>
              <a:t>native missing value handling.</a:t>
            </a:r>
            <a:endParaRPr lang="en-US" sz="850" dirty="0"/>
          </a:p>
        </p:txBody>
      </p:sp>
      <p:sp>
        <p:nvSpPr>
          <p:cNvPr id="30" name="Text 28"/>
          <p:cNvSpPr/>
          <p:nvPr/>
        </p:nvSpPr>
        <p:spPr>
          <a:xfrm>
            <a:off x="6053328" y="2651760"/>
            <a:ext cx="2377440" cy="164592"/>
          </a:xfrm>
          <a:prstGeom prst="rect">
            <a:avLst/>
          </a:prstGeom>
          <a:noFill/>
          <a:ln/>
        </p:spPr>
        <p:txBody>
          <a:bodyPr wrap="square" lIns="0" tIns="0" rIns="0" bIns="0" rtlCol="0" anchor="ctr"/>
          <a:lstStyle/>
          <a:p>
            <a:pPr marL="0" indent="0">
              <a:buNone/>
            </a:pPr>
            <a:r>
              <a:rPr lang="en-US" sz="850" b="1" i="1" dirty="0">
                <a:solidFill>
                  <a:srgbClr val="7C3AED"/>
                </a:solidFill>
                <a:latin typeface="Calibri" pitchFamily="34" charset="0"/>
                <a:ea typeface="Calibri" pitchFamily="34" charset="-122"/>
                <a:cs typeface="Calibri" pitchFamily="34" charset="-120"/>
              </a:rPr>
              <a:t>F1 Analogy:</a:t>
            </a:r>
            <a:endParaRPr lang="en-US" sz="850" dirty="0"/>
          </a:p>
        </p:txBody>
      </p:sp>
      <p:sp>
        <p:nvSpPr>
          <p:cNvPr id="31" name="Text 29"/>
          <p:cNvSpPr/>
          <p:nvPr/>
        </p:nvSpPr>
        <p:spPr>
          <a:xfrm>
            <a:off x="6053328" y="2834640"/>
            <a:ext cx="2377440" cy="640080"/>
          </a:xfrm>
          <a:prstGeom prst="rect">
            <a:avLst/>
          </a:prstGeom>
          <a:noFill/>
          <a:ln/>
        </p:spPr>
        <p:txBody>
          <a:bodyPr wrap="square" lIns="0" tIns="0" rIns="0" bIns="0" rtlCol="0" anchor="t"/>
          <a:lstStyle/>
          <a:p>
            <a:pPr marL="0" indent="0">
              <a:buNone/>
            </a:pPr>
            <a:r>
              <a:rPr lang="en-US" sz="850" i="1" dirty="0">
                <a:solidFill>
                  <a:srgbClr val="666666"/>
                </a:solidFill>
                <a:latin typeface="Calibri" pitchFamily="34" charset="0"/>
                <a:ea typeface="Calibri" pitchFamily="34" charset="-122"/>
                <a:cs typeface="Calibri" pitchFamily="34" charset="-120"/>
              </a:rPr>
              <a:t>Like GB + a risk manager asking</a:t>
            </a:r>
            <a:endParaRPr lang="en-US" sz="850" dirty="0"/>
          </a:p>
          <a:p>
            <a:pPr marL="0" indent="0">
              <a:buNone/>
            </a:pPr>
            <a:r>
              <a:rPr lang="en-US" sz="850" i="1" dirty="0">
                <a:solidFill>
                  <a:srgbClr val="666666"/>
                </a:solidFill>
                <a:latin typeface="Calibri" pitchFamily="34" charset="0"/>
                <a:ea typeface="Calibri" pitchFamily="34" charset="-122"/>
                <a:cs typeface="Calibri" pitchFamily="34" charset="-120"/>
              </a:rPr>
              <a:t>'what if our analysis is wrong?'</a:t>
            </a:r>
            <a:endParaRPr lang="en-US" sz="850" dirty="0"/>
          </a:p>
          <a:p>
            <a:pPr marL="0" indent="0">
              <a:buNone/>
            </a:pPr>
            <a:r>
              <a:rPr lang="en-US" sz="850" i="1" dirty="0">
                <a:solidFill>
                  <a:srgbClr val="666666"/>
                </a:solidFill>
                <a:latin typeface="Calibri" pitchFamily="34" charset="0"/>
                <a:ea typeface="Calibri" pitchFamily="34" charset="-122"/>
                <a:cs typeface="Calibri" pitchFamily="34" charset="-120"/>
              </a:rPr>
              <a:t>Builds in safety margins.</a:t>
            </a:r>
            <a:endParaRPr lang="en-US" sz="850" dirty="0"/>
          </a:p>
        </p:txBody>
      </p:sp>
      <p:sp>
        <p:nvSpPr>
          <p:cNvPr id="32" name="Shape 30"/>
          <p:cNvSpPr/>
          <p:nvPr/>
        </p:nvSpPr>
        <p:spPr>
          <a:xfrm>
            <a:off x="6053328" y="3566160"/>
            <a:ext cx="2377440" cy="36576"/>
          </a:xfrm>
          <a:prstGeom prst="rect">
            <a:avLst/>
          </a:prstGeom>
          <a:solidFill>
            <a:srgbClr val="7C3AED">
              <a:alpha val="50000"/>
            </a:srgbClr>
          </a:solidFill>
          <a:ln/>
        </p:spPr>
        <p:txBody>
          <a:bodyPr/>
          <a:lstStyle/>
          <a:p>
            <a:endParaRPr lang="en-US"/>
          </a:p>
        </p:txBody>
      </p:sp>
      <p:sp>
        <p:nvSpPr>
          <p:cNvPr id="33" name="Text 31"/>
          <p:cNvSpPr/>
          <p:nvPr/>
        </p:nvSpPr>
        <p:spPr>
          <a:xfrm>
            <a:off x="6053328" y="3611880"/>
            <a:ext cx="2377440" cy="365760"/>
          </a:xfrm>
          <a:prstGeom prst="rect">
            <a:avLst/>
          </a:prstGeom>
          <a:noFill/>
          <a:ln/>
        </p:spPr>
        <p:txBody>
          <a:bodyPr wrap="square" lIns="0" tIns="0" rIns="0" bIns="0" rtlCol="0" anchor="ctr"/>
          <a:lstStyle/>
          <a:p>
            <a:pPr marL="0" indent="0">
              <a:buNone/>
            </a:pPr>
            <a:r>
              <a:rPr lang="en-US" sz="900" b="1" dirty="0">
                <a:solidFill>
                  <a:srgbClr val="7C3AED"/>
                </a:solidFill>
                <a:latin typeface="Calibri" pitchFamily="34" charset="0"/>
                <a:ea typeface="Calibri" pitchFamily="34" charset="-122"/>
                <a:cs typeface="Calibri" pitchFamily="34" charset="-120"/>
              </a:rPr>
              <a:t>Best at: Position MAE:</a:t>
            </a:r>
            <a:endParaRPr lang="en-US" sz="900" dirty="0"/>
          </a:p>
          <a:p>
            <a:pPr marL="0" indent="0">
              <a:buNone/>
            </a:pPr>
            <a:r>
              <a:rPr lang="en-US" sz="900" b="1" dirty="0">
                <a:solidFill>
                  <a:srgbClr val="7C3AED"/>
                </a:solidFill>
                <a:latin typeface="Calibri" pitchFamily="34" charset="0"/>
                <a:ea typeface="Calibri" pitchFamily="34" charset="-122"/>
                <a:cs typeface="Calibri" pitchFamily="34" charset="-120"/>
              </a:rPr>
              <a:t>2.096 (best)</a:t>
            </a:r>
            <a:endParaRPr lang="en-US" sz="900" dirty="0"/>
          </a:p>
        </p:txBody>
      </p:sp>
      <p:sp>
        <p:nvSpPr>
          <p:cNvPr id="34" name="Text 32"/>
          <p:cNvSpPr/>
          <p:nvPr/>
        </p:nvSpPr>
        <p:spPr>
          <a:xfrm>
            <a:off x="457200" y="4709160"/>
            <a:ext cx="6400800" cy="365760"/>
          </a:xfrm>
          <a:prstGeom prst="rect">
            <a:avLst/>
          </a:prstGeom>
          <a:noFill/>
          <a:ln/>
        </p:spPr>
        <p:txBody>
          <a:bodyPr wrap="square" rtlCol="0" anchor="ctr"/>
          <a:lstStyle/>
          <a:p>
            <a:pPr marL="0" indent="0">
              <a:buNone/>
            </a:pPr>
            <a:r>
              <a:rPr lang="en-US" sz="900" dirty="0">
                <a:solidFill>
                  <a:srgbClr val="949594"/>
                </a:solidFill>
                <a:latin typeface="Calibri" pitchFamily="34" charset="0"/>
                <a:ea typeface="Calibri" pitchFamily="34" charset="-122"/>
                <a:cs typeface="Calibri" pitchFamily="34" charset="-120"/>
              </a:rPr>
              <a:t>Speaker 2 — Data &amp; ML Models</a:t>
            </a:r>
            <a:endParaRPr lang="en-US" sz="900" dirty="0"/>
          </a:p>
        </p:txBody>
      </p:sp>
      <p:sp>
        <p:nvSpPr>
          <p:cNvPr id="35" name="Text 33"/>
          <p:cNvSpPr/>
          <p:nvPr/>
        </p:nvSpPr>
        <p:spPr>
          <a:xfrm>
            <a:off x="8412480" y="4709160"/>
            <a:ext cx="548640" cy="365760"/>
          </a:xfrm>
          <a:prstGeom prst="rect">
            <a:avLst/>
          </a:prstGeom>
          <a:noFill/>
          <a:ln/>
        </p:spPr>
        <p:txBody>
          <a:bodyPr wrap="square" rtlCol="0" anchor="ctr"/>
          <a:lstStyle/>
          <a:p>
            <a:pPr marL="0" indent="0" algn="r">
              <a:buNone/>
            </a:pPr>
            <a:r>
              <a:rPr lang="en-US" sz="900" dirty="0">
                <a:solidFill>
                  <a:srgbClr val="949594"/>
                </a:solidFill>
                <a:latin typeface="Calibri" pitchFamily="34" charset="0"/>
                <a:ea typeface="Calibri" pitchFamily="34" charset="-122"/>
                <a:cs typeface="Calibri"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5F5F5"/>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C41E1E"/>
          </a:solidFill>
          <a:ln/>
        </p:spPr>
        <p:txBody>
          <a:bodyPr/>
          <a:lstStyle/>
          <a:p>
            <a:endParaRPr lang="en-US"/>
          </a:p>
        </p:txBody>
      </p:sp>
      <p:sp>
        <p:nvSpPr>
          <p:cNvPr id="3" name="Shape 1"/>
          <p:cNvSpPr/>
          <p:nvPr/>
        </p:nvSpPr>
        <p:spPr>
          <a:xfrm>
            <a:off x="8778240" y="0"/>
            <a:ext cx="137160" cy="5143500"/>
          </a:xfrm>
          <a:prstGeom prst="rect">
            <a:avLst/>
          </a:prstGeom>
          <a:solidFill>
            <a:srgbClr val="C41E1E"/>
          </a:solidFill>
          <a:ln/>
        </p:spPr>
        <p:txBody>
          <a:bodyPr/>
          <a:lstStyle/>
          <a:p>
            <a:endParaRPr lang="en-US"/>
          </a:p>
        </p:txBody>
      </p:sp>
      <p:sp>
        <p:nvSpPr>
          <p:cNvPr id="4" name="Shape 2"/>
          <p:cNvSpPr/>
          <p:nvPr/>
        </p:nvSpPr>
        <p:spPr>
          <a:xfrm>
            <a:off x="8961120" y="0"/>
            <a:ext cx="73152" cy="5143500"/>
          </a:xfrm>
          <a:prstGeom prst="rect">
            <a:avLst/>
          </a:prstGeom>
          <a:solidFill>
            <a:srgbClr val="C41E1E">
              <a:alpha val="40000"/>
            </a:srgbClr>
          </a:solidFill>
          <a:ln/>
        </p:spPr>
        <p:txBody>
          <a:bodyPr/>
          <a:lstStyle/>
          <a:p>
            <a:endParaRPr lang="en-US"/>
          </a:p>
        </p:txBody>
      </p:sp>
      <p:sp>
        <p:nvSpPr>
          <p:cNvPr id="5" name="Text 3"/>
          <p:cNvSpPr/>
          <p:nvPr/>
        </p:nvSpPr>
        <p:spPr>
          <a:xfrm>
            <a:off x="731520" y="182880"/>
            <a:ext cx="7315200" cy="548640"/>
          </a:xfrm>
          <a:prstGeom prst="rect">
            <a:avLst/>
          </a:prstGeom>
          <a:noFill/>
          <a:ln/>
        </p:spPr>
        <p:txBody>
          <a:bodyPr wrap="square" lIns="0" tIns="0" rIns="0" bIns="0" rtlCol="0" anchor="ctr"/>
          <a:lstStyle/>
          <a:p>
            <a:pPr marL="0" indent="0">
              <a:buNone/>
            </a:pPr>
            <a:r>
              <a:rPr lang="en-US" sz="2600" b="1" dirty="0">
                <a:solidFill>
                  <a:srgbClr val="1A1A2E"/>
                </a:solidFill>
                <a:latin typeface="Georgia" pitchFamily="34" charset="0"/>
                <a:ea typeface="Georgia" pitchFamily="34" charset="-122"/>
                <a:cs typeface="Georgia" pitchFamily="34" charset="-120"/>
              </a:rPr>
              <a:t>We Tested 7 Algorithms — Selected 3</a:t>
            </a:r>
            <a:endParaRPr lang="en-US" sz="2600" dirty="0"/>
          </a:p>
        </p:txBody>
      </p:sp>
      <p:sp>
        <p:nvSpPr>
          <p:cNvPr id="6" name="Shape 4"/>
          <p:cNvSpPr/>
          <p:nvPr/>
        </p:nvSpPr>
        <p:spPr>
          <a:xfrm>
            <a:off x="365760" y="914400"/>
            <a:ext cx="4023360" cy="1920240"/>
          </a:xfrm>
          <a:prstGeom prst="rect">
            <a:avLst/>
          </a:prstGeom>
          <a:solidFill>
            <a:srgbClr val="FFFFFF"/>
          </a:solidFill>
          <a:ln/>
          <a:effectLst>
            <a:outerShdw blurRad="50800" dist="25400" dir="8100000" algn="bl" rotWithShape="0">
              <a:srgbClr val="000000">
                <a:alpha val="10000"/>
              </a:srgbClr>
            </a:outerShdw>
          </a:effectLst>
        </p:spPr>
        <p:txBody>
          <a:bodyPr/>
          <a:lstStyle/>
          <a:p>
            <a:endParaRPr lang="en-US"/>
          </a:p>
        </p:txBody>
      </p:sp>
      <p:sp>
        <p:nvSpPr>
          <p:cNvPr id="7" name="Shape 5"/>
          <p:cNvSpPr/>
          <p:nvPr/>
        </p:nvSpPr>
        <p:spPr>
          <a:xfrm>
            <a:off x="365760" y="914400"/>
            <a:ext cx="54864" cy="1920240"/>
          </a:xfrm>
          <a:prstGeom prst="rect">
            <a:avLst/>
          </a:prstGeom>
          <a:solidFill>
            <a:srgbClr val="059669"/>
          </a:solidFill>
          <a:ln/>
        </p:spPr>
        <p:txBody>
          <a:bodyPr/>
          <a:lstStyle/>
          <a:p>
            <a:endParaRPr lang="en-US"/>
          </a:p>
        </p:txBody>
      </p:sp>
      <p:pic>
        <p:nvPicPr>
          <p:cNvPr id="8" name="Image 0" descr="preencoded.png"/>
          <p:cNvPicPr>
            <a:picLocks noChangeAspect="1"/>
          </p:cNvPicPr>
          <p:nvPr/>
        </p:nvPicPr>
        <p:blipFill>
          <a:blip r:embed="rId3"/>
          <a:stretch>
            <a:fillRect/>
          </a:stretch>
        </p:blipFill>
        <p:spPr>
          <a:xfrm>
            <a:off x="502920" y="1024128"/>
            <a:ext cx="256032" cy="256032"/>
          </a:xfrm>
          <a:prstGeom prst="rect">
            <a:avLst/>
          </a:prstGeom>
        </p:spPr>
      </p:pic>
      <p:sp>
        <p:nvSpPr>
          <p:cNvPr id="9" name="Text 6"/>
          <p:cNvSpPr/>
          <p:nvPr/>
        </p:nvSpPr>
        <p:spPr>
          <a:xfrm>
            <a:off x="822960" y="987552"/>
            <a:ext cx="3429000" cy="292608"/>
          </a:xfrm>
          <a:prstGeom prst="rect">
            <a:avLst/>
          </a:prstGeom>
          <a:noFill/>
          <a:ln/>
        </p:spPr>
        <p:txBody>
          <a:bodyPr wrap="square" lIns="0" tIns="0" rIns="0" bIns="0" rtlCol="0" anchor="ctr"/>
          <a:lstStyle/>
          <a:p>
            <a:pPr marL="0" indent="0">
              <a:buNone/>
            </a:pPr>
            <a:r>
              <a:rPr lang="en-US" sz="1200" b="1" dirty="0">
                <a:solidFill>
                  <a:srgbClr val="059669"/>
                </a:solidFill>
                <a:latin typeface="Georgia" pitchFamily="34" charset="0"/>
                <a:ea typeface="Georgia" pitchFamily="34" charset="-122"/>
                <a:cs typeface="Georgia" pitchFamily="34" charset="-120"/>
              </a:rPr>
              <a:t>✅ Selected — Tree Ensembles</a:t>
            </a:r>
            <a:endParaRPr lang="en-US" sz="1200" dirty="0"/>
          </a:p>
        </p:txBody>
      </p:sp>
      <p:sp>
        <p:nvSpPr>
          <p:cNvPr id="10" name="Text 7"/>
          <p:cNvSpPr/>
          <p:nvPr/>
        </p:nvSpPr>
        <p:spPr>
          <a:xfrm>
            <a:off x="502920" y="1325880"/>
            <a:ext cx="3749040" cy="1417320"/>
          </a:xfrm>
          <a:prstGeom prst="rect">
            <a:avLst/>
          </a:prstGeom>
          <a:noFill/>
          <a:ln/>
        </p:spPr>
        <p:txBody>
          <a:bodyPr wrap="square" rtlCol="0" anchor="t"/>
          <a:lstStyle/>
          <a:p>
            <a:pPr marL="0" indent="0">
              <a:lnSpc>
                <a:spcPct val="125000"/>
              </a:lnSpc>
              <a:buNone/>
            </a:pPr>
            <a:r>
              <a:rPr lang="en-US" sz="950" dirty="0">
                <a:solidFill>
                  <a:srgbClr val="444444"/>
                </a:solidFill>
                <a:latin typeface="Calibri" pitchFamily="34" charset="0"/>
                <a:ea typeface="Calibri" pitchFamily="34" charset="-122"/>
                <a:cs typeface="Calibri" pitchFamily="34" charset="-120"/>
              </a:rPr>
              <a:t>Random Forest — 74.1% winner accuracy</a:t>
            </a:r>
            <a:endParaRPr lang="en-US" sz="950" dirty="0"/>
          </a:p>
          <a:p>
            <a:pPr marL="0" indent="0">
              <a:lnSpc>
                <a:spcPct val="125000"/>
              </a:lnSpc>
              <a:buNone/>
            </a:pPr>
            <a:r>
              <a:rPr lang="en-US" sz="950" dirty="0">
                <a:solidFill>
                  <a:srgbClr val="444444"/>
                </a:solidFill>
                <a:latin typeface="Calibri" pitchFamily="34" charset="0"/>
                <a:ea typeface="Calibri" pitchFamily="34" charset="-122"/>
                <a:cs typeface="Calibri" pitchFamily="34" charset="-120"/>
              </a:rPr>
              <a:t>Gradient Boosting — 77.8% (BEST)</a:t>
            </a:r>
            <a:endParaRPr lang="en-US" sz="950" dirty="0"/>
          </a:p>
          <a:p>
            <a:pPr marL="0" indent="0">
              <a:lnSpc>
                <a:spcPct val="125000"/>
              </a:lnSpc>
              <a:buNone/>
            </a:pPr>
            <a:r>
              <a:rPr lang="en-US" sz="950" dirty="0">
                <a:solidFill>
                  <a:srgbClr val="444444"/>
                </a:solidFill>
                <a:latin typeface="Calibri" pitchFamily="34" charset="0"/>
                <a:ea typeface="Calibri" pitchFamily="34" charset="-122"/>
                <a:cs typeface="Calibri" pitchFamily="34" charset="-120"/>
              </a:rPr>
              <a:t>XGBoost — 74.1% winner accuracy</a:t>
            </a:r>
            <a:endParaRPr lang="en-US" sz="950" dirty="0"/>
          </a:p>
          <a:p>
            <a:pPr marL="0" indent="0">
              <a:lnSpc>
                <a:spcPct val="125000"/>
              </a:lnSpc>
              <a:buNone/>
            </a:pPr>
            <a:endParaRPr lang="en-US" sz="950" dirty="0"/>
          </a:p>
          <a:p>
            <a:pPr marL="0" indent="0">
              <a:lnSpc>
                <a:spcPct val="125000"/>
              </a:lnSpc>
              <a:buNone/>
            </a:pPr>
            <a:r>
              <a:rPr lang="en-US" sz="950" dirty="0">
                <a:solidFill>
                  <a:srgbClr val="444444"/>
                </a:solidFill>
                <a:latin typeface="Calibri" pitchFamily="34" charset="0"/>
                <a:ea typeface="Calibri" pitchFamily="34" charset="-122"/>
                <a:cs typeface="Calibri" pitchFamily="34" charset="-120"/>
              </a:rPr>
              <a:t>Why trees win: Automatically discover</a:t>
            </a:r>
            <a:endParaRPr lang="en-US" sz="950" dirty="0"/>
          </a:p>
          <a:p>
            <a:pPr marL="0" indent="0">
              <a:lnSpc>
                <a:spcPct val="125000"/>
              </a:lnSpc>
              <a:buNone/>
            </a:pPr>
            <a:r>
              <a:rPr lang="en-US" sz="950" dirty="0">
                <a:solidFill>
                  <a:srgbClr val="444444"/>
                </a:solidFill>
                <a:latin typeface="Calibri" pitchFamily="34" charset="0"/>
                <a:ea typeface="Calibri" pitchFamily="34" charset="-122"/>
                <a:cs typeface="Calibri" pitchFamily="34" charset="-120"/>
              </a:rPr>
              <a:t>non-linear patterns and feature interactions.</a:t>
            </a:r>
            <a:endParaRPr lang="en-US" sz="950" dirty="0"/>
          </a:p>
          <a:p>
            <a:pPr marL="0" indent="0">
              <a:lnSpc>
                <a:spcPct val="125000"/>
              </a:lnSpc>
              <a:buNone/>
            </a:pPr>
            <a:r>
              <a:rPr lang="en-US" sz="950" dirty="0">
                <a:solidFill>
                  <a:srgbClr val="444444"/>
                </a:solidFill>
                <a:latin typeface="Calibri" pitchFamily="34" charset="0"/>
                <a:ea typeface="Calibri" pitchFamily="34" charset="-122"/>
                <a:cs typeface="Calibri" pitchFamily="34" charset="-120"/>
              </a:rPr>
              <a:t>E.g., 'grid position matters MORE when</a:t>
            </a:r>
            <a:endParaRPr lang="en-US" sz="950" dirty="0"/>
          </a:p>
          <a:p>
            <a:pPr marL="0" indent="0">
              <a:lnSpc>
                <a:spcPct val="125000"/>
              </a:lnSpc>
              <a:buNone/>
            </a:pPr>
            <a:r>
              <a:rPr lang="en-US" sz="950" dirty="0">
                <a:solidFill>
                  <a:srgbClr val="444444"/>
                </a:solidFill>
                <a:latin typeface="Calibri" pitchFamily="34" charset="0"/>
                <a:ea typeface="Calibri" pitchFamily="34" charset="-122"/>
                <a:cs typeface="Calibri" pitchFamily="34" charset="-120"/>
              </a:rPr>
              <a:t>the car is fast.' Dominate Kaggle &amp; benchmarks.</a:t>
            </a:r>
            <a:endParaRPr lang="en-US" sz="950" dirty="0"/>
          </a:p>
        </p:txBody>
      </p:sp>
      <p:sp>
        <p:nvSpPr>
          <p:cNvPr id="11" name="Shape 8"/>
          <p:cNvSpPr/>
          <p:nvPr/>
        </p:nvSpPr>
        <p:spPr>
          <a:xfrm>
            <a:off x="4572000" y="914400"/>
            <a:ext cx="4023360" cy="1920240"/>
          </a:xfrm>
          <a:prstGeom prst="rect">
            <a:avLst/>
          </a:prstGeom>
          <a:solidFill>
            <a:srgbClr val="FFFFFF"/>
          </a:solidFill>
          <a:ln/>
          <a:effectLst>
            <a:outerShdw blurRad="50800" dist="25400" dir="8100000" algn="bl" rotWithShape="0">
              <a:srgbClr val="000000">
                <a:alpha val="10000"/>
              </a:srgbClr>
            </a:outerShdw>
          </a:effectLst>
        </p:spPr>
        <p:txBody>
          <a:bodyPr/>
          <a:lstStyle/>
          <a:p>
            <a:endParaRPr lang="en-US"/>
          </a:p>
        </p:txBody>
      </p:sp>
      <p:sp>
        <p:nvSpPr>
          <p:cNvPr id="12" name="Shape 9"/>
          <p:cNvSpPr/>
          <p:nvPr/>
        </p:nvSpPr>
        <p:spPr>
          <a:xfrm>
            <a:off x="4572000" y="914400"/>
            <a:ext cx="54864" cy="1920240"/>
          </a:xfrm>
          <a:prstGeom prst="rect">
            <a:avLst/>
          </a:prstGeom>
          <a:solidFill>
            <a:srgbClr val="C41E1E"/>
          </a:solidFill>
          <a:ln/>
        </p:spPr>
        <p:txBody>
          <a:bodyPr/>
          <a:lstStyle/>
          <a:p>
            <a:endParaRPr lang="en-US"/>
          </a:p>
        </p:txBody>
      </p:sp>
      <p:pic>
        <p:nvPicPr>
          <p:cNvPr id="13" name="Image 1" descr="preencoded.png"/>
          <p:cNvPicPr>
            <a:picLocks noChangeAspect="1"/>
          </p:cNvPicPr>
          <p:nvPr/>
        </p:nvPicPr>
        <p:blipFill>
          <a:blip r:embed="rId4"/>
          <a:stretch>
            <a:fillRect/>
          </a:stretch>
        </p:blipFill>
        <p:spPr>
          <a:xfrm>
            <a:off x="4709160" y="1024128"/>
            <a:ext cx="256032" cy="256032"/>
          </a:xfrm>
          <a:prstGeom prst="rect">
            <a:avLst/>
          </a:prstGeom>
        </p:spPr>
      </p:pic>
      <p:sp>
        <p:nvSpPr>
          <p:cNvPr id="14" name="Text 10"/>
          <p:cNvSpPr/>
          <p:nvPr/>
        </p:nvSpPr>
        <p:spPr>
          <a:xfrm>
            <a:off x="5029200" y="987552"/>
            <a:ext cx="3429000" cy="292608"/>
          </a:xfrm>
          <a:prstGeom prst="rect">
            <a:avLst/>
          </a:prstGeom>
          <a:noFill/>
          <a:ln/>
        </p:spPr>
        <p:txBody>
          <a:bodyPr wrap="square" lIns="0" tIns="0" rIns="0" bIns="0" rtlCol="0" anchor="ctr"/>
          <a:lstStyle/>
          <a:p>
            <a:pPr marL="0" indent="0">
              <a:buNone/>
            </a:pPr>
            <a:r>
              <a:rPr lang="en-US" sz="1200" b="1" dirty="0">
                <a:solidFill>
                  <a:srgbClr val="C41E1E"/>
                </a:solidFill>
                <a:latin typeface="Georgia" pitchFamily="34" charset="0"/>
                <a:ea typeface="Georgia" pitchFamily="34" charset="-122"/>
                <a:cs typeface="Georgia" pitchFamily="34" charset="-120"/>
              </a:rPr>
              <a:t>❌ Rejected — With Evidence</a:t>
            </a:r>
            <a:endParaRPr lang="en-US" sz="1200" dirty="0"/>
          </a:p>
        </p:txBody>
      </p:sp>
      <p:sp>
        <p:nvSpPr>
          <p:cNvPr id="15" name="Text 11"/>
          <p:cNvSpPr/>
          <p:nvPr/>
        </p:nvSpPr>
        <p:spPr>
          <a:xfrm>
            <a:off x="4709160" y="1325880"/>
            <a:ext cx="3749040" cy="1417320"/>
          </a:xfrm>
          <a:prstGeom prst="rect">
            <a:avLst/>
          </a:prstGeom>
          <a:noFill/>
          <a:ln/>
        </p:spPr>
        <p:txBody>
          <a:bodyPr wrap="square" rtlCol="0" anchor="t"/>
          <a:lstStyle/>
          <a:p>
            <a:pPr marL="0" indent="0">
              <a:lnSpc>
                <a:spcPct val="125000"/>
              </a:lnSpc>
              <a:buNone/>
            </a:pPr>
            <a:r>
              <a:rPr lang="en-US" sz="950" dirty="0">
                <a:solidFill>
                  <a:srgbClr val="444444"/>
                </a:solidFill>
                <a:latin typeface="Calibri" pitchFamily="34" charset="0"/>
                <a:ea typeface="Calibri" pitchFamily="34" charset="-122"/>
                <a:cs typeface="Calibri" pitchFamily="34" charset="-120"/>
              </a:rPr>
              <a:t>Logistic/Ridge Regression — 40-44%</a:t>
            </a:r>
            <a:endParaRPr lang="en-US" sz="950" dirty="0"/>
          </a:p>
          <a:p>
            <a:pPr marL="0" indent="0">
              <a:lnSpc>
                <a:spcPct val="125000"/>
              </a:lnSpc>
              <a:buNone/>
            </a:pPr>
            <a:r>
              <a:rPr lang="en-US" sz="950" dirty="0">
                <a:solidFill>
                  <a:srgbClr val="444444"/>
                </a:solidFill>
                <a:latin typeface="Calibri" pitchFamily="34" charset="0"/>
                <a:ea typeface="Calibri" pitchFamily="34" charset="-122"/>
                <a:cs typeface="Calibri" pitchFamily="34" charset="-120"/>
              </a:rPr>
              <a:t>→ Assumes linear relationships. F1 depends on</a:t>
            </a:r>
            <a:endParaRPr lang="en-US" sz="950" dirty="0"/>
          </a:p>
          <a:p>
            <a:pPr marL="0" indent="0">
              <a:lnSpc>
                <a:spcPct val="125000"/>
              </a:lnSpc>
              <a:buNone/>
            </a:pPr>
            <a:r>
              <a:rPr lang="en-US" sz="950" dirty="0">
                <a:solidFill>
                  <a:srgbClr val="444444"/>
                </a:solidFill>
                <a:latin typeface="Calibri" pitchFamily="34" charset="0"/>
                <a:ea typeface="Calibri" pitchFamily="34" charset="-122"/>
                <a:cs typeface="Calibri" pitchFamily="34" charset="-120"/>
              </a:rPr>
              <a:t>  complex interactions (grid × car × weather).</a:t>
            </a:r>
            <a:endParaRPr lang="en-US" sz="950" dirty="0"/>
          </a:p>
          <a:p>
            <a:pPr marL="0" indent="0">
              <a:lnSpc>
                <a:spcPct val="125000"/>
              </a:lnSpc>
              <a:buNone/>
            </a:pPr>
            <a:endParaRPr lang="en-US" sz="950" dirty="0"/>
          </a:p>
          <a:p>
            <a:pPr marL="0" indent="0">
              <a:lnSpc>
                <a:spcPct val="125000"/>
              </a:lnSpc>
              <a:buNone/>
            </a:pPr>
            <a:r>
              <a:rPr lang="en-US" sz="950" dirty="0">
                <a:solidFill>
                  <a:srgbClr val="444444"/>
                </a:solidFill>
                <a:latin typeface="Calibri" pitchFamily="34" charset="0"/>
                <a:ea typeface="Calibri" pitchFamily="34" charset="-122"/>
                <a:cs typeface="Calibri" pitchFamily="34" charset="-120"/>
              </a:rPr>
              <a:t>Neural Network (MLP) — 29.6% (WORST)</a:t>
            </a:r>
            <a:endParaRPr lang="en-US" sz="950" dirty="0"/>
          </a:p>
          <a:p>
            <a:pPr marL="0" indent="0">
              <a:lnSpc>
                <a:spcPct val="125000"/>
              </a:lnSpc>
              <a:buNone/>
            </a:pPr>
            <a:r>
              <a:rPr lang="en-US" sz="950" dirty="0">
                <a:solidFill>
                  <a:srgbClr val="444444"/>
                </a:solidFill>
                <a:latin typeface="Calibri" pitchFamily="34" charset="0"/>
                <a:ea typeface="Calibri" pitchFamily="34" charset="-122"/>
                <a:cs typeface="Calibri" pitchFamily="34" charset="-120"/>
              </a:rPr>
              <a:t>→ Only 3,524 rows. Deep learning needs 50K+.</a:t>
            </a:r>
            <a:endParaRPr lang="en-US" sz="950" dirty="0"/>
          </a:p>
          <a:p>
            <a:pPr marL="0" indent="0">
              <a:lnSpc>
                <a:spcPct val="125000"/>
              </a:lnSpc>
              <a:buNone/>
            </a:pPr>
            <a:endParaRPr lang="en-US" sz="950" dirty="0"/>
          </a:p>
          <a:p>
            <a:pPr marL="0" indent="0">
              <a:lnSpc>
                <a:spcPct val="125000"/>
              </a:lnSpc>
              <a:buNone/>
            </a:pPr>
            <a:r>
              <a:rPr lang="en-US" sz="950" dirty="0">
                <a:solidFill>
                  <a:srgbClr val="444444"/>
                </a:solidFill>
                <a:latin typeface="Calibri" pitchFamily="34" charset="0"/>
                <a:ea typeface="Calibri" pitchFamily="34" charset="-122"/>
                <a:cs typeface="Calibri" pitchFamily="34" charset="-120"/>
              </a:rPr>
              <a:t>Stacking Ensemble — no improvement</a:t>
            </a:r>
            <a:endParaRPr lang="en-US" sz="950" dirty="0"/>
          </a:p>
          <a:p>
            <a:pPr marL="0" indent="0">
              <a:lnSpc>
                <a:spcPct val="125000"/>
              </a:lnSpc>
              <a:buNone/>
            </a:pPr>
            <a:r>
              <a:rPr lang="en-US" sz="950" dirty="0">
                <a:solidFill>
                  <a:srgbClr val="444444"/>
                </a:solidFill>
                <a:latin typeface="Calibri" pitchFamily="34" charset="0"/>
                <a:ea typeface="Calibri" pitchFamily="34" charset="-122"/>
                <a:cs typeface="Calibri" pitchFamily="34" charset="-120"/>
              </a:rPr>
              <a:t>→ Added complexity, zero accuracy gain.</a:t>
            </a:r>
            <a:endParaRPr lang="en-US" sz="950" dirty="0"/>
          </a:p>
        </p:txBody>
      </p:sp>
      <p:sp>
        <p:nvSpPr>
          <p:cNvPr id="16" name="Shape 12"/>
          <p:cNvSpPr/>
          <p:nvPr/>
        </p:nvSpPr>
        <p:spPr>
          <a:xfrm>
            <a:off x="365760" y="3017520"/>
            <a:ext cx="8321040" cy="1463040"/>
          </a:xfrm>
          <a:prstGeom prst="rect">
            <a:avLst/>
          </a:prstGeom>
          <a:solidFill>
            <a:srgbClr val="FFFFFF"/>
          </a:solidFill>
          <a:ln/>
          <a:effectLst>
            <a:outerShdw blurRad="50800" dist="25400" dir="8100000" algn="bl" rotWithShape="0">
              <a:srgbClr val="000000">
                <a:alpha val="10000"/>
              </a:srgbClr>
            </a:outerShdw>
          </a:effectLst>
        </p:spPr>
        <p:txBody>
          <a:bodyPr/>
          <a:lstStyle/>
          <a:p>
            <a:endParaRPr lang="en-US"/>
          </a:p>
        </p:txBody>
      </p:sp>
      <p:sp>
        <p:nvSpPr>
          <p:cNvPr id="17" name="Shape 13"/>
          <p:cNvSpPr/>
          <p:nvPr/>
        </p:nvSpPr>
        <p:spPr>
          <a:xfrm>
            <a:off x="365760" y="3017520"/>
            <a:ext cx="8321040" cy="45720"/>
          </a:xfrm>
          <a:prstGeom prst="rect">
            <a:avLst/>
          </a:prstGeom>
          <a:solidFill>
            <a:srgbClr val="7C3AED"/>
          </a:solidFill>
          <a:ln/>
        </p:spPr>
        <p:txBody>
          <a:bodyPr/>
          <a:lstStyle/>
          <a:p>
            <a:endParaRPr lang="en-US"/>
          </a:p>
        </p:txBody>
      </p:sp>
      <p:sp>
        <p:nvSpPr>
          <p:cNvPr id="18" name="Text 14"/>
          <p:cNvSpPr/>
          <p:nvPr/>
        </p:nvSpPr>
        <p:spPr>
          <a:xfrm>
            <a:off x="548640" y="3108960"/>
            <a:ext cx="8046720" cy="274320"/>
          </a:xfrm>
          <a:prstGeom prst="rect">
            <a:avLst/>
          </a:prstGeom>
          <a:noFill/>
          <a:ln/>
        </p:spPr>
        <p:txBody>
          <a:bodyPr wrap="square" lIns="0" tIns="0" rIns="0" bIns="0" rtlCol="0" anchor="ctr"/>
          <a:lstStyle/>
          <a:p>
            <a:pPr marL="0" indent="0">
              <a:buNone/>
            </a:pPr>
            <a:r>
              <a:rPr lang="en-US" sz="1200" b="1" dirty="0">
                <a:solidFill>
                  <a:srgbClr val="7C3AED"/>
                </a:solidFill>
                <a:latin typeface="Georgia" pitchFamily="34" charset="0"/>
                <a:ea typeface="Georgia" pitchFamily="34" charset="-122"/>
                <a:cs typeface="Georgia" pitchFamily="34" charset="-120"/>
              </a:rPr>
              <a:t>Why Neural Networks Failed (29.6% — Worst of All)</a:t>
            </a:r>
            <a:endParaRPr lang="en-US" sz="1200" dirty="0"/>
          </a:p>
        </p:txBody>
      </p:sp>
      <p:sp>
        <p:nvSpPr>
          <p:cNvPr id="19" name="Text 15"/>
          <p:cNvSpPr/>
          <p:nvPr/>
        </p:nvSpPr>
        <p:spPr>
          <a:xfrm>
            <a:off x="548640" y="3429000"/>
            <a:ext cx="8046720" cy="914400"/>
          </a:xfrm>
          <a:prstGeom prst="rect">
            <a:avLst/>
          </a:prstGeom>
          <a:noFill/>
          <a:ln/>
        </p:spPr>
        <p:txBody>
          <a:bodyPr wrap="square" lIns="0" tIns="0" rIns="0" bIns="0" rtlCol="0" anchor="ctr"/>
          <a:lstStyle/>
          <a:p>
            <a:pPr marL="0" indent="0">
              <a:lnSpc>
                <a:spcPct val="130000"/>
              </a:lnSpc>
              <a:buNone/>
            </a:pPr>
            <a:r>
              <a:rPr lang="en-US" sz="950" dirty="0">
                <a:solidFill>
                  <a:srgbClr val="444444"/>
                </a:solidFill>
                <a:latin typeface="Calibri" pitchFamily="34" charset="0"/>
                <a:ea typeface="Calibri" pitchFamily="34" charset="-122"/>
                <a:cs typeface="Calibri" pitchFamily="34" charset="-120"/>
              </a:rPr>
              <a:t>With only 3,524 training rows, deep learning cannot learn effective representations. Neural networks typically need 50,000+ rows to compete with tree-based methods on structured tabular data. This is a well-established finding in ML research (Grinsztajn et al., 2022). Our 3-layer MLP with 128/64/32 neurons achieved the worst accuracy of any model tested — confirming that for our data volume, tree ensembles are the correct choice.</a:t>
            </a:r>
            <a:endParaRPr lang="en-US" sz="950" dirty="0"/>
          </a:p>
        </p:txBody>
      </p:sp>
      <p:sp>
        <p:nvSpPr>
          <p:cNvPr id="20" name="Text 16"/>
          <p:cNvSpPr/>
          <p:nvPr/>
        </p:nvSpPr>
        <p:spPr>
          <a:xfrm>
            <a:off x="457200" y="4709160"/>
            <a:ext cx="6400800" cy="365760"/>
          </a:xfrm>
          <a:prstGeom prst="rect">
            <a:avLst/>
          </a:prstGeom>
          <a:noFill/>
          <a:ln/>
        </p:spPr>
        <p:txBody>
          <a:bodyPr wrap="square" rtlCol="0" anchor="ctr"/>
          <a:lstStyle/>
          <a:p>
            <a:pPr marL="0" indent="0">
              <a:buNone/>
            </a:pPr>
            <a:r>
              <a:rPr lang="en-US" sz="900" dirty="0">
                <a:solidFill>
                  <a:srgbClr val="949594"/>
                </a:solidFill>
                <a:latin typeface="Calibri" pitchFamily="34" charset="0"/>
                <a:ea typeface="Calibri" pitchFamily="34" charset="-122"/>
                <a:cs typeface="Calibri" pitchFamily="34" charset="-120"/>
              </a:rPr>
              <a:t>Speaker 2 — Data &amp; ML Models</a:t>
            </a:r>
            <a:endParaRPr lang="en-US" sz="900" dirty="0"/>
          </a:p>
        </p:txBody>
      </p:sp>
      <p:sp>
        <p:nvSpPr>
          <p:cNvPr id="21" name="Text 17"/>
          <p:cNvSpPr/>
          <p:nvPr/>
        </p:nvSpPr>
        <p:spPr>
          <a:xfrm>
            <a:off x="8412480" y="4709160"/>
            <a:ext cx="548640" cy="365760"/>
          </a:xfrm>
          <a:prstGeom prst="rect">
            <a:avLst/>
          </a:prstGeom>
          <a:noFill/>
          <a:ln/>
        </p:spPr>
        <p:txBody>
          <a:bodyPr wrap="square" rtlCol="0" anchor="ctr"/>
          <a:lstStyle/>
          <a:p>
            <a:pPr marL="0" indent="0" algn="r">
              <a:buNone/>
            </a:pPr>
            <a:r>
              <a:rPr lang="en-US" sz="900" dirty="0">
                <a:solidFill>
                  <a:srgbClr val="949594"/>
                </a:solidFill>
                <a:latin typeface="Calibri" pitchFamily="34" charset="0"/>
                <a:ea typeface="Calibri" pitchFamily="34" charset="-122"/>
                <a:cs typeface="Calibri" pitchFamily="34" charset="-120"/>
              </a:rPr>
              <a:t>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5F5F5"/>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C41E1E"/>
          </a:solidFill>
          <a:ln/>
        </p:spPr>
        <p:txBody>
          <a:bodyPr/>
          <a:lstStyle/>
          <a:p>
            <a:endParaRPr lang="en-US"/>
          </a:p>
        </p:txBody>
      </p:sp>
      <p:sp>
        <p:nvSpPr>
          <p:cNvPr id="3" name="Shape 1"/>
          <p:cNvSpPr/>
          <p:nvPr/>
        </p:nvSpPr>
        <p:spPr>
          <a:xfrm>
            <a:off x="8778240" y="0"/>
            <a:ext cx="137160" cy="5143500"/>
          </a:xfrm>
          <a:prstGeom prst="rect">
            <a:avLst/>
          </a:prstGeom>
          <a:solidFill>
            <a:srgbClr val="C41E1E"/>
          </a:solidFill>
          <a:ln/>
        </p:spPr>
        <p:txBody>
          <a:bodyPr/>
          <a:lstStyle/>
          <a:p>
            <a:endParaRPr lang="en-US"/>
          </a:p>
        </p:txBody>
      </p:sp>
      <p:sp>
        <p:nvSpPr>
          <p:cNvPr id="4" name="Shape 2"/>
          <p:cNvSpPr/>
          <p:nvPr/>
        </p:nvSpPr>
        <p:spPr>
          <a:xfrm>
            <a:off x="8961120" y="0"/>
            <a:ext cx="73152" cy="5143500"/>
          </a:xfrm>
          <a:prstGeom prst="rect">
            <a:avLst/>
          </a:prstGeom>
          <a:solidFill>
            <a:srgbClr val="C41E1E">
              <a:alpha val="40000"/>
            </a:srgbClr>
          </a:solidFill>
          <a:ln/>
        </p:spPr>
        <p:txBody>
          <a:bodyPr/>
          <a:lstStyle/>
          <a:p>
            <a:endParaRPr lang="en-US"/>
          </a:p>
        </p:txBody>
      </p:sp>
      <p:sp>
        <p:nvSpPr>
          <p:cNvPr id="5" name="Text 3"/>
          <p:cNvSpPr/>
          <p:nvPr/>
        </p:nvSpPr>
        <p:spPr>
          <a:xfrm>
            <a:off x="731520" y="182880"/>
            <a:ext cx="7315200" cy="548640"/>
          </a:xfrm>
          <a:prstGeom prst="rect">
            <a:avLst/>
          </a:prstGeom>
          <a:noFill/>
          <a:ln/>
        </p:spPr>
        <p:txBody>
          <a:bodyPr wrap="square" lIns="0" tIns="0" rIns="0" bIns="0" rtlCol="0" anchor="ctr"/>
          <a:lstStyle/>
          <a:p>
            <a:pPr marL="0" indent="0">
              <a:buNone/>
            </a:pPr>
            <a:r>
              <a:rPr lang="en-US" sz="2800" b="1" dirty="0">
                <a:solidFill>
                  <a:srgbClr val="1A1A2E"/>
                </a:solidFill>
                <a:latin typeface="Georgia" pitchFamily="34" charset="0"/>
                <a:ea typeface="Georgia" pitchFamily="34" charset="-122"/>
                <a:cs typeface="Georgia" pitchFamily="34" charset="-120"/>
              </a:rPr>
              <a:t>Head-to-Head Comparison</a:t>
            </a:r>
            <a:endParaRPr lang="en-US" sz="2800" dirty="0"/>
          </a:p>
        </p:txBody>
      </p:sp>
      <p:sp>
        <p:nvSpPr>
          <p:cNvPr id="6" name="Text 4"/>
          <p:cNvSpPr/>
          <p:nvPr/>
        </p:nvSpPr>
        <p:spPr>
          <a:xfrm>
            <a:off x="731520" y="685800"/>
            <a:ext cx="7315200" cy="228600"/>
          </a:xfrm>
          <a:prstGeom prst="rect">
            <a:avLst/>
          </a:prstGeom>
          <a:noFill/>
          <a:ln/>
        </p:spPr>
        <p:txBody>
          <a:bodyPr wrap="square" lIns="0" tIns="0" rIns="0" bIns="0" rtlCol="0" anchor="ctr"/>
          <a:lstStyle/>
          <a:p>
            <a:pPr marL="0" indent="0">
              <a:buNone/>
            </a:pPr>
            <a:r>
              <a:rPr lang="en-US" sz="1000" dirty="0">
                <a:solidFill>
                  <a:srgbClr val="949594"/>
                </a:solidFill>
                <a:latin typeface="Calibri" pitchFamily="34" charset="0"/>
                <a:ea typeface="Calibri" pitchFamily="34" charset="-122"/>
                <a:cs typeface="Calibri" pitchFamily="34" charset="-120"/>
              </a:rPr>
              <a:t>Trained: 2018-2024 (2,979 records) • Tested: 2025-2026 (545 records) • Time-based split, no leakage</a:t>
            </a:r>
            <a:endParaRPr lang="en-US" sz="10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274320" y="1005840"/>
          <a:ext cx="8503920" cy="914400"/>
        </p:xfrm>
        <a:graphic>
          <a:graphicData uri="http://schemas.openxmlformats.org/drawingml/2006/table">
            <a:tbl>
              <a:tblPr/>
              <a:tblGrid>
                <a:gridCol w="1828800">
                  <a:extLst>
                    <a:ext uri="{9D8B030D-6E8A-4147-A177-3AD203B41FA5}">
                      <a16:colId xmlns:a16="http://schemas.microsoft.com/office/drawing/2014/main" val="20000"/>
                    </a:ext>
                  </a:extLst>
                </a:gridCol>
                <a:gridCol w="1645920">
                  <a:extLst>
                    <a:ext uri="{9D8B030D-6E8A-4147-A177-3AD203B41FA5}">
                      <a16:colId xmlns:a16="http://schemas.microsoft.com/office/drawing/2014/main" val="20001"/>
                    </a:ext>
                  </a:extLst>
                </a:gridCol>
                <a:gridCol w="1645920">
                  <a:extLst>
                    <a:ext uri="{9D8B030D-6E8A-4147-A177-3AD203B41FA5}">
                      <a16:colId xmlns:a16="http://schemas.microsoft.com/office/drawing/2014/main" val="20002"/>
                    </a:ext>
                  </a:extLst>
                </a:gridCol>
                <a:gridCol w="1645920">
                  <a:extLst>
                    <a:ext uri="{9D8B030D-6E8A-4147-A177-3AD203B41FA5}">
                      <a16:colId xmlns:a16="http://schemas.microsoft.com/office/drawing/2014/main" val="20003"/>
                    </a:ext>
                  </a:extLst>
                </a:gridCol>
                <a:gridCol w="1280160">
                  <a:extLst>
                    <a:ext uri="{9D8B030D-6E8A-4147-A177-3AD203B41FA5}">
                      <a16:colId xmlns:a16="http://schemas.microsoft.com/office/drawing/2014/main" val="20004"/>
                    </a:ext>
                  </a:extLst>
                </a:gridCol>
              </a:tblGrid>
              <a:tr h="292608">
                <a:tc>
                  <a:txBody>
                    <a:bodyPr/>
                    <a:lstStyle/>
                    <a:p>
                      <a:pPr marL="0" indent="0">
                        <a:buNone/>
                      </a:pPr>
                      <a:r>
                        <a:rPr lang="en-US" sz="950" b="1" dirty="0">
                          <a:solidFill>
                            <a:srgbClr val="FFFFFF"/>
                          </a:solidFill>
                          <a:latin typeface="Calibri" pitchFamily="34" charset="0"/>
                          <a:ea typeface="Calibri" pitchFamily="34" charset="-122"/>
                          <a:cs typeface="Calibri" pitchFamily="34" charset="-120"/>
                        </a:rPr>
                        <a:t>Metric</a:t>
                      </a:r>
                      <a:endParaRPr lang="en-US" sz="950" dirty="0">
                        <a:latin typeface="Calibri" charset="0"/>
                        <a:ea typeface="Calibri" charset="0"/>
                        <a:cs typeface="Calibri" charset="0"/>
                      </a:endParaRPr>
                    </a:p>
                  </a:txBody>
                  <a:tcP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C41E1E"/>
                    </a:solidFill>
                  </a:tcPr>
                </a:tc>
                <a:tc>
                  <a:txBody>
                    <a:bodyPr/>
                    <a:lstStyle/>
                    <a:p>
                      <a:pPr marL="0" indent="0">
                        <a:buNone/>
                      </a:pPr>
                      <a:r>
                        <a:rPr lang="en-US" sz="950" b="1" dirty="0">
                          <a:solidFill>
                            <a:srgbClr val="FFFFFF"/>
                          </a:solidFill>
                          <a:latin typeface="Calibri" pitchFamily="34" charset="0"/>
                          <a:ea typeface="Calibri" pitchFamily="34" charset="-122"/>
                          <a:cs typeface="Calibri" pitchFamily="34" charset="-120"/>
                        </a:rPr>
                        <a:t>Random Forest</a:t>
                      </a:r>
                      <a:endParaRPr lang="en-US" sz="950" dirty="0">
                        <a:latin typeface="Calibri" charset="0"/>
                        <a:ea typeface="Calibri" charset="0"/>
                        <a:cs typeface="Calibri" charset="0"/>
                      </a:endParaRPr>
                    </a:p>
                  </a:txBody>
                  <a:tcP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2563EB"/>
                    </a:solidFill>
                  </a:tcPr>
                </a:tc>
                <a:tc>
                  <a:txBody>
                    <a:bodyPr/>
                    <a:lstStyle/>
                    <a:p>
                      <a:pPr marL="0" indent="0">
                        <a:buNone/>
                      </a:pPr>
                      <a:r>
                        <a:rPr lang="en-US" sz="950" b="1" dirty="0">
                          <a:solidFill>
                            <a:srgbClr val="FFFFFF"/>
                          </a:solidFill>
                          <a:latin typeface="Calibri" pitchFamily="34" charset="0"/>
                          <a:ea typeface="Calibri" pitchFamily="34" charset="-122"/>
                          <a:cs typeface="Calibri" pitchFamily="34" charset="-120"/>
                        </a:rPr>
                        <a:t>Gradient Boosting</a:t>
                      </a:r>
                      <a:endParaRPr lang="en-US" sz="950" dirty="0">
                        <a:latin typeface="Calibri" charset="0"/>
                        <a:ea typeface="Calibri" charset="0"/>
                        <a:cs typeface="Calibri" charset="0"/>
                      </a:endParaRPr>
                    </a:p>
                  </a:txBody>
                  <a:tcP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059669"/>
                    </a:solidFill>
                  </a:tcPr>
                </a:tc>
                <a:tc>
                  <a:txBody>
                    <a:bodyPr/>
                    <a:lstStyle/>
                    <a:p>
                      <a:pPr marL="0" indent="0">
                        <a:buNone/>
                      </a:pPr>
                      <a:r>
                        <a:rPr lang="en-US" sz="950" b="1" dirty="0">
                          <a:solidFill>
                            <a:srgbClr val="FFFFFF"/>
                          </a:solidFill>
                          <a:latin typeface="Calibri" pitchFamily="34" charset="0"/>
                          <a:ea typeface="Calibri" pitchFamily="34" charset="-122"/>
                          <a:cs typeface="Calibri" pitchFamily="34" charset="-120"/>
                        </a:rPr>
                        <a:t>XGBoost</a:t>
                      </a:r>
                      <a:endParaRPr lang="en-US" sz="950" dirty="0">
                        <a:latin typeface="Calibri" charset="0"/>
                        <a:ea typeface="Calibri" charset="0"/>
                        <a:cs typeface="Calibri" charset="0"/>
                      </a:endParaRPr>
                    </a:p>
                  </a:txBody>
                  <a:tcP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7C3AED"/>
                    </a:solidFill>
                  </a:tcPr>
                </a:tc>
                <a:tc>
                  <a:txBody>
                    <a:bodyPr/>
                    <a:lstStyle/>
                    <a:p>
                      <a:pPr marL="0" indent="0">
                        <a:buNone/>
                      </a:pPr>
                      <a:r>
                        <a:rPr lang="en-US" sz="950" b="1" dirty="0">
                          <a:solidFill>
                            <a:srgbClr val="FFFFFF"/>
                          </a:solidFill>
                          <a:latin typeface="Calibri" pitchFamily="34" charset="0"/>
                          <a:ea typeface="Calibri" pitchFamily="34" charset="-122"/>
                          <a:cs typeface="Calibri" pitchFamily="34" charset="-120"/>
                        </a:rPr>
                        <a:t>Winner</a:t>
                      </a:r>
                      <a:endParaRPr lang="en-US" sz="950" dirty="0">
                        <a:latin typeface="Calibri" charset="0"/>
                        <a:ea typeface="Calibri" charset="0"/>
                        <a:cs typeface="Calibri" charset="0"/>
                      </a:endParaRPr>
                    </a:p>
                  </a:txBody>
                  <a:tcP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C41E1E"/>
                    </a:solidFill>
                  </a:tcPr>
                </a:tc>
                <a:extLst>
                  <a:ext uri="{0D108BD9-81ED-4DB2-BD59-A6C34878D82A}">
                    <a16:rowId xmlns:a16="http://schemas.microsoft.com/office/drawing/2014/main" val="10000"/>
                  </a:ext>
                </a:extLst>
              </a:tr>
              <a:tr h="292608">
                <a:tc>
                  <a:txBody>
                    <a:bodyPr/>
                    <a:lstStyle/>
                    <a:p>
                      <a:pPr marL="0" indent="0">
                        <a:buNone/>
                      </a:pPr>
                      <a:r>
                        <a:rPr lang="en-US" sz="950" dirty="0">
                          <a:solidFill>
                            <a:srgbClr val="000000"/>
                          </a:solidFill>
                          <a:latin typeface="Calibri" pitchFamily="34" charset="0"/>
                          <a:ea typeface="Calibri" pitchFamily="34" charset="-122"/>
                          <a:cs typeface="Calibri" pitchFamily="34" charset="-120"/>
                        </a:rPr>
                        <a:t>Position MAE ↓</a:t>
                      </a:r>
                      <a:endParaRPr lang="en-US" sz="950" dirty="0">
                        <a:latin typeface="Calibri" charset="0"/>
                        <a:ea typeface="Calibri" charset="0"/>
                        <a:cs typeface="Calibri" charset="0"/>
                      </a:endParaRPr>
                    </a:p>
                  </a:txBody>
                  <a:tcP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marL="0" indent="0">
                        <a:buNone/>
                      </a:pPr>
                      <a:r>
                        <a:rPr lang="en-US" sz="950" dirty="0">
                          <a:solidFill>
                            <a:srgbClr val="000000"/>
                          </a:solidFill>
                          <a:latin typeface="Calibri" pitchFamily="34" charset="0"/>
                          <a:ea typeface="Calibri" pitchFamily="34" charset="-122"/>
                          <a:cs typeface="Calibri" pitchFamily="34" charset="-120"/>
                        </a:rPr>
                        <a:t>2.187</a:t>
                      </a:r>
                      <a:endParaRPr lang="en-US" sz="950" dirty="0">
                        <a:latin typeface="Calibri" charset="0"/>
                        <a:ea typeface="Calibri" charset="0"/>
                        <a:cs typeface="Calibri" charset="0"/>
                      </a:endParaRPr>
                    </a:p>
                  </a:txBody>
                  <a:tcP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marL="0" indent="0">
                        <a:buNone/>
                      </a:pPr>
                      <a:r>
                        <a:rPr lang="en-US" sz="950" dirty="0">
                          <a:solidFill>
                            <a:srgbClr val="000000"/>
                          </a:solidFill>
                          <a:latin typeface="Calibri" pitchFamily="34" charset="0"/>
                          <a:ea typeface="Calibri" pitchFamily="34" charset="-122"/>
                          <a:cs typeface="Calibri" pitchFamily="34" charset="-120"/>
                        </a:rPr>
                        <a:t>2.148</a:t>
                      </a:r>
                      <a:endParaRPr lang="en-US" sz="950" dirty="0">
                        <a:latin typeface="Calibri" charset="0"/>
                        <a:ea typeface="Calibri" charset="0"/>
                        <a:cs typeface="Calibri" charset="0"/>
                      </a:endParaRPr>
                    </a:p>
                  </a:txBody>
                  <a:tcP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marL="0" indent="0">
                        <a:buNone/>
                      </a:pPr>
                      <a:r>
                        <a:rPr lang="en-US" sz="950" b="1" dirty="0">
                          <a:solidFill>
                            <a:srgbClr val="7C3AED"/>
                          </a:solidFill>
                          <a:latin typeface="Calibri" pitchFamily="34" charset="0"/>
                          <a:ea typeface="Calibri" pitchFamily="34" charset="-122"/>
                          <a:cs typeface="Calibri" pitchFamily="34" charset="-120"/>
                        </a:rPr>
                        <a:t>2.096 ✓</a:t>
                      </a:r>
                      <a:endParaRPr lang="en-US" sz="950" dirty="0">
                        <a:latin typeface="Calibri" charset="0"/>
                        <a:ea typeface="Calibri" charset="0"/>
                        <a:cs typeface="Calibri" charset="0"/>
                      </a:endParaRPr>
                    </a:p>
                  </a:txBody>
                  <a:tcP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marL="0" indent="0">
                        <a:buNone/>
                      </a:pPr>
                      <a:r>
                        <a:rPr lang="en-US" sz="950" dirty="0">
                          <a:solidFill>
                            <a:srgbClr val="000000"/>
                          </a:solidFill>
                          <a:latin typeface="Calibri" pitchFamily="34" charset="0"/>
                          <a:ea typeface="Calibri" pitchFamily="34" charset="-122"/>
                          <a:cs typeface="Calibri" pitchFamily="34" charset="-120"/>
                        </a:rPr>
                        <a:t>XGBoost</a:t>
                      </a:r>
                      <a:endParaRPr lang="en-US" sz="950" dirty="0">
                        <a:latin typeface="Calibri" charset="0"/>
                        <a:ea typeface="Calibri" charset="0"/>
                        <a:cs typeface="Calibri" charset="0"/>
                      </a:endParaRPr>
                    </a:p>
                  </a:txBody>
                  <a:tcP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extLst>
                  <a:ext uri="{0D108BD9-81ED-4DB2-BD59-A6C34878D82A}">
                    <a16:rowId xmlns:a16="http://schemas.microsoft.com/office/drawing/2014/main" val="10001"/>
                  </a:ext>
                </a:extLst>
              </a:tr>
              <a:tr h="292608">
                <a:tc>
                  <a:txBody>
                    <a:bodyPr/>
                    <a:lstStyle/>
                    <a:p>
                      <a:pPr marL="0" indent="0">
                        <a:buNone/>
                      </a:pPr>
                      <a:r>
                        <a:rPr lang="en-US" sz="950" dirty="0">
                          <a:solidFill>
                            <a:srgbClr val="000000"/>
                          </a:solidFill>
                          <a:latin typeface="Calibri" pitchFamily="34" charset="0"/>
                          <a:ea typeface="Calibri" pitchFamily="34" charset="-122"/>
                          <a:cs typeface="Calibri" pitchFamily="34" charset="-120"/>
                        </a:rPr>
                        <a:t>Position RMSE ↓</a:t>
                      </a:r>
                      <a:endParaRPr lang="en-US" sz="950" dirty="0">
                        <a:latin typeface="Calibri" charset="0"/>
                        <a:ea typeface="Calibri" charset="0"/>
                        <a:cs typeface="Calibri" charset="0"/>
                      </a:endParaRPr>
                    </a:p>
                  </a:txBody>
                  <a:tcP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marL="0" indent="0">
                        <a:buNone/>
                      </a:pPr>
                      <a:r>
                        <a:rPr lang="en-US" sz="950" dirty="0">
                          <a:solidFill>
                            <a:srgbClr val="000000"/>
                          </a:solidFill>
                          <a:latin typeface="Calibri" pitchFamily="34" charset="0"/>
                          <a:ea typeface="Calibri" pitchFamily="34" charset="-122"/>
                          <a:cs typeface="Calibri" pitchFamily="34" charset="-120"/>
                        </a:rPr>
                        <a:t>3.149</a:t>
                      </a:r>
                      <a:endParaRPr lang="en-US" sz="950" dirty="0">
                        <a:latin typeface="Calibri" charset="0"/>
                        <a:ea typeface="Calibri" charset="0"/>
                        <a:cs typeface="Calibri" charset="0"/>
                      </a:endParaRPr>
                    </a:p>
                  </a:txBody>
                  <a:tcP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marL="0" indent="0">
                        <a:buNone/>
                      </a:pPr>
                      <a:r>
                        <a:rPr lang="en-US" sz="950" dirty="0">
                          <a:solidFill>
                            <a:srgbClr val="000000"/>
                          </a:solidFill>
                          <a:latin typeface="Calibri" pitchFamily="34" charset="0"/>
                          <a:ea typeface="Calibri" pitchFamily="34" charset="-122"/>
                          <a:cs typeface="Calibri" pitchFamily="34" charset="-120"/>
                        </a:rPr>
                        <a:t>3.051</a:t>
                      </a:r>
                      <a:endParaRPr lang="en-US" sz="950" dirty="0">
                        <a:latin typeface="Calibri" charset="0"/>
                        <a:ea typeface="Calibri" charset="0"/>
                        <a:cs typeface="Calibri" charset="0"/>
                      </a:endParaRPr>
                    </a:p>
                  </a:txBody>
                  <a:tcP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marL="0" indent="0">
                        <a:buNone/>
                      </a:pPr>
                      <a:r>
                        <a:rPr lang="en-US" sz="950" b="1" dirty="0">
                          <a:solidFill>
                            <a:srgbClr val="7C3AED"/>
                          </a:solidFill>
                          <a:latin typeface="Calibri" pitchFamily="34" charset="0"/>
                          <a:ea typeface="Calibri" pitchFamily="34" charset="-122"/>
                          <a:cs typeface="Calibri" pitchFamily="34" charset="-120"/>
                        </a:rPr>
                        <a:t>2.980 ✓</a:t>
                      </a:r>
                      <a:endParaRPr lang="en-US" sz="950" dirty="0">
                        <a:latin typeface="Calibri" charset="0"/>
                        <a:ea typeface="Calibri" charset="0"/>
                        <a:cs typeface="Calibri" charset="0"/>
                      </a:endParaRPr>
                    </a:p>
                  </a:txBody>
                  <a:tcP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marL="0" indent="0">
                        <a:buNone/>
                      </a:pPr>
                      <a:r>
                        <a:rPr lang="en-US" sz="950" dirty="0">
                          <a:solidFill>
                            <a:srgbClr val="000000"/>
                          </a:solidFill>
                          <a:latin typeface="Calibri" pitchFamily="34" charset="0"/>
                          <a:ea typeface="Calibri" pitchFamily="34" charset="-122"/>
                          <a:cs typeface="Calibri" pitchFamily="34" charset="-120"/>
                        </a:rPr>
                        <a:t>XGBoost</a:t>
                      </a:r>
                      <a:endParaRPr lang="en-US" sz="950" dirty="0">
                        <a:latin typeface="Calibri" charset="0"/>
                        <a:ea typeface="Calibri" charset="0"/>
                        <a:cs typeface="Calibri" charset="0"/>
                      </a:endParaRPr>
                    </a:p>
                  </a:txBody>
                  <a:tcP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extLst>
                  <a:ext uri="{0D108BD9-81ED-4DB2-BD59-A6C34878D82A}">
                    <a16:rowId xmlns:a16="http://schemas.microsoft.com/office/drawing/2014/main" val="10002"/>
                  </a:ext>
                </a:extLst>
              </a:tr>
              <a:tr h="292608">
                <a:tc>
                  <a:txBody>
                    <a:bodyPr/>
                    <a:lstStyle/>
                    <a:p>
                      <a:pPr marL="0" indent="0">
                        <a:buNone/>
                      </a:pPr>
                      <a:r>
                        <a:rPr lang="en-US" sz="950" dirty="0">
                          <a:solidFill>
                            <a:srgbClr val="000000"/>
                          </a:solidFill>
                          <a:latin typeface="Calibri" pitchFamily="34" charset="0"/>
                          <a:ea typeface="Calibri" pitchFamily="34" charset="-122"/>
                          <a:cs typeface="Calibri" pitchFamily="34" charset="-120"/>
                        </a:rPr>
                        <a:t>Position R²</a:t>
                      </a:r>
                      <a:endParaRPr lang="en-US" sz="950" dirty="0">
                        <a:latin typeface="Calibri" charset="0"/>
                        <a:ea typeface="Calibri" charset="0"/>
                        <a:cs typeface="Calibri" charset="0"/>
                      </a:endParaRPr>
                    </a:p>
                  </a:txBody>
                  <a:tcP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marL="0" indent="0">
                        <a:buNone/>
                      </a:pPr>
                      <a:r>
                        <a:rPr lang="en-US" sz="950" dirty="0">
                          <a:solidFill>
                            <a:srgbClr val="000000"/>
                          </a:solidFill>
                          <a:latin typeface="Calibri" pitchFamily="34" charset="0"/>
                          <a:ea typeface="Calibri" pitchFamily="34" charset="-122"/>
                          <a:cs typeface="Calibri" pitchFamily="34" charset="-120"/>
                        </a:rPr>
                        <a:t>0.709</a:t>
                      </a:r>
                      <a:endParaRPr lang="en-US" sz="950" dirty="0">
                        <a:latin typeface="Calibri" charset="0"/>
                        <a:ea typeface="Calibri" charset="0"/>
                        <a:cs typeface="Calibri" charset="0"/>
                      </a:endParaRPr>
                    </a:p>
                  </a:txBody>
                  <a:tcP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marL="0" indent="0">
                        <a:buNone/>
                      </a:pPr>
                      <a:r>
                        <a:rPr lang="en-US" sz="950" dirty="0">
                          <a:solidFill>
                            <a:srgbClr val="000000"/>
                          </a:solidFill>
                          <a:latin typeface="Calibri" pitchFamily="34" charset="0"/>
                          <a:ea typeface="Calibri" pitchFamily="34" charset="-122"/>
                          <a:cs typeface="Calibri" pitchFamily="34" charset="-120"/>
                        </a:rPr>
                        <a:t>0.727</a:t>
                      </a:r>
                      <a:endParaRPr lang="en-US" sz="950" dirty="0">
                        <a:latin typeface="Calibri" charset="0"/>
                        <a:ea typeface="Calibri" charset="0"/>
                        <a:cs typeface="Calibri" charset="0"/>
                      </a:endParaRPr>
                    </a:p>
                  </a:txBody>
                  <a:tcP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marL="0" indent="0">
                        <a:buNone/>
                      </a:pPr>
                      <a:r>
                        <a:rPr lang="en-US" sz="950" b="1" dirty="0">
                          <a:solidFill>
                            <a:srgbClr val="7C3AED"/>
                          </a:solidFill>
                          <a:latin typeface="Calibri" pitchFamily="34" charset="0"/>
                          <a:ea typeface="Calibri" pitchFamily="34" charset="-122"/>
                          <a:cs typeface="Calibri" pitchFamily="34" charset="-120"/>
                        </a:rPr>
                        <a:t>0.740 ✓</a:t>
                      </a:r>
                      <a:endParaRPr lang="en-US" sz="950" dirty="0">
                        <a:latin typeface="Calibri" charset="0"/>
                        <a:ea typeface="Calibri" charset="0"/>
                        <a:cs typeface="Calibri" charset="0"/>
                      </a:endParaRPr>
                    </a:p>
                  </a:txBody>
                  <a:tcP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marL="0" indent="0">
                        <a:buNone/>
                      </a:pPr>
                      <a:r>
                        <a:rPr lang="en-US" sz="950" dirty="0">
                          <a:solidFill>
                            <a:srgbClr val="000000"/>
                          </a:solidFill>
                          <a:latin typeface="Calibri" pitchFamily="34" charset="0"/>
                          <a:ea typeface="Calibri" pitchFamily="34" charset="-122"/>
                          <a:cs typeface="Calibri" pitchFamily="34" charset="-120"/>
                        </a:rPr>
                        <a:t>XGBoost</a:t>
                      </a:r>
                      <a:endParaRPr lang="en-US" sz="950" dirty="0">
                        <a:latin typeface="Calibri" charset="0"/>
                        <a:ea typeface="Calibri" charset="0"/>
                        <a:cs typeface="Calibri" charset="0"/>
                      </a:endParaRPr>
                    </a:p>
                  </a:txBody>
                  <a:tcP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extLst>
                  <a:ext uri="{0D108BD9-81ED-4DB2-BD59-A6C34878D82A}">
                    <a16:rowId xmlns:a16="http://schemas.microsoft.com/office/drawing/2014/main" val="10003"/>
                  </a:ext>
                </a:extLst>
              </a:tr>
              <a:tr h="292608">
                <a:tc>
                  <a:txBody>
                    <a:bodyPr/>
                    <a:lstStyle/>
                    <a:p>
                      <a:pPr marL="0" indent="0">
                        <a:buNone/>
                      </a:pPr>
                      <a:r>
                        <a:rPr lang="en-US" sz="950" dirty="0">
                          <a:solidFill>
                            <a:srgbClr val="000000"/>
                          </a:solidFill>
                          <a:latin typeface="Calibri" pitchFamily="34" charset="0"/>
                          <a:ea typeface="Calibri" pitchFamily="34" charset="-122"/>
                          <a:cs typeface="Calibri" pitchFamily="34" charset="-120"/>
                        </a:rPr>
                        <a:t>Podium Accuracy</a:t>
                      </a:r>
                      <a:endParaRPr lang="en-US" sz="950" dirty="0">
                        <a:latin typeface="Calibri" charset="0"/>
                        <a:ea typeface="Calibri" charset="0"/>
                        <a:cs typeface="Calibri" charset="0"/>
                      </a:endParaRPr>
                    </a:p>
                  </a:txBody>
                  <a:tcP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marL="0" indent="0">
                        <a:buNone/>
                      </a:pPr>
                      <a:r>
                        <a:rPr lang="en-US" sz="950" dirty="0">
                          <a:solidFill>
                            <a:srgbClr val="000000"/>
                          </a:solidFill>
                          <a:latin typeface="Calibri" pitchFamily="34" charset="0"/>
                          <a:ea typeface="Calibri" pitchFamily="34" charset="-122"/>
                          <a:cs typeface="Calibri" pitchFamily="34" charset="-120"/>
                        </a:rPr>
                        <a:t>92.8%</a:t>
                      </a:r>
                      <a:endParaRPr lang="en-US" sz="950" dirty="0">
                        <a:latin typeface="Calibri" charset="0"/>
                        <a:ea typeface="Calibri" charset="0"/>
                        <a:cs typeface="Calibri" charset="0"/>
                      </a:endParaRPr>
                    </a:p>
                  </a:txBody>
                  <a:tcP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marL="0" indent="0">
                        <a:buNone/>
                      </a:pPr>
                      <a:r>
                        <a:rPr lang="en-US" sz="950" b="1" dirty="0">
                          <a:solidFill>
                            <a:srgbClr val="059669"/>
                          </a:solidFill>
                          <a:latin typeface="Calibri" pitchFamily="34" charset="0"/>
                          <a:ea typeface="Calibri" pitchFamily="34" charset="-122"/>
                          <a:cs typeface="Calibri" pitchFamily="34" charset="-120"/>
                        </a:rPr>
                        <a:t>93.4% ✓</a:t>
                      </a:r>
                      <a:endParaRPr lang="en-US" sz="950" dirty="0">
                        <a:latin typeface="Calibri" charset="0"/>
                        <a:ea typeface="Calibri" charset="0"/>
                        <a:cs typeface="Calibri" charset="0"/>
                      </a:endParaRPr>
                    </a:p>
                  </a:txBody>
                  <a:tcP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marL="0" indent="0">
                        <a:buNone/>
                      </a:pPr>
                      <a:r>
                        <a:rPr lang="en-US" sz="950" dirty="0">
                          <a:solidFill>
                            <a:srgbClr val="000000"/>
                          </a:solidFill>
                          <a:latin typeface="Calibri" pitchFamily="34" charset="0"/>
                          <a:ea typeface="Calibri" pitchFamily="34" charset="-122"/>
                          <a:cs typeface="Calibri" pitchFamily="34" charset="-120"/>
                        </a:rPr>
                        <a:t>93.0%</a:t>
                      </a:r>
                      <a:endParaRPr lang="en-US" sz="950" dirty="0">
                        <a:latin typeface="Calibri" charset="0"/>
                        <a:ea typeface="Calibri" charset="0"/>
                        <a:cs typeface="Calibri" charset="0"/>
                      </a:endParaRPr>
                    </a:p>
                  </a:txBody>
                  <a:tcP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marL="0" indent="0">
                        <a:buNone/>
                      </a:pPr>
                      <a:r>
                        <a:rPr lang="en-US" sz="950" dirty="0">
                          <a:solidFill>
                            <a:srgbClr val="000000"/>
                          </a:solidFill>
                          <a:latin typeface="Calibri" pitchFamily="34" charset="0"/>
                          <a:ea typeface="Calibri" pitchFamily="34" charset="-122"/>
                          <a:cs typeface="Calibri" pitchFamily="34" charset="-120"/>
                        </a:rPr>
                        <a:t>Grad Boost</a:t>
                      </a:r>
                      <a:endParaRPr lang="en-US" sz="950" dirty="0">
                        <a:latin typeface="Calibri" charset="0"/>
                        <a:ea typeface="Calibri" charset="0"/>
                        <a:cs typeface="Calibri" charset="0"/>
                      </a:endParaRPr>
                    </a:p>
                  </a:txBody>
                  <a:tcP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extLst>
                  <a:ext uri="{0D108BD9-81ED-4DB2-BD59-A6C34878D82A}">
                    <a16:rowId xmlns:a16="http://schemas.microsoft.com/office/drawing/2014/main" val="10004"/>
                  </a:ext>
                </a:extLst>
              </a:tr>
              <a:tr h="292608">
                <a:tc>
                  <a:txBody>
                    <a:bodyPr/>
                    <a:lstStyle/>
                    <a:p>
                      <a:pPr marL="0" indent="0">
                        <a:buNone/>
                      </a:pPr>
                      <a:r>
                        <a:rPr lang="en-US" sz="950" dirty="0">
                          <a:solidFill>
                            <a:srgbClr val="000000"/>
                          </a:solidFill>
                          <a:latin typeface="Calibri" pitchFamily="34" charset="0"/>
                          <a:ea typeface="Calibri" pitchFamily="34" charset="-122"/>
                          <a:cs typeface="Calibri" pitchFamily="34" charset="-120"/>
                        </a:rPr>
                        <a:t>Podium F1 Score ↑</a:t>
                      </a:r>
                      <a:endParaRPr lang="en-US" sz="950" dirty="0">
                        <a:latin typeface="Calibri" charset="0"/>
                        <a:ea typeface="Calibri" charset="0"/>
                        <a:cs typeface="Calibri" charset="0"/>
                      </a:endParaRPr>
                    </a:p>
                  </a:txBody>
                  <a:tcP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marL="0" indent="0">
                        <a:buNone/>
                      </a:pPr>
                      <a:r>
                        <a:rPr lang="en-US" sz="950" dirty="0">
                          <a:solidFill>
                            <a:srgbClr val="000000"/>
                          </a:solidFill>
                          <a:latin typeface="Calibri" pitchFamily="34" charset="0"/>
                          <a:ea typeface="Calibri" pitchFamily="34" charset="-122"/>
                          <a:cs typeface="Calibri" pitchFamily="34" charset="-120"/>
                        </a:rPr>
                        <a:t>0.766</a:t>
                      </a:r>
                      <a:endParaRPr lang="en-US" sz="950" dirty="0">
                        <a:latin typeface="Calibri" charset="0"/>
                        <a:ea typeface="Calibri" charset="0"/>
                        <a:cs typeface="Calibri" charset="0"/>
                      </a:endParaRPr>
                    </a:p>
                  </a:txBody>
                  <a:tcP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marL="0" indent="0">
                        <a:buNone/>
                      </a:pPr>
                      <a:r>
                        <a:rPr lang="en-US" sz="950" b="1" dirty="0">
                          <a:solidFill>
                            <a:srgbClr val="059669"/>
                          </a:solidFill>
                          <a:latin typeface="Calibri" pitchFamily="34" charset="0"/>
                          <a:ea typeface="Calibri" pitchFamily="34" charset="-122"/>
                          <a:cs typeface="Calibri" pitchFamily="34" charset="-120"/>
                        </a:rPr>
                        <a:t>0.780 ✓</a:t>
                      </a:r>
                      <a:endParaRPr lang="en-US" sz="950" dirty="0">
                        <a:latin typeface="Calibri" charset="0"/>
                        <a:ea typeface="Calibri" charset="0"/>
                        <a:cs typeface="Calibri" charset="0"/>
                      </a:endParaRPr>
                    </a:p>
                  </a:txBody>
                  <a:tcP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marL="0" indent="0">
                        <a:buNone/>
                      </a:pPr>
                      <a:r>
                        <a:rPr lang="en-US" sz="950" dirty="0">
                          <a:solidFill>
                            <a:srgbClr val="000000"/>
                          </a:solidFill>
                          <a:latin typeface="Calibri" pitchFamily="34" charset="0"/>
                          <a:ea typeface="Calibri" pitchFamily="34" charset="-122"/>
                          <a:cs typeface="Calibri" pitchFamily="34" charset="-120"/>
                        </a:rPr>
                        <a:t>0.771</a:t>
                      </a:r>
                      <a:endParaRPr lang="en-US" sz="950" dirty="0">
                        <a:latin typeface="Calibri" charset="0"/>
                        <a:ea typeface="Calibri" charset="0"/>
                        <a:cs typeface="Calibri" charset="0"/>
                      </a:endParaRPr>
                    </a:p>
                  </a:txBody>
                  <a:tcP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marL="0" indent="0">
                        <a:buNone/>
                      </a:pPr>
                      <a:r>
                        <a:rPr lang="en-US" sz="950" dirty="0">
                          <a:solidFill>
                            <a:srgbClr val="000000"/>
                          </a:solidFill>
                          <a:latin typeface="Calibri" pitchFamily="34" charset="0"/>
                          <a:ea typeface="Calibri" pitchFamily="34" charset="-122"/>
                          <a:cs typeface="Calibri" pitchFamily="34" charset="-120"/>
                        </a:rPr>
                        <a:t>Grad Boost</a:t>
                      </a:r>
                      <a:endParaRPr lang="en-US" sz="950" dirty="0">
                        <a:latin typeface="Calibri" charset="0"/>
                        <a:ea typeface="Calibri" charset="0"/>
                        <a:cs typeface="Calibri" charset="0"/>
                      </a:endParaRPr>
                    </a:p>
                  </a:txBody>
                  <a:tcP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extLst>
                  <a:ext uri="{0D108BD9-81ED-4DB2-BD59-A6C34878D82A}">
                    <a16:rowId xmlns:a16="http://schemas.microsoft.com/office/drawing/2014/main" val="10005"/>
                  </a:ext>
                </a:extLst>
              </a:tr>
              <a:tr h="292608">
                <a:tc>
                  <a:txBody>
                    <a:bodyPr/>
                    <a:lstStyle/>
                    <a:p>
                      <a:pPr marL="0" indent="0">
                        <a:buNone/>
                      </a:pPr>
                      <a:r>
                        <a:rPr lang="en-US" sz="950" dirty="0">
                          <a:solidFill>
                            <a:srgbClr val="000000"/>
                          </a:solidFill>
                          <a:latin typeface="Calibri" pitchFamily="34" charset="0"/>
                          <a:ea typeface="Calibri" pitchFamily="34" charset="-122"/>
                          <a:cs typeface="Calibri" pitchFamily="34" charset="-120"/>
                        </a:rPr>
                        <a:t>Winner Accuracy ↑</a:t>
                      </a:r>
                      <a:endParaRPr lang="en-US" sz="950" dirty="0">
                        <a:latin typeface="Calibri" charset="0"/>
                        <a:ea typeface="Calibri" charset="0"/>
                        <a:cs typeface="Calibri" charset="0"/>
                      </a:endParaRPr>
                    </a:p>
                  </a:txBody>
                  <a:tcP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marL="0" indent="0">
                        <a:buNone/>
                      </a:pPr>
                      <a:r>
                        <a:rPr lang="en-US" sz="950" dirty="0">
                          <a:solidFill>
                            <a:srgbClr val="000000"/>
                          </a:solidFill>
                          <a:latin typeface="Calibri" pitchFamily="34" charset="0"/>
                          <a:ea typeface="Calibri" pitchFamily="34" charset="-122"/>
                          <a:cs typeface="Calibri" pitchFamily="34" charset="-120"/>
                        </a:rPr>
                        <a:t>74.1%</a:t>
                      </a:r>
                      <a:endParaRPr lang="en-US" sz="950" dirty="0">
                        <a:latin typeface="Calibri" charset="0"/>
                        <a:ea typeface="Calibri" charset="0"/>
                        <a:cs typeface="Calibri" charset="0"/>
                      </a:endParaRPr>
                    </a:p>
                  </a:txBody>
                  <a:tcP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marL="0" indent="0">
                        <a:buNone/>
                      </a:pPr>
                      <a:r>
                        <a:rPr lang="en-US" sz="950" b="1" dirty="0">
                          <a:solidFill>
                            <a:srgbClr val="059669"/>
                          </a:solidFill>
                          <a:latin typeface="Calibri" pitchFamily="34" charset="0"/>
                          <a:ea typeface="Calibri" pitchFamily="34" charset="-122"/>
                          <a:cs typeface="Calibri" pitchFamily="34" charset="-120"/>
                        </a:rPr>
                        <a:t>77.8% ✓</a:t>
                      </a:r>
                      <a:endParaRPr lang="en-US" sz="950" dirty="0">
                        <a:latin typeface="Calibri" charset="0"/>
                        <a:ea typeface="Calibri" charset="0"/>
                        <a:cs typeface="Calibri" charset="0"/>
                      </a:endParaRPr>
                    </a:p>
                  </a:txBody>
                  <a:tcP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marL="0" indent="0">
                        <a:buNone/>
                      </a:pPr>
                      <a:r>
                        <a:rPr lang="en-US" sz="950" dirty="0">
                          <a:solidFill>
                            <a:srgbClr val="000000"/>
                          </a:solidFill>
                          <a:latin typeface="Calibri" pitchFamily="34" charset="0"/>
                          <a:ea typeface="Calibri" pitchFamily="34" charset="-122"/>
                          <a:cs typeface="Calibri" pitchFamily="34" charset="-120"/>
                        </a:rPr>
                        <a:t>74.1%</a:t>
                      </a:r>
                      <a:endParaRPr lang="en-US" sz="950" dirty="0">
                        <a:latin typeface="Calibri" charset="0"/>
                        <a:ea typeface="Calibri" charset="0"/>
                        <a:cs typeface="Calibri" charset="0"/>
                      </a:endParaRPr>
                    </a:p>
                  </a:txBody>
                  <a:tcP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marL="0" indent="0">
                        <a:buNone/>
                      </a:pPr>
                      <a:r>
                        <a:rPr lang="en-US" sz="950" dirty="0">
                          <a:solidFill>
                            <a:srgbClr val="000000"/>
                          </a:solidFill>
                          <a:latin typeface="Calibri" pitchFamily="34" charset="0"/>
                          <a:ea typeface="Calibri" pitchFamily="34" charset="-122"/>
                          <a:cs typeface="Calibri" pitchFamily="34" charset="-120"/>
                        </a:rPr>
                        <a:t>Grad Boost</a:t>
                      </a:r>
                      <a:endParaRPr lang="en-US" sz="950" dirty="0">
                        <a:latin typeface="Calibri" charset="0"/>
                        <a:ea typeface="Calibri" charset="0"/>
                        <a:cs typeface="Calibri" charset="0"/>
                      </a:endParaRPr>
                    </a:p>
                  </a:txBody>
                  <a:tcP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extLst>
                  <a:ext uri="{0D108BD9-81ED-4DB2-BD59-A6C34878D82A}">
                    <a16:rowId xmlns:a16="http://schemas.microsoft.com/office/drawing/2014/main" val="10006"/>
                  </a:ext>
                </a:extLst>
              </a:tr>
              <a:tr h="292608">
                <a:tc>
                  <a:txBody>
                    <a:bodyPr/>
                    <a:lstStyle/>
                    <a:p>
                      <a:pPr marL="0" indent="0">
                        <a:buNone/>
                      </a:pPr>
                      <a:r>
                        <a:rPr lang="en-US" sz="950" dirty="0">
                          <a:solidFill>
                            <a:srgbClr val="000000"/>
                          </a:solidFill>
                          <a:latin typeface="Calibri" pitchFamily="34" charset="0"/>
                          <a:ea typeface="Calibri" pitchFamily="34" charset="-122"/>
                          <a:cs typeface="Calibri" pitchFamily="34" charset="-120"/>
                        </a:rPr>
                        <a:t>Top-3 Accuracy</a:t>
                      </a:r>
                      <a:endParaRPr lang="en-US" sz="950" dirty="0">
                        <a:latin typeface="Calibri" charset="0"/>
                        <a:ea typeface="Calibri" charset="0"/>
                        <a:cs typeface="Calibri" charset="0"/>
                      </a:endParaRPr>
                    </a:p>
                  </a:txBody>
                  <a:tcP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marL="0" indent="0">
                        <a:buNone/>
                      </a:pPr>
                      <a:r>
                        <a:rPr lang="en-US" sz="950" dirty="0">
                          <a:solidFill>
                            <a:srgbClr val="000000"/>
                          </a:solidFill>
                          <a:latin typeface="Calibri" pitchFamily="34" charset="0"/>
                          <a:ea typeface="Calibri" pitchFamily="34" charset="-122"/>
                          <a:cs typeface="Calibri" pitchFamily="34" charset="-120"/>
                        </a:rPr>
                        <a:t>100%</a:t>
                      </a:r>
                      <a:endParaRPr lang="en-US" sz="950" dirty="0">
                        <a:latin typeface="Calibri" charset="0"/>
                        <a:ea typeface="Calibri" charset="0"/>
                        <a:cs typeface="Calibri" charset="0"/>
                      </a:endParaRPr>
                    </a:p>
                  </a:txBody>
                  <a:tcP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marL="0" indent="0">
                        <a:buNone/>
                      </a:pPr>
                      <a:r>
                        <a:rPr lang="en-US" sz="950" dirty="0">
                          <a:solidFill>
                            <a:srgbClr val="000000"/>
                          </a:solidFill>
                          <a:latin typeface="Calibri" pitchFamily="34" charset="0"/>
                          <a:ea typeface="Calibri" pitchFamily="34" charset="-122"/>
                          <a:cs typeface="Calibri" pitchFamily="34" charset="-120"/>
                        </a:rPr>
                        <a:t>100%</a:t>
                      </a:r>
                      <a:endParaRPr lang="en-US" sz="950" dirty="0">
                        <a:latin typeface="Calibri" charset="0"/>
                        <a:ea typeface="Calibri" charset="0"/>
                        <a:cs typeface="Calibri" charset="0"/>
                      </a:endParaRPr>
                    </a:p>
                  </a:txBody>
                  <a:tcP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marL="0" indent="0">
                        <a:buNone/>
                      </a:pPr>
                      <a:r>
                        <a:rPr lang="en-US" sz="950" dirty="0">
                          <a:solidFill>
                            <a:srgbClr val="000000"/>
                          </a:solidFill>
                          <a:latin typeface="Calibri" pitchFamily="34" charset="0"/>
                          <a:ea typeface="Calibri" pitchFamily="34" charset="-122"/>
                          <a:cs typeface="Calibri" pitchFamily="34" charset="-120"/>
                        </a:rPr>
                        <a:t>100%</a:t>
                      </a:r>
                      <a:endParaRPr lang="en-US" sz="950" dirty="0">
                        <a:latin typeface="Calibri" charset="0"/>
                        <a:ea typeface="Calibri" charset="0"/>
                        <a:cs typeface="Calibri" charset="0"/>
                      </a:endParaRPr>
                    </a:p>
                  </a:txBody>
                  <a:tcP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marL="0" indent="0">
                        <a:buNone/>
                      </a:pPr>
                      <a:r>
                        <a:rPr lang="en-US" sz="950" dirty="0">
                          <a:solidFill>
                            <a:srgbClr val="000000"/>
                          </a:solidFill>
                          <a:latin typeface="Calibri" pitchFamily="34" charset="0"/>
                          <a:ea typeface="Calibri" pitchFamily="34" charset="-122"/>
                          <a:cs typeface="Calibri" pitchFamily="34" charset="-120"/>
                        </a:rPr>
                        <a:t>ALL tied</a:t>
                      </a:r>
                      <a:endParaRPr lang="en-US" sz="950" dirty="0">
                        <a:latin typeface="Calibri" charset="0"/>
                        <a:ea typeface="Calibri" charset="0"/>
                        <a:cs typeface="Calibri" charset="0"/>
                      </a:endParaRPr>
                    </a:p>
                  </a:txBody>
                  <a:tcP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extLst>
                  <a:ext uri="{0D108BD9-81ED-4DB2-BD59-A6C34878D82A}">
                    <a16:rowId xmlns:a16="http://schemas.microsoft.com/office/drawing/2014/main" val="10007"/>
                  </a:ext>
                </a:extLst>
              </a:tr>
            </a:tbl>
          </a:graphicData>
        </a:graphic>
      </p:graphicFrame>
      <p:sp>
        <p:nvSpPr>
          <p:cNvPr id="8" name="Shape 5"/>
          <p:cNvSpPr/>
          <p:nvPr/>
        </p:nvSpPr>
        <p:spPr>
          <a:xfrm>
            <a:off x="365760" y="3474720"/>
            <a:ext cx="8321040" cy="1005840"/>
          </a:xfrm>
          <a:prstGeom prst="rect">
            <a:avLst/>
          </a:prstGeom>
          <a:solidFill>
            <a:srgbClr val="E6F4EA"/>
          </a:solidFill>
          <a:ln/>
          <a:effectLst>
            <a:outerShdw blurRad="50800" dist="25400" dir="8100000" algn="bl" rotWithShape="0">
              <a:srgbClr val="000000">
                <a:alpha val="10000"/>
              </a:srgbClr>
            </a:outerShdw>
          </a:effectLst>
        </p:spPr>
        <p:txBody>
          <a:bodyPr/>
          <a:lstStyle/>
          <a:p>
            <a:endParaRPr lang="en-US"/>
          </a:p>
        </p:txBody>
      </p:sp>
      <p:sp>
        <p:nvSpPr>
          <p:cNvPr id="9" name="Text 6"/>
          <p:cNvSpPr/>
          <p:nvPr/>
        </p:nvSpPr>
        <p:spPr>
          <a:xfrm>
            <a:off x="548640" y="3520440"/>
            <a:ext cx="8046720" cy="228600"/>
          </a:xfrm>
          <a:prstGeom prst="rect">
            <a:avLst/>
          </a:prstGeom>
          <a:noFill/>
          <a:ln/>
        </p:spPr>
        <p:txBody>
          <a:bodyPr wrap="square" lIns="0" tIns="0" rIns="0" bIns="0" rtlCol="0" anchor="ctr"/>
          <a:lstStyle/>
          <a:p>
            <a:pPr marL="0" indent="0">
              <a:buNone/>
            </a:pPr>
            <a:r>
              <a:rPr lang="en-US" sz="1100" b="1" dirty="0">
                <a:solidFill>
                  <a:srgbClr val="059669"/>
                </a:solidFill>
                <a:latin typeface="Georgia" pitchFamily="34" charset="0"/>
                <a:ea typeface="Georgia" pitchFamily="34" charset="-122"/>
                <a:cs typeface="Georgia" pitchFamily="34" charset="-120"/>
              </a:rPr>
              <a:t>Key Findings:</a:t>
            </a:r>
            <a:endParaRPr lang="en-US" sz="1100" dirty="0"/>
          </a:p>
        </p:txBody>
      </p:sp>
      <p:sp>
        <p:nvSpPr>
          <p:cNvPr id="10" name="Text 7"/>
          <p:cNvSpPr/>
          <p:nvPr/>
        </p:nvSpPr>
        <p:spPr>
          <a:xfrm>
            <a:off x="548640" y="3749040"/>
            <a:ext cx="8046720" cy="685800"/>
          </a:xfrm>
          <a:prstGeom prst="rect">
            <a:avLst/>
          </a:prstGeom>
          <a:noFill/>
          <a:ln/>
        </p:spPr>
        <p:txBody>
          <a:bodyPr wrap="square" lIns="0" tIns="0" rIns="0" bIns="0" rtlCol="0" anchor="ctr"/>
          <a:lstStyle/>
          <a:p>
            <a:pPr marL="0" indent="0">
              <a:buNone/>
            </a:pPr>
            <a:r>
              <a:rPr lang="en-US" sz="950" dirty="0">
                <a:solidFill>
                  <a:srgbClr val="444444"/>
                </a:solidFill>
                <a:latin typeface="Calibri" pitchFamily="34" charset="0"/>
                <a:ea typeface="Calibri" pitchFamily="34" charset="-122"/>
                <a:cs typeface="Calibri" pitchFamily="34" charset="-120"/>
              </a:rPr>
              <a:t>• No single model wins everything — XGBoost for position, Gradient Boosting for winner/podium</a:t>
            </a:r>
            <a:endParaRPr lang="en-US" sz="950" dirty="0"/>
          </a:p>
          <a:p>
            <a:pPr marL="0" indent="0">
              <a:buNone/>
            </a:pPr>
            <a:r>
              <a:rPr lang="en-US" sz="950" dirty="0">
                <a:solidFill>
                  <a:srgbClr val="444444"/>
                </a:solidFill>
                <a:latin typeface="Calibri" pitchFamily="34" charset="0"/>
                <a:ea typeface="Calibri" pitchFamily="34" charset="-122"/>
                <a:cs typeface="Calibri" pitchFamily="34" charset="-120"/>
              </a:rPr>
              <a:t>• ALL 3 models achieve 100% top-3 accuracy — the actual winner is ALWAYS in the top 3 predictions</a:t>
            </a:r>
            <a:endParaRPr lang="en-US" sz="950" dirty="0"/>
          </a:p>
          <a:p>
            <a:pPr marL="0" indent="0">
              <a:buNone/>
            </a:pPr>
            <a:r>
              <a:rPr lang="en-US" sz="950" dirty="0">
                <a:solidFill>
                  <a:srgbClr val="444444"/>
                </a:solidFill>
                <a:latin typeface="Calibri" pitchFamily="34" charset="0"/>
                <a:ea typeface="Calibri" pitchFamily="34" charset="-122"/>
                <a:cs typeface="Calibri" pitchFamily="34" charset="-120"/>
              </a:rPr>
              <a:t>• Gradient Boosting correctly predicted 21 out of 27 race winners (77.8%)</a:t>
            </a:r>
            <a:endParaRPr lang="en-US" sz="950" dirty="0"/>
          </a:p>
          <a:p>
            <a:pPr marL="0" indent="0">
              <a:buNone/>
            </a:pPr>
            <a:r>
              <a:rPr lang="en-US" sz="950" dirty="0">
                <a:solidFill>
                  <a:srgbClr val="444444"/>
                </a:solidFill>
                <a:latin typeface="Calibri" pitchFamily="34" charset="0"/>
                <a:ea typeface="Calibri" pitchFamily="34" charset="-122"/>
                <a:cs typeface="Calibri" pitchFamily="34" charset="-120"/>
              </a:rPr>
              <a:t>• R² of 0.740 means the model explains 74% of variance in finishing positions</a:t>
            </a:r>
            <a:endParaRPr lang="en-US" sz="950" dirty="0"/>
          </a:p>
        </p:txBody>
      </p:sp>
      <p:sp>
        <p:nvSpPr>
          <p:cNvPr id="11" name="Text 8"/>
          <p:cNvSpPr/>
          <p:nvPr/>
        </p:nvSpPr>
        <p:spPr>
          <a:xfrm>
            <a:off x="457200" y="4709160"/>
            <a:ext cx="6400800" cy="365760"/>
          </a:xfrm>
          <a:prstGeom prst="rect">
            <a:avLst/>
          </a:prstGeom>
          <a:noFill/>
          <a:ln/>
        </p:spPr>
        <p:txBody>
          <a:bodyPr wrap="square" rtlCol="0" anchor="ctr"/>
          <a:lstStyle/>
          <a:p>
            <a:pPr marL="0" indent="0">
              <a:buNone/>
            </a:pPr>
            <a:r>
              <a:rPr lang="en-US" sz="900" dirty="0">
                <a:solidFill>
                  <a:srgbClr val="949594"/>
                </a:solidFill>
                <a:latin typeface="Calibri" pitchFamily="34" charset="0"/>
                <a:ea typeface="Calibri" pitchFamily="34" charset="-122"/>
                <a:cs typeface="Calibri" pitchFamily="34" charset="-120"/>
              </a:rPr>
              <a:t>Speaker 2 — Data &amp; ML Models</a:t>
            </a:r>
            <a:endParaRPr lang="en-US" sz="900" dirty="0"/>
          </a:p>
        </p:txBody>
      </p:sp>
      <p:sp>
        <p:nvSpPr>
          <p:cNvPr id="12" name="Text 9"/>
          <p:cNvSpPr/>
          <p:nvPr/>
        </p:nvSpPr>
        <p:spPr>
          <a:xfrm>
            <a:off x="8412480" y="4709160"/>
            <a:ext cx="548640" cy="365760"/>
          </a:xfrm>
          <a:prstGeom prst="rect">
            <a:avLst/>
          </a:prstGeom>
          <a:noFill/>
          <a:ln/>
        </p:spPr>
        <p:txBody>
          <a:bodyPr wrap="square" rtlCol="0" anchor="ctr"/>
          <a:lstStyle/>
          <a:p>
            <a:pPr marL="0" indent="0" algn="r">
              <a:buNone/>
            </a:pPr>
            <a:r>
              <a:rPr lang="en-US" sz="900" dirty="0">
                <a:solidFill>
                  <a:srgbClr val="949594"/>
                </a:solidFill>
                <a:latin typeface="Calibri" pitchFamily="34" charset="0"/>
                <a:ea typeface="Calibri" pitchFamily="34" charset="-122"/>
                <a:cs typeface="Calibri" pitchFamily="34" charset="-120"/>
              </a:rPr>
              <a:t>16</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5F5F5"/>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C41E1E"/>
          </a:solidFill>
          <a:ln/>
        </p:spPr>
        <p:txBody>
          <a:bodyPr/>
          <a:lstStyle/>
          <a:p>
            <a:endParaRPr lang="en-US"/>
          </a:p>
        </p:txBody>
      </p:sp>
      <p:sp>
        <p:nvSpPr>
          <p:cNvPr id="3" name="Shape 1"/>
          <p:cNvSpPr/>
          <p:nvPr/>
        </p:nvSpPr>
        <p:spPr>
          <a:xfrm>
            <a:off x="8778240" y="0"/>
            <a:ext cx="137160" cy="5143500"/>
          </a:xfrm>
          <a:prstGeom prst="rect">
            <a:avLst/>
          </a:prstGeom>
          <a:solidFill>
            <a:srgbClr val="C41E1E"/>
          </a:solidFill>
          <a:ln/>
        </p:spPr>
        <p:txBody>
          <a:bodyPr/>
          <a:lstStyle/>
          <a:p>
            <a:endParaRPr lang="en-US"/>
          </a:p>
        </p:txBody>
      </p:sp>
      <p:sp>
        <p:nvSpPr>
          <p:cNvPr id="4" name="Shape 2"/>
          <p:cNvSpPr/>
          <p:nvPr/>
        </p:nvSpPr>
        <p:spPr>
          <a:xfrm>
            <a:off x="8961120" y="0"/>
            <a:ext cx="73152" cy="5143500"/>
          </a:xfrm>
          <a:prstGeom prst="rect">
            <a:avLst/>
          </a:prstGeom>
          <a:solidFill>
            <a:srgbClr val="C41E1E">
              <a:alpha val="40000"/>
            </a:srgbClr>
          </a:solidFill>
          <a:ln/>
        </p:spPr>
        <p:txBody>
          <a:bodyPr/>
          <a:lstStyle/>
          <a:p>
            <a:endParaRPr lang="en-US"/>
          </a:p>
        </p:txBody>
      </p:sp>
      <p:sp>
        <p:nvSpPr>
          <p:cNvPr id="5" name="Text 3"/>
          <p:cNvSpPr/>
          <p:nvPr/>
        </p:nvSpPr>
        <p:spPr>
          <a:xfrm>
            <a:off x="731520" y="182880"/>
            <a:ext cx="7315200" cy="548640"/>
          </a:xfrm>
          <a:prstGeom prst="rect">
            <a:avLst/>
          </a:prstGeom>
          <a:noFill/>
          <a:ln/>
        </p:spPr>
        <p:txBody>
          <a:bodyPr wrap="square" lIns="0" tIns="0" rIns="0" bIns="0" rtlCol="0" anchor="ctr"/>
          <a:lstStyle/>
          <a:p>
            <a:pPr marL="0" indent="0">
              <a:buNone/>
            </a:pPr>
            <a:r>
              <a:rPr lang="en-US" sz="2600" b="1" dirty="0">
                <a:solidFill>
                  <a:srgbClr val="1A1A2E"/>
                </a:solidFill>
                <a:latin typeface="Georgia" pitchFamily="34" charset="0"/>
                <a:ea typeface="Georgia" pitchFamily="34" charset="-122"/>
                <a:cs typeface="Georgia" pitchFamily="34" charset="-120"/>
              </a:rPr>
              <a:t>Top 10 Features — What Drives Predictions</a:t>
            </a:r>
            <a:endParaRPr lang="en-US" sz="2600" dirty="0"/>
          </a:p>
        </p:txBody>
      </p:sp>
      <p:graphicFrame>
        <p:nvGraphicFramePr>
          <p:cNvPr id="6" name="Chart 0"/>
          <p:cNvGraphicFramePr/>
          <p:nvPr/>
        </p:nvGraphicFramePr>
        <p:xfrm>
          <a:off x="274320" y="914400"/>
          <a:ext cx="5029200" cy="3200400"/>
        </p:xfrm>
        <a:graphic>
          <a:graphicData uri="http://schemas.openxmlformats.org/drawingml/2006/chart">
            <c:chart xmlns:c="http://schemas.openxmlformats.org/drawingml/2006/chart" xmlns:r="http://schemas.openxmlformats.org/officeDocument/2006/relationships" r:id="rId3"/>
          </a:graphicData>
        </a:graphic>
      </p:graphicFrame>
      <p:sp>
        <p:nvSpPr>
          <p:cNvPr id="7" name="Shape 4"/>
          <p:cNvSpPr/>
          <p:nvPr/>
        </p:nvSpPr>
        <p:spPr>
          <a:xfrm>
            <a:off x="5486400" y="914400"/>
            <a:ext cx="3200400" cy="3200400"/>
          </a:xfrm>
          <a:prstGeom prst="rect">
            <a:avLst/>
          </a:prstGeom>
          <a:solidFill>
            <a:srgbClr val="FFFFFF"/>
          </a:solidFill>
          <a:ln/>
          <a:effectLst>
            <a:outerShdw blurRad="50800" dist="25400" dir="8100000" algn="bl" rotWithShape="0">
              <a:srgbClr val="000000">
                <a:alpha val="10000"/>
              </a:srgbClr>
            </a:outerShdw>
          </a:effectLst>
        </p:spPr>
        <p:txBody>
          <a:bodyPr/>
          <a:lstStyle/>
          <a:p>
            <a:endParaRPr lang="en-US"/>
          </a:p>
        </p:txBody>
      </p:sp>
      <p:sp>
        <p:nvSpPr>
          <p:cNvPr id="8" name="Shape 5"/>
          <p:cNvSpPr/>
          <p:nvPr/>
        </p:nvSpPr>
        <p:spPr>
          <a:xfrm>
            <a:off x="5486400" y="914400"/>
            <a:ext cx="54864" cy="3200400"/>
          </a:xfrm>
          <a:prstGeom prst="rect">
            <a:avLst/>
          </a:prstGeom>
          <a:solidFill>
            <a:srgbClr val="C41E1E"/>
          </a:solidFill>
          <a:ln/>
        </p:spPr>
        <p:txBody>
          <a:bodyPr/>
          <a:lstStyle/>
          <a:p>
            <a:endParaRPr lang="en-US"/>
          </a:p>
        </p:txBody>
      </p:sp>
      <p:pic>
        <p:nvPicPr>
          <p:cNvPr id="9" name="Image 0" descr="preencoded.png"/>
          <p:cNvPicPr>
            <a:picLocks noChangeAspect="1"/>
          </p:cNvPicPr>
          <p:nvPr/>
        </p:nvPicPr>
        <p:blipFill>
          <a:blip r:embed="rId4"/>
          <a:stretch>
            <a:fillRect/>
          </a:stretch>
        </p:blipFill>
        <p:spPr>
          <a:xfrm>
            <a:off x="5623560" y="1024128"/>
            <a:ext cx="256032" cy="256032"/>
          </a:xfrm>
          <a:prstGeom prst="rect">
            <a:avLst/>
          </a:prstGeom>
        </p:spPr>
      </p:pic>
      <p:sp>
        <p:nvSpPr>
          <p:cNvPr id="10" name="Text 6"/>
          <p:cNvSpPr/>
          <p:nvPr/>
        </p:nvSpPr>
        <p:spPr>
          <a:xfrm>
            <a:off x="5943600" y="987552"/>
            <a:ext cx="2606040" cy="292608"/>
          </a:xfrm>
          <a:prstGeom prst="rect">
            <a:avLst/>
          </a:prstGeom>
          <a:noFill/>
          <a:ln/>
        </p:spPr>
        <p:txBody>
          <a:bodyPr wrap="square" lIns="0" tIns="0" rIns="0" bIns="0" rtlCol="0" anchor="ctr"/>
          <a:lstStyle/>
          <a:p>
            <a:pPr marL="0" indent="0">
              <a:buNone/>
            </a:pPr>
            <a:r>
              <a:rPr lang="en-US" sz="1200" b="1" dirty="0">
                <a:solidFill>
                  <a:srgbClr val="C41E1E"/>
                </a:solidFill>
                <a:latin typeface="Georgia" pitchFamily="34" charset="0"/>
                <a:ea typeface="Georgia" pitchFamily="34" charset="-122"/>
                <a:cs typeface="Georgia" pitchFamily="34" charset="-120"/>
              </a:rPr>
              <a:t>The Car Matters Most</a:t>
            </a:r>
            <a:endParaRPr lang="en-US" sz="1200" dirty="0"/>
          </a:p>
        </p:txBody>
      </p:sp>
      <p:sp>
        <p:nvSpPr>
          <p:cNvPr id="11" name="Text 7"/>
          <p:cNvSpPr/>
          <p:nvPr/>
        </p:nvSpPr>
        <p:spPr>
          <a:xfrm>
            <a:off x="5623560" y="1325880"/>
            <a:ext cx="2926080" cy="2697480"/>
          </a:xfrm>
          <a:prstGeom prst="rect">
            <a:avLst/>
          </a:prstGeom>
          <a:noFill/>
          <a:ln/>
        </p:spPr>
        <p:txBody>
          <a:bodyPr wrap="square" rtlCol="0" anchor="t"/>
          <a:lstStyle/>
          <a:p>
            <a:pPr marL="0" indent="0">
              <a:lnSpc>
                <a:spcPct val="125000"/>
              </a:lnSpc>
              <a:buNone/>
            </a:pPr>
            <a:r>
              <a:rPr lang="en-US" sz="950" dirty="0">
                <a:solidFill>
                  <a:srgbClr val="444444"/>
                </a:solidFill>
                <a:latin typeface="Calibri" pitchFamily="34" charset="0"/>
                <a:ea typeface="Calibri" pitchFamily="34" charset="-122"/>
                <a:cs typeface="Calibri" pitchFamily="34" charset="-120"/>
              </a:rPr>
              <a:t>#1: constructor_rolling_points</a:t>
            </a:r>
            <a:endParaRPr lang="en-US" sz="950" dirty="0"/>
          </a:p>
          <a:p>
            <a:pPr marL="0" indent="0">
              <a:lnSpc>
                <a:spcPct val="125000"/>
              </a:lnSpc>
              <a:buNone/>
            </a:pPr>
            <a:r>
              <a:rPr lang="en-US" sz="950" dirty="0">
                <a:solidFill>
                  <a:srgbClr val="444444"/>
                </a:solidFill>
                <a:latin typeface="Calibri" pitchFamily="34" charset="0"/>
                <a:ea typeface="Calibri" pitchFamily="34" charset="-122"/>
                <a:cs typeface="Calibri" pitchFamily="34" charset="-120"/>
              </a:rPr>
              <a:t>= team's avg points over last 10 races</a:t>
            </a:r>
            <a:endParaRPr lang="en-US" sz="950" dirty="0"/>
          </a:p>
          <a:p>
            <a:pPr marL="0" indent="0">
              <a:lnSpc>
                <a:spcPct val="125000"/>
              </a:lnSpc>
              <a:buNone/>
            </a:pPr>
            <a:endParaRPr lang="en-US" sz="950" dirty="0"/>
          </a:p>
          <a:p>
            <a:pPr marL="0" indent="0">
              <a:lnSpc>
                <a:spcPct val="125000"/>
              </a:lnSpc>
              <a:buNone/>
            </a:pPr>
            <a:r>
              <a:rPr lang="en-US" sz="950" dirty="0">
                <a:solidFill>
                  <a:srgbClr val="444444"/>
                </a:solidFill>
                <a:latin typeface="Calibri" pitchFamily="34" charset="0"/>
                <a:ea typeface="Calibri" pitchFamily="34" charset="-122"/>
                <a:cs typeface="Calibri" pitchFamily="34" charset="-120"/>
              </a:rPr>
              <a:t>Confirms F1 domain knowledge:</a:t>
            </a:r>
            <a:endParaRPr lang="en-US" sz="950" dirty="0"/>
          </a:p>
          <a:p>
            <a:pPr marL="0" indent="0">
              <a:lnSpc>
                <a:spcPct val="125000"/>
              </a:lnSpc>
              <a:buNone/>
            </a:pPr>
            <a:r>
              <a:rPr lang="en-US" sz="950" dirty="0">
                <a:solidFill>
                  <a:srgbClr val="444444"/>
                </a:solidFill>
                <a:latin typeface="Calibri" pitchFamily="34" charset="0"/>
                <a:ea typeface="Calibri" pitchFamily="34" charset="-122"/>
                <a:cs typeface="Calibri" pitchFamily="34" charset="-120"/>
              </a:rPr>
              <a:t>Car ≈ 80% of performance</a:t>
            </a:r>
            <a:endParaRPr lang="en-US" sz="950" dirty="0"/>
          </a:p>
          <a:p>
            <a:pPr marL="0" indent="0">
              <a:lnSpc>
                <a:spcPct val="125000"/>
              </a:lnSpc>
              <a:buNone/>
            </a:pPr>
            <a:r>
              <a:rPr lang="en-US" sz="950" dirty="0">
                <a:solidFill>
                  <a:srgbClr val="444444"/>
                </a:solidFill>
                <a:latin typeface="Calibri" pitchFamily="34" charset="0"/>
                <a:ea typeface="Calibri" pitchFamily="34" charset="-122"/>
                <a:cs typeface="Calibri" pitchFamily="34" charset="-120"/>
              </a:rPr>
              <a:t>Driver ≈ 20% of performance</a:t>
            </a:r>
            <a:endParaRPr lang="en-US" sz="950" dirty="0"/>
          </a:p>
          <a:p>
            <a:pPr marL="0" indent="0">
              <a:lnSpc>
                <a:spcPct val="125000"/>
              </a:lnSpc>
              <a:buNone/>
            </a:pPr>
            <a:endParaRPr lang="en-US" sz="950" dirty="0"/>
          </a:p>
          <a:p>
            <a:pPr marL="0" indent="0">
              <a:lnSpc>
                <a:spcPct val="125000"/>
              </a:lnSpc>
              <a:buNone/>
            </a:pPr>
            <a:r>
              <a:rPr lang="en-US" sz="950" dirty="0">
                <a:solidFill>
                  <a:srgbClr val="444444"/>
                </a:solidFill>
                <a:latin typeface="Calibri" pitchFamily="34" charset="0"/>
                <a:ea typeface="Calibri" pitchFamily="34" charset="-122"/>
                <a:cs typeface="Calibri" pitchFamily="34" charset="-120"/>
              </a:rPr>
              <a:t>Even the best driver in a slow car</a:t>
            </a:r>
            <a:endParaRPr lang="en-US" sz="950" dirty="0"/>
          </a:p>
          <a:p>
            <a:pPr marL="0" indent="0">
              <a:lnSpc>
                <a:spcPct val="125000"/>
              </a:lnSpc>
              <a:buNone/>
            </a:pPr>
            <a:r>
              <a:rPr lang="en-US" sz="950" dirty="0">
                <a:solidFill>
                  <a:srgbClr val="444444"/>
                </a:solidFill>
                <a:latin typeface="Calibri" pitchFamily="34" charset="0"/>
                <a:ea typeface="Calibri" pitchFamily="34" charset="-122"/>
                <a:cs typeface="Calibri" pitchFamily="34" charset="-120"/>
              </a:rPr>
              <a:t>finishes behind an average driver</a:t>
            </a:r>
            <a:endParaRPr lang="en-US" sz="950" dirty="0"/>
          </a:p>
          <a:p>
            <a:pPr marL="0" indent="0">
              <a:lnSpc>
                <a:spcPct val="125000"/>
              </a:lnSpc>
              <a:buNone/>
            </a:pPr>
            <a:r>
              <a:rPr lang="en-US" sz="950" dirty="0">
                <a:solidFill>
                  <a:srgbClr val="444444"/>
                </a:solidFill>
                <a:latin typeface="Calibri" pitchFamily="34" charset="0"/>
                <a:ea typeface="Calibri" pitchFamily="34" charset="-122"/>
                <a:cs typeface="Calibri" pitchFamily="34" charset="-120"/>
              </a:rPr>
              <a:t>in the fastest car.</a:t>
            </a:r>
            <a:endParaRPr lang="en-US" sz="950" dirty="0"/>
          </a:p>
          <a:p>
            <a:pPr marL="0" indent="0">
              <a:lnSpc>
                <a:spcPct val="125000"/>
              </a:lnSpc>
              <a:buNone/>
            </a:pPr>
            <a:endParaRPr lang="en-US" sz="950" dirty="0"/>
          </a:p>
          <a:p>
            <a:pPr marL="0" indent="0">
              <a:lnSpc>
                <a:spcPct val="125000"/>
              </a:lnSpc>
              <a:buNone/>
            </a:pPr>
            <a:r>
              <a:rPr lang="en-US" sz="950" dirty="0">
                <a:solidFill>
                  <a:srgbClr val="444444"/>
                </a:solidFill>
                <a:latin typeface="Calibri" pitchFamily="34" charset="0"/>
                <a:ea typeface="Calibri" pitchFamily="34" charset="-122"/>
                <a:cs typeface="Calibri" pitchFamily="34" charset="-120"/>
              </a:rPr>
              <a:t>Our model QUANTIFIES this</a:t>
            </a:r>
            <a:endParaRPr lang="en-US" sz="950" dirty="0"/>
          </a:p>
          <a:p>
            <a:pPr marL="0" indent="0">
              <a:lnSpc>
                <a:spcPct val="125000"/>
              </a:lnSpc>
              <a:buNone/>
            </a:pPr>
            <a:r>
              <a:rPr lang="en-US" sz="950" dirty="0">
                <a:solidFill>
                  <a:srgbClr val="444444"/>
                </a:solidFill>
                <a:latin typeface="Calibri" pitchFamily="34" charset="0"/>
                <a:ea typeface="Calibri" pitchFamily="34" charset="-122"/>
                <a:cs typeface="Calibri" pitchFamily="34" charset="-120"/>
              </a:rPr>
              <a:t>with data from 9 seasons,</a:t>
            </a:r>
            <a:endParaRPr lang="en-US" sz="950" dirty="0"/>
          </a:p>
          <a:p>
            <a:pPr marL="0" indent="0">
              <a:lnSpc>
                <a:spcPct val="125000"/>
              </a:lnSpc>
              <a:buNone/>
            </a:pPr>
            <a:r>
              <a:rPr lang="en-US" sz="950" dirty="0">
                <a:solidFill>
                  <a:srgbClr val="444444"/>
                </a:solidFill>
                <a:latin typeface="Calibri" pitchFamily="34" charset="0"/>
                <a:ea typeface="Calibri" pitchFamily="34" charset="-122"/>
                <a:cs typeface="Calibri" pitchFamily="34" charset="-120"/>
              </a:rPr>
              <a:t>3,524 races, and 85 features.</a:t>
            </a:r>
            <a:endParaRPr lang="en-US" sz="950" dirty="0"/>
          </a:p>
        </p:txBody>
      </p:sp>
      <p:sp>
        <p:nvSpPr>
          <p:cNvPr id="12" name="Shape 8"/>
          <p:cNvSpPr/>
          <p:nvPr/>
        </p:nvSpPr>
        <p:spPr>
          <a:xfrm>
            <a:off x="365760" y="4251960"/>
            <a:ext cx="8321040" cy="457200"/>
          </a:xfrm>
          <a:prstGeom prst="rect">
            <a:avLst/>
          </a:prstGeom>
          <a:solidFill>
            <a:srgbClr val="FEF9E7"/>
          </a:solidFill>
          <a:ln/>
          <a:effectLst>
            <a:outerShdw blurRad="50800" dist="25400" dir="8100000" algn="bl" rotWithShape="0">
              <a:srgbClr val="000000">
                <a:alpha val="10000"/>
              </a:srgbClr>
            </a:outerShdw>
          </a:effectLst>
        </p:spPr>
        <p:txBody>
          <a:bodyPr/>
          <a:lstStyle/>
          <a:p>
            <a:endParaRPr lang="en-US"/>
          </a:p>
        </p:txBody>
      </p:sp>
      <p:sp>
        <p:nvSpPr>
          <p:cNvPr id="13" name="Text 9"/>
          <p:cNvSpPr/>
          <p:nvPr/>
        </p:nvSpPr>
        <p:spPr>
          <a:xfrm>
            <a:off x="548640" y="4297680"/>
            <a:ext cx="8046720" cy="320040"/>
          </a:xfrm>
          <a:prstGeom prst="rect">
            <a:avLst/>
          </a:prstGeom>
          <a:noFill/>
          <a:ln/>
        </p:spPr>
        <p:txBody>
          <a:bodyPr wrap="square" lIns="0" tIns="0" rIns="0" bIns="0" rtlCol="0" anchor="ctr"/>
          <a:lstStyle/>
          <a:p>
            <a:pPr marL="0" indent="0">
              <a:buNone/>
            </a:pPr>
            <a:r>
              <a:rPr lang="en-US" sz="1000" dirty="0">
                <a:solidFill>
                  <a:srgbClr val="D97706"/>
                </a:solidFill>
                <a:latin typeface="Calibri" pitchFamily="34" charset="0"/>
                <a:ea typeface="Calibri" pitchFamily="34" charset="-122"/>
                <a:cs typeface="Calibri" pitchFamily="34" charset="-120"/>
              </a:rPr>
              <a:t>Phase 2 features (#7 tire_deg, #8 circuit) and Phase 3 features (#10 weather) appear in top 10 — validating our 3-phase approach</a:t>
            </a:r>
            <a:endParaRPr lang="en-US" sz="1000" dirty="0"/>
          </a:p>
        </p:txBody>
      </p:sp>
      <p:sp>
        <p:nvSpPr>
          <p:cNvPr id="14" name="Text 10"/>
          <p:cNvSpPr/>
          <p:nvPr/>
        </p:nvSpPr>
        <p:spPr>
          <a:xfrm>
            <a:off x="457200" y="4709160"/>
            <a:ext cx="6400800" cy="365760"/>
          </a:xfrm>
          <a:prstGeom prst="rect">
            <a:avLst/>
          </a:prstGeom>
          <a:noFill/>
          <a:ln/>
        </p:spPr>
        <p:txBody>
          <a:bodyPr wrap="square" rtlCol="0" anchor="ctr"/>
          <a:lstStyle/>
          <a:p>
            <a:pPr marL="0" indent="0">
              <a:buNone/>
            </a:pPr>
            <a:r>
              <a:rPr lang="en-US" sz="900" dirty="0">
                <a:solidFill>
                  <a:srgbClr val="949594"/>
                </a:solidFill>
                <a:latin typeface="Calibri" pitchFamily="34" charset="0"/>
                <a:ea typeface="Calibri" pitchFamily="34" charset="-122"/>
                <a:cs typeface="Calibri" pitchFamily="34" charset="-120"/>
              </a:rPr>
              <a:t>Speaker 2 — Data &amp; ML Models</a:t>
            </a:r>
            <a:endParaRPr lang="en-US" sz="900" dirty="0"/>
          </a:p>
        </p:txBody>
      </p:sp>
      <p:sp>
        <p:nvSpPr>
          <p:cNvPr id="15" name="Text 11"/>
          <p:cNvSpPr/>
          <p:nvPr/>
        </p:nvSpPr>
        <p:spPr>
          <a:xfrm>
            <a:off x="8412480" y="4709160"/>
            <a:ext cx="548640" cy="365760"/>
          </a:xfrm>
          <a:prstGeom prst="rect">
            <a:avLst/>
          </a:prstGeom>
          <a:noFill/>
          <a:ln/>
        </p:spPr>
        <p:txBody>
          <a:bodyPr wrap="square" rtlCol="0" anchor="ctr"/>
          <a:lstStyle/>
          <a:p>
            <a:pPr marL="0" indent="0" algn="r">
              <a:buNone/>
            </a:pPr>
            <a:r>
              <a:rPr lang="en-US" sz="900" dirty="0">
                <a:solidFill>
                  <a:srgbClr val="949594"/>
                </a:solidFill>
                <a:latin typeface="Calibri" pitchFamily="34" charset="0"/>
                <a:ea typeface="Calibri" pitchFamily="34" charset="-122"/>
                <a:cs typeface="Calibri" pitchFamily="34" charset="-120"/>
              </a:rPr>
              <a:t>17</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A1A2E"/>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C41E1E"/>
          </a:solidFill>
          <a:ln/>
        </p:spPr>
        <p:txBody>
          <a:bodyPr/>
          <a:lstStyle/>
          <a:p>
            <a:endParaRPr lang="en-US"/>
          </a:p>
        </p:txBody>
      </p:sp>
      <p:sp>
        <p:nvSpPr>
          <p:cNvPr id="3" name="Shape 1"/>
          <p:cNvSpPr/>
          <p:nvPr/>
        </p:nvSpPr>
        <p:spPr>
          <a:xfrm>
            <a:off x="8778240" y="0"/>
            <a:ext cx="137160" cy="5143500"/>
          </a:xfrm>
          <a:prstGeom prst="rect">
            <a:avLst/>
          </a:prstGeom>
          <a:solidFill>
            <a:srgbClr val="C41E1E"/>
          </a:solidFill>
          <a:ln/>
        </p:spPr>
        <p:txBody>
          <a:bodyPr/>
          <a:lstStyle/>
          <a:p>
            <a:endParaRPr lang="en-US"/>
          </a:p>
        </p:txBody>
      </p:sp>
      <p:sp>
        <p:nvSpPr>
          <p:cNvPr id="4" name="Shape 2"/>
          <p:cNvSpPr/>
          <p:nvPr/>
        </p:nvSpPr>
        <p:spPr>
          <a:xfrm>
            <a:off x="8961120" y="0"/>
            <a:ext cx="73152" cy="5143500"/>
          </a:xfrm>
          <a:prstGeom prst="rect">
            <a:avLst/>
          </a:prstGeom>
          <a:solidFill>
            <a:srgbClr val="C41E1E">
              <a:alpha val="40000"/>
            </a:srgbClr>
          </a:solidFill>
          <a:ln/>
        </p:spPr>
        <p:txBody>
          <a:bodyPr/>
          <a:lstStyle/>
          <a:p>
            <a:endParaRPr lang="en-US"/>
          </a:p>
        </p:txBody>
      </p:sp>
      <p:sp>
        <p:nvSpPr>
          <p:cNvPr id="5" name="Text 3"/>
          <p:cNvSpPr/>
          <p:nvPr/>
        </p:nvSpPr>
        <p:spPr>
          <a:xfrm>
            <a:off x="731520" y="731520"/>
            <a:ext cx="7315200" cy="822960"/>
          </a:xfrm>
          <a:prstGeom prst="rect">
            <a:avLst/>
          </a:prstGeom>
          <a:noFill/>
          <a:ln/>
        </p:spPr>
        <p:txBody>
          <a:bodyPr wrap="square" lIns="0" tIns="0" rIns="0" bIns="0" rtlCol="0" anchor="ctr"/>
          <a:lstStyle/>
          <a:p>
            <a:pPr marL="0" indent="0">
              <a:buNone/>
            </a:pPr>
            <a:r>
              <a:rPr lang="en-US" sz="4000" b="1" dirty="0">
                <a:solidFill>
                  <a:srgbClr val="FFFFFF"/>
                </a:solidFill>
                <a:latin typeface="Georgia" pitchFamily="34" charset="0"/>
                <a:ea typeface="Georgia" pitchFamily="34" charset="-122"/>
                <a:cs typeface="Georgia" pitchFamily="34" charset="-120"/>
              </a:rPr>
              <a:t>Features &gt; Algorithms</a:t>
            </a:r>
            <a:endParaRPr lang="en-US" sz="4000" dirty="0"/>
          </a:p>
        </p:txBody>
      </p:sp>
      <p:sp>
        <p:nvSpPr>
          <p:cNvPr id="6" name="Shape 4"/>
          <p:cNvSpPr/>
          <p:nvPr/>
        </p:nvSpPr>
        <p:spPr>
          <a:xfrm>
            <a:off x="731520" y="1645920"/>
            <a:ext cx="2743200" cy="36576"/>
          </a:xfrm>
          <a:prstGeom prst="rect">
            <a:avLst/>
          </a:prstGeom>
          <a:solidFill>
            <a:srgbClr val="C41E1E"/>
          </a:solidFill>
          <a:ln/>
        </p:spPr>
        <p:txBody>
          <a:bodyPr/>
          <a:lstStyle/>
          <a:p>
            <a:endParaRPr lang="en-US"/>
          </a:p>
        </p:txBody>
      </p:sp>
      <p:sp>
        <p:nvSpPr>
          <p:cNvPr id="7" name="Text 5"/>
          <p:cNvSpPr/>
          <p:nvPr/>
        </p:nvSpPr>
        <p:spPr>
          <a:xfrm>
            <a:off x="731520" y="2103120"/>
            <a:ext cx="7315200" cy="457200"/>
          </a:xfrm>
          <a:prstGeom prst="rect">
            <a:avLst/>
          </a:prstGeom>
          <a:noFill/>
          <a:ln/>
        </p:spPr>
        <p:txBody>
          <a:bodyPr wrap="square" lIns="0" tIns="0" rIns="0" bIns="0" rtlCol="0" anchor="ctr"/>
          <a:lstStyle/>
          <a:p>
            <a:pPr marL="0" indent="0">
              <a:buNone/>
            </a:pPr>
            <a:r>
              <a:rPr lang="en-US" sz="2000" b="1" dirty="0">
                <a:solidFill>
                  <a:srgbClr val="2563EB"/>
                </a:solidFill>
                <a:latin typeface="Calibri" pitchFamily="34" charset="0"/>
                <a:ea typeface="Calibri" pitchFamily="34" charset="-122"/>
                <a:cs typeface="Calibri" pitchFamily="34" charset="-120"/>
              </a:rPr>
              <a:t>Weather features added:  +20.4% winner accuracy</a:t>
            </a:r>
            <a:endParaRPr lang="en-US" sz="2000" dirty="0"/>
          </a:p>
        </p:txBody>
      </p:sp>
      <p:sp>
        <p:nvSpPr>
          <p:cNvPr id="8" name="Text 6"/>
          <p:cNvSpPr/>
          <p:nvPr/>
        </p:nvSpPr>
        <p:spPr>
          <a:xfrm>
            <a:off x="731520" y="2651760"/>
            <a:ext cx="7315200" cy="457200"/>
          </a:xfrm>
          <a:prstGeom prst="rect">
            <a:avLst/>
          </a:prstGeom>
          <a:noFill/>
          <a:ln/>
        </p:spPr>
        <p:txBody>
          <a:bodyPr wrap="square" lIns="0" tIns="0" rIns="0" bIns="0" rtlCol="0" anchor="ctr"/>
          <a:lstStyle/>
          <a:p>
            <a:pPr marL="0" indent="0">
              <a:buNone/>
            </a:pPr>
            <a:r>
              <a:rPr lang="en-US" sz="2000" b="1" dirty="0">
                <a:solidFill>
                  <a:srgbClr val="D97706"/>
                </a:solidFill>
                <a:latin typeface="Calibri" pitchFamily="34" charset="0"/>
                <a:ea typeface="Calibri" pitchFamily="34" charset="-122"/>
                <a:cs typeface="Calibri" pitchFamily="34" charset="-120"/>
              </a:rPr>
              <a:t>Tire/lap features added:  -23% position error</a:t>
            </a:r>
            <a:endParaRPr lang="en-US" sz="2000" dirty="0"/>
          </a:p>
        </p:txBody>
      </p:sp>
      <p:sp>
        <p:nvSpPr>
          <p:cNvPr id="9" name="Text 7"/>
          <p:cNvSpPr/>
          <p:nvPr/>
        </p:nvSpPr>
        <p:spPr>
          <a:xfrm>
            <a:off x="731520" y="3200400"/>
            <a:ext cx="7315200" cy="457200"/>
          </a:xfrm>
          <a:prstGeom prst="rect">
            <a:avLst/>
          </a:prstGeom>
          <a:noFill/>
          <a:ln/>
        </p:spPr>
        <p:txBody>
          <a:bodyPr wrap="square" lIns="0" tIns="0" rIns="0" bIns="0" rtlCol="0" anchor="ctr"/>
          <a:lstStyle/>
          <a:p>
            <a:pPr marL="0" indent="0">
              <a:buNone/>
            </a:pPr>
            <a:r>
              <a:rPr lang="en-US" sz="2000" dirty="0">
                <a:solidFill>
                  <a:srgbClr val="949594"/>
                </a:solidFill>
                <a:latin typeface="Calibri" pitchFamily="34" charset="0"/>
                <a:ea typeface="Calibri" pitchFamily="34" charset="-122"/>
                <a:cs typeface="Calibri" pitchFamily="34" charset="-120"/>
              </a:rPr>
              <a:t>Algorithm switch (GB→XGBoost):  -2.4% error</a:t>
            </a:r>
            <a:endParaRPr lang="en-US" sz="2000" dirty="0"/>
          </a:p>
        </p:txBody>
      </p:sp>
      <p:sp>
        <p:nvSpPr>
          <p:cNvPr id="10" name="Text 8"/>
          <p:cNvSpPr/>
          <p:nvPr/>
        </p:nvSpPr>
        <p:spPr>
          <a:xfrm>
            <a:off x="731520" y="3840480"/>
            <a:ext cx="7315200" cy="822960"/>
          </a:xfrm>
          <a:prstGeom prst="rect">
            <a:avLst/>
          </a:prstGeom>
          <a:noFill/>
          <a:ln/>
        </p:spPr>
        <p:txBody>
          <a:bodyPr wrap="square" lIns="0" tIns="0" rIns="0" bIns="0" rtlCol="0" anchor="ctr"/>
          <a:lstStyle/>
          <a:p>
            <a:pPr marL="0" indent="0">
              <a:lnSpc>
                <a:spcPct val="140000"/>
              </a:lnSpc>
              <a:buNone/>
            </a:pPr>
            <a:r>
              <a:rPr lang="en-US" sz="1300" i="1" dirty="0">
                <a:solidFill>
                  <a:srgbClr val="949594"/>
                </a:solidFill>
                <a:latin typeface="Calibri" pitchFamily="34" charset="0"/>
                <a:ea typeface="Calibri" pitchFamily="34" charset="-122"/>
                <a:cs typeface="Calibri" pitchFamily="34" charset="-120"/>
              </a:rPr>
              <a:t>On tabular data, the quality of features matters</a:t>
            </a:r>
            <a:endParaRPr lang="en-US" sz="1300" dirty="0"/>
          </a:p>
          <a:p>
            <a:pPr marL="0" indent="0">
              <a:lnSpc>
                <a:spcPct val="140000"/>
              </a:lnSpc>
              <a:buNone/>
            </a:pPr>
            <a:r>
              <a:rPr lang="en-US" sz="1300" i="1" dirty="0">
                <a:solidFill>
                  <a:srgbClr val="949594"/>
                </a:solidFill>
                <a:latin typeface="Calibri" pitchFamily="34" charset="0"/>
                <a:ea typeface="Calibri" pitchFamily="34" charset="-122"/>
                <a:cs typeface="Calibri" pitchFamily="34" charset="-120"/>
              </a:rPr>
              <a:t>far more than the choice of model.</a:t>
            </a:r>
            <a:endParaRPr lang="en-US" sz="1300" dirty="0"/>
          </a:p>
          <a:p>
            <a:pPr marL="0" indent="0">
              <a:lnSpc>
                <a:spcPct val="140000"/>
              </a:lnSpc>
              <a:buNone/>
            </a:pPr>
            <a:r>
              <a:rPr lang="en-US" sz="1300" i="1" dirty="0">
                <a:solidFill>
                  <a:srgbClr val="949594"/>
                </a:solidFill>
                <a:latin typeface="Calibri" pitchFamily="34" charset="0"/>
                <a:ea typeface="Calibri" pitchFamily="34" charset="-122"/>
                <a:cs typeface="Calibri" pitchFamily="34" charset="-120"/>
              </a:rPr>
              <a:t>Invest 80% in feature engineering, 20% in model selection.</a:t>
            </a:r>
            <a:endParaRPr lang="en-US" sz="13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1A1A2E"/>
        </a:solidFill>
        <a:effectLst/>
      </p:bgPr>
    </p:bg>
    <p:spTree>
      <p:nvGrpSpPr>
        <p:cNvPr id="1" name=""/>
        <p:cNvGrpSpPr/>
        <p:nvPr/>
      </p:nvGrpSpPr>
      <p:grpSpPr>
        <a:xfrm>
          <a:off x="0" y="0"/>
          <a:ext cx="0" cy="0"/>
          <a:chOff x="0" y="0"/>
          <a:chExt cx="0" cy="0"/>
        </a:xfrm>
      </p:grpSpPr>
      <p:sp>
        <p:nvSpPr>
          <p:cNvPr id="2" name="Shape 0"/>
          <p:cNvSpPr/>
          <p:nvPr/>
        </p:nvSpPr>
        <p:spPr>
          <a:xfrm>
            <a:off x="0" y="2011680"/>
            <a:ext cx="9144000" cy="36576"/>
          </a:xfrm>
          <a:prstGeom prst="rect">
            <a:avLst/>
          </a:prstGeom>
          <a:solidFill>
            <a:srgbClr val="C41E1E"/>
          </a:solidFill>
          <a:ln/>
        </p:spPr>
        <p:txBody>
          <a:bodyPr/>
          <a:lstStyle/>
          <a:p>
            <a:endParaRPr lang="en-US"/>
          </a:p>
        </p:txBody>
      </p:sp>
      <p:sp>
        <p:nvSpPr>
          <p:cNvPr id="3" name="Text 1"/>
          <p:cNvSpPr/>
          <p:nvPr/>
        </p:nvSpPr>
        <p:spPr>
          <a:xfrm>
            <a:off x="731520" y="914400"/>
            <a:ext cx="7315200" cy="731520"/>
          </a:xfrm>
          <a:prstGeom prst="rect">
            <a:avLst/>
          </a:prstGeom>
          <a:noFill/>
          <a:ln/>
        </p:spPr>
        <p:txBody>
          <a:bodyPr wrap="square" lIns="0" tIns="0" rIns="0" bIns="0" rtlCol="0" anchor="ctr"/>
          <a:lstStyle/>
          <a:p>
            <a:pPr marL="0" indent="0">
              <a:buNone/>
            </a:pPr>
            <a:r>
              <a:rPr lang="en-US" sz="5600" b="1" dirty="0">
                <a:solidFill>
                  <a:srgbClr val="C41E1E"/>
                </a:solidFill>
                <a:latin typeface="Georgia" pitchFamily="34" charset="0"/>
                <a:ea typeface="Georgia" pitchFamily="34" charset="-122"/>
                <a:cs typeface="Georgia" pitchFamily="34" charset="-120"/>
              </a:rPr>
              <a:t>03</a:t>
            </a:r>
            <a:endParaRPr lang="en-US" sz="5600" dirty="0"/>
          </a:p>
        </p:txBody>
      </p:sp>
      <p:sp>
        <p:nvSpPr>
          <p:cNvPr id="4" name="Text 2"/>
          <p:cNvSpPr/>
          <p:nvPr/>
        </p:nvSpPr>
        <p:spPr>
          <a:xfrm>
            <a:off x="731520" y="2286000"/>
            <a:ext cx="7315200" cy="731520"/>
          </a:xfrm>
          <a:prstGeom prst="rect">
            <a:avLst/>
          </a:prstGeom>
          <a:noFill/>
          <a:ln/>
        </p:spPr>
        <p:txBody>
          <a:bodyPr wrap="square" lIns="0" tIns="0" rIns="0" bIns="0" rtlCol="0" anchor="ctr"/>
          <a:lstStyle/>
          <a:p>
            <a:pPr marL="0" indent="0">
              <a:buNone/>
            </a:pPr>
            <a:r>
              <a:rPr lang="en-US" sz="3000" b="1" dirty="0">
                <a:solidFill>
                  <a:srgbClr val="FFFFFF"/>
                </a:solidFill>
                <a:latin typeface="Georgia" pitchFamily="34" charset="0"/>
                <a:ea typeface="Georgia" pitchFamily="34" charset="-122"/>
                <a:cs typeface="Georgia" pitchFamily="34" charset="-120"/>
              </a:rPr>
              <a:t>Predictions &amp; Agentic AI</a:t>
            </a:r>
            <a:endParaRPr lang="en-US" sz="3000" dirty="0"/>
          </a:p>
        </p:txBody>
      </p:sp>
      <p:sp>
        <p:nvSpPr>
          <p:cNvPr id="5" name="Text 3"/>
          <p:cNvSpPr/>
          <p:nvPr/>
        </p:nvSpPr>
        <p:spPr>
          <a:xfrm>
            <a:off x="731520" y="3108960"/>
            <a:ext cx="7315200" cy="457200"/>
          </a:xfrm>
          <a:prstGeom prst="rect">
            <a:avLst/>
          </a:prstGeom>
          <a:noFill/>
          <a:ln/>
        </p:spPr>
        <p:txBody>
          <a:bodyPr wrap="square" lIns="0" tIns="0" rIns="0" bIns="0" rtlCol="0" anchor="ctr"/>
          <a:lstStyle/>
          <a:p>
            <a:pPr marL="0" indent="0">
              <a:buNone/>
            </a:pPr>
            <a:r>
              <a:rPr lang="en-US" sz="1300" dirty="0">
                <a:solidFill>
                  <a:srgbClr val="949594"/>
                </a:solidFill>
                <a:latin typeface="Calibri" pitchFamily="34" charset="0"/>
                <a:ea typeface="Calibri" pitchFamily="34" charset="-122"/>
                <a:cs typeface="Calibri" pitchFamily="34" charset="-120"/>
              </a:rPr>
              <a:t>Speaker 3 — Live Results, 4 Autonomous Agents, Lessons Learned</a:t>
            </a:r>
            <a:endParaRPr lang="en-US" sz="1300" dirty="0"/>
          </a:p>
        </p:txBody>
      </p:sp>
      <p:pic>
        <p:nvPicPr>
          <p:cNvPr id="6" name="Image 0" descr="preencoded.png"/>
          <p:cNvPicPr>
            <a:picLocks noChangeAspect="1"/>
          </p:cNvPicPr>
          <p:nvPr/>
        </p:nvPicPr>
        <p:blipFill>
          <a:blip r:embed="rId3"/>
          <a:stretch>
            <a:fillRect/>
          </a:stretch>
        </p:blipFill>
        <p:spPr>
          <a:xfrm>
            <a:off x="7772400" y="4114800"/>
            <a:ext cx="548640" cy="54864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5F5F5"/>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C41E1E"/>
          </a:solidFill>
          <a:ln/>
        </p:spPr>
        <p:txBody>
          <a:bodyPr/>
          <a:lstStyle/>
          <a:p>
            <a:endParaRPr lang="en-US"/>
          </a:p>
        </p:txBody>
      </p:sp>
      <p:sp>
        <p:nvSpPr>
          <p:cNvPr id="3" name="Shape 1"/>
          <p:cNvSpPr/>
          <p:nvPr/>
        </p:nvSpPr>
        <p:spPr>
          <a:xfrm>
            <a:off x="8778240" y="0"/>
            <a:ext cx="137160" cy="5143500"/>
          </a:xfrm>
          <a:prstGeom prst="rect">
            <a:avLst/>
          </a:prstGeom>
          <a:solidFill>
            <a:srgbClr val="C41E1E"/>
          </a:solidFill>
          <a:ln/>
        </p:spPr>
        <p:txBody>
          <a:bodyPr/>
          <a:lstStyle/>
          <a:p>
            <a:endParaRPr lang="en-US"/>
          </a:p>
        </p:txBody>
      </p:sp>
      <p:sp>
        <p:nvSpPr>
          <p:cNvPr id="4" name="Shape 2"/>
          <p:cNvSpPr/>
          <p:nvPr/>
        </p:nvSpPr>
        <p:spPr>
          <a:xfrm>
            <a:off x="8961120" y="0"/>
            <a:ext cx="73152" cy="5143500"/>
          </a:xfrm>
          <a:prstGeom prst="rect">
            <a:avLst/>
          </a:prstGeom>
          <a:solidFill>
            <a:srgbClr val="C41E1E">
              <a:alpha val="40000"/>
            </a:srgbClr>
          </a:solidFill>
          <a:ln/>
        </p:spPr>
        <p:txBody>
          <a:bodyPr/>
          <a:lstStyle/>
          <a:p>
            <a:endParaRPr lang="en-US"/>
          </a:p>
        </p:txBody>
      </p:sp>
      <p:pic>
        <p:nvPicPr>
          <p:cNvPr id="5" name="Image 0" descr="preencoded.png"/>
          <p:cNvPicPr>
            <a:picLocks noChangeAspect="1"/>
          </p:cNvPicPr>
          <p:nvPr/>
        </p:nvPicPr>
        <p:blipFill>
          <a:blip r:embed="rId3"/>
          <a:stretch>
            <a:fillRect/>
          </a:stretch>
        </p:blipFill>
        <p:spPr>
          <a:xfrm>
            <a:off x="365760" y="182880"/>
            <a:ext cx="320040" cy="320040"/>
          </a:xfrm>
          <a:prstGeom prst="rect">
            <a:avLst/>
          </a:prstGeom>
        </p:spPr>
      </p:pic>
      <p:sp>
        <p:nvSpPr>
          <p:cNvPr id="6" name="Text 3"/>
          <p:cNvSpPr/>
          <p:nvPr/>
        </p:nvSpPr>
        <p:spPr>
          <a:xfrm>
            <a:off x="777240" y="182880"/>
            <a:ext cx="7315200" cy="548640"/>
          </a:xfrm>
          <a:prstGeom prst="rect">
            <a:avLst/>
          </a:prstGeom>
          <a:noFill/>
          <a:ln/>
        </p:spPr>
        <p:txBody>
          <a:bodyPr wrap="square" lIns="0" tIns="0" rIns="0" bIns="0" rtlCol="0" anchor="ctr"/>
          <a:lstStyle/>
          <a:p>
            <a:pPr marL="0" indent="0">
              <a:buNone/>
            </a:pPr>
            <a:r>
              <a:rPr lang="en-US" sz="2600" b="1" dirty="0">
                <a:solidFill>
                  <a:srgbClr val="1A1A2E"/>
                </a:solidFill>
                <a:latin typeface="Georgia" pitchFamily="34" charset="0"/>
                <a:ea typeface="Georgia" pitchFamily="34" charset="-122"/>
                <a:cs typeface="Georgia" pitchFamily="34" charset="-120"/>
              </a:rPr>
              <a:t>Race Predictions — Model vs Reality</a:t>
            </a:r>
            <a:endParaRPr lang="en-US" sz="2600" dirty="0"/>
          </a:p>
        </p:txBody>
      </p:sp>
      <p:sp>
        <p:nvSpPr>
          <p:cNvPr id="7" name="Text 4"/>
          <p:cNvSpPr/>
          <p:nvPr/>
        </p:nvSpPr>
        <p:spPr>
          <a:xfrm>
            <a:off x="777240" y="685800"/>
            <a:ext cx="7315200" cy="228600"/>
          </a:xfrm>
          <a:prstGeom prst="rect">
            <a:avLst/>
          </a:prstGeom>
          <a:noFill/>
          <a:ln/>
        </p:spPr>
        <p:txBody>
          <a:bodyPr wrap="square" lIns="0" tIns="0" rIns="0" bIns="0" rtlCol="0" anchor="ctr"/>
          <a:lstStyle/>
          <a:p>
            <a:pPr marL="0" indent="0">
              <a:buNone/>
            </a:pPr>
            <a:r>
              <a:rPr lang="en-US" sz="1100" dirty="0">
                <a:solidFill>
                  <a:srgbClr val="949594"/>
                </a:solidFill>
                <a:latin typeface="Calibri" pitchFamily="34" charset="0"/>
                <a:ea typeface="Calibri" pitchFamily="34" charset="-122"/>
                <a:cs typeface="Calibri" pitchFamily="34" charset="-120"/>
              </a:rPr>
              <a:t>Sample predictions from Gradient Boosting model on 2025-2026 races</a:t>
            </a:r>
            <a:endParaRPr lang="en-US" sz="11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274320" y="1005840"/>
          <a:ext cx="8503920" cy="914400"/>
        </p:xfrm>
        <a:graphic>
          <a:graphicData uri="http://schemas.openxmlformats.org/drawingml/2006/table">
            <a:tbl>
              <a:tblPr/>
              <a:tblGrid>
                <a:gridCol w="1645920">
                  <a:extLst>
                    <a:ext uri="{9D8B030D-6E8A-4147-A177-3AD203B41FA5}">
                      <a16:colId xmlns:a16="http://schemas.microsoft.com/office/drawing/2014/main" val="20000"/>
                    </a:ext>
                  </a:extLst>
                </a:gridCol>
                <a:gridCol w="1645920">
                  <a:extLst>
                    <a:ext uri="{9D8B030D-6E8A-4147-A177-3AD203B41FA5}">
                      <a16:colId xmlns:a16="http://schemas.microsoft.com/office/drawing/2014/main" val="20001"/>
                    </a:ext>
                  </a:extLst>
                </a:gridCol>
                <a:gridCol w="1645920">
                  <a:extLst>
                    <a:ext uri="{9D8B030D-6E8A-4147-A177-3AD203B41FA5}">
                      <a16:colId xmlns:a16="http://schemas.microsoft.com/office/drawing/2014/main" val="20002"/>
                    </a:ext>
                  </a:extLst>
                </a:gridCol>
                <a:gridCol w="1097280">
                  <a:extLst>
                    <a:ext uri="{9D8B030D-6E8A-4147-A177-3AD203B41FA5}">
                      <a16:colId xmlns:a16="http://schemas.microsoft.com/office/drawing/2014/main" val="20003"/>
                    </a:ext>
                  </a:extLst>
                </a:gridCol>
                <a:gridCol w="2011680">
                  <a:extLst>
                    <a:ext uri="{9D8B030D-6E8A-4147-A177-3AD203B41FA5}">
                      <a16:colId xmlns:a16="http://schemas.microsoft.com/office/drawing/2014/main" val="20004"/>
                    </a:ext>
                  </a:extLst>
                </a:gridCol>
              </a:tblGrid>
              <a:tr h="274320">
                <a:tc>
                  <a:txBody>
                    <a:bodyPr/>
                    <a:lstStyle/>
                    <a:p>
                      <a:pPr marL="0" indent="0">
                        <a:buNone/>
                      </a:pPr>
                      <a:r>
                        <a:rPr lang="en-US" sz="950" b="1" dirty="0">
                          <a:solidFill>
                            <a:srgbClr val="FFFFFF"/>
                          </a:solidFill>
                          <a:latin typeface="Calibri" pitchFamily="34" charset="0"/>
                          <a:ea typeface="Calibri" pitchFamily="34" charset="-122"/>
                          <a:cs typeface="Calibri" pitchFamily="34" charset="-120"/>
                        </a:rPr>
                        <a:t>Race</a:t>
                      </a:r>
                      <a:endParaRPr lang="en-US" sz="950" dirty="0">
                        <a:latin typeface="Calibri" charset="0"/>
                        <a:ea typeface="Calibri" charset="0"/>
                        <a:cs typeface="Calibri" charset="0"/>
                      </a:endParaRPr>
                    </a:p>
                  </a:txBody>
                  <a:tcP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C41E1E"/>
                    </a:solidFill>
                  </a:tcPr>
                </a:tc>
                <a:tc>
                  <a:txBody>
                    <a:bodyPr/>
                    <a:lstStyle/>
                    <a:p>
                      <a:pPr marL="0" indent="0">
                        <a:buNone/>
                      </a:pPr>
                      <a:r>
                        <a:rPr lang="en-US" sz="950" b="1" dirty="0">
                          <a:solidFill>
                            <a:srgbClr val="FFFFFF"/>
                          </a:solidFill>
                          <a:latin typeface="Calibri" pitchFamily="34" charset="0"/>
                          <a:ea typeface="Calibri" pitchFamily="34" charset="-122"/>
                          <a:cs typeface="Calibri" pitchFamily="34" charset="-120"/>
                        </a:rPr>
                        <a:t>Predicted Winner</a:t>
                      </a:r>
                      <a:endParaRPr lang="en-US" sz="950" dirty="0">
                        <a:latin typeface="Calibri" charset="0"/>
                        <a:ea typeface="Calibri" charset="0"/>
                        <a:cs typeface="Calibri" charset="0"/>
                      </a:endParaRPr>
                    </a:p>
                  </a:txBody>
                  <a:tcP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C41E1E"/>
                    </a:solidFill>
                  </a:tcPr>
                </a:tc>
                <a:tc>
                  <a:txBody>
                    <a:bodyPr/>
                    <a:lstStyle/>
                    <a:p>
                      <a:pPr marL="0" indent="0">
                        <a:buNone/>
                      </a:pPr>
                      <a:r>
                        <a:rPr lang="en-US" sz="950" b="1" dirty="0">
                          <a:solidFill>
                            <a:srgbClr val="FFFFFF"/>
                          </a:solidFill>
                          <a:latin typeface="Calibri" pitchFamily="34" charset="0"/>
                          <a:ea typeface="Calibri" pitchFamily="34" charset="-122"/>
                          <a:cs typeface="Calibri" pitchFamily="34" charset="-120"/>
                        </a:rPr>
                        <a:t>Actual Winner</a:t>
                      </a:r>
                      <a:endParaRPr lang="en-US" sz="950" dirty="0">
                        <a:latin typeface="Calibri" charset="0"/>
                        <a:ea typeface="Calibri" charset="0"/>
                        <a:cs typeface="Calibri" charset="0"/>
                      </a:endParaRPr>
                    </a:p>
                  </a:txBody>
                  <a:tcP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C41E1E"/>
                    </a:solidFill>
                  </a:tcPr>
                </a:tc>
                <a:tc>
                  <a:txBody>
                    <a:bodyPr/>
                    <a:lstStyle/>
                    <a:p>
                      <a:pPr marL="0" indent="0">
                        <a:buNone/>
                      </a:pPr>
                      <a:r>
                        <a:rPr lang="en-US" sz="950" b="1" dirty="0">
                          <a:solidFill>
                            <a:srgbClr val="FFFFFF"/>
                          </a:solidFill>
                          <a:latin typeface="Calibri" pitchFamily="34" charset="0"/>
                          <a:ea typeface="Calibri" pitchFamily="34" charset="-122"/>
                          <a:cs typeface="Calibri" pitchFamily="34" charset="-120"/>
                        </a:rPr>
                        <a:t>Result</a:t>
                      </a:r>
                      <a:endParaRPr lang="en-US" sz="950" dirty="0">
                        <a:latin typeface="Calibri" charset="0"/>
                        <a:ea typeface="Calibri" charset="0"/>
                        <a:cs typeface="Calibri" charset="0"/>
                      </a:endParaRPr>
                    </a:p>
                  </a:txBody>
                  <a:tcP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C41E1E"/>
                    </a:solidFill>
                  </a:tcPr>
                </a:tc>
                <a:tc>
                  <a:txBody>
                    <a:bodyPr/>
                    <a:lstStyle/>
                    <a:p>
                      <a:pPr marL="0" indent="0">
                        <a:buNone/>
                      </a:pPr>
                      <a:r>
                        <a:rPr lang="en-US" sz="950" b="1" dirty="0">
                          <a:solidFill>
                            <a:srgbClr val="FFFFFF"/>
                          </a:solidFill>
                          <a:latin typeface="Calibri" pitchFamily="34" charset="0"/>
                          <a:ea typeface="Calibri" pitchFamily="34" charset="-122"/>
                          <a:cs typeface="Calibri" pitchFamily="34" charset="-120"/>
                        </a:rPr>
                        <a:t>Model Confidence</a:t>
                      </a:r>
                      <a:endParaRPr lang="en-US" sz="950" dirty="0">
                        <a:latin typeface="Calibri" charset="0"/>
                        <a:ea typeface="Calibri" charset="0"/>
                        <a:cs typeface="Calibri" charset="0"/>
                      </a:endParaRPr>
                    </a:p>
                  </a:txBody>
                  <a:tcP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C41E1E"/>
                    </a:solidFill>
                  </a:tcPr>
                </a:tc>
                <a:extLst>
                  <a:ext uri="{0D108BD9-81ED-4DB2-BD59-A6C34878D82A}">
                    <a16:rowId xmlns:a16="http://schemas.microsoft.com/office/drawing/2014/main" val="10000"/>
                  </a:ext>
                </a:extLst>
              </a:tr>
              <a:tr h="274320">
                <a:tc>
                  <a:txBody>
                    <a:bodyPr/>
                    <a:lstStyle/>
                    <a:p>
                      <a:pPr marL="0" indent="0">
                        <a:buNone/>
                      </a:pPr>
                      <a:r>
                        <a:rPr lang="en-US" sz="950" dirty="0">
                          <a:solidFill>
                            <a:srgbClr val="000000"/>
                          </a:solidFill>
                          <a:latin typeface="Calibri" pitchFamily="34" charset="0"/>
                          <a:ea typeface="Calibri" pitchFamily="34" charset="-122"/>
                          <a:cs typeface="Calibri" pitchFamily="34" charset="-120"/>
                        </a:rPr>
                        <a:t>2025 R2 China</a:t>
                      </a:r>
                      <a:endParaRPr lang="en-US" sz="950" dirty="0">
                        <a:latin typeface="Calibri" charset="0"/>
                        <a:ea typeface="Calibri" charset="0"/>
                        <a:cs typeface="Calibri" charset="0"/>
                      </a:endParaRPr>
                    </a:p>
                  </a:txBody>
                  <a:tcP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marL="0" indent="0">
                        <a:buNone/>
                      </a:pPr>
                      <a:r>
                        <a:rPr lang="en-US" sz="950" dirty="0">
                          <a:solidFill>
                            <a:srgbClr val="000000"/>
                          </a:solidFill>
                          <a:latin typeface="Calibri" pitchFamily="34" charset="0"/>
                          <a:ea typeface="Calibri" pitchFamily="34" charset="-122"/>
                          <a:cs typeface="Calibri" pitchFamily="34" charset="-120"/>
                        </a:rPr>
                        <a:t>Piastri</a:t>
                      </a:r>
                      <a:endParaRPr lang="en-US" sz="950" dirty="0">
                        <a:latin typeface="Calibri" charset="0"/>
                        <a:ea typeface="Calibri" charset="0"/>
                        <a:cs typeface="Calibri" charset="0"/>
                      </a:endParaRPr>
                    </a:p>
                  </a:txBody>
                  <a:tcP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marL="0" indent="0">
                        <a:buNone/>
                      </a:pPr>
                      <a:r>
                        <a:rPr lang="en-US" sz="950" dirty="0">
                          <a:solidFill>
                            <a:srgbClr val="000000"/>
                          </a:solidFill>
                          <a:latin typeface="Calibri" pitchFamily="34" charset="0"/>
                          <a:ea typeface="Calibri" pitchFamily="34" charset="-122"/>
                          <a:cs typeface="Calibri" pitchFamily="34" charset="-120"/>
                        </a:rPr>
                        <a:t>Piastri</a:t>
                      </a:r>
                      <a:endParaRPr lang="en-US" sz="950" dirty="0">
                        <a:latin typeface="Calibri" charset="0"/>
                        <a:ea typeface="Calibri" charset="0"/>
                        <a:cs typeface="Calibri" charset="0"/>
                      </a:endParaRPr>
                    </a:p>
                  </a:txBody>
                  <a:tcP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marL="0" indent="0">
                        <a:buNone/>
                      </a:pPr>
                      <a:r>
                        <a:rPr lang="en-US" sz="950" dirty="0">
                          <a:solidFill>
                            <a:srgbClr val="000000"/>
                          </a:solidFill>
                          <a:latin typeface="Calibri" pitchFamily="34" charset="0"/>
                          <a:ea typeface="Calibri" pitchFamily="34" charset="-122"/>
                          <a:cs typeface="Calibri" pitchFamily="34" charset="-120"/>
                        </a:rPr>
                        <a:t>✅ Correct</a:t>
                      </a:r>
                      <a:endParaRPr lang="en-US" sz="950" dirty="0">
                        <a:latin typeface="Calibri" charset="0"/>
                        <a:ea typeface="Calibri" charset="0"/>
                        <a:cs typeface="Calibri" charset="0"/>
                      </a:endParaRPr>
                    </a:p>
                  </a:txBody>
                  <a:tcP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marL="0" indent="0">
                        <a:buNone/>
                      </a:pPr>
                      <a:r>
                        <a:rPr lang="en-US" sz="950" dirty="0">
                          <a:solidFill>
                            <a:srgbClr val="000000"/>
                          </a:solidFill>
                          <a:latin typeface="Calibri" pitchFamily="34" charset="0"/>
                          <a:ea typeface="Calibri" pitchFamily="34" charset="-122"/>
                          <a:cs typeface="Calibri" pitchFamily="34" charset="-120"/>
                        </a:rPr>
                        <a:t>50% probability</a:t>
                      </a:r>
                      <a:endParaRPr lang="en-US" sz="950" dirty="0">
                        <a:latin typeface="Calibri" charset="0"/>
                        <a:ea typeface="Calibri" charset="0"/>
                        <a:cs typeface="Calibri" charset="0"/>
                      </a:endParaRPr>
                    </a:p>
                  </a:txBody>
                  <a:tcP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extLst>
                  <a:ext uri="{0D108BD9-81ED-4DB2-BD59-A6C34878D82A}">
                    <a16:rowId xmlns:a16="http://schemas.microsoft.com/office/drawing/2014/main" val="10001"/>
                  </a:ext>
                </a:extLst>
              </a:tr>
              <a:tr h="274320">
                <a:tc>
                  <a:txBody>
                    <a:bodyPr/>
                    <a:lstStyle/>
                    <a:p>
                      <a:pPr marL="0" indent="0">
                        <a:buNone/>
                      </a:pPr>
                      <a:r>
                        <a:rPr lang="en-US" sz="950" dirty="0">
                          <a:solidFill>
                            <a:srgbClr val="000000"/>
                          </a:solidFill>
                          <a:latin typeface="Calibri" pitchFamily="34" charset="0"/>
                          <a:ea typeface="Calibri" pitchFamily="34" charset="-122"/>
                          <a:cs typeface="Calibri" pitchFamily="34" charset="-120"/>
                        </a:rPr>
                        <a:t>2025 R3 Japan</a:t>
                      </a:r>
                      <a:endParaRPr lang="en-US" sz="950" dirty="0">
                        <a:latin typeface="Calibri" charset="0"/>
                        <a:ea typeface="Calibri" charset="0"/>
                        <a:cs typeface="Calibri" charset="0"/>
                      </a:endParaRPr>
                    </a:p>
                  </a:txBody>
                  <a:tcP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marL="0" indent="0">
                        <a:buNone/>
                      </a:pPr>
                      <a:r>
                        <a:rPr lang="en-US" sz="950" dirty="0">
                          <a:solidFill>
                            <a:srgbClr val="000000"/>
                          </a:solidFill>
                          <a:latin typeface="Calibri" pitchFamily="34" charset="0"/>
                          <a:ea typeface="Calibri" pitchFamily="34" charset="-122"/>
                          <a:cs typeface="Calibri" pitchFamily="34" charset="-120"/>
                        </a:rPr>
                        <a:t>Verstappen</a:t>
                      </a:r>
                      <a:endParaRPr lang="en-US" sz="950" dirty="0">
                        <a:latin typeface="Calibri" charset="0"/>
                        <a:ea typeface="Calibri" charset="0"/>
                        <a:cs typeface="Calibri" charset="0"/>
                      </a:endParaRPr>
                    </a:p>
                  </a:txBody>
                  <a:tcP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marL="0" indent="0">
                        <a:buNone/>
                      </a:pPr>
                      <a:r>
                        <a:rPr lang="en-US" sz="950" dirty="0">
                          <a:solidFill>
                            <a:srgbClr val="000000"/>
                          </a:solidFill>
                          <a:latin typeface="Calibri" pitchFamily="34" charset="0"/>
                          <a:ea typeface="Calibri" pitchFamily="34" charset="-122"/>
                          <a:cs typeface="Calibri" pitchFamily="34" charset="-120"/>
                        </a:rPr>
                        <a:t>Verstappen</a:t>
                      </a:r>
                      <a:endParaRPr lang="en-US" sz="950" dirty="0">
                        <a:latin typeface="Calibri" charset="0"/>
                        <a:ea typeface="Calibri" charset="0"/>
                        <a:cs typeface="Calibri" charset="0"/>
                      </a:endParaRPr>
                    </a:p>
                  </a:txBody>
                  <a:tcP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marL="0" indent="0">
                        <a:buNone/>
                      </a:pPr>
                      <a:r>
                        <a:rPr lang="en-US" sz="950" dirty="0">
                          <a:solidFill>
                            <a:srgbClr val="000000"/>
                          </a:solidFill>
                          <a:latin typeface="Calibri" pitchFamily="34" charset="0"/>
                          <a:ea typeface="Calibri" pitchFamily="34" charset="-122"/>
                          <a:cs typeface="Calibri" pitchFamily="34" charset="-120"/>
                        </a:rPr>
                        <a:t>✅ Correct</a:t>
                      </a:r>
                      <a:endParaRPr lang="en-US" sz="950" dirty="0">
                        <a:latin typeface="Calibri" charset="0"/>
                        <a:ea typeface="Calibri" charset="0"/>
                        <a:cs typeface="Calibri" charset="0"/>
                      </a:endParaRPr>
                    </a:p>
                  </a:txBody>
                  <a:tcP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marL="0" indent="0">
                        <a:buNone/>
                      </a:pPr>
                      <a:r>
                        <a:rPr lang="en-US" sz="950" dirty="0">
                          <a:solidFill>
                            <a:srgbClr val="000000"/>
                          </a:solidFill>
                          <a:latin typeface="Calibri" pitchFamily="34" charset="0"/>
                          <a:ea typeface="Calibri" pitchFamily="34" charset="-122"/>
                          <a:cs typeface="Calibri" pitchFamily="34" charset="-120"/>
                        </a:rPr>
                        <a:t>37% probability</a:t>
                      </a:r>
                      <a:endParaRPr lang="en-US" sz="950" dirty="0">
                        <a:latin typeface="Calibri" charset="0"/>
                        <a:ea typeface="Calibri" charset="0"/>
                        <a:cs typeface="Calibri" charset="0"/>
                      </a:endParaRPr>
                    </a:p>
                  </a:txBody>
                  <a:tcP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extLst>
                  <a:ext uri="{0D108BD9-81ED-4DB2-BD59-A6C34878D82A}">
                    <a16:rowId xmlns:a16="http://schemas.microsoft.com/office/drawing/2014/main" val="10002"/>
                  </a:ext>
                </a:extLst>
              </a:tr>
              <a:tr h="274320">
                <a:tc>
                  <a:txBody>
                    <a:bodyPr/>
                    <a:lstStyle/>
                    <a:p>
                      <a:pPr marL="0" indent="0">
                        <a:buNone/>
                      </a:pPr>
                      <a:r>
                        <a:rPr lang="en-US" sz="950" dirty="0">
                          <a:solidFill>
                            <a:srgbClr val="000000"/>
                          </a:solidFill>
                          <a:latin typeface="Calibri" pitchFamily="34" charset="0"/>
                          <a:ea typeface="Calibri" pitchFamily="34" charset="-122"/>
                          <a:cs typeface="Calibri" pitchFamily="34" charset="-120"/>
                        </a:rPr>
                        <a:t>2025 R4 Bahrain</a:t>
                      </a:r>
                      <a:endParaRPr lang="en-US" sz="950" dirty="0">
                        <a:latin typeface="Calibri" charset="0"/>
                        <a:ea typeface="Calibri" charset="0"/>
                        <a:cs typeface="Calibri" charset="0"/>
                      </a:endParaRPr>
                    </a:p>
                  </a:txBody>
                  <a:tcP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marL="0" indent="0">
                        <a:buNone/>
                      </a:pPr>
                      <a:r>
                        <a:rPr lang="en-US" sz="950" dirty="0">
                          <a:solidFill>
                            <a:srgbClr val="000000"/>
                          </a:solidFill>
                          <a:latin typeface="Calibri" pitchFamily="34" charset="0"/>
                          <a:ea typeface="Calibri" pitchFamily="34" charset="-122"/>
                          <a:cs typeface="Calibri" pitchFamily="34" charset="-120"/>
                        </a:rPr>
                        <a:t>Piastri</a:t>
                      </a:r>
                      <a:endParaRPr lang="en-US" sz="950" dirty="0">
                        <a:latin typeface="Calibri" charset="0"/>
                        <a:ea typeface="Calibri" charset="0"/>
                        <a:cs typeface="Calibri" charset="0"/>
                      </a:endParaRPr>
                    </a:p>
                  </a:txBody>
                  <a:tcP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marL="0" indent="0">
                        <a:buNone/>
                      </a:pPr>
                      <a:r>
                        <a:rPr lang="en-US" sz="950" dirty="0">
                          <a:solidFill>
                            <a:srgbClr val="000000"/>
                          </a:solidFill>
                          <a:latin typeface="Calibri" pitchFamily="34" charset="0"/>
                          <a:ea typeface="Calibri" pitchFamily="34" charset="-122"/>
                          <a:cs typeface="Calibri" pitchFamily="34" charset="-120"/>
                        </a:rPr>
                        <a:t>Piastri</a:t>
                      </a:r>
                      <a:endParaRPr lang="en-US" sz="950" dirty="0">
                        <a:latin typeface="Calibri" charset="0"/>
                        <a:ea typeface="Calibri" charset="0"/>
                        <a:cs typeface="Calibri" charset="0"/>
                      </a:endParaRPr>
                    </a:p>
                  </a:txBody>
                  <a:tcP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marL="0" indent="0">
                        <a:buNone/>
                      </a:pPr>
                      <a:r>
                        <a:rPr lang="en-US" sz="950" dirty="0">
                          <a:solidFill>
                            <a:srgbClr val="000000"/>
                          </a:solidFill>
                          <a:latin typeface="Calibri" pitchFamily="34" charset="0"/>
                          <a:ea typeface="Calibri" pitchFamily="34" charset="-122"/>
                          <a:cs typeface="Calibri" pitchFamily="34" charset="-120"/>
                        </a:rPr>
                        <a:t>✅ Correct</a:t>
                      </a:r>
                      <a:endParaRPr lang="en-US" sz="950" dirty="0">
                        <a:latin typeface="Calibri" charset="0"/>
                        <a:ea typeface="Calibri" charset="0"/>
                        <a:cs typeface="Calibri" charset="0"/>
                      </a:endParaRPr>
                    </a:p>
                  </a:txBody>
                  <a:tcP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marL="0" indent="0">
                        <a:buNone/>
                      </a:pPr>
                      <a:r>
                        <a:rPr lang="en-US" sz="950" dirty="0">
                          <a:solidFill>
                            <a:srgbClr val="000000"/>
                          </a:solidFill>
                          <a:latin typeface="Calibri" pitchFamily="34" charset="0"/>
                          <a:ea typeface="Calibri" pitchFamily="34" charset="-122"/>
                          <a:cs typeface="Calibri" pitchFamily="34" charset="-120"/>
                        </a:rPr>
                        <a:t>78% probability</a:t>
                      </a:r>
                      <a:endParaRPr lang="en-US" sz="950" dirty="0">
                        <a:latin typeface="Calibri" charset="0"/>
                        <a:ea typeface="Calibri" charset="0"/>
                        <a:cs typeface="Calibri" charset="0"/>
                      </a:endParaRPr>
                    </a:p>
                  </a:txBody>
                  <a:tcP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extLst>
                  <a:ext uri="{0D108BD9-81ED-4DB2-BD59-A6C34878D82A}">
                    <a16:rowId xmlns:a16="http://schemas.microsoft.com/office/drawing/2014/main" val="10003"/>
                  </a:ext>
                </a:extLst>
              </a:tr>
              <a:tr h="274320">
                <a:tc>
                  <a:txBody>
                    <a:bodyPr/>
                    <a:lstStyle/>
                    <a:p>
                      <a:pPr marL="0" indent="0">
                        <a:buNone/>
                      </a:pPr>
                      <a:r>
                        <a:rPr lang="en-US" sz="950" dirty="0">
                          <a:solidFill>
                            <a:srgbClr val="000000"/>
                          </a:solidFill>
                          <a:latin typeface="Calibri" pitchFamily="34" charset="0"/>
                          <a:ea typeface="Calibri" pitchFamily="34" charset="-122"/>
                          <a:cs typeface="Calibri" pitchFamily="34" charset="-120"/>
                        </a:rPr>
                        <a:t>2025 R8 Monaco</a:t>
                      </a:r>
                      <a:endParaRPr lang="en-US" sz="950" dirty="0">
                        <a:latin typeface="Calibri" charset="0"/>
                        <a:ea typeface="Calibri" charset="0"/>
                        <a:cs typeface="Calibri" charset="0"/>
                      </a:endParaRPr>
                    </a:p>
                  </a:txBody>
                  <a:tcP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marL="0" indent="0">
                        <a:buNone/>
                      </a:pPr>
                      <a:r>
                        <a:rPr lang="en-US" sz="950" dirty="0">
                          <a:solidFill>
                            <a:srgbClr val="000000"/>
                          </a:solidFill>
                          <a:latin typeface="Calibri" pitchFamily="34" charset="0"/>
                          <a:ea typeface="Calibri" pitchFamily="34" charset="-122"/>
                          <a:cs typeface="Calibri" pitchFamily="34" charset="-120"/>
                        </a:rPr>
                        <a:t>Norris</a:t>
                      </a:r>
                      <a:endParaRPr lang="en-US" sz="950" dirty="0">
                        <a:latin typeface="Calibri" charset="0"/>
                        <a:ea typeface="Calibri" charset="0"/>
                        <a:cs typeface="Calibri" charset="0"/>
                      </a:endParaRPr>
                    </a:p>
                  </a:txBody>
                  <a:tcP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marL="0" indent="0">
                        <a:buNone/>
                      </a:pPr>
                      <a:r>
                        <a:rPr lang="en-US" sz="950" dirty="0">
                          <a:solidFill>
                            <a:srgbClr val="000000"/>
                          </a:solidFill>
                          <a:latin typeface="Calibri" pitchFamily="34" charset="0"/>
                          <a:ea typeface="Calibri" pitchFamily="34" charset="-122"/>
                          <a:cs typeface="Calibri" pitchFamily="34" charset="-120"/>
                        </a:rPr>
                        <a:t>Norris</a:t>
                      </a:r>
                      <a:endParaRPr lang="en-US" sz="950" dirty="0">
                        <a:latin typeface="Calibri" charset="0"/>
                        <a:ea typeface="Calibri" charset="0"/>
                        <a:cs typeface="Calibri" charset="0"/>
                      </a:endParaRPr>
                    </a:p>
                  </a:txBody>
                  <a:tcP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marL="0" indent="0">
                        <a:buNone/>
                      </a:pPr>
                      <a:r>
                        <a:rPr lang="en-US" sz="950" dirty="0">
                          <a:solidFill>
                            <a:srgbClr val="000000"/>
                          </a:solidFill>
                          <a:latin typeface="Calibri" pitchFamily="34" charset="0"/>
                          <a:ea typeface="Calibri" pitchFamily="34" charset="-122"/>
                          <a:cs typeface="Calibri" pitchFamily="34" charset="-120"/>
                        </a:rPr>
                        <a:t>✅ Correct</a:t>
                      </a:r>
                      <a:endParaRPr lang="en-US" sz="950" dirty="0">
                        <a:latin typeface="Calibri" charset="0"/>
                        <a:ea typeface="Calibri" charset="0"/>
                        <a:cs typeface="Calibri" charset="0"/>
                      </a:endParaRPr>
                    </a:p>
                  </a:txBody>
                  <a:tcP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marL="0" indent="0">
                        <a:buNone/>
                      </a:pPr>
                      <a:r>
                        <a:rPr lang="en-US" sz="950" dirty="0">
                          <a:solidFill>
                            <a:srgbClr val="000000"/>
                          </a:solidFill>
                          <a:latin typeface="Calibri" pitchFamily="34" charset="0"/>
                          <a:ea typeface="Calibri" pitchFamily="34" charset="-122"/>
                          <a:cs typeface="Calibri" pitchFamily="34" charset="-120"/>
                        </a:rPr>
                        <a:t>86% probability</a:t>
                      </a:r>
                      <a:endParaRPr lang="en-US" sz="950" dirty="0">
                        <a:latin typeface="Calibri" charset="0"/>
                        <a:ea typeface="Calibri" charset="0"/>
                        <a:cs typeface="Calibri" charset="0"/>
                      </a:endParaRPr>
                    </a:p>
                  </a:txBody>
                  <a:tcP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extLst>
                  <a:ext uri="{0D108BD9-81ED-4DB2-BD59-A6C34878D82A}">
                    <a16:rowId xmlns:a16="http://schemas.microsoft.com/office/drawing/2014/main" val="10004"/>
                  </a:ext>
                </a:extLst>
              </a:tr>
              <a:tr h="274320">
                <a:tc>
                  <a:txBody>
                    <a:bodyPr/>
                    <a:lstStyle/>
                    <a:p>
                      <a:pPr marL="0" indent="0">
                        <a:buNone/>
                      </a:pPr>
                      <a:r>
                        <a:rPr lang="en-US" sz="950" dirty="0">
                          <a:solidFill>
                            <a:srgbClr val="000000"/>
                          </a:solidFill>
                          <a:latin typeface="Calibri" pitchFamily="34" charset="0"/>
                          <a:ea typeface="Calibri" pitchFamily="34" charset="-122"/>
                          <a:cs typeface="Calibri" pitchFamily="34" charset="-120"/>
                        </a:rPr>
                        <a:t>2025 R10 Spain</a:t>
                      </a:r>
                      <a:endParaRPr lang="en-US" sz="950" dirty="0">
                        <a:latin typeface="Calibri" charset="0"/>
                        <a:ea typeface="Calibri" charset="0"/>
                        <a:cs typeface="Calibri" charset="0"/>
                      </a:endParaRPr>
                    </a:p>
                  </a:txBody>
                  <a:tcP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marL="0" indent="0">
                        <a:buNone/>
                      </a:pPr>
                      <a:r>
                        <a:rPr lang="en-US" sz="950" dirty="0">
                          <a:solidFill>
                            <a:srgbClr val="000000"/>
                          </a:solidFill>
                          <a:latin typeface="Calibri" pitchFamily="34" charset="0"/>
                          <a:ea typeface="Calibri" pitchFamily="34" charset="-122"/>
                          <a:cs typeface="Calibri" pitchFamily="34" charset="-120"/>
                        </a:rPr>
                        <a:t>Russell</a:t>
                      </a:r>
                      <a:endParaRPr lang="en-US" sz="950" dirty="0">
                        <a:latin typeface="Calibri" charset="0"/>
                        <a:ea typeface="Calibri" charset="0"/>
                        <a:cs typeface="Calibri" charset="0"/>
                      </a:endParaRPr>
                    </a:p>
                  </a:txBody>
                  <a:tcP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marL="0" indent="0">
                        <a:buNone/>
                      </a:pPr>
                      <a:r>
                        <a:rPr lang="en-US" sz="950" dirty="0">
                          <a:solidFill>
                            <a:srgbClr val="000000"/>
                          </a:solidFill>
                          <a:latin typeface="Calibri" pitchFamily="34" charset="0"/>
                          <a:ea typeface="Calibri" pitchFamily="34" charset="-122"/>
                          <a:cs typeface="Calibri" pitchFamily="34" charset="-120"/>
                        </a:rPr>
                        <a:t>Russell</a:t>
                      </a:r>
                      <a:endParaRPr lang="en-US" sz="950" dirty="0">
                        <a:latin typeface="Calibri" charset="0"/>
                        <a:ea typeface="Calibri" charset="0"/>
                        <a:cs typeface="Calibri" charset="0"/>
                      </a:endParaRPr>
                    </a:p>
                  </a:txBody>
                  <a:tcP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marL="0" indent="0">
                        <a:buNone/>
                      </a:pPr>
                      <a:r>
                        <a:rPr lang="en-US" sz="950" dirty="0">
                          <a:solidFill>
                            <a:srgbClr val="000000"/>
                          </a:solidFill>
                          <a:latin typeface="Calibri" pitchFamily="34" charset="0"/>
                          <a:ea typeface="Calibri" pitchFamily="34" charset="-122"/>
                          <a:cs typeface="Calibri" pitchFamily="34" charset="-120"/>
                        </a:rPr>
                        <a:t>✅ Correct</a:t>
                      </a:r>
                      <a:endParaRPr lang="en-US" sz="950" dirty="0">
                        <a:latin typeface="Calibri" charset="0"/>
                        <a:ea typeface="Calibri" charset="0"/>
                        <a:cs typeface="Calibri" charset="0"/>
                      </a:endParaRPr>
                    </a:p>
                  </a:txBody>
                  <a:tcP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marL="0" indent="0">
                        <a:buNone/>
                      </a:pPr>
                      <a:r>
                        <a:rPr lang="en-US" sz="950" dirty="0">
                          <a:solidFill>
                            <a:srgbClr val="000000"/>
                          </a:solidFill>
                          <a:latin typeface="Calibri" pitchFamily="34" charset="0"/>
                          <a:ea typeface="Calibri" pitchFamily="34" charset="-122"/>
                          <a:cs typeface="Calibri" pitchFamily="34" charset="-120"/>
                        </a:rPr>
                        <a:t>26% probability</a:t>
                      </a:r>
                      <a:endParaRPr lang="en-US" sz="950" dirty="0">
                        <a:latin typeface="Calibri" charset="0"/>
                        <a:ea typeface="Calibri" charset="0"/>
                        <a:cs typeface="Calibri" charset="0"/>
                      </a:endParaRPr>
                    </a:p>
                  </a:txBody>
                  <a:tcP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extLst>
                  <a:ext uri="{0D108BD9-81ED-4DB2-BD59-A6C34878D82A}">
                    <a16:rowId xmlns:a16="http://schemas.microsoft.com/office/drawing/2014/main" val="10005"/>
                  </a:ext>
                </a:extLst>
              </a:tr>
              <a:tr h="274320">
                <a:tc>
                  <a:txBody>
                    <a:bodyPr/>
                    <a:lstStyle/>
                    <a:p>
                      <a:pPr marL="0" indent="0">
                        <a:buNone/>
                      </a:pPr>
                      <a:r>
                        <a:rPr lang="en-US" sz="950" dirty="0">
                          <a:solidFill>
                            <a:srgbClr val="000000"/>
                          </a:solidFill>
                          <a:latin typeface="Calibri" pitchFamily="34" charset="0"/>
                          <a:ea typeface="Calibri" pitchFamily="34" charset="-122"/>
                          <a:cs typeface="Calibri" pitchFamily="34" charset="-120"/>
                        </a:rPr>
                        <a:t>2026 R3 Japan</a:t>
                      </a:r>
                      <a:endParaRPr lang="en-US" sz="950" dirty="0">
                        <a:latin typeface="Calibri" charset="0"/>
                        <a:ea typeface="Calibri" charset="0"/>
                        <a:cs typeface="Calibri" charset="0"/>
                      </a:endParaRPr>
                    </a:p>
                  </a:txBody>
                  <a:tcP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marL="0" indent="0">
                        <a:buNone/>
                      </a:pPr>
                      <a:r>
                        <a:rPr lang="en-US" sz="950" dirty="0">
                          <a:solidFill>
                            <a:srgbClr val="000000"/>
                          </a:solidFill>
                          <a:latin typeface="Calibri" pitchFamily="34" charset="0"/>
                          <a:ea typeface="Calibri" pitchFamily="34" charset="-122"/>
                          <a:cs typeface="Calibri" pitchFamily="34" charset="-120"/>
                        </a:rPr>
                        <a:t>Antonelli</a:t>
                      </a:r>
                      <a:endParaRPr lang="en-US" sz="950" dirty="0">
                        <a:latin typeface="Calibri" charset="0"/>
                        <a:ea typeface="Calibri" charset="0"/>
                        <a:cs typeface="Calibri" charset="0"/>
                      </a:endParaRPr>
                    </a:p>
                  </a:txBody>
                  <a:tcP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marL="0" indent="0">
                        <a:buNone/>
                      </a:pPr>
                      <a:r>
                        <a:rPr lang="en-US" sz="950" dirty="0">
                          <a:solidFill>
                            <a:srgbClr val="000000"/>
                          </a:solidFill>
                          <a:latin typeface="Calibri" pitchFamily="34" charset="0"/>
                          <a:ea typeface="Calibri" pitchFamily="34" charset="-122"/>
                          <a:cs typeface="Calibri" pitchFamily="34" charset="-120"/>
                        </a:rPr>
                        <a:t>Antonelli</a:t>
                      </a:r>
                      <a:endParaRPr lang="en-US" sz="950" dirty="0">
                        <a:latin typeface="Calibri" charset="0"/>
                        <a:ea typeface="Calibri" charset="0"/>
                        <a:cs typeface="Calibri" charset="0"/>
                      </a:endParaRPr>
                    </a:p>
                  </a:txBody>
                  <a:tcP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marL="0" indent="0">
                        <a:buNone/>
                      </a:pPr>
                      <a:r>
                        <a:rPr lang="en-US" sz="950" dirty="0">
                          <a:solidFill>
                            <a:srgbClr val="000000"/>
                          </a:solidFill>
                          <a:latin typeface="Calibri" pitchFamily="34" charset="0"/>
                          <a:ea typeface="Calibri" pitchFamily="34" charset="-122"/>
                          <a:cs typeface="Calibri" pitchFamily="34" charset="-120"/>
                        </a:rPr>
                        <a:t>✅ Correct</a:t>
                      </a:r>
                      <a:endParaRPr lang="en-US" sz="950" dirty="0">
                        <a:latin typeface="Calibri" charset="0"/>
                        <a:ea typeface="Calibri" charset="0"/>
                        <a:cs typeface="Calibri" charset="0"/>
                      </a:endParaRPr>
                    </a:p>
                  </a:txBody>
                  <a:tcP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marL="0" indent="0">
                        <a:buNone/>
                      </a:pPr>
                      <a:r>
                        <a:rPr lang="en-US" sz="950" dirty="0">
                          <a:solidFill>
                            <a:srgbClr val="000000"/>
                          </a:solidFill>
                          <a:latin typeface="Calibri" pitchFamily="34" charset="0"/>
                          <a:ea typeface="Calibri" pitchFamily="34" charset="-122"/>
                          <a:cs typeface="Calibri" pitchFamily="34" charset="-120"/>
                        </a:rPr>
                        <a:t>42% probability</a:t>
                      </a:r>
                      <a:endParaRPr lang="en-US" sz="950" dirty="0">
                        <a:latin typeface="Calibri" charset="0"/>
                        <a:ea typeface="Calibri" charset="0"/>
                        <a:cs typeface="Calibri" charset="0"/>
                      </a:endParaRPr>
                    </a:p>
                  </a:txBody>
                  <a:tcP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extLst>
                  <a:ext uri="{0D108BD9-81ED-4DB2-BD59-A6C34878D82A}">
                    <a16:rowId xmlns:a16="http://schemas.microsoft.com/office/drawing/2014/main" val="10006"/>
                  </a:ext>
                </a:extLst>
              </a:tr>
              <a:tr h="274320">
                <a:tc>
                  <a:txBody>
                    <a:bodyPr/>
                    <a:lstStyle/>
                    <a:p>
                      <a:pPr marL="0" indent="0">
                        <a:buNone/>
                      </a:pPr>
                      <a:r>
                        <a:rPr lang="en-US" sz="950" dirty="0">
                          <a:solidFill>
                            <a:srgbClr val="000000"/>
                          </a:solidFill>
                          <a:latin typeface="Calibri" pitchFamily="34" charset="0"/>
                          <a:ea typeface="Calibri" pitchFamily="34" charset="-122"/>
                          <a:cs typeface="Calibri" pitchFamily="34" charset="-120"/>
                        </a:rPr>
                        <a:t>2025 R1 Australia</a:t>
                      </a:r>
                      <a:endParaRPr lang="en-US" sz="950" dirty="0">
                        <a:latin typeface="Calibri" charset="0"/>
                        <a:ea typeface="Calibri" charset="0"/>
                        <a:cs typeface="Calibri" charset="0"/>
                      </a:endParaRPr>
                    </a:p>
                  </a:txBody>
                  <a:tcP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marL="0" indent="0">
                        <a:buNone/>
                      </a:pPr>
                      <a:r>
                        <a:rPr lang="en-US" sz="950" dirty="0">
                          <a:solidFill>
                            <a:srgbClr val="000000"/>
                          </a:solidFill>
                          <a:latin typeface="Calibri" pitchFamily="34" charset="0"/>
                          <a:ea typeface="Calibri" pitchFamily="34" charset="-122"/>
                          <a:cs typeface="Calibri" pitchFamily="34" charset="-120"/>
                        </a:rPr>
                        <a:t>Verstappen</a:t>
                      </a:r>
                      <a:endParaRPr lang="en-US" sz="950" dirty="0">
                        <a:latin typeface="Calibri" charset="0"/>
                        <a:ea typeface="Calibri" charset="0"/>
                        <a:cs typeface="Calibri" charset="0"/>
                      </a:endParaRPr>
                    </a:p>
                  </a:txBody>
                  <a:tcP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marL="0" indent="0">
                        <a:buNone/>
                      </a:pPr>
                      <a:r>
                        <a:rPr lang="en-US" sz="950" dirty="0">
                          <a:solidFill>
                            <a:srgbClr val="000000"/>
                          </a:solidFill>
                          <a:latin typeface="Calibri" pitchFamily="34" charset="0"/>
                          <a:ea typeface="Calibri" pitchFamily="34" charset="-122"/>
                          <a:cs typeface="Calibri" pitchFamily="34" charset="-120"/>
                        </a:rPr>
                        <a:t>Norris</a:t>
                      </a:r>
                      <a:endParaRPr lang="en-US" sz="950" dirty="0">
                        <a:latin typeface="Calibri" charset="0"/>
                        <a:ea typeface="Calibri" charset="0"/>
                        <a:cs typeface="Calibri" charset="0"/>
                      </a:endParaRPr>
                    </a:p>
                  </a:txBody>
                  <a:tcP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marL="0" indent="0">
                        <a:buNone/>
                      </a:pPr>
                      <a:r>
                        <a:rPr lang="en-US" sz="950" dirty="0">
                          <a:solidFill>
                            <a:srgbClr val="C41E1E"/>
                          </a:solidFill>
                          <a:latin typeface="Calibri" pitchFamily="34" charset="0"/>
                          <a:ea typeface="Calibri" pitchFamily="34" charset="-122"/>
                          <a:cs typeface="Calibri" pitchFamily="34" charset="-120"/>
                        </a:rPr>
                        <a:t>❌ Missed</a:t>
                      </a:r>
                      <a:endParaRPr lang="en-US" sz="950" dirty="0">
                        <a:latin typeface="Calibri" charset="0"/>
                        <a:ea typeface="Calibri" charset="0"/>
                        <a:cs typeface="Calibri" charset="0"/>
                      </a:endParaRPr>
                    </a:p>
                  </a:txBody>
                  <a:tcP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marL="0" indent="0">
                        <a:buNone/>
                      </a:pPr>
                      <a:r>
                        <a:rPr lang="en-US" sz="950" dirty="0">
                          <a:solidFill>
                            <a:srgbClr val="000000"/>
                          </a:solidFill>
                          <a:latin typeface="Calibri" pitchFamily="34" charset="0"/>
                          <a:ea typeface="Calibri" pitchFamily="34" charset="-122"/>
                          <a:cs typeface="Calibri" pitchFamily="34" charset="-120"/>
                        </a:rPr>
                        <a:t>Norris was #2 pick</a:t>
                      </a:r>
                      <a:endParaRPr lang="en-US" sz="950" dirty="0">
                        <a:latin typeface="Calibri" charset="0"/>
                        <a:ea typeface="Calibri" charset="0"/>
                        <a:cs typeface="Calibri" charset="0"/>
                      </a:endParaRPr>
                    </a:p>
                  </a:txBody>
                  <a:tcP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extLst>
                  <a:ext uri="{0D108BD9-81ED-4DB2-BD59-A6C34878D82A}">
                    <a16:rowId xmlns:a16="http://schemas.microsoft.com/office/drawing/2014/main" val="10007"/>
                  </a:ext>
                </a:extLst>
              </a:tr>
            </a:tbl>
          </a:graphicData>
        </a:graphic>
      </p:graphicFrame>
      <p:sp>
        <p:nvSpPr>
          <p:cNvPr id="9" name="Shape 5"/>
          <p:cNvSpPr/>
          <p:nvPr/>
        </p:nvSpPr>
        <p:spPr>
          <a:xfrm>
            <a:off x="365760" y="3474720"/>
            <a:ext cx="2560320" cy="822960"/>
          </a:xfrm>
          <a:prstGeom prst="rect">
            <a:avLst/>
          </a:prstGeom>
          <a:solidFill>
            <a:srgbClr val="E6F4EA"/>
          </a:solidFill>
          <a:ln/>
          <a:effectLst>
            <a:outerShdw blurRad="50800" dist="25400" dir="8100000" algn="bl" rotWithShape="0">
              <a:srgbClr val="000000">
                <a:alpha val="10000"/>
              </a:srgbClr>
            </a:outerShdw>
          </a:effectLst>
        </p:spPr>
        <p:txBody>
          <a:bodyPr/>
          <a:lstStyle/>
          <a:p>
            <a:endParaRPr lang="en-US"/>
          </a:p>
        </p:txBody>
      </p:sp>
      <p:sp>
        <p:nvSpPr>
          <p:cNvPr id="10" name="Text 6"/>
          <p:cNvSpPr/>
          <p:nvPr/>
        </p:nvSpPr>
        <p:spPr>
          <a:xfrm>
            <a:off x="365760" y="3566160"/>
            <a:ext cx="2560320" cy="411480"/>
          </a:xfrm>
          <a:prstGeom prst="rect">
            <a:avLst/>
          </a:prstGeom>
          <a:noFill/>
          <a:ln/>
        </p:spPr>
        <p:txBody>
          <a:bodyPr wrap="square" lIns="0" tIns="0" rIns="0" bIns="0" rtlCol="0" anchor="ctr"/>
          <a:lstStyle/>
          <a:p>
            <a:pPr marL="0" indent="0" algn="ctr">
              <a:buNone/>
            </a:pPr>
            <a:r>
              <a:rPr lang="en-US" sz="2800" b="1" dirty="0">
                <a:solidFill>
                  <a:srgbClr val="059669"/>
                </a:solidFill>
                <a:latin typeface="Georgia" pitchFamily="34" charset="0"/>
                <a:ea typeface="Georgia" pitchFamily="34" charset="-122"/>
                <a:cs typeface="Georgia" pitchFamily="34" charset="-120"/>
              </a:rPr>
              <a:t>21/27</a:t>
            </a:r>
            <a:endParaRPr lang="en-US" sz="2800" dirty="0"/>
          </a:p>
        </p:txBody>
      </p:sp>
      <p:sp>
        <p:nvSpPr>
          <p:cNvPr id="11" name="Text 7"/>
          <p:cNvSpPr/>
          <p:nvPr/>
        </p:nvSpPr>
        <p:spPr>
          <a:xfrm>
            <a:off x="365760" y="3886200"/>
            <a:ext cx="2560320" cy="274320"/>
          </a:xfrm>
          <a:prstGeom prst="rect">
            <a:avLst/>
          </a:prstGeom>
          <a:noFill/>
          <a:ln/>
        </p:spPr>
        <p:txBody>
          <a:bodyPr wrap="square" lIns="0" tIns="0" rIns="0" bIns="0" rtlCol="0" anchor="ctr"/>
          <a:lstStyle/>
          <a:p>
            <a:pPr marL="0" indent="0" algn="ctr">
              <a:buNone/>
            </a:pPr>
            <a:r>
              <a:rPr lang="en-US" sz="1000" dirty="0">
                <a:solidFill>
                  <a:srgbClr val="059669"/>
                </a:solidFill>
                <a:latin typeface="Calibri" pitchFamily="34" charset="0"/>
                <a:ea typeface="Calibri" pitchFamily="34" charset="-122"/>
                <a:cs typeface="Calibri" pitchFamily="34" charset="-120"/>
              </a:rPr>
              <a:t>Winners Correct</a:t>
            </a:r>
            <a:endParaRPr lang="en-US" sz="1000" dirty="0"/>
          </a:p>
        </p:txBody>
      </p:sp>
      <p:sp>
        <p:nvSpPr>
          <p:cNvPr id="12" name="Text 8"/>
          <p:cNvSpPr/>
          <p:nvPr/>
        </p:nvSpPr>
        <p:spPr>
          <a:xfrm>
            <a:off x="365760" y="4160520"/>
            <a:ext cx="2560320" cy="274320"/>
          </a:xfrm>
          <a:prstGeom prst="rect">
            <a:avLst/>
          </a:prstGeom>
          <a:noFill/>
          <a:ln/>
        </p:spPr>
        <p:txBody>
          <a:bodyPr wrap="square" lIns="0" tIns="0" rIns="0" bIns="0" rtlCol="0" anchor="ctr"/>
          <a:lstStyle/>
          <a:p>
            <a:pPr marL="0" indent="0" algn="ctr">
              <a:buNone/>
            </a:pPr>
            <a:r>
              <a:rPr lang="en-US" sz="800" dirty="0">
                <a:solidFill>
                  <a:srgbClr val="949594"/>
                </a:solidFill>
                <a:latin typeface="Calibri" pitchFamily="34" charset="0"/>
                <a:ea typeface="Calibri" pitchFamily="34" charset="-122"/>
                <a:cs typeface="Calibri" pitchFamily="34" charset="-120"/>
              </a:rPr>
              <a:t>77.8%</a:t>
            </a:r>
            <a:endParaRPr lang="en-US" sz="800" dirty="0"/>
          </a:p>
        </p:txBody>
      </p:sp>
      <p:sp>
        <p:nvSpPr>
          <p:cNvPr id="13" name="Shape 9"/>
          <p:cNvSpPr/>
          <p:nvPr/>
        </p:nvSpPr>
        <p:spPr>
          <a:xfrm>
            <a:off x="3200400" y="3474720"/>
            <a:ext cx="2560320" cy="822960"/>
          </a:xfrm>
          <a:prstGeom prst="rect">
            <a:avLst/>
          </a:prstGeom>
          <a:solidFill>
            <a:srgbClr val="E6F4EA"/>
          </a:solidFill>
          <a:ln/>
          <a:effectLst>
            <a:outerShdw blurRad="50800" dist="25400" dir="8100000" algn="bl" rotWithShape="0">
              <a:srgbClr val="000000">
                <a:alpha val="10000"/>
              </a:srgbClr>
            </a:outerShdw>
          </a:effectLst>
        </p:spPr>
        <p:txBody>
          <a:bodyPr/>
          <a:lstStyle/>
          <a:p>
            <a:endParaRPr lang="en-US"/>
          </a:p>
        </p:txBody>
      </p:sp>
      <p:sp>
        <p:nvSpPr>
          <p:cNvPr id="14" name="Text 10"/>
          <p:cNvSpPr/>
          <p:nvPr/>
        </p:nvSpPr>
        <p:spPr>
          <a:xfrm>
            <a:off x="3200400" y="3566160"/>
            <a:ext cx="2560320" cy="411480"/>
          </a:xfrm>
          <a:prstGeom prst="rect">
            <a:avLst/>
          </a:prstGeom>
          <a:noFill/>
          <a:ln/>
        </p:spPr>
        <p:txBody>
          <a:bodyPr wrap="square" lIns="0" tIns="0" rIns="0" bIns="0" rtlCol="0" anchor="ctr"/>
          <a:lstStyle/>
          <a:p>
            <a:pPr marL="0" indent="0" algn="ctr">
              <a:buNone/>
            </a:pPr>
            <a:r>
              <a:rPr lang="en-US" sz="2800" b="1" dirty="0">
                <a:solidFill>
                  <a:srgbClr val="059669"/>
                </a:solidFill>
                <a:latin typeface="Georgia" pitchFamily="34" charset="0"/>
                <a:ea typeface="Georgia" pitchFamily="34" charset="-122"/>
                <a:cs typeface="Georgia" pitchFamily="34" charset="-120"/>
              </a:rPr>
              <a:t>27/27</a:t>
            </a:r>
            <a:endParaRPr lang="en-US" sz="2800" dirty="0"/>
          </a:p>
        </p:txBody>
      </p:sp>
      <p:sp>
        <p:nvSpPr>
          <p:cNvPr id="15" name="Text 11"/>
          <p:cNvSpPr/>
          <p:nvPr/>
        </p:nvSpPr>
        <p:spPr>
          <a:xfrm>
            <a:off x="3200400" y="3886200"/>
            <a:ext cx="2560320" cy="274320"/>
          </a:xfrm>
          <a:prstGeom prst="rect">
            <a:avLst/>
          </a:prstGeom>
          <a:noFill/>
          <a:ln/>
        </p:spPr>
        <p:txBody>
          <a:bodyPr wrap="square" lIns="0" tIns="0" rIns="0" bIns="0" rtlCol="0" anchor="ctr"/>
          <a:lstStyle/>
          <a:p>
            <a:pPr marL="0" indent="0" algn="ctr">
              <a:buNone/>
            </a:pPr>
            <a:r>
              <a:rPr lang="en-US" sz="1000" dirty="0">
                <a:solidFill>
                  <a:srgbClr val="059669"/>
                </a:solidFill>
                <a:latin typeface="Calibri" pitchFamily="34" charset="0"/>
                <a:ea typeface="Calibri" pitchFamily="34" charset="-122"/>
                <a:cs typeface="Calibri" pitchFamily="34" charset="-120"/>
              </a:rPr>
              <a:t>Winner in Top-3</a:t>
            </a:r>
            <a:endParaRPr lang="en-US" sz="1000" dirty="0"/>
          </a:p>
        </p:txBody>
      </p:sp>
      <p:sp>
        <p:nvSpPr>
          <p:cNvPr id="16" name="Text 12"/>
          <p:cNvSpPr/>
          <p:nvPr/>
        </p:nvSpPr>
        <p:spPr>
          <a:xfrm>
            <a:off x="3200400" y="4160520"/>
            <a:ext cx="2560320" cy="274320"/>
          </a:xfrm>
          <a:prstGeom prst="rect">
            <a:avLst/>
          </a:prstGeom>
          <a:noFill/>
          <a:ln/>
        </p:spPr>
        <p:txBody>
          <a:bodyPr wrap="square" lIns="0" tIns="0" rIns="0" bIns="0" rtlCol="0" anchor="ctr"/>
          <a:lstStyle/>
          <a:p>
            <a:pPr marL="0" indent="0" algn="ctr">
              <a:buNone/>
            </a:pPr>
            <a:r>
              <a:rPr lang="en-US" sz="800" dirty="0">
                <a:solidFill>
                  <a:srgbClr val="949594"/>
                </a:solidFill>
                <a:latin typeface="Calibri" pitchFamily="34" charset="0"/>
                <a:ea typeface="Calibri" pitchFamily="34" charset="-122"/>
                <a:cs typeface="Calibri" pitchFamily="34" charset="-120"/>
              </a:rPr>
              <a:t>100%</a:t>
            </a:r>
            <a:endParaRPr lang="en-US" sz="800" dirty="0"/>
          </a:p>
        </p:txBody>
      </p:sp>
      <p:sp>
        <p:nvSpPr>
          <p:cNvPr id="17" name="Shape 13"/>
          <p:cNvSpPr/>
          <p:nvPr/>
        </p:nvSpPr>
        <p:spPr>
          <a:xfrm>
            <a:off x="5943600" y="3474720"/>
            <a:ext cx="2560320" cy="822960"/>
          </a:xfrm>
          <a:prstGeom prst="rect">
            <a:avLst/>
          </a:prstGeom>
          <a:solidFill>
            <a:srgbClr val="E8F0FE"/>
          </a:solidFill>
          <a:ln/>
          <a:effectLst>
            <a:outerShdw blurRad="50800" dist="25400" dir="8100000" algn="bl" rotWithShape="0">
              <a:srgbClr val="000000">
                <a:alpha val="10000"/>
              </a:srgbClr>
            </a:outerShdw>
          </a:effectLst>
        </p:spPr>
        <p:txBody>
          <a:bodyPr/>
          <a:lstStyle/>
          <a:p>
            <a:endParaRPr lang="en-US"/>
          </a:p>
        </p:txBody>
      </p:sp>
      <p:sp>
        <p:nvSpPr>
          <p:cNvPr id="18" name="Text 14"/>
          <p:cNvSpPr/>
          <p:nvPr/>
        </p:nvSpPr>
        <p:spPr>
          <a:xfrm>
            <a:off x="5943600" y="3566160"/>
            <a:ext cx="2560320" cy="411480"/>
          </a:xfrm>
          <a:prstGeom prst="rect">
            <a:avLst/>
          </a:prstGeom>
          <a:noFill/>
          <a:ln/>
        </p:spPr>
        <p:txBody>
          <a:bodyPr wrap="square" lIns="0" tIns="0" rIns="0" bIns="0" rtlCol="0" anchor="ctr"/>
          <a:lstStyle/>
          <a:p>
            <a:pPr marL="0" indent="0" algn="ctr">
              <a:buNone/>
            </a:pPr>
            <a:r>
              <a:rPr lang="en-US" sz="2800" b="1" dirty="0">
                <a:solidFill>
                  <a:srgbClr val="2563EB"/>
                </a:solidFill>
                <a:latin typeface="Georgia" pitchFamily="34" charset="0"/>
                <a:ea typeface="Georgia" pitchFamily="34" charset="-122"/>
                <a:cs typeface="Georgia" pitchFamily="34" charset="-120"/>
              </a:rPr>
              <a:t>2.1</a:t>
            </a:r>
            <a:endParaRPr lang="en-US" sz="2800" dirty="0"/>
          </a:p>
        </p:txBody>
      </p:sp>
      <p:sp>
        <p:nvSpPr>
          <p:cNvPr id="19" name="Text 15"/>
          <p:cNvSpPr/>
          <p:nvPr/>
        </p:nvSpPr>
        <p:spPr>
          <a:xfrm>
            <a:off x="5943600" y="3886200"/>
            <a:ext cx="2560320" cy="274320"/>
          </a:xfrm>
          <a:prstGeom prst="rect">
            <a:avLst/>
          </a:prstGeom>
          <a:noFill/>
          <a:ln/>
        </p:spPr>
        <p:txBody>
          <a:bodyPr wrap="square" lIns="0" tIns="0" rIns="0" bIns="0" rtlCol="0" anchor="ctr"/>
          <a:lstStyle/>
          <a:p>
            <a:pPr marL="0" indent="0" algn="ctr">
              <a:buNone/>
            </a:pPr>
            <a:r>
              <a:rPr lang="en-US" sz="1000" dirty="0">
                <a:solidFill>
                  <a:srgbClr val="2563EB"/>
                </a:solidFill>
                <a:latin typeface="Calibri" pitchFamily="34" charset="0"/>
                <a:ea typeface="Calibri" pitchFamily="34" charset="-122"/>
                <a:cs typeface="Calibri" pitchFamily="34" charset="-120"/>
              </a:rPr>
              <a:t>Avg Positions Off</a:t>
            </a:r>
            <a:endParaRPr lang="en-US" sz="1000" dirty="0"/>
          </a:p>
        </p:txBody>
      </p:sp>
      <p:sp>
        <p:nvSpPr>
          <p:cNvPr id="20" name="Text 16"/>
          <p:cNvSpPr/>
          <p:nvPr/>
        </p:nvSpPr>
        <p:spPr>
          <a:xfrm>
            <a:off x="5943600" y="4160520"/>
            <a:ext cx="2560320" cy="274320"/>
          </a:xfrm>
          <a:prstGeom prst="rect">
            <a:avLst/>
          </a:prstGeom>
          <a:noFill/>
          <a:ln/>
        </p:spPr>
        <p:txBody>
          <a:bodyPr wrap="square" lIns="0" tIns="0" rIns="0" bIns="0" rtlCol="0" anchor="ctr"/>
          <a:lstStyle/>
          <a:p>
            <a:pPr marL="0" indent="0" algn="ctr">
              <a:buNone/>
            </a:pPr>
            <a:r>
              <a:rPr lang="en-US" sz="800" dirty="0">
                <a:solidFill>
                  <a:srgbClr val="949594"/>
                </a:solidFill>
                <a:latin typeface="Calibri" pitchFamily="34" charset="0"/>
                <a:ea typeface="Calibri" pitchFamily="34" charset="-122"/>
                <a:cs typeface="Calibri" pitchFamily="34" charset="-120"/>
              </a:rPr>
              <a:t>MAE on test set</a:t>
            </a:r>
            <a:endParaRPr lang="en-US" sz="800" dirty="0"/>
          </a:p>
        </p:txBody>
      </p:sp>
      <p:sp>
        <p:nvSpPr>
          <p:cNvPr id="8" name="Text 17"/>
          <p:cNvSpPr/>
          <p:nvPr/>
        </p:nvSpPr>
        <p:spPr>
          <a:xfrm>
            <a:off x="457200" y="4709160"/>
            <a:ext cx="6400800" cy="365760"/>
          </a:xfrm>
          <a:prstGeom prst="rect">
            <a:avLst/>
          </a:prstGeom>
          <a:noFill/>
          <a:ln/>
        </p:spPr>
        <p:txBody>
          <a:bodyPr wrap="square" rtlCol="0" anchor="ctr"/>
          <a:lstStyle/>
          <a:p>
            <a:pPr marL="0" indent="0">
              <a:buNone/>
            </a:pPr>
            <a:r>
              <a:rPr lang="en-US" sz="900" dirty="0">
                <a:solidFill>
                  <a:srgbClr val="949594"/>
                </a:solidFill>
                <a:latin typeface="Calibri" pitchFamily="34" charset="0"/>
                <a:ea typeface="Calibri" pitchFamily="34" charset="-122"/>
                <a:cs typeface="Calibri" pitchFamily="34" charset="-120"/>
              </a:rPr>
              <a:t>Speaker 3 — Predictions &amp; AI</a:t>
            </a:r>
            <a:endParaRPr lang="en-US" sz="900" dirty="0"/>
          </a:p>
        </p:txBody>
      </p:sp>
      <p:sp>
        <p:nvSpPr>
          <p:cNvPr id="22" name="Text 18"/>
          <p:cNvSpPr/>
          <p:nvPr/>
        </p:nvSpPr>
        <p:spPr>
          <a:xfrm>
            <a:off x="8412480" y="4709160"/>
            <a:ext cx="548640" cy="365760"/>
          </a:xfrm>
          <a:prstGeom prst="rect">
            <a:avLst/>
          </a:prstGeom>
          <a:noFill/>
          <a:ln/>
        </p:spPr>
        <p:txBody>
          <a:bodyPr wrap="square" rtlCol="0" anchor="ctr"/>
          <a:lstStyle/>
          <a:p>
            <a:pPr marL="0" indent="0" algn="r">
              <a:buNone/>
            </a:pPr>
            <a:r>
              <a:rPr lang="en-US" sz="900" dirty="0">
                <a:solidFill>
                  <a:srgbClr val="949594"/>
                </a:solidFill>
                <a:latin typeface="Calibri" pitchFamily="34" charset="0"/>
                <a:ea typeface="Calibri" pitchFamily="34" charset="-122"/>
                <a:cs typeface="Calibri" pitchFamily="34" charset="-120"/>
              </a:rPr>
              <a:t>20</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5F5F5"/>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C41E1E"/>
          </a:solidFill>
          <a:ln/>
        </p:spPr>
        <p:txBody>
          <a:bodyPr/>
          <a:lstStyle/>
          <a:p>
            <a:endParaRPr lang="en-US"/>
          </a:p>
        </p:txBody>
      </p:sp>
      <p:sp>
        <p:nvSpPr>
          <p:cNvPr id="3" name="Shape 1"/>
          <p:cNvSpPr/>
          <p:nvPr/>
        </p:nvSpPr>
        <p:spPr>
          <a:xfrm>
            <a:off x="8778240" y="0"/>
            <a:ext cx="137160" cy="5143500"/>
          </a:xfrm>
          <a:prstGeom prst="rect">
            <a:avLst/>
          </a:prstGeom>
          <a:solidFill>
            <a:srgbClr val="C41E1E"/>
          </a:solidFill>
          <a:ln/>
        </p:spPr>
        <p:txBody>
          <a:bodyPr/>
          <a:lstStyle/>
          <a:p>
            <a:endParaRPr lang="en-US"/>
          </a:p>
        </p:txBody>
      </p:sp>
      <p:sp>
        <p:nvSpPr>
          <p:cNvPr id="4" name="Shape 2"/>
          <p:cNvSpPr/>
          <p:nvPr/>
        </p:nvSpPr>
        <p:spPr>
          <a:xfrm>
            <a:off x="8961120" y="0"/>
            <a:ext cx="73152" cy="5143500"/>
          </a:xfrm>
          <a:prstGeom prst="rect">
            <a:avLst/>
          </a:prstGeom>
          <a:solidFill>
            <a:srgbClr val="C41E1E">
              <a:alpha val="40000"/>
            </a:srgbClr>
          </a:solidFill>
          <a:ln/>
        </p:spPr>
        <p:txBody>
          <a:bodyPr/>
          <a:lstStyle/>
          <a:p>
            <a:endParaRPr lang="en-US"/>
          </a:p>
        </p:txBody>
      </p:sp>
      <p:pic>
        <p:nvPicPr>
          <p:cNvPr id="5" name="Image 0" descr="preencoded.png"/>
          <p:cNvPicPr>
            <a:picLocks noChangeAspect="1"/>
          </p:cNvPicPr>
          <p:nvPr/>
        </p:nvPicPr>
        <p:blipFill>
          <a:blip r:embed="rId3"/>
          <a:stretch>
            <a:fillRect/>
          </a:stretch>
        </p:blipFill>
        <p:spPr>
          <a:xfrm>
            <a:off x="365760" y="182880"/>
            <a:ext cx="320040" cy="320040"/>
          </a:xfrm>
          <a:prstGeom prst="rect">
            <a:avLst/>
          </a:prstGeom>
        </p:spPr>
      </p:pic>
      <p:sp>
        <p:nvSpPr>
          <p:cNvPr id="6" name="Text 3"/>
          <p:cNvSpPr/>
          <p:nvPr/>
        </p:nvSpPr>
        <p:spPr>
          <a:xfrm>
            <a:off x="777240" y="182880"/>
            <a:ext cx="7315200" cy="548640"/>
          </a:xfrm>
          <a:prstGeom prst="rect">
            <a:avLst/>
          </a:prstGeom>
          <a:noFill/>
          <a:ln/>
        </p:spPr>
        <p:txBody>
          <a:bodyPr wrap="square" lIns="0" tIns="0" rIns="0" bIns="0" rtlCol="0" anchor="ctr"/>
          <a:lstStyle/>
          <a:p>
            <a:pPr marL="0" indent="0">
              <a:buNone/>
            </a:pPr>
            <a:r>
              <a:rPr lang="en-US" sz="2800" b="1" dirty="0">
                <a:solidFill>
                  <a:srgbClr val="1A1A2E"/>
                </a:solidFill>
                <a:latin typeface="Georgia" pitchFamily="34" charset="0"/>
                <a:ea typeface="Georgia" pitchFamily="34" charset="-122"/>
                <a:cs typeface="Georgia" pitchFamily="34" charset="-120"/>
              </a:rPr>
              <a:t>Agentic AI — Why Agents?</a:t>
            </a:r>
            <a:endParaRPr lang="en-US" sz="2800" dirty="0"/>
          </a:p>
        </p:txBody>
      </p:sp>
      <p:sp>
        <p:nvSpPr>
          <p:cNvPr id="7" name="Text 4"/>
          <p:cNvSpPr/>
          <p:nvPr/>
        </p:nvSpPr>
        <p:spPr>
          <a:xfrm>
            <a:off x="777240" y="685800"/>
            <a:ext cx="7315200" cy="228600"/>
          </a:xfrm>
          <a:prstGeom prst="rect">
            <a:avLst/>
          </a:prstGeom>
          <a:noFill/>
          <a:ln/>
        </p:spPr>
        <p:txBody>
          <a:bodyPr wrap="square" lIns="0" tIns="0" rIns="0" bIns="0" rtlCol="0" anchor="ctr"/>
          <a:lstStyle/>
          <a:p>
            <a:pPr marL="0" indent="0">
              <a:buNone/>
            </a:pPr>
            <a:r>
              <a:rPr lang="en-US" sz="1100" dirty="0">
                <a:solidFill>
                  <a:srgbClr val="949594"/>
                </a:solidFill>
                <a:latin typeface="Calibri" pitchFamily="34" charset="0"/>
                <a:ea typeface="Calibri" pitchFamily="34" charset="-122"/>
                <a:cs typeface="Calibri" pitchFamily="34" charset="-120"/>
              </a:rPr>
              <a:t>Traditional ML is static. Our agents make it intelligent.</a:t>
            </a:r>
            <a:endParaRPr lang="en-US" sz="1100" dirty="0"/>
          </a:p>
        </p:txBody>
      </p:sp>
      <p:sp>
        <p:nvSpPr>
          <p:cNvPr id="8" name="Shape 5"/>
          <p:cNvSpPr/>
          <p:nvPr/>
        </p:nvSpPr>
        <p:spPr>
          <a:xfrm>
            <a:off x="365760" y="1005840"/>
            <a:ext cx="4023360" cy="1828800"/>
          </a:xfrm>
          <a:prstGeom prst="rect">
            <a:avLst/>
          </a:prstGeom>
          <a:solidFill>
            <a:srgbClr val="FFFFFF"/>
          </a:solidFill>
          <a:ln/>
          <a:effectLst>
            <a:outerShdw blurRad="50800" dist="25400" dir="8100000" algn="bl" rotWithShape="0">
              <a:srgbClr val="000000">
                <a:alpha val="10000"/>
              </a:srgbClr>
            </a:outerShdw>
          </a:effectLst>
        </p:spPr>
        <p:txBody>
          <a:bodyPr/>
          <a:lstStyle/>
          <a:p>
            <a:endParaRPr lang="en-US"/>
          </a:p>
        </p:txBody>
      </p:sp>
      <p:sp>
        <p:nvSpPr>
          <p:cNvPr id="9" name="Shape 6"/>
          <p:cNvSpPr/>
          <p:nvPr/>
        </p:nvSpPr>
        <p:spPr>
          <a:xfrm>
            <a:off x="365760" y="1005840"/>
            <a:ext cx="54864" cy="1828800"/>
          </a:xfrm>
          <a:prstGeom prst="rect">
            <a:avLst/>
          </a:prstGeom>
          <a:solidFill>
            <a:srgbClr val="C41E1E"/>
          </a:solidFill>
          <a:ln/>
        </p:spPr>
        <p:txBody>
          <a:bodyPr/>
          <a:lstStyle/>
          <a:p>
            <a:endParaRPr lang="en-US"/>
          </a:p>
        </p:txBody>
      </p:sp>
      <p:pic>
        <p:nvPicPr>
          <p:cNvPr id="10" name="Image 1" descr="preencoded.png"/>
          <p:cNvPicPr>
            <a:picLocks noChangeAspect="1"/>
          </p:cNvPicPr>
          <p:nvPr/>
        </p:nvPicPr>
        <p:blipFill>
          <a:blip r:embed="rId4"/>
          <a:stretch>
            <a:fillRect/>
          </a:stretch>
        </p:blipFill>
        <p:spPr>
          <a:xfrm>
            <a:off x="502920" y="1115568"/>
            <a:ext cx="256032" cy="256032"/>
          </a:xfrm>
          <a:prstGeom prst="rect">
            <a:avLst/>
          </a:prstGeom>
        </p:spPr>
      </p:pic>
      <p:sp>
        <p:nvSpPr>
          <p:cNvPr id="11" name="Text 7"/>
          <p:cNvSpPr/>
          <p:nvPr/>
        </p:nvSpPr>
        <p:spPr>
          <a:xfrm>
            <a:off x="822960" y="1078992"/>
            <a:ext cx="3429000" cy="292608"/>
          </a:xfrm>
          <a:prstGeom prst="rect">
            <a:avLst/>
          </a:prstGeom>
          <a:noFill/>
          <a:ln/>
        </p:spPr>
        <p:txBody>
          <a:bodyPr wrap="square" lIns="0" tIns="0" rIns="0" bIns="0" rtlCol="0" anchor="ctr"/>
          <a:lstStyle/>
          <a:p>
            <a:pPr marL="0" indent="0">
              <a:buNone/>
            </a:pPr>
            <a:r>
              <a:rPr lang="en-US" sz="1200" b="1" dirty="0">
                <a:solidFill>
                  <a:srgbClr val="C41E1E"/>
                </a:solidFill>
                <a:latin typeface="Georgia" pitchFamily="34" charset="0"/>
                <a:ea typeface="Georgia" pitchFamily="34" charset="-122"/>
                <a:cs typeface="Georgia" pitchFamily="34" charset="-120"/>
              </a:rPr>
              <a:t>❌ Without Agents (Traditional)</a:t>
            </a:r>
            <a:endParaRPr lang="en-US" sz="1200" dirty="0"/>
          </a:p>
        </p:txBody>
      </p:sp>
      <p:sp>
        <p:nvSpPr>
          <p:cNvPr id="12" name="Text 8"/>
          <p:cNvSpPr/>
          <p:nvPr/>
        </p:nvSpPr>
        <p:spPr>
          <a:xfrm>
            <a:off x="502920" y="1417320"/>
            <a:ext cx="3749040" cy="1325880"/>
          </a:xfrm>
          <a:prstGeom prst="rect">
            <a:avLst/>
          </a:prstGeom>
          <a:noFill/>
          <a:ln/>
        </p:spPr>
        <p:txBody>
          <a:bodyPr wrap="square" rtlCol="0" anchor="t"/>
          <a:lstStyle/>
          <a:p>
            <a:pPr marL="0" indent="0">
              <a:lnSpc>
                <a:spcPct val="125000"/>
              </a:lnSpc>
              <a:buNone/>
            </a:pPr>
            <a:r>
              <a:rPr lang="en-US" sz="950" dirty="0">
                <a:solidFill>
                  <a:srgbClr val="444444"/>
                </a:solidFill>
                <a:latin typeface="Calibri" pitchFamily="34" charset="0"/>
                <a:ea typeface="Calibri" pitchFamily="34" charset="-122"/>
                <a:cs typeface="Calibri" pitchFamily="34" charset="-120"/>
              </a:rPr>
              <a:t>Train model → Deploy → Hope it works</a:t>
            </a:r>
            <a:endParaRPr lang="en-US" sz="950" dirty="0"/>
          </a:p>
          <a:p>
            <a:pPr marL="0" indent="0">
              <a:lnSpc>
                <a:spcPct val="125000"/>
              </a:lnSpc>
              <a:buNone/>
            </a:pPr>
            <a:endParaRPr lang="en-US" sz="950" dirty="0"/>
          </a:p>
          <a:p>
            <a:pPr marL="0" indent="0">
              <a:lnSpc>
                <a:spcPct val="125000"/>
              </a:lnSpc>
              <a:buNone/>
            </a:pPr>
            <a:r>
              <a:rPr lang="en-US" sz="950" dirty="0">
                <a:solidFill>
                  <a:srgbClr val="444444"/>
                </a:solidFill>
                <a:latin typeface="Calibri" pitchFamily="34" charset="0"/>
                <a:ea typeface="Calibri" pitchFamily="34" charset="-122"/>
                <a:cs typeface="Calibri" pitchFamily="34" charset="-120"/>
              </a:rPr>
              <a:t>• Data quality drops — nobody checks</a:t>
            </a:r>
            <a:endParaRPr lang="en-US" sz="950" dirty="0"/>
          </a:p>
          <a:p>
            <a:pPr marL="0" indent="0">
              <a:lnSpc>
                <a:spcPct val="125000"/>
              </a:lnSpc>
              <a:buNone/>
            </a:pPr>
            <a:r>
              <a:rPr lang="en-US" sz="950" dirty="0">
                <a:solidFill>
                  <a:srgbClr val="444444"/>
                </a:solidFill>
                <a:latin typeface="Calibri" pitchFamily="34" charset="0"/>
                <a:ea typeface="Calibri" pitchFamily="34" charset="-122"/>
                <a:cs typeface="Calibri" pitchFamily="34" charset="-120"/>
              </a:rPr>
              <a:t>• New patterns appear — model ignores</a:t>
            </a:r>
            <a:endParaRPr lang="en-US" sz="950" dirty="0"/>
          </a:p>
          <a:p>
            <a:pPr marL="0" indent="0">
              <a:lnSpc>
                <a:spcPct val="125000"/>
              </a:lnSpc>
              <a:buNone/>
            </a:pPr>
            <a:r>
              <a:rPr lang="en-US" sz="950" dirty="0">
                <a:solidFill>
                  <a:srgbClr val="444444"/>
                </a:solidFill>
                <a:latin typeface="Calibri" pitchFamily="34" charset="0"/>
                <a:ea typeface="Calibri" pitchFamily="34" charset="-122"/>
                <a:cs typeface="Calibri" pitchFamily="34" charset="-120"/>
              </a:rPr>
              <a:t>• Performance degrades silently</a:t>
            </a:r>
            <a:endParaRPr lang="en-US" sz="950" dirty="0"/>
          </a:p>
          <a:p>
            <a:pPr marL="0" indent="0">
              <a:lnSpc>
                <a:spcPct val="125000"/>
              </a:lnSpc>
              <a:buNone/>
            </a:pPr>
            <a:r>
              <a:rPr lang="en-US" sz="950" dirty="0">
                <a:solidFill>
                  <a:srgbClr val="444444"/>
                </a:solidFill>
                <a:latin typeface="Calibri" pitchFamily="34" charset="0"/>
                <a:ea typeface="Calibri" pitchFamily="34" charset="-122"/>
                <a:cs typeface="Calibri" pitchFamily="34" charset="-120"/>
              </a:rPr>
              <a:t>• Analyst must manually investigate</a:t>
            </a:r>
            <a:endParaRPr lang="en-US" sz="950" dirty="0"/>
          </a:p>
          <a:p>
            <a:pPr marL="0" indent="0">
              <a:lnSpc>
                <a:spcPct val="125000"/>
              </a:lnSpc>
              <a:buNone/>
            </a:pPr>
            <a:endParaRPr lang="en-US" sz="950" dirty="0"/>
          </a:p>
          <a:p>
            <a:pPr marL="0" indent="0">
              <a:lnSpc>
                <a:spcPct val="125000"/>
              </a:lnSpc>
              <a:buNone/>
            </a:pPr>
            <a:r>
              <a:rPr lang="en-US" sz="950" dirty="0">
                <a:solidFill>
                  <a:srgbClr val="444444"/>
                </a:solidFill>
                <a:latin typeface="Calibri" pitchFamily="34" charset="0"/>
                <a:ea typeface="Calibri" pitchFamily="34" charset="-122"/>
                <a:cs typeface="Calibri" pitchFamily="34" charset="-120"/>
              </a:rPr>
              <a:t>Like an F1 team that never debriefs.</a:t>
            </a:r>
            <a:endParaRPr lang="en-US" sz="950" dirty="0"/>
          </a:p>
        </p:txBody>
      </p:sp>
      <p:sp>
        <p:nvSpPr>
          <p:cNvPr id="13" name="Shape 9"/>
          <p:cNvSpPr/>
          <p:nvPr/>
        </p:nvSpPr>
        <p:spPr>
          <a:xfrm>
            <a:off x="4572000" y="1005840"/>
            <a:ext cx="4023360" cy="1828800"/>
          </a:xfrm>
          <a:prstGeom prst="rect">
            <a:avLst/>
          </a:prstGeom>
          <a:solidFill>
            <a:srgbClr val="FFFFFF"/>
          </a:solidFill>
          <a:ln/>
          <a:effectLst>
            <a:outerShdw blurRad="50800" dist="25400" dir="8100000" algn="bl" rotWithShape="0">
              <a:srgbClr val="000000">
                <a:alpha val="10000"/>
              </a:srgbClr>
            </a:outerShdw>
          </a:effectLst>
        </p:spPr>
        <p:txBody>
          <a:bodyPr/>
          <a:lstStyle/>
          <a:p>
            <a:endParaRPr lang="en-US"/>
          </a:p>
        </p:txBody>
      </p:sp>
      <p:sp>
        <p:nvSpPr>
          <p:cNvPr id="14" name="Shape 10"/>
          <p:cNvSpPr/>
          <p:nvPr/>
        </p:nvSpPr>
        <p:spPr>
          <a:xfrm>
            <a:off x="4572000" y="1005840"/>
            <a:ext cx="54864" cy="1828800"/>
          </a:xfrm>
          <a:prstGeom prst="rect">
            <a:avLst/>
          </a:prstGeom>
          <a:solidFill>
            <a:srgbClr val="059669"/>
          </a:solidFill>
          <a:ln/>
        </p:spPr>
        <p:txBody>
          <a:bodyPr/>
          <a:lstStyle/>
          <a:p>
            <a:endParaRPr lang="en-US"/>
          </a:p>
        </p:txBody>
      </p:sp>
      <p:pic>
        <p:nvPicPr>
          <p:cNvPr id="15" name="Image 2" descr="preencoded.png"/>
          <p:cNvPicPr>
            <a:picLocks noChangeAspect="1"/>
          </p:cNvPicPr>
          <p:nvPr/>
        </p:nvPicPr>
        <p:blipFill>
          <a:blip r:embed="rId5"/>
          <a:stretch>
            <a:fillRect/>
          </a:stretch>
        </p:blipFill>
        <p:spPr>
          <a:xfrm>
            <a:off x="4709160" y="1115568"/>
            <a:ext cx="256032" cy="256032"/>
          </a:xfrm>
          <a:prstGeom prst="rect">
            <a:avLst/>
          </a:prstGeom>
        </p:spPr>
      </p:pic>
      <p:sp>
        <p:nvSpPr>
          <p:cNvPr id="16" name="Text 11"/>
          <p:cNvSpPr/>
          <p:nvPr/>
        </p:nvSpPr>
        <p:spPr>
          <a:xfrm>
            <a:off x="5029200" y="1078992"/>
            <a:ext cx="3429000" cy="292608"/>
          </a:xfrm>
          <a:prstGeom prst="rect">
            <a:avLst/>
          </a:prstGeom>
          <a:noFill/>
          <a:ln/>
        </p:spPr>
        <p:txBody>
          <a:bodyPr wrap="square" lIns="0" tIns="0" rIns="0" bIns="0" rtlCol="0" anchor="ctr"/>
          <a:lstStyle/>
          <a:p>
            <a:pPr marL="0" indent="0">
              <a:buNone/>
            </a:pPr>
            <a:r>
              <a:rPr lang="en-US" sz="1200" b="1" dirty="0">
                <a:solidFill>
                  <a:srgbClr val="059669"/>
                </a:solidFill>
                <a:latin typeface="Georgia" pitchFamily="34" charset="0"/>
                <a:ea typeface="Georgia" pitchFamily="34" charset="-122"/>
                <a:cs typeface="Georgia" pitchFamily="34" charset="-120"/>
              </a:rPr>
              <a:t>✅ With Agents (Our System)</a:t>
            </a:r>
            <a:endParaRPr lang="en-US" sz="1200" dirty="0"/>
          </a:p>
        </p:txBody>
      </p:sp>
      <p:sp>
        <p:nvSpPr>
          <p:cNvPr id="17" name="Text 12"/>
          <p:cNvSpPr/>
          <p:nvPr/>
        </p:nvSpPr>
        <p:spPr>
          <a:xfrm>
            <a:off x="4709160" y="1417320"/>
            <a:ext cx="3749040" cy="1325880"/>
          </a:xfrm>
          <a:prstGeom prst="rect">
            <a:avLst/>
          </a:prstGeom>
          <a:noFill/>
          <a:ln/>
        </p:spPr>
        <p:txBody>
          <a:bodyPr wrap="square" rtlCol="0" anchor="t"/>
          <a:lstStyle/>
          <a:p>
            <a:pPr marL="0" indent="0">
              <a:lnSpc>
                <a:spcPct val="125000"/>
              </a:lnSpc>
              <a:buNone/>
            </a:pPr>
            <a:r>
              <a:rPr lang="en-US" sz="950" dirty="0">
                <a:solidFill>
                  <a:srgbClr val="444444"/>
                </a:solidFill>
                <a:latin typeface="Calibri" pitchFamily="34" charset="0"/>
                <a:ea typeface="Calibri" pitchFamily="34" charset="-122"/>
                <a:cs typeface="Calibri" pitchFamily="34" charset="-120"/>
              </a:rPr>
              <a:t>Train → Agents monitor every Monday</a:t>
            </a:r>
            <a:endParaRPr lang="en-US" sz="950" dirty="0"/>
          </a:p>
          <a:p>
            <a:pPr marL="0" indent="0">
              <a:lnSpc>
                <a:spcPct val="125000"/>
              </a:lnSpc>
              <a:buNone/>
            </a:pPr>
            <a:endParaRPr lang="en-US" sz="950" dirty="0"/>
          </a:p>
          <a:p>
            <a:pPr marL="0" indent="0">
              <a:lnSpc>
                <a:spcPct val="125000"/>
              </a:lnSpc>
              <a:buNone/>
            </a:pPr>
            <a:r>
              <a:rPr lang="en-US" sz="950" dirty="0">
                <a:solidFill>
                  <a:srgbClr val="444444"/>
                </a:solidFill>
                <a:latin typeface="Calibri" pitchFamily="34" charset="0"/>
                <a:ea typeface="Calibri" pitchFamily="34" charset="-122"/>
                <a:cs typeface="Calibri" pitchFamily="34" charset="-120"/>
              </a:rPr>
              <a:t>• Data Agent checks quality automatically</a:t>
            </a:r>
            <a:endParaRPr lang="en-US" sz="950" dirty="0"/>
          </a:p>
          <a:p>
            <a:pPr marL="0" indent="0">
              <a:lnSpc>
                <a:spcPct val="125000"/>
              </a:lnSpc>
              <a:buNone/>
            </a:pPr>
            <a:r>
              <a:rPr lang="en-US" sz="950" dirty="0">
                <a:solidFill>
                  <a:srgbClr val="444444"/>
                </a:solidFill>
                <a:latin typeface="Calibri" pitchFamily="34" charset="0"/>
                <a:ea typeface="Calibri" pitchFamily="34" charset="-122"/>
                <a:cs typeface="Calibri" pitchFamily="34" charset="-120"/>
              </a:rPr>
              <a:t>• Feature Agent discovers new signals</a:t>
            </a:r>
            <a:endParaRPr lang="en-US" sz="950" dirty="0"/>
          </a:p>
          <a:p>
            <a:pPr marL="0" indent="0">
              <a:lnSpc>
                <a:spcPct val="125000"/>
              </a:lnSpc>
              <a:buNone/>
            </a:pPr>
            <a:r>
              <a:rPr lang="en-US" sz="950" dirty="0">
                <a:solidFill>
                  <a:srgbClr val="444444"/>
                </a:solidFill>
                <a:latin typeface="Calibri" pitchFamily="34" charset="0"/>
                <a:ea typeface="Calibri" pitchFamily="34" charset="-122"/>
                <a:cs typeface="Calibri" pitchFamily="34" charset="-120"/>
              </a:rPr>
              <a:t>• Model Agent finds WHERE it fails</a:t>
            </a:r>
            <a:endParaRPr lang="en-US" sz="950" dirty="0"/>
          </a:p>
          <a:p>
            <a:pPr marL="0" indent="0">
              <a:lnSpc>
                <a:spcPct val="125000"/>
              </a:lnSpc>
              <a:buNone/>
            </a:pPr>
            <a:r>
              <a:rPr lang="en-US" sz="950" dirty="0">
                <a:solidFill>
                  <a:srgbClr val="444444"/>
                </a:solidFill>
                <a:latin typeface="Calibri" pitchFamily="34" charset="0"/>
                <a:ea typeface="Calibri" pitchFamily="34" charset="-122"/>
                <a:cs typeface="Calibri" pitchFamily="34" charset="-120"/>
              </a:rPr>
              <a:t>• Insight Agent writes the briefing</a:t>
            </a:r>
            <a:endParaRPr lang="en-US" sz="950" dirty="0"/>
          </a:p>
          <a:p>
            <a:pPr marL="0" indent="0">
              <a:lnSpc>
                <a:spcPct val="125000"/>
              </a:lnSpc>
              <a:buNone/>
            </a:pPr>
            <a:endParaRPr lang="en-US" sz="950" dirty="0"/>
          </a:p>
          <a:p>
            <a:pPr marL="0" indent="0">
              <a:lnSpc>
                <a:spcPct val="125000"/>
              </a:lnSpc>
              <a:buNone/>
            </a:pPr>
            <a:r>
              <a:rPr lang="en-US" sz="950" dirty="0">
                <a:solidFill>
                  <a:srgbClr val="444444"/>
                </a:solidFill>
                <a:latin typeface="Calibri" pitchFamily="34" charset="0"/>
                <a:ea typeface="Calibri" pitchFamily="34" charset="-122"/>
                <a:cs typeface="Calibri" pitchFamily="34" charset="-120"/>
              </a:rPr>
              <a:t>Like an F1 team analyzing every lap.</a:t>
            </a:r>
            <a:endParaRPr lang="en-US" sz="950" dirty="0"/>
          </a:p>
        </p:txBody>
      </p:sp>
      <p:sp>
        <p:nvSpPr>
          <p:cNvPr id="18" name="Shape 13"/>
          <p:cNvSpPr/>
          <p:nvPr/>
        </p:nvSpPr>
        <p:spPr>
          <a:xfrm>
            <a:off x="365760" y="3017520"/>
            <a:ext cx="8321040" cy="731520"/>
          </a:xfrm>
          <a:prstGeom prst="rect">
            <a:avLst/>
          </a:prstGeom>
          <a:solidFill>
            <a:srgbClr val="F3E8FF"/>
          </a:solidFill>
          <a:ln/>
          <a:effectLst>
            <a:outerShdw blurRad="50800" dist="25400" dir="8100000" algn="bl" rotWithShape="0">
              <a:srgbClr val="000000">
                <a:alpha val="10000"/>
              </a:srgbClr>
            </a:outerShdw>
          </a:effectLst>
        </p:spPr>
        <p:txBody>
          <a:bodyPr/>
          <a:lstStyle/>
          <a:p>
            <a:endParaRPr lang="en-US"/>
          </a:p>
        </p:txBody>
      </p:sp>
      <p:sp>
        <p:nvSpPr>
          <p:cNvPr id="19" name="Text 14"/>
          <p:cNvSpPr/>
          <p:nvPr/>
        </p:nvSpPr>
        <p:spPr>
          <a:xfrm>
            <a:off x="548640" y="3063240"/>
            <a:ext cx="8046720" cy="274320"/>
          </a:xfrm>
          <a:prstGeom prst="rect">
            <a:avLst/>
          </a:prstGeom>
          <a:noFill/>
          <a:ln/>
        </p:spPr>
        <p:txBody>
          <a:bodyPr wrap="square" lIns="0" tIns="0" rIns="0" bIns="0" rtlCol="0" anchor="ctr"/>
          <a:lstStyle/>
          <a:p>
            <a:pPr marL="0" indent="0">
              <a:buNone/>
            </a:pPr>
            <a:r>
              <a:rPr lang="en-US" sz="1300" b="1" dirty="0">
                <a:solidFill>
                  <a:srgbClr val="7C3AED"/>
                </a:solidFill>
                <a:latin typeface="Georgia" pitchFamily="34" charset="0"/>
                <a:ea typeface="Georgia" pitchFamily="34" charset="-122"/>
                <a:cs typeface="Georgia" pitchFamily="34" charset="-120"/>
              </a:rPr>
              <a:t>Scripts follow rules. Agents make JUDGMENTS.</a:t>
            </a:r>
            <a:endParaRPr lang="en-US" sz="1300" dirty="0"/>
          </a:p>
        </p:txBody>
      </p:sp>
      <p:sp>
        <p:nvSpPr>
          <p:cNvPr id="20" name="Text 15"/>
          <p:cNvSpPr/>
          <p:nvPr/>
        </p:nvSpPr>
        <p:spPr>
          <a:xfrm>
            <a:off x="548640" y="3383280"/>
            <a:ext cx="8046720" cy="320040"/>
          </a:xfrm>
          <a:prstGeom prst="rect">
            <a:avLst/>
          </a:prstGeom>
          <a:noFill/>
          <a:ln/>
        </p:spPr>
        <p:txBody>
          <a:bodyPr wrap="square" lIns="0" tIns="0" rIns="0" bIns="0" rtlCol="0" anchor="ctr"/>
          <a:lstStyle/>
          <a:p>
            <a:pPr marL="0" indent="0">
              <a:buNone/>
            </a:pPr>
            <a:r>
              <a:rPr lang="en-US" sz="1000" dirty="0">
                <a:solidFill>
                  <a:srgbClr val="444444"/>
                </a:solidFill>
                <a:latin typeface="Calibri" pitchFamily="34" charset="0"/>
                <a:ea typeface="Calibri" pitchFamily="34" charset="-122"/>
                <a:cs typeface="Calibri" pitchFamily="34" charset="-120"/>
              </a:rPr>
              <a:t>A script says: if null_rate &gt; 50%: alert. An agent reasons: 'Q3 has 51.5% null — is this a problem? Q3 is only for top 10 drivers, so 50% null is EXPECTED. This is NOT a bug.'</a:t>
            </a:r>
            <a:endParaRPr lang="en-US" sz="1000" dirty="0"/>
          </a:p>
        </p:txBody>
      </p:sp>
      <p:sp>
        <p:nvSpPr>
          <p:cNvPr id="21" name="Text 16"/>
          <p:cNvSpPr/>
          <p:nvPr/>
        </p:nvSpPr>
        <p:spPr>
          <a:xfrm>
            <a:off x="457200" y="3931920"/>
            <a:ext cx="8229600" cy="274320"/>
          </a:xfrm>
          <a:prstGeom prst="rect">
            <a:avLst/>
          </a:prstGeom>
          <a:noFill/>
          <a:ln/>
        </p:spPr>
        <p:txBody>
          <a:bodyPr wrap="square" lIns="0" tIns="0" rIns="0" bIns="0" rtlCol="0" anchor="ctr"/>
          <a:lstStyle/>
          <a:p>
            <a:pPr marL="0" indent="0">
              <a:buNone/>
            </a:pPr>
            <a:r>
              <a:rPr lang="en-US" sz="1000" b="1" dirty="0">
                <a:solidFill>
                  <a:srgbClr val="7C3AED"/>
                </a:solidFill>
                <a:latin typeface="Calibri" pitchFamily="34" charset="0"/>
                <a:ea typeface="Calibri" pitchFamily="34" charset="-122"/>
                <a:cs typeface="Calibri" pitchFamily="34" charset="-120"/>
              </a:rPr>
              <a:t>Powered by LangGraph — orchestrates agents as a directed graph with conditional routing and shared state</a:t>
            </a:r>
            <a:endParaRPr lang="en-US" sz="1000" dirty="0"/>
          </a:p>
        </p:txBody>
      </p:sp>
      <p:sp>
        <p:nvSpPr>
          <p:cNvPr id="22" name="Shape 17"/>
          <p:cNvSpPr/>
          <p:nvPr/>
        </p:nvSpPr>
        <p:spPr>
          <a:xfrm>
            <a:off x="457200" y="4297680"/>
            <a:ext cx="1737360" cy="457200"/>
          </a:xfrm>
          <a:prstGeom prst="rect">
            <a:avLst/>
          </a:prstGeom>
          <a:solidFill>
            <a:srgbClr val="FFFFFF"/>
          </a:solidFill>
          <a:ln/>
          <a:effectLst>
            <a:outerShdw blurRad="50800" dist="25400" dir="8100000" algn="bl" rotWithShape="0">
              <a:srgbClr val="000000">
                <a:alpha val="10000"/>
              </a:srgbClr>
            </a:outerShdw>
          </a:effectLst>
        </p:spPr>
        <p:txBody>
          <a:bodyPr/>
          <a:lstStyle/>
          <a:p>
            <a:endParaRPr lang="en-US"/>
          </a:p>
        </p:txBody>
      </p:sp>
      <p:sp>
        <p:nvSpPr>
          <p:cNvPr id="23" name="Shape 18"/>
          <p:cNvSpPr/>
          <p:nvPr/>
        </p:nvSpPr>
        <p:spPr>
          <a:xfrm>
            <a:off x="457200" y="4297680"/>
            <a:ext cx="1737360" cy="36576"/>
          </a:xfrm>
          <a:prstGeom prst="rect">
            <a:avLst/>
          </a:prstGeom>
          <a:solidFill>
            <a:srgbClr val="2563EB"/>
          </a:solidFill>
          <a:ln/>
        </p:spPr>
        <p:txBody>
          <a:bodyPr/>
          <a:lstStyle/>
          <a:p>
            <a:endParaRPr lang="en-US"/>
          </a:p>
        </p:txBody>
      </p:sp>
      <p:sp>
        <p:nvSpPr>
          <p:cNvPr id="24" name="Text 19"/>
          <p:cNvSpPr/>
          <p:nvPr/>
        </p:nvSpPr>
        <p:spPr>
          <a:xfrm>
            <a:off x="457200" y="4370832"/>
            <a:ext cx="1737360" cy="320040"/>
          </a:xfrm>
          <a:prstGeom prst="rect">
            <a:avLst/>
          </a:prstGeom>
          <a:noFill/>
          <a:ln/>
        </p:spPr>
        <p:txBody>
          <a:bodyPr wrap="square" lIns="0" tIns="0" rIns="0" bIns="0" rtlCol="0" anchor="ctr"/>
          <a:lstStyle/>
          <a:p>
            <a:pPr marL="0" indent="0" algn="ctr">
              <a:buNone/>
            </a:pPr>
            <a:r>
              <a:rPr lang="en-US" sz="900" b="1" dirty="0">
                <a:solidFill>
                  <a:srgbClr val="2563EB"/>
                </a:solidFill>
                <a:latin typeface="Georgia" pitchFamily="34" charset="0"/>
                <a:ea typeface="Georgia" pitchFamily="34" charset="-122"/>
                <a:cs typeface="Georgia" pitchFamily="34" charset="-120"/>
              </a:rPr>
              <a:t>Data Agent</a:t>
            </a:r>
            <a:endParaRPr lang="en-US" sz="900" dirty="0"/>
          </a:p>
        </p:txBody>
      </p:sp>
      <p:sp>
        <p:nvSpPr>
          <p:cNvPr id="25" name="Text 20"/>
          <p:cNvSpPr/>
          <p:nvPr/>
        </p:nvSpPr>
        <p:spPr>
          <a:xfrm>
            <a:off x="2148840" y="4370832"/>
            <a:ext cx="365760" cy="320040"/>
          </a:xfrm>
          <a:prstGeom prst="rect">
            <a:avLst/>
          </a:prstGeom>
          <a:noFill/>
          <a:ln/>
        </p:spPr>
        <p:txBody>
          <a:bodyPr wrap="square" rtlCol="0" anchor="ctr"/>
          <a:lstStyle/>
          <a:p>
            <a:pPr marL="0" indent="0" algn="ctr">
              <a:buNone/>
            </a:pPr>
            <a:r>
              <a:rPr lang="en-US" sz="1400" dirty="0">
                <a:solidFill>
                  <a:srgbClr val="949594"/>
                </a:solidFill>
              </a:rPr>
              <a:t>→</a:t>
            </a:r>
            <a:endParaRPr lang="en-US" sz="1400" dirty="0"/>
          </a:p>
        </p:txBody>
      </p:sp>
      <p:sp>
        <p:nvSpPr>
          <p:cNvPr id="26" name="Shape 21"/>
          <p:cNvSpPr/>
          <p:nvPr/>
        </p:nvSpPr>
        <p:spPr>
          <a:xfrm>
            <a:off x="2514600" y="4297680"/>
            <a:ext cx="1737360" cy="457200"/>
          </a:xfrm>
          <a:prstGeom prst="rect">
            <a:avLst/>
          </a:prstGeom>
          <a:solidFill>
            <a:srgbClr val="FFFFFF"/>
          </a:solidFill>
          <a:ln/>
          <a:effectLst>
            <a:outerShdw blurRad="50800" dist="25400" dir="8100000" algn="bl" rotWithShape="0">
              <a:srgbClr val="000000">
                <a:alpha val="10000"/>
              </a:srgbClr>
            </a:outerShdw>
          </a:effectLst>
        </p:spPr>
        <p:txBody>
          <a:bodyPr/>
          <a:lstStyle/>
          <a:p>
            <a:endParaRPr lang="en-US"/>
          </a:p>
        </p:txBody>
      </p:sp>
      <p:sp>
        <p:nvSpPr>
          <p:cNvPr id="27" name="Shape 22"/>
          <p:cNvSpPr/>
          <p:nvPr/>
        </p:nvSpPr>
        <p:spPr>
          <a:xfrm>
            <a:off x="2514600" y="4297680"/>
            <a:ext cx="1737360" cy="36576"/>
          </a:xfrm>
          <a:prstGeom prst="rect">
            <a:avLst/>
          </a:prstGeom>
          <a:solidFill>
            <a:srgbClr val="059669"/>
          </a:solidFill>
          <a:ln/>
        </p:spPr>
        <p:txBody>
          <a:bodyPr/>
          <a:lstStyle/>
          <a:p>
            <a:endParaRPr lang="en-US"/>
          </a:p>
        </p:txBody>
      </p:sp>
      <p:sp>
        <p:nvSpPr>
          <p:cNvPr id="28" name="Text 23"/>
          <p:cNvSpPr/>
          <p:nvPr/>
        </p:nvSpPr>
        <p:spPr>
          <a:xfrm>
            <a:off x="2514600" y="4370832"/>
            <a:ext cx="1737360" cy="320040"/>
          </a:xfrm>
          <a:prstGeom prst="rect">
            <a:avLst/>
          </a:prstGeom>
          <a:noFill/>
          <a:ln/>
        </p:spPr>
        <p:txBody>
          <a:bodyPr wrap="square" lIns="0" tIns="0" rIns="0" bIns="0" rtlCol="0" anchor="ctr"/>
          <a:lstStyle/>
          <a:p>
            <a:pPr marL="0" indent="0" algn="ctr">
              <a:buNone/>
            </a:pPr>
            <a:r>
              <a:rPr lang="en-US" sz="900" b="1" dirty="0">
                <a:solidFill>
                  <a:srgbClr val="059669"/>
                </a:solidFill>
                <a:latin typeface="Georgia" pitchFamily="34" charset="0"/>
                <a:ea typeface="Georgia" pitchFamily="34" charset="-122"/>
                <a:cs typeface="Georgia" pitchFamily="34" charset="-120"/>
              </a:rPr>
              <a:t>Feature Agent</a:t>
            </a:r>
            <a:endParaRPr lang="en-US" sz="900" dirty="0"/>
          </a:p>
        </p:txBody>
      </p:sp>
      <p:sp>
        <p:nvSpPr>
          <p:cNvPr id="29" name="Text 24"/>
          <p:cNvSpPr/>
          <p:nvPr/>
        </p:nvSpPr>
        <p:spPr>
          <a:xfrm>
            <a:off x="4206240" y="4370832"/>
            <a:ext cx="365760" cy="320040"/>
          </a:xfrm>
          <a:prstGeom prst="rect">
            <a:avLst/>
          </a:prstGeom>
          <a:noFill/>
          <a:ln/>
        </p:spPr>
        <p:txBody>
          <a:bodyPr wrap="square" rtlCol="0" anchor="ctr"/>
          <a:lstStyle/>
          <a:p>
            <a:pPr marL="0" indent="0" algn="ctr">
              <a:buNone/>
            </a:pPr>
            <a:r>
              <a:rPr lang="en-US" sz="1400" dirty="0">
                <a:solidFill>
                  <a:srgbClr val="949594"/>
                </a:solidFill>
              </a:rPr>
              <a:t>→</a:t>
            </a:r>
            <a:endParaRPr lang="en-US" sz="1400" dirty="0"/>
          </a:p>
        </p:txBody>
      </p:sp>
      <p:sp>
        <p:nvSpPr>
          <p:cNvPr id="30" name="Shape 25"/>
          <p:cNvSpPr/>
          <p:nvPr/>
        </p:nvSpPr>
        <p:spPr>
          <a:xfrm>
            <a:off x="4572000" y="4297680"/>
            <a:ext cx="1737360" cy="457200"/>
          </a:xfrm>
          <a:prstGeom prst="rect">
            <a:avLst/>
          </a:prstGeom>
          <a:solidFill>
            <a:srgbClr val="FFFFFF"/>
          </a:solidFill>
          <a:ln/>
          <a:effectLst>
            <a:outerShdw blurRad="50800" dist="25400" dir="8100000" algn="bl" rotWithShape="0">
              <a:srgbClr val="000000">
                <a:alpha val="10000"/>
              </a:srgbClr>
            </a:outerShdw>
          </a:effectLst>
        </p:spPr>
        <p:txBody>
          <a:bodyPr/>
          <a:lstStyle/>
          <a:p>
            <a:endParaRPr lang="en-US"/>
          </a:p>
        </p:txBody>
      </p:sp>
      <p:sp>
        <p:nvSpPr>
          <p:cNvPr id="31" name="Shape 26"/>
          <p:cNvSpPr/>
          <p:nvPr/>
        </p:nvSpPr>
        <p:spPr>
          <a:xfrm>
            <a:off x="4572000" y="4297680"/>
            <a:ext cx="1737360" cy="36576"/>
          </a:xfrm>
          <a:prstGeom prst="rect">
            <a:avLst/>
          </a:prstGeom>
          <a:solidFill>
            <a:srgbClr val="D97706"/>
          </a:solidFill>
          <a:ln/>
        </p:spPr>
        <p:txBody>
          <a:bodyPr/>
          <a:lstStyle/>
          <a:p>
            <a:endParaRPr lang="en-US"/>
          </a:p>
        </p:txBody>
      </p:sp>
      <p:sp>
        <p:nvSpPr>
          <p:cNvPr id="32" name="Text 27"/>
          <p:cNvSpPr/>
          <p:nvPr/>
        </p:nvSpPr>
        <p:spPr>
          <a:xfrm>
            <a:off x="4572000" y="4370832"/>
            <a:ext cx="1737360" cy="320040"/>
          </a:xfrm>
          <a:prstGeom prst="rect">
            <a:avLst/>
          </a:prstGeom>
          <a:noFill/>
          <a:ln/>
        </p:spPr>
        <p:txBody>
          <a:bodyPr wrap="square" lIns="0" tIns="0" rIns="0" bIns="0" rtlCol="0" anchor="ctr"/>
          <a:lstStyle/>
          <a:p>
            <a:pPr marL="0" indent="0" algn="ctr">
              <a:buNone/>
            </a:pPr>
            <a:r>
              <a:rPr lang="en-US" sz="900" b="1" dirty="0">
                <a:solidFill>
                  <a:srgbClr val="D97706"/>
                </a:solidFill>
                <a:latin typeface="Georgia" pitchFamily="34" charset="0"/>
                <a:ea typeface="Georgia" pitchFamily="34" charset="-122"/>
                <a:cs typeface="Georgia" pitchFamily="34" charset="-120"/>
              </a:rPr>
              <a:t>Model Agent</a:t>
            </a:r>
            <a:endParaRPr lang="en-US" sz="900" dirty="0"/>
          </a:p>
        </p:txBody>
      </p:sp>
      <p:sp>
        <p:nvSpPr>
          <p:cNvPr id="33" name="Text 28"/>
          <p:cNvSpPr/>
          <p:nvPr/>
        </p:nvSpPr>
        <p:spPr>
          <a:xfrm>
            <a:off x="6263640" y="4370832"/>
            <a:ext cx="365760" cy="320040"/>
          </a:xfrm>
          <a:prstGeom prst="rect">
            <a:avLst/>
          </a:prstGeom>
          <a:noFill/>
          <a:ln/>
        </p:spPr>
        <p:txBody>
          <a:bodyPr wrap="square" rtlCol="0" anchor="ctr"/>
          <a:lstStyle/>
          <a:p>
            <a:pPr marL="0" indent="0" algn="ctr">
              <a:buNone/>
            </a:pPr>
            <a:r>
              <a:rPr lang="en-US" sz="1400" dirty="0">
                <a:solidFill>
                  <a:srgbClr val="949594"/>
                </a:solidFill>
              </a:rPr>
              <a:t>→</a:t>
            </a:r>
            <a:endParaRPr lang="en-US" sz="1400" dirty="0"/>
          </a:p>
        </p:txBody>
      </p:sp>
      <p:sp>
        <p:nvSpPr>
          <p:cNvPr id="34" name="Shape 29"/>
          <p:cNvSpPr/>
          <p:nvPr/>
        </p:nvSpPr>
        <p:spPr>
          <a:xfrm>
            <a:off x="6629400" y="4297680"/>
            <a:ext cx="1737360" cy="457200"/>
          </a:xfrm>
          <a:prstGeom prst="rect">
            <a:avLst/>
          </a:prstGeom>
          <a:solidFill>
            <a:srgbClr val="FFFFFF"/>
          </a:solidFill>
          <a:ln/>
          <a:effectLst>
            <a:outerShdw blurRad="50800" dist="25400" dir="8100000" algn="bl" rotWithShape="0">
              <a:srgbClr val="000000">
                <a:alpha val="10000"/>
              </a:srgbClr>
            </a:outerShdw>
          </a:effectLst>
        </p:spPr>
        <p:txBody>
          <a:bodyPr/>
          <a:lstStyle/>
          <a:p>
            <a:endParaRPr lang="en-US"/>
          </a:p>
        </p:txBody>
      </p:sp>
      <p:sp>
        <p:nvSpPr>
          <p:cNvPr id="35" name="Shape 30"/>
          <p:cNvSpPr/>
          <p:nvPr/>
        </p:nvSpPr>
        <p:spPr>
          <a:xfrm>
            <a:off x="6629400" y="4297680"/>
            <a:ext cx="1737360" cy="36576"/>
          </a:xfrm>
          <a:prstGeom prst="rect">
            <a:avLst/>
          </a:prstGeom>
          <a:solidFill>
            <a:srgbClr val="7C3AED"/>
          </a:solidFill>
          <a:ln/>
        </p:spPr>
        <p:txBody>
          <a:bodyPr/>
          <a:lstStyle/>
          <a:p>
            <a:endParaRPr lang="en-US"/>
          </a:p>
        </p:txBody>
      </p:sp>
      <p:sp>
        <p:nvSpPr>
          <p:cNvPr id="36" name="Text 31"/>
          <p:cNvSpPr/>
          <p:nvPr/>
        </p:nvSpPr>
        <p:spPr>
          <a:xfrm>
            <a:off x="6629400" y="4370832"/>
            <a:ext cx="1737360" cy="320040"/>
          </a:xfrm>
          <a:prstGeom prst="rect">
            <a:avLst/>
          </a:prstGeom>
          <a:noFill/>
          <a:ln/>
        </p:spPr>
        <p:txBody>
          <a:bodyPr wrap="square" lIns="0" tIns="0" rIns="0" bIns="0" rtlCol="0" anchor="ctr"/>
          <a:lstStyle/>
          <a:p>
            <a:pPr marL="0" indent="0" algn="ctr">
              <a:buNone/>
            </a:pPr>
            <a:r>
              <a:rPr lang="en-US" sz="900" b="1" dirty="0">
                <a:solidFill>
                  <a:srgbClr val="7C3AED"/>
                </a:solidFill>
                <a:latin typeface="Georgia" pitchFamily="34" charset="0"/>
                <a:ea typeface="Georgia" pitchFamily="34" charset="-122"/>
                <a:cs typeface="Georgia" pitchFamily="34" charset="-120"/>
              </a:rPr>
              <a:t>Insight Agent</a:t>
            </a:r>
            <a:endParaRPr lang="en-US" sz="900" dirty="0"/>
          </a:p>
        </p:txBody>
      </p:sp>
      <p:sp>
        <p:nvSpPr>
          <p:cNvPr id="37" name="Text 32"/>
          <p:cNvSpPr/>
          <p:nvPr/>
        </p:nvSpPr>
        <p:spPr>
          <a:xfrm>
            <a:off x="457200" y="4709160"/>
            <a:ext cx="6400800" cy="365760"/>
          </a:xfrm>
          <a:prstGeom prst="rect">
            <a:avLst/>
          </a:prstGeom>
          <a:noFill/>
          <a:ln/>
        </p:spPr>
        <p:txBody>
          <a:bodyPr wrap="square" rtlCol="0" anchor="ctr"/>
          <a:lstStyle/>
          <a:p>
            <a:pPr marL="0" indent="0">
              <a:buNone/>
            </a:pPr>
            <a:r>
              <a:rPr lang="en-US" sz="900" dirty="0">
                <a:solidFill>
                  <a:srgbClr val="949594"/>
                </a:solidFill>
                <a:latin typeface="Calibri" pitchFamily="34" charset="0"/>
                <a:ea typeface="Calibri" pitchFamily="34" charset="-122"/>
                <a:cs typeface="Calibri" pitchFamily="34" charset="-120"/>
              </a:rPr>
              <a:t>Speaker 3 — Predictions &amp; AI</a:t>
            </a:r>
            <a:endParaRPr lang="en-US" sz="900" dirty="0"/>
          </a:p>
        </p:txBody>
      </p:sp>
      <p:sp>
        <p:nvSpPr>
          <p:cNvPr id="38" name="Text 33"/>
          <p:cNvSpPr/>
          <p:nvPr/>
        </p:nvSpPr>
        <p:spPr>
          <a:xfrm>
            <a:off x="8412480" y="4709160"/>
            <a:ext cx="548640" cy="365760"/>
          </a:xfrm>
          <a:prstGeom prst="rect">
            <a:avLst/>
          </a:prstGeom>
          <a:noFill/>
          <a:ln/>
        </p:spPr>
        <p:txBody>
          <a:bodyPr wrap="square" rtlCol="0" anchor="ctr"/>
          <a:lstStyle/>
          <a:p>
            <a:pPr marL="0" indent="0" algn="r">
              <a:buNone/>
            </a:pPr>
            <a:r>
              <a:rPr lang="en-US" sz="900" dirty="0">
                <a:solidFill>
                  <a:srgbClr val="949594"/>
                </a:solidFill>
                <a:latin typeface="Calibri" pitchFamily="34" charset="0"/>
                <a:ea typeface="Calibri" pitchFamily="34" charset="-122"/>
                <a:cs typeface="Calibri" pitchFamily="34" charset="-120"/>
              </a:rPr>
              <a:t>21</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5F5F5"/>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C41E1E"/>
          </a:solidFill>
          <a:ln/>
        </p:spPr>
        <p:txBody>
          <a:bodyPr/>
          <a:lstStyle/>
          <a:p>
            <a:endParaRPr lang="en-US"/>
          </a:p>
        </p:txBody>
      </p:sp>
      <p:sp>
        <p:nvSpPr>
          <p:cNvPr id="3" name="Shape 1"/>
          <p:cNvSpPr/>
          <p:nvPr/>
        </p:nvSpPr>
        <p:spPr>
          <a:xfrm>
            <a:off x="8778240" y="0"/>
            <a:ext cx="137160" cy="5143500"/>
          </a:xfrm>
          <a:prstGeom prst="rect">
            <a:avLst/>
          </a:prstGeom>
          <a:solidFill>
            <a:srgbClr val="C41E1E"/>
          </a:solidFill>
          <a:ln/>
        </p:spPr>
        <p:txBody>
          <a:bodyPr/>
          <a:lstStyle/>
          <a:p>
            <a:endParaRPr lang="en-US"/>
          </a:p>
        </p:txBody>
      </p:sp>
      <p:sp>
        <p:nvSpPr>
          <p:cNvPr id="4" name="Shape 2"/>
          <p:cNvSpPr/>
          <p:nvPr/>
        </p:nvSpPr>
        <p:spPr>
          <a:xfrm>
            <a:off x="8961120" y="0"/>
            <a:ext cx="73152" cy="5143500"/>
          </a:xfrm>
          <a:prstGeom prst="rect">
            <a:avLst/>
          </a:prstGeom>
          <a:solidFill>
            <a:srgbClr val="C41E1E">
              <a:alpha val="40000"/>
            </a:srgbClr>
          </a:solidFill>
          <a:ln/>
        </p:spPr>
        <p:txBody>
          <a:bodyPr/>
          <a:lstStyle/>
          <a:p>
            <a:endParaRPr lang="en-US"/>
          </a:p>
        </p:txBody>
      </p:sp>
      <p:sp>
        <p:nvSpPr>
          <p:cNvPr id="5" name="Text 3"/>
          <p:cNvSpPr/>
          <p:nvPr/>
        </p:nvSpPr>
        <p:spPr>
          <a:xfrm>
            <a:off x="731520" y="182880"/>
            <a:ext cx="7315200" cy="548640"/>
          </a:xfrm>
          <a:prstGeom prst="rect">
            <a:avLst/>
          </a:prstGeom>
          <a:noFill/>
          <a:ln/>
        </p:spPr>
        <p:txBody>
          <a:bodyPr wrap="square" lIns="0" tIns="0" rIns="0" bIns="0" rtlCol="0" anchor="ctr"/>
          <a:lstStyle/>
          <a:p>
            <a:pPr marL="0" indent="0">
              <a:buNone/>
            </a:pPr>
            <a:r>
              <a:rPr lang="en-US" sz="2800" b="1" dirty="0">
                <a:solidFill>
                  <a:srgbClr val="1A1A2E"/>
                </a:solidFill>
                <a:latin typeface="Georgia" pitchFamily="34" charset="0"/>
                <a:ea typeface="Georgia" pitchFamily="34" charset="-122"/>
                <a:cs typeface="Georgia" pitchFamily="34" charset="-120"/>
              </a:rPr>
              <a:t>What Each Agent Discovered</a:t>
            </a:r>
            <a:endParaRPr lang="en-US" sz="2800" dirty="0"/>
          </a:p>
        </p:txBody>
      </p:sp>
      <p:sp>
        <p:nvSpPr>
          <p:cNvPr id="6" name="Shape 4"/>
          <p:cNvSpPr/>
          <p:nvPr/>
        </p:nvSpPr>
        <p:spPr>
          <a:xfrm>
            <a:off x="365760" y="868680"/>
            <a:ext cx="4023360" cy="1371600"/>
          </a:xfrm>
          <a:prstGeom prst="rect">
            <a:avLst/>
          </a:prstGeom>
          <a:solidFill>
            <a:srgbClr val="FFFFFF"/>
          </a:solidFill>
          <a:ln/>
          <a:effectLst>
            <a:outerShdw blurRad="50800" dist="25400" dir="8100000" algn="bl" rotWithShape="0">
              <a:srgbClr val="000000">
                <a:alpha val="10000"/>
              </a:srgbClr>
            </a:outerShdw>
          </a:effectLst>
        </p:spPr>
        <p:txBody>
          <a:bodyPr/>
          <a:lstStyle/>
          <a:p>
            <a:endParaRPr lang="en-US"/>
          </a:p>
        </p:txBody>
      </p:sp>
      <p:sp>
        <p:nvSpPr>
          <p:cNvPr id="7" name="Shape 5"/>
          <p:cNvSpPr/>
          <p:nvPr/>
        </p:nvSpPr>
        <p:spPr>
          <a:xfrm>
            <a:off x="365760" y="868680"/>
            <a:ext cx="54864" cy="1371600"/>
          </a:xfrm>
          <a:prstGeom prst="rect">
            <a:avLst/>
          </a:prstGeom>
          <a:solidFill>
            <a:srgbClr val="2563EB"/>
          </a:solidFill>
          <a:ln/>
        </p:spPr>
        <p:txBody>
          <a:bodyPr/>
          <a:lstStyle/>
          <a:p>
            <a:endParaRPr lang="en-US"/>
          </a:p>
        </p:txBody>
      </p:sp>
      <p:pic>
        <p:nvPicPr>
          <p:cNvPr id="8" name="Image 0" descr="preencoded.png"/>
          <p:cNvPicPr>
            <a:picLocks noChangeAspect="1"/>
          </p:cNvPicPr>
          <p:nvPr/>
        </p:nvPicPr>
        <p:blipFill>
          <a:blip r:embed="rId3"/>
          <a:stretch>
            <a:fillRect/>
          </a:stretch>
        </p:blipFill>
        <p:spPr>
          <a:xfrm>
            <a:off x="502920" y="978408"/>
            <a:ext cx="256032" cy="256032"/>
          </a:xfrm>
          <a:prstGeom prst="rect">
            <a:avLst/>
          </a:prstGeom>
        </p:spPr>
      </p:pic>
      <p:sp>
        <p:nvSpPr>
          <p:cNvPr id="9" name="Text 6"/>
          <p:cNvSpPr/>
          <p:nvPr/>
        </p:nvSpPr>
        <p:spPr>
          <a:xfrm>
            <a:off x="822960" y="941832"/>
            <a:ext cx="3429000" cy="292608"/>
          </a:xfrm>
          <a:prstGeom prst="rect">
            <a:avLst/>
          </a:prstGeom>
          <a:noFill/>
          <a:ln/>
        </p:spPr>
        <p:txBody>
          <a:bodyPr wrap="square" lIns="0" tIns="0" rIns="0" bIns="0" rtlCol="0" anchor="ctr"/>
          <a:lstStyle/>
          <a:p>
            <a:pPr marL="0" indent="0">
              <a:buNone/>
            </a:pPr>
            <a:r>
              <a:rPr lang="en-US" sz="1200" b="1" dirty="0">
                <a:solidFill>
                  <a:srgbClr val="2563EB"/>
                </a:solidFill>
                <a:latin typeface="Georgia" pitchFamily="34" charset="0"/>
                <a:ea typeface="Georgia" pitchFamily="34" charset="-122"/>
                <a:cs typeface="Georgia" pitchFamily="34" charset="-120"/>
              </a:rPr>
              <a:t>🔍 Data Agent</a:t>
            </a:r>
            <a:endParaRPr lang="en-US" sz="1200" dirty="0"/>
          </a:p>
        </p:txBody>
      </p:sp>
      <p:sp>
        <p:nvSpPr>
          <p:cNvPr id="10" name="Text 7"/>
          <p:cNvSpPr/>
          <p:nvPr/>
        </p:nvSpPr>
        <p:spPr>
          <a:xfrm>
            <a:off x="502920" y="1280160"/>
            <a:ext cx="3749040" cy="868680"/>
          </a:xfrm>
          <a:prstGeom prst="rect">
            <a:avLst/>
          </a:prstGeom>
          <a:noFill/>
          <a:ln/>
        </p:spPr>
        <p:txBody>
          <a:bodyPr wrap="square" rtlCol="0" anchor="t"/>
          <a:lstStyle/>
          <a:p>
            <a:pPr marL="0" indent="0">
              <a:lnSpc>
                <a:spcPct val="125000"/>
              </a:lnSpc>
              <a:buNone/>
            </a:pPr>
            <a:r>
              <a:rPr lang="en-US" sz="950" dirty="0">
                <a:solidFill>
                  <a:srgbClr val="444444"/>
                </a:solidFill>
                <a:latin typeface="Calibri" pitchFamily="34" charset="0"/>
                <a:ea typeface="Calibri" pitchFamily="34" charset="-122"/>
                <a:cs typeface="Calibri" pitchFamily="34" charset="-120"/>
              </a:rPr>
              <a:t>Checked null rates, row counts, freshness</a:t>
            </a:r>
            <a:endParaRPr lang="en-US" sz="950" dirty="0"/>
          </a:p>
          <a:p>
            <a:pPr marL="0" indent="0">
              <a:lnSpc>
                <a:spcPct val="125000"/>
              </a:lnSpc>
              <a:buNone/>
            </a:pPr>
            <a:r>
              <a:rPr lang="en-US" sz="950" dirty="0">
                <a:solidFill>
                  <a:srgbClr val="444444"/>
                </a:solidFill>
                <a:latin typeface="Calibri" pitchFamily="34" charset="0"/>
                <a:ea typeface="Calibri" pitchFamily="34" charset="-122"/>
                <a:cs typeface="Calibri" pitchFamily="34" charset="-120"/>
              </a:rPr>
              <a:t>across all Bronze/Silver/Gold tables.</a:t>
            </a:r>
            <a:endParaRPr lang="en-US" sz="950" dirty="0"/>
          </a:p>
          <a:p>
            <a:pPr marL="0" indent="0">
              <a:lnSpc>
                <a:spcPct val="125000"/>
              </a:lnSpc>
              <a:buNone/>
            </a:pPr>
            <a:endParaRPr lang="en-US" sz="950" dirty="0"/>
          </a:p>
          <a:p>
            <a:pPr marL="0" indent="0">
              <a:lnSpc>
                <a:spcPct val="125000"/>
              </a:lnSpc>
              <a:buNone/>
            </a:pPr>
            <a:r>
              <a:rPr lang="en-US" sz="950" dirty="0">
                <a:solidFill>
                  <a:srgbClr val="444444"/>
                </a:solidFill>
                <a:latin typeface="Calibri" pitchFamily="34" charset="0"/>
                <a:ea typeface="Calibri" pitchFamily="34" charset="-122"/>
                <a:cs typeface="Calibri" pitchFamily="34" charset="-120"/>
              </a:rPr>
              <a:t>Found: 51.5% null in q3_seconds</a:t>
            </a:r>
            <a:endParaRPr lang="en-US" sz="950" dirty="0"/>
          </a:p>
          <a:p>
            <a:pPr marL="0" indent="0">
              <a:lnSpc>
                <a:spcPct val="125000"/>
              </a:lnSpc>
              <a:buNone/>
            </a:pPr>
            <a:r>
              <a:rPr lang="en-US" sz="950" dirty="0">
                <a:solidFill>
                  <a:srgbClr val="444444"/>
                </a:solidFill>
                <a:latin typeface="Calibri" pitchFamily="34" charset="0"/>
                <a:ea typeface="Calibri" pitchFamily="34" charset="-122"/>
                <a:cs typeface="Calibri" pitchFamily="34" charset="-120"/>
              </a:rPr>
              <a:t>→ EXPECTED (only top 10 reach Q3)</a:t>
            </a:r>
            <a:endParaRPr lang="en-US" sz="950" dirty="0"/>
          </a:p>
          <a:p>
            <a:pPr marL="0" indent="0">
              <a:lnSpc>
                <a:spcPct val="125000"/>
              </a:lnSpc>
              <a:buNone/>
            </a:pPr>
            <a:r>
              <a:rPr lang="en-US" sz="950" dirty="0">
                <a:solidFill>
                  <a:srgbClr val="444444"/>
                </a:solidFill>
                <a:latin typeface="Calibri" pitchFamily="34" charset="0"/>
                <a:ea typeface="Calibri" pitchFamily="34" charset="-122"/>
                <a:cs typeface="Calibri" pitchFamily="34" charset="-120"/>
              </a:rPr>
              <a:t>This is judgment, not rule-following.</a:t>
            </a:r>
            <a:endParaRPr lang="en-US" sz="950" dirty="0"/>
          </a:p>
        </p:txBody>
      </p:sp>
      <p:sp>
        <p:nvSpPr>
          <p:cNvPr id="11" name="Shape 8"/>
          <p:cNvSpPr/>
          <p:nvPr/>
        </p:nvSpPr>
        <p:spPr>
          <a:xfrm>
            <a:off x="4572000" y="868680"/>
            <a:ext cx="4023360" cy="1371600"/>
          </a:xfrm>
          <a:prstGeom prst="rect">
            <a:avLst/>
          </a:prstGeom>
          <a:solidFill>
            <a:srgbClr val="FFFFFF"/>
          </a:solidFill>
          <a:ln/>
          <a:effectLst>
            <a:outerShdw blurRad="50800" dist="25400" dir="8100000" algn="bl" rotWithShape="0">
              <a:srgbClr val="000000">
                <a:alpha val="10000"/>
              </a:srgbClr>
            </a:outerShdw>
          </a:effectLst>
        </p:spPr>
        <p:txBody>
          <a:bodyPr/>
          <a:lstStyle/>
          <a:p>
            <a:endParaRPr lang="en-US"/>
          </a:p>
        </p:txBody>
      </p:sp>
      <p:sp>
        <p:nvSpPr>
          <p:cNvPr id="12" name="Shape 9"/>
          <p:cNvSpPr/>
          <p:nvPr/>
        </p:nvSpPr>
        <p:spPr>
          <a:xfrm>
            <a:off x="4572000" y="868680"/>
            <a:ext cx="54864" cy="1371600"/>
          </a:xfrm>
          <a:prstGeom prst="rect">
            <a:avLst/>
          </a:prstGeom>
          <a:solidFill>
            <a:srgbClr val="059669"/>
          </a:solidFill>
          <a:ln/>
        </p:spPr>
        <p:txBody>
          <a:bodyPr/>
          <a:lstStyle/>
          <a:p>
            <a:endParaRPr lang="en-US"/>
          </a:p>
        </p:txBody>
      </p:sp>
      <p:pic>
        <p:nvPicPr>
          <p:cNvPr id="13" name="Image 1" descr="preencoded.png"/>
          <p:cNvPicPr>
            <a:picLocks noChangeAspect="1"/>
          </p:cNvPicPr>
          <p:nvPr/>
        </p:nvPicPr>
        <p:blipFill>
          <a:blip r:embed="rId4"/>
          <a:stretch>
            <a:fillRect/>
          </a:stretch>
        </p:blipFill>
        <p:spPr>
          <a:xfrm>
            <a:off x="4709160" y="978408"/>
            <a:ext cx="256032" cy="256032"/>
          </a:xfrm>
          <a:prstGeom prst="rect">
            <a:avLst/>
          </a:prstGeom>
        </p:spPr>
      </p:pic>
      <p:sp>
        <p:nvSpPr>
          <p:cNvPr id="14" name="Text 10"/>
          <p:cNvSpPr/>
          <p:nvPr/>
        </p:nvSpPr>
        <p:spPr>
          <a:xfrm>
            <a:off x="5029200" y="941832"/>
            <a:ext cx="3429000" cy="292608"/>
          </a:xfrm>
          <a:prstGeom prst="rect">
            <a:avLst/>
          </a:prstGeom>
          <a:noFill/>
          <a:ln/>
        </p:spPr>
        <p:txBody>
          <a:bodyPr wrap="square" lIns="0" tIns="0" rIns="0" bIns="0" rtlCol="0" anchor="ctr"/>
          <a:lstStyle/>
          <a:p>
            <a:pPr marL="0" indent="0">
              <a:buNone/>
            </a:pPr>
            <a:r>
              <a:rPr lang="en-US" sz="1200" b="1" dirty="0">
                <a:solidFill>
                  <a:srgbClr val="059669"/>
                </a:solidFill>
                <a:latin typeface="Georgia" pitchFamily="34" charset="0"/>
                <a:ea typeface="Georgia" pitchFamily="34" charset="-122"/>
                <a:cs typeface="Georgia" pitchFamily="34" charset="-120"/>
              </a:rPr>
              <a:t>🧪 Feature Agent</a:t>
            </a:r>
            <a:endParaRPr lang="en-US" sz="1200" dirty="0"/>
          </a:p>
        </p:txBody>
      </p:sp>
      <p:sp>
        <p:nvSpPr>
          <p:cNvPr id="15" name="Text 11"/>
          <p:cNvSpPr/>
          <p:nvPr/>
        </p:nvSpPr>
        <p:spPr>
          <a:xfrm>
            <a:off x="4709160" y="1280160"/>
            <a:ext cx="3749040" cy="868680"/>
          </a:xfrm>
          <a:prstGeom prst="rect">
            <a:avLst/>
          </a:prstGeom>
          <a:noFill/>
          <a:ln/>
        </p:spPr>
        <p:txBody>
          <a:bodyPr wrap="square" rtlCol="0" anchor="t"/>
          <a:lstStyle/>
          <a:p>
            <a:pPr marL="0" indent="0">
              <a:lnSpc>
                <a:spcPct val="125000"/>
              </a:lnSpc>
              <a:buNone/>
            </a:pPr>
            <a:r>
              <a:rPr lang="en-US" sz="950" dirty="0">
                <a:solidFill>
                  <a:srgbClr val="444444"/>
                </a:solidFill>
                <a:latin typeface="Calibri" pitchFamily="34" charset="0"/>
                <a:ea typeface="Calibri" pitchFamily="34" charset="-122"/>
                <a:cs typeface="Calibri" pitchFamily="34" charset="-120"/>
              </a:rPr>
              <a:t>Proposed 5 features via scientific method:</a:t>
            </a:r>
            <a:endParaRPr lang="en-US" sz="950" dirty="0"/>
          </a:p>
          <a:p>
            <a:pPr marL="0" indent="0">
              <a:lnSpc>
                <a:spcPct val="125000"/>
              </a:lnSpc>
              <a:buNone/>
            </a:pPr>
            <a:r>
              <a:rPr lang="en-US" sz="950" dirty="0">
                <a:solidFill>
                  <a:srgbClr val="444444"/>
                </a:solidFill>
                <a:latin typeface="Calibri" pitchFamily="34" charset="0"/>
                <a:ea typeface="Calibri" pitchFamily="34" charset="-122"/>
                <a:cs typeface="Calibri" pitchFamily="34" charset="-120"/>
              </a:rPr>
              <a:t>✅ constructor_dominance (corr=0.594)</a:t>
            </a:r>
            <a:endParaRPr lang="en-US" sz="950" dirty="0"/>
          </a:p>
          <a:p>
            <a:pPr marL="0" indent="0">
              <a:lnSpc>
                <a:spcPct val="125000"/>
              </a:lnSpc>
              <a:buNone/>
            </a:pPr>
            <a:r>
              <a:rPr lang="en-US" sz="950" dirty="0">
                <a:solidFill>
                  <a:srgbClr val="444444"/>
                </a:solidFill>
                <a:latin typeface="Calibri" pitchFamily="34" charset="0"/>
                <a:ea typeface="Calibri" pitchFamily="34" charset="-122"/>
                <a:cs typeface="Calibri" pitchFamily="34" charset="-120"/>
              </a:rPr>
              <a:t>✅ home_advantage (corr=0.167)</a:t>
            </a:r>
            <a:endParaRPr lang="en-US" sz="950" dirty="0"/>
          </a:p>
          <a:p>
            <a:pPr marL="0" indent="0">
              <a:lnSpc>
                <a:spcPct val="125000"/>
              </a:lnSpc>
              <a:buNone/>
            </a:pPr>
            <a:r>
              <a:rPr lang="en-US" sz="950" dirty="0">
                <a:solidFill>
                  <a:srgbClr val="444444"/>
                </a:solidFill>
                <a:latin typeface="Calibri" pitchFamily="34" charset="0"/>
                <a:ea typeface="Calibri" pitchFamily="34" charset="-122"/>
                <a:cs typeface="Calibri" pitchFamily="34" charset="-120"/>
              </a:rPr>
              <a:t>✅ grid_volatility (corr=0.064)</a:t>
            </a:r>
            <a:endParaRPr lang="en-US" sz="950" dirty="0"/>
          </a:p>
          <a:p>
            <a:pPr marL="0" indent="0">
              <a:lnSpc>
                <a:spcPct val="125000"/>
              </a:lnSpc>
              <a:buNone/>
            </a:pPr>
            <a:r>
              <a:rPr lang="en-US" sz="950" dirty="0">
                <a:solidFill>
                  <a:srgbClr val="444444"/>
                </a:solidFill>
                <a:latin typeface="Calibri" pitchFamily="34" charset="0"/>
                <a:ea typeface="Calibri" pitchFamily="34" charset="-122"/>
                <a:cs typeface="Calibri" pitchFamily="34" charset="-120"/>
              </a:rPr>
              <a:t>❌ quali_trend (0.044) — too weak</a:t>
            </a:r>
            <a:endParaRPr lang="en-US" sz="950" dirty="0"/>
          </a:p>
          <a:p>
            <a:pPr marL="0" indent="0">
              <a:lnSpc>
                <a:spcPct val="125000"/>
              </a:lnSpc>
              <a:buNone/>
            </a:pPr>
            <a:r>
              <a:rPr lang="en-US" sz="950" dirty="0">
                <a:solidFill>
                  <a:srgbClr val="444444"/>
                </a:solidFill>
                <a:latin typeface="Calibri" pitchFamily="34" charset="0"/>
                <a:ea typeface="Calibri" pitchFamily="34" charset="-122"/>
                <a:cs typeface="Calibri" pitchFamily="34" charset="-120"/>
              </a:rPr>
              <a:t>❌ points_acceleration (0.019) — zero value</a:t>
            </a:r>
            <a:endParaRPr lang="en-US" sz="950" dirty="0"/>
          </a:p>
        </p:txBody>
      </p:sp>
      <p:sp>
        <p:nvSpPr>
          <p:cNvPr id="16" name="Shape 12"/>
          <p:cNvSpPr/>
          <p:nvPr/>
        </p:nvSpPr>
        <p:spPr>
          <a:xfrm>
            <a:off x="365760" y="2423160"/>
            <a:ext cx="4023360" cy="1371600"/>
          </a:xfrm>
          <a:prstGeom prst="rect">
            <a:avLst/>
          </a:prstGeom>
          <a:solidFill>
            <a:srgbClr val="FFFFFF"/>
          </a:solidFill>
          <a:ln/>
          <a:effectLst>
            <a:outerShdw blurRad="50800" dist="25400" dir="8100000" algn="bl" rotWithShape="0">
              <a:srgbClr val="000000">
                <a:alpha val="10000"/>
              </a:srgbClr>
            </a:outerShdw>
          </a:effectLst>
        </p:spPr>
        <p:txBody>
          <a:bodyPr/>
          <a:lstStyle/>
          <a:p>
            <a:endParaRPr lang="en-US"/>
          </a:p>
        </p:txBody>
      </p:sp>
      <p:sp>
        <p:nvSpPr>
          <p:cNvPr id="17" name="Shape 13"/>
          <p:cNvSpPr/>
          <p:nvPr/>
        </p:nvSpPr>
        <p:spPr>
          <a:xfrm>
            <a:off x="365760" y="2423160"/>
            <a:ext cx="54864" cy="1371600"/>
          </a:xfrm>
          <a:prstGeom prst="rect">
            <a:avLst/>
          </a:prstGeom>
          <a:solidFill>
            <a:srgbClr val="D97706"/>
          </a:solidFill>
          <a:ln/>
        </p:spPr>
        <p:txBody>
          <a:bodyPr/>
          <a:lstStyle/>
          <a:p>
            <a:endParaRPr lang="en-US"/>
          </a:p>
        </p:txBody>
      </p:sp>
      <p:pic>
        <p:nvPicPr>
          <p:cNvPr id="18" name="Image 2" descr="preencoded.png"/>
          <p:cNvPicPr>
            <a:picLocks noChangeAspect="1"/>
          </p:cNvPicPr>
          <p:nvPr/>
        </p:nvPicPr>
        <p:blipFill>
          <a:blip r:embed="rId5"/>
          <a:stretch>
            <a:fillRect/>
          </a:stretch>
        </p:blipFill>
        <p:spPr>
          <a:xfrm>
            <a:off x="502920" y="2532888"/>
            <a:ext cx="256032" cy="256032"/>
          </a:xfrm>
          <a:prstGeom prst="rect">
            <a:avLst/>
          </a:prstGeom>
        </p:spPr>
      </p:pic>
      <p:sp>
        <p:nvSpPr>
          <p:cNvPr id="19" name="Text 14"/>
          <p:cNvSpPr/>
          <p:nvPr/>
        </p:nvSpPr>
        <p:spPr>
          <a:xfrm>
            <a:off x="822960" y="2496312"/>
            <a:ext cx="3429000" cy="292608"/>
          </a:xfrm>
          <a:prstGeom prst="rect">
            <a:avLst/>
          </a:prstGeom>
          <a:noFill/>
          <a:ln/>
        </p:spPr>
        <p:txBody>
          <a:bodyPr wrap="square" lIns="0" tIns="0" rIns="0" bIns="0" rtlCol="0" anchor="ctr"/>
          <a:lstStyle/>
          <a:p>
            <a:pPr marL="0" indent="0">
              <a:buNone/>
            </a:pPr>
            <a:r>
              <a:rPr lang="en-US" sz="1200" b="1" dirty="0">
                <a:solidFill>
                  <a:srgbClr val="D97706"/>
                </a:solidFill>
                <a:latin typeface="Georgia" pitchFamily="34" charset="0"/>
                <a:ea typeface="Georgia" pitchFamily="34" charset="-122"/>
                <a:cs typeface="Georgia" pitchFamily="34" charset="-120"/>
              </a:rPr>
              <a:t>📊 Model Agent</a:t>
            </a:r>
            <a:endParaRPr lang="en-US" sz="1200" dirty="0"/>
          </a:p>
        </p:txBody>
      </p:sp>
      <p:sp>
        <p:nvSpPr>
          <p:cNvPr id="20" name="Text 15"/>
          <p:cNvSpPr/>
          <p:nvPr/>
        </p:nvSpPr>
        <p:spPr>
          <a:xfrm>
            <a:off x="502920" y="2834640"/>
            <a:ext cx="3749040" cy="868680"/>
          </a:xfrm>
          <a:prstGeom prst="rect">
            <a:avLst/>
          </a:prstGeom>
          <a:noFill/>
          <a:ln/>
        </p:spPr>
        <p:txBody>
          <a:bodyPr wrap="square" rtlCol="0" anchor="t"/>
          <a:lstStyle/>
          <a:p>
            <a:pPr marL="0" indent="0">
              <a:lnSpc>
                <a:spcPct val="125000"/>
              </a:lnSpc>
              <a:buNone/>
            </a:pPr>
            <a:r>
              <a:rPr lang="en-US" sz="950" dirty="0">
                <a:solidFill>
                  <a:srgbClr val="444444"/>
                </a:solidFill>
                <a:latin typeface="Calibri" pitchFamily="34" charset="0"/>
                <a:ea typeface="Calibri" pitchFamily="34" charset="-122"/>
                <a:cs typeface="Calibri" pitchFamily="34" charset="-120"/>
              </a:rPr>
              <a:t>Diagnosed WHERE predictions fail:</a:t>
            </a:r>
            <a:endParaRPr lang="en-US" sz="950" dirty="0"/>
          </a:p>
          <a:p>
            <a:pPr marL="0" indent="0">
              <a:lnSpc>
                <a:spcPct val="125000"/>
              </a:lnSpc>
              <a:buNone/>
            </a:pPr>
            <a:endParaRPr lang="en-US" sz="950" dirty="0"/>
          </a:p>
          <a:p>
            <a:pPr marL="0" indent="0">
              <a:lnSpc>
                <a:spcPct val="125000"/>
              </a:lnSpc>
              <a:buNone/>
            </a:pPr>
            <a:r>
              <a:rPr lang="en-US" sz="950" dirty="0">
                <a:solidFill>
                  <a:srgbClr val="444444"/>
                </a:solidFill>
                <a:latin typeface="Calibri" pitchFamily="34" charset="0"/>
                <a:ea typeface="Calibri" pitchFamily="34" charset="-122"/>
                <a:cs typeface="Calibri" pitchFamily="34" charset="-120"/>
              </a:rPr>
              <a:t>Worst circuits: Zandvoort (4.1 error),</a:t>
            </a:r>
            <a:endParaRPr lang="en-US" sz="950" dirty="0"/>
          </a:p>
          <a:p>
            <a:pPr marL="0" indent="0">
              <a:lnSpc>
                <a:spcPct val="125000"/>
              </a:lnSpc>
              <a:buNone/>
            </a:pPr>
            <a:r>
              <a:rPr lang="en-US" sz="950" dirty="0">
                <a:solidFill>
                  <a:srgbClr val="444444"/>
                </a:solidFill>
                <a:latin typeface="Calibri" pitchFamily="34" charset="0"/>
                <a:ea typeface="Calibri" pitchFamily="34" charset="-122"/>
                <a:cs typeface="Calibri" pitchFamily="34" charset="-120"/>
              </a:rPr>
              <a:t>Silverstone (3.8), Las Vegas (3.8)</a:t>
            </a:r>
            <a:endParaRPr lang="en-US" sz="950" dirty="0"/>
          </a:p>
          <a:p>
            <a:pPr marL="0" indent="0">
              <a:lnSpc>
                <a:spcPct val="125000"/>
              </a:lnSpc>
              <a:buNone/>
            </a:pPr>
            <a:r>
              <a:rPr lang="en-US" sz="950" dirty="0">
                <a:solidFill>
                  <a:srgbClr val="444444"/>
                </a:solidFill>
                <a:latin typeface="Calibri" pitchFamily="34" charset="0"/>
                <a:ea typeface="Calibri" pitchFamily="34" charset="-122"/>
                <a:cs typeface="Calibri" pitchFamily="34" charset="-120"/>
              </a:rPr>
              <a:t>Hardest driver: Antonelli (rookie)</a:t>
            </a:r>
            <a:endParaRPr lang="en-US" sz="950" dirty="0"/>
          </a:p>
          <a:p>
            <a:pPr marL="0" indent="0">
              <a:lnSpc>
                <a:spcPct val="125000"/>
              </a:lnSpc>
              <a:buNone/>
            </a:pPr>
            <a:r>
              <a:rPr lang="en-US" sz="950" dirty="0">
                <a:solidFill>
                  <a:srgbClr val="444444"/>
                </a:solidFill>
                <a:latin typeface="Calibri" pitchFamily="34" charset="0"/>
                <a:ea typeface="Calibri" pitchFamily="34" charset="-122"/>
                <a:cs typeface="Calibri" pitchFamily="34" charset="-120"/>
              </a:rPr>
              <a:t>Overall MAE acceptable → no retrain.</a:t>
            </a:r>
            <a:endParaRPr lang="en-US" sz="950" dirty="0"/>
          </a:p>
        </p:txBody>
      </p:sp>
      <p:sp>
        <p:nvSpPr>
          <p:cNvPr id="21" name="Shape 16"/>
          <p:cNvSpPr/>
          <p:nvPr/>
        </p:nvSpPr>
        <p:spPr>
          <a:xfrm>
            <a:off x="4572000" y="2423160"/>
            <a:ext cx="4023360" cy="1371600"/>
          </a:xfrm>
          <a:prstGeom prst="rect">
            <a:avLst/>
          </a:prstGeom>
          <a:solidFill>
            <a:srgbClr val="FFFFFF"/>
          </a:solidFill>
          <a:ln/>
          <a:effectLst>
            <a:outerShdw blurRad="50800" dist="25400" dir="8100000" algn="bl" rotWithShape="0">
              <a:srgbClr val="000000">
                <a:alpha val="10000"/>
              </a:srgbClr>
            </a:outerShdw>
          </a:effectLst>
        </p:spPr>
        <p:txBody>
          <a:bodyPr/>
          <a:lstStyle/>
          <a:p>
            <a:endParaRPr lang="en-US"/>
          </a:p>
        </p:txBody>
      </p:sp>
      <p:sp>
        <p:nvSpPr>
          <p:cNvPr id="22" name="Shape 17"/>
          <p:cNvSpPr/>
          <p:nvPr/>
        </p:nvSpPr>
        <p:spPr>
          <a:xfrm>
            <a:off x="4572000" y="2423160"/>
            <a:ext cx="54864" cy="1371600"/>
          </a:xfrm>
          <a:prstGeom prst="rect">
            <a:avLst/>
          </a:prstGeom>
          <a:solidFill>
            <a:srgbClr val="7C3AED"/>
          </a:solidFill>
          <a:ln/>
        </p:spPr>
        <p:txBody>
          <a:bodyPr/>
          <a:lstStyle/>
          <a:p>
            <a:endParaRPr lang="en-US"/>
          </a:p>
        </p:txBody>
      </p:sp>
      <p:pic>
        <p:nvPicPr>
          <p:cNvPr id="23" name="Image 3" descr="preencoded.png"/>
          <p:cNvPicPr>
            <a:picLocks noChangeAspect="1"/>
          </p:cNvPicPr>
          <p:nvPr/>
        </p:nvPicPr>
        <p:blipFill>
          <a:blip r:embed="rId6"/>
          <a:stretch>
            <a:fillRect/>
          </a:stretch>
        </p:blipFill>
        <p:spPr>
          <a:xfrm>
            <a:off x="4709160" y="2532888"/>
            <a:ext cx="256032" cy="256032"/>
          </a:xfrm>
          <a:prstGeom prst="rect">
            <a:avLst/>
          </a:prstGeom>
        </p:spPr>
      </p:pic>
      <p:sp>
        <p:nvSpPr>
          <p:cNvPr id="24" name="Text 18"/>
          <p:cNvSpPr/>
          <p:nvPr/>
        </p:nvSpPr>
        <p:spPr>
          <a:xfrm>
            <a:off x="5029200" y="2496312"/>
            <a:ext cx="3429000" cy="292608"/>
          </a:xfrm>
          <a:prstGeom prst="rect">
            <a:avLst/>
          </a:prstGeom>
          <a:noFill/>
          <a:ln/>
        </p:spPr>
        <p:txBody>
          <a:bodyPr wrap="square" lIns="0" tIns="0" rIns="0" bIns="0" rtlCol="0" anchor="ctr"/>
          <a:lstStyle/>
          <a:p>
            <a:pPr marL="0" indent="0">
              <a:buNone/>
            </a:pPr>
            <a:r>
              <a:rPr lang="en-US" sz="1200" b="1" dirty="0">
                <a:solidFill>
                  <a:srgbClr val="7C3AED"/>
                </a:solidFill>
                <a:latin typeface="Georgia" pitchFamily="34" charset="0"/>
                <a:ea typeface="Georgia" pitchFamily="34" charset="-122"/>
                <a:cs typeface="Georgia" pitchFamily="34" charset="-120"/>
              </a:rPr>
              <a:t>📝 Insight Agent</a:t>
            </a:r>
            <a:endParaRPr lang="en-US" sz="1200" dirty="0"/>
          </a:p>
        </p:txBody>
      </p:sp>
      <p:sp>
        <p:nvSpPr>
          <p:cNvPr id="25" name="Text 19"/>
          <p:cNvSpPr/>
          <p:nvPr/>
        </p:nvSpPr>
        <p:spPr>
          <a:xfrm>
            <a:off x="4709160" y="2834640"/>
            <a:ext cx="3749040" cy="868680"/>
          </a:xfrm>
          <a:prstGeom prst="rect">
            <a:avLst/>
          </a:prstGeom>
          <a:noFill/>
          <a:ln/>
        </p:spPr>
        <p:txBody>
          <a:bodyPr wrap="square" rtlCol="0" anchor="t"/>
          <a:lstStyle/>
          <a:p>
            <a:pPr marL="0" indent="0">
              <a:lnSpc>
                <a:spcPct val="125000"/>
              </a:lnSpc>
              <a:buNone/>
            </a:pPr>
            <a:r>
              <a:rPr lang="en-US" sz="950" dirty="0">
                <a:solidFill>
                  <a:srgbClr val="444444"/>
                </a:solidFill>
                <a:latin typeface="Calibri" pitchFamily="34" charset="0"/>
                <a:ea typeface="Calibri" pitchFamily="34" charset="-122"/>
                <a:cs typeface="Calibri" pitchFamily="34" charset="-120"/>
              </a:rPr>
              <a:t>Combines all agent outputs into a</a:t>
            </a:r>
            <a:endParaRPr lang="en-US" sz="950" dirty="0"/>
          </a:p>
          <a:p>
            <a:pPr marL="0" indent="0">
              <a:lnSpc>
                <a:spcPct val="125000"/>
              </a:lnSpc>
              <a:buNone/>
            </a:pPr>
            <a:r>
              <a:rPr lang="en-US" sz="950" dirty="0">
                <a:solidFill>
                  <a:srgbClr val="444444"/>
                </a:solidFill>
                <a:latin typeface="Calibri" pitchFamily="34" charset="0"/>
                <a:ea typeface="Calibri" pitchFamily="34" charset="-122"/>
                <a:cs typeface="Calibri" pitchFamily="34" charset="-120"/>
              </a:rPr>
              <a:t>natural-language strategy briefing.</a:t>
            </a:r>
            <a:endParaRPr lang="en-US" sz="950" dirty="0"/>
          </a:p>
          <a:p>
            <a:pPr marL="0" indent="0">
              <a:lnSpc>
                <a:spcPct val="125000"/>
              </a:lnSpc>
              <a:buNone/>
            </a:pPr>
            <a:endParaRPr lang="en-US" sz="950" dirty="0"/>
          </a:p>
          <a:p>
            <a:pPr marL="0" indent="0">
              <a:lnSpc>
                <a:spcPct val="125000"/>
              </a:lnSpc>
              <a:buNone/>
            </a:pPr>
            <a:r>
              <a:rPr lang="en-US" sz="950" dirty="0">
                <a:solidFill>
                  <a:srgbClr val="444444"/>
                </a:solidFill>
                <a:latin typeface="Calibri" pitchFamily="34" charset="0"/>
                <a:ea typeface="Calibri" pitchFamily="34" charset="-122"/>
                <a:cs typeface="Calibri" pitchFamily="34" charset="-120"/>
              </a:rPr>
              <a:t>Similar to what an F1 pit wall</a:t>
            </a:r>
            <a:endParaRPr lang="en-US" sz="950" dirty="0"/>
          </a:p>
          <a:p>
            <a:pPr marL="0" indent="0">
              <a:lnSpc>
                <a:spcPct val="125000"/>
              </a:lnSpc>
              <a:buNone/>
            </a:pPr>
            <a:r>
              <a:rPr lang="en-US" sz="950" dirty="0">
                <a:solidFill>
                  <a:srgbClr val="444444"/>
                </a:solidFill>
                <a:latin typeface="Calibri" pitchFamily="34" charset="0"/>
                <a:ea typeface="Calibri" pitchFamily="34" charset="-122"/>
                <a:cs typeface="Calibri" pitchFamily="34" charset="-120"/>
              </a:rPr>
              <a:t>strategist receives before a race.</a:t>
            </a:r>
            <a:endParaRPr lang="en-US" sz="950" dirty="0"/>
          </a:p>
          <a:p>
            <a:pPr marL="0" indent="0">
              <a:lnSpc>
                <a:spcPct val="125000"/>
              </a:lnSpc>
              <a:buNone/>
            </a:pPr>
            <a:r>
              <a:rPr lang="en-US" sz="950" dirty="0">
                <a:solidFill>
                  <a:srgbClr val="444444"/>
                </a:solidFill>
                <a:latin typeface="Calibri" pitchFamily="34" charset="0"/>
                <a:ea typeface="Calibri" pitchFamily="34" charset="-122"/>
                <a:cs typeface="Calibri" pitchFamily="34" charset="-120"/>
              </a:rPr>
              <a:t>Data quality + predictions + warnings.</a:t>
            </a:r>
            <a:endParaRPr lang="en-US" sz="950" dirty="0"/>
          </a:p>
        </p:txBody>
      </p:sp>
      <p:sp>
        <p:nvSpPr>
          <p:cNvPr id="26" name="Shape 20"/>
          <p:cNvSpPr/>
          <p:nvPr/>
        </p:nvSpPr>
        <p:spPr>
          <a:xfrm>
            <a:off x="365760" y="3977640"/>
            <a:ext cx="8321040" cy="640080"/>
          </a:xfrm>
          <a:prstGeom prst="rect">
            <a:avLst/>
          </a:prstGeom>
          <a:solidFill>
            <a:srgbClr val="E6F4EA"/>
          </a:solidFill>
          <a:ln/>
          <a:effectLst>
            <a:outerShdw blurRad="50800" dist="25400" dir="8100000" algn="bl" rotWithShape="0">
              <a:srgbClr val="000000">
                <a:alpha val="10000"/>
              </a:srgbClr>
            </a:outerShdw>
          </a:effectLst>
        </p:spPr>
        <p:txBody>
          <a:bodyPr/>
          <a:lstStyle/>
          <a:p>
            <a:endParaRPr lang="en-US"/>
          </a:p>
        </p:txBody>
      </p:sp>
      <p:sp>
        <p:nvSpPr>
          <p:cNvPr id="27" name="Text 21"/>
          <p:cNvSpPr/>
          <p:nvPr/>
        </p:nvSpPr>
        <p:spPr>
          <a:xfrm>
            <a:off x="548640" y="4023360"/>
            <a:ext cx="8046720" cy="502920"/>
          </a:xfrm>
          <a:prstGeom prst="rect">
            <a:avLst/>
          </a:prstGeom>
          <a:noFill/>
          <a:ln/>
        </p:spPr>
        <p:txBody>
          <a:bodyPr wrap="square" lIns="0" tIns="0" rIns="0" bIns="0" rtlCol="0" anchor="ctr"/>
          <a:lstStyle/>
          <a:p>
            <a:pPr marL="0" indent="0">
              <a:buNone/>
            </a:pPr>
            <a:r>
              <a:rPr lang="en-US" sz="1000" dirty="0">
                <a:solidFill>
                  <a:srgbClr val="059669"/>
                </a:solidFill>
                <a:latin typeface="Calibri" pitchFamily="34" charset="0"/>
                <a:ea typeface="Calibri" pitchFamily="34" charset="-122"/>
                <a:cs typeface="Calibri" pitchFamily="34" charset="-120"/>
              </a:rPr>
              <a:t>The Feature Agent discovered constructor_dominance (correlation 0.594) — more predictive than most hand-engineered features. This automates the most time-consuming part of ML: feature engineering.</a:t>
            </a:r>
            <a:endParaRPr lang="en-US" sz="1000" dirty="0"/>
          </a:p>
        </p:txBody>
      </p:sp>
      <p:sp>
        <p:nvSpPr>
          <p:cNvPr id="28" name="Text 22"/>
          <p:cNvSpPr/>
          <p:nvPr/>
        </p:nvSpPr>
        <p:spPr>
          <a:xfrm>
            <a:off x="457200" y="4709160"/>
            <a:ext cx="6400800" cy="365760"/>
          </a:xfrm>
          <a:prstGeom prst="rect">
            <a:avLst/>
          </a:prstGeom>
          <a:noFill/>
          <a:ln/>
        </p:spPr>
        <p:txBody>
          <a:bodyPr wrap="square" rtlCol="0" anchor="ctr"/>
          <a:lstStyle/>
          <a:p>
            <a:pPr marL="0" indent="0">
              <a:buNone/>
            </a:pPr>
            <a:r>
              <a:rPr lang="en-US" sz="900" dirty="0">
                <a:solidFill>
                  <a:srgbClr val="949594"/>
                </a:solidFill>
                <a:latin typeface="Calibri" pitchFamily="34" charset="0"/>
                <a:ea typeface="Calibri" pitchFamily="34" charset="-122"/>
                <a:cs typeface="Calibri" pitchFamily="34" charset="-120"/>
              </a:rPr>
              <a:t>Speaker 3 — Predictions &amp; AI</a:t>
            </a:r>
            <a:endParaRPr lang="en-US" sz="900" dirty="0"/>
          </a:p>
        </p:txBody>
      </p:sp>
      <p:sp>
        <p:nvSpPr>
          <p:cNvPr id="29" name="Text 23"/>
          <p:cNvSpPr/>
          <p:nvPr/>
        </p:nvSpPr>
        <p:spPr>
          <a:xfrm>
            <a:off x="8412480" y="4709160"/>
            <a:ext cx="548640" cy="365760"/>
          </a:xfrm>
          <a:prstGeom prst="rect">
            <a:avLst/>
          </a:prstGeom>
          <a:noFill/>
          <a:ln/>
        </p:spPr>
        <p:txBody>
          <a:bodyPr wrap="square" rtlCol="0" anchor="ctr"/>
          <a:lstStyle/>
          <a:p>
            <a:pPr marL="0" indent="0" algn="r">
              <a:buNone/>
            </a:pPr>
            <a:r>
              <a:rPr lang="en-US" sz="900" dirty="0">
                <a:solidFill>
                  <a:srgbClr val="949594"/>
                </a:solidFill>
                <a:latin typeface="Calibri" pitchFamily="34" charset="0"/>
                <a:ea typeface="Calibri" pitchFamily="34" charset="-122"/>
                <a:cs typeface="Calibri" pitchFamily="34" charset="-120"/>
              </a:rPr>
              <a:t>22</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5F5F5"/>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C41E1E"/>
          </a:solidFill>
          <a:ln/>
        </p:spPr>
        <p:txBody>
          <a:bodyPr/>
          <a:lstStyle/>
          <a:p>
            <a:endParaRPr lang="en-US"/>
          </a:p>
        </p:txBody>
      </p:sp>
      <p:sp>
        <p:nvSpPr>
          <p:cNvPr id="3" name="Shape 1"/>
          <p:cNvSpPr/>
          <p:nvPr/>
        </p:nvSpPr>
        <p:spPr>
          <a:xfrm>
            <a:off x="8778240" y="0"/>
            <a:ext cx="137160" cy="5143500"/>
          </a:xfrm>
          <a:prstGeom prst="rect">
            <a:avLst/>
          </a:prstGeom>
          <a:solidFill>
            <a:srgbClr val="C41E1E"/>
          </a:solidFill>
          <a:ln/>
        </p:spPr>
        <p:txBody>
          <a:bodyPr/>
          <a:lstStyle/>
          <a:p>
            <a:endParaRPr lang="en-US"/>
          </a:p>
        </p:txBody>
      </p:sp>
      <p:sp>
        <p:nvSpPr>
          <p:cNvPr id="4" name="Shape 2"/>
          <p:cNvSpPr/>
          <p:nvPr/>
        </p:nvSpPr>
        <p:spPr>
          <a:xfrm>
            <a:off x="8961120" y="0"/>
            <a:ext cx="73152" cy="5143500"/>
          </a:xfrm>
          <a:prstGeom prst="rect">
            <a:avLst/>
          </a:prstGeom>
          <a:solidFill>
            <a:srgbClr val="C41E1E">
              <a:alpha val="40000"/>
            </a:srgbClr>
          </a:solidFill>
          <a:ln/>
        </p:spPr>
        <p:txBody>
          <a:bodyPr/>
          <a:lstStyle/>
          <a:p>
            <a:endParaRPr lang="en-US"/>
          </a:p>
        </p:txBody>
      </p:sp>
      <p:sp>
        <p:nvSpPr>
          <p:cNvPr id="5" name="Text 3"/>
          <p:cNvSpPr/>
          <p:nvPr/>
        </p:nvSpPr>
        <p:spPr>
          <a:xfrm>
            <a:off x="731520" y="182880"/>
            <a:ext cx="7315200" cy="548640"/>
          </a:xfrm>
          <a:prstGeom prst="rect">
            <a:avLst/>
          </a:prstGeom>
          <a:noFill/>
          <a:ln/>
        </p:spPr>
        <p:txBody>
          <a:bodyPr wrap="square" lIns="0" tIns="0" rIns="0" bIns="0" rtlCol="0" anchor="ctr"/>
          <a:lstStyle/>
          <a:p>
            <a:pPr marL="0" indent="0">
              <a:buNone/>
            </a:pPr>
            <a:r>
              <a:rPr lang="en-US" sz="2800" b="1" dirty="0">
                <a:solidFill>
                  <a:srgbClr val="1A1A2E"/>
                </a:solidFill>
                <a:latin typeface="Georgia" pitchFamily="34" charset="0"/>
                <a:ea typeface="Georgia" pitchFamily="34" charset="-122"/>
                <a:cs typeface="Georgia" pitchFamily="34" charset="-120"/>
              </a:rPr>
              <a:t>Challenges &amp; Real-World Debugging</a:t>
            </a:r>
            <a:endParaRPr lang="en-US" sz="2800" dirty="0"/>
          </a:p>
        </p:txBody>
      </p:sp>
      <p:sp>
        <p:nvSpPr>
          <p:cNvPr id="6" name="Text 4"/>
          <p:cNvSpPr/>
          <p:nvPr/>
        </p:nvSpPr>
        <p:spPr>
          <a:xfrm>
            <a:off x="731520" y="685800"/>
            <a:ext cx="7315200" cy="228600"/>
          </a:xfrm>
          <a:prstGeom prst="rect">
            <a:avLst/>
          </a:prstGeom>
          <a:noFill/>
          <a:ln/>
        </p:spPr>
        <p:txBody>
          <a:bodyPr wrap="square" lIns="0" tIns="0" rIns="0" bIns="0" rtlCol="0" anchor="ctr"/>
          <a:lstStyle/>
          <a:p>
            <a:pPr marL="0" indent="0">
              <a:buNone/>
            </a:pPr>
            <a:r>
              <a:rPr lang="en-US" sz="1100" dirty="0">
                <a:solidFill>
                  <a:srgbClr val="949594"/>
                </a:solidFill>
                <a:latin typeface="Calibri" pitchFamily="34" charset="0"/>
                <a:ea typeface="Calibri" pitchFamily="34" charset="-122"/>
                <a:cs typeface="Calibri" pitchFamily="34" charset="-120"/>
              </a:rPr>
              <a:t>Evidence of effort, iteration, and production-grade problem-solving</a:t>
            </a:r>
            <a:endParaRPr lang="en-US" sz="1100" dirty="0"/>
          </a:p>
        </p:txBody>
      </p:sp>
      <p:sp>
        <p:nvSpPr>
          <p:cNvPr id="7" name="Shape 5"/>
          <p:cNvSpPr/>
          <p:nvPr/>
        </p:nvSpPr>
        <p:spPr>
          <a:xfrm>
            <a:off x="365760" y="1005840"/>
            <a:ext cx="4023360" cy="1371600"/>
          </a:xfrm>
          <a:prstGeom prst="rect">
            <a:avLst/>
          </a:prstGeom>
          <a:solidFill>
            <a:srgbClr val="FFFFFF"/>
          </a:solidFill>
          <a:ln/>
          <a:effectLst>
            <a:outerShdw blurRad="50800" dist="25400" dir="8100000" algn="bl" rotWithShape="0">
              <a:srgbClr val="000000">
                <a:alpha val="10000"/>
              </a:srgbClr>
            </a:outerShdw>
          </a:effectLst>
        </p:spPr>
        <p:txBody>
          <a:bodyPr/>
          <a:lstStyle/>
          <a:p>
            <a:endParaRPr lang="en-US"/>
          </a:p>
        </p:txBody>
      </p:sp>
      <p:sp>
        <p:nvSpPr>
          <p:cNvPr id="8" name="Shape 6"/>
          <p:cNvSpPr/>
          <p:nvPr/>
        </p:nvSpPr>
        <p:spPr>
          <a:xfrm>
            <a:off x="365760" y="1005840"/>
            <a:ext cx="54864" cy="1371600"/>
          </a:xfrm>
          <a:prstGeom prst="rect">
            <a:avLst/>
          </a:prstGeom>
          <a:solidFill>
            <a:srgbClr val="C41E1E"/>
          </a:solidFill>
          <a:ln/>
        </p:spPr>
        <p:txBody>
          <a:bodyPr/>
          <a:lstStyle/>
          <a:p>
            <a:endParaRPr lang="en-US"/>
          </a:p>
        </p:txBody>
      </p:sp>
      <p:pic>
        <p:nvPicPr>
          <p:cNvPr id="9" name="Image 0" descr="preencoded.png"/>
          <p:cNvPicPr>
            <a:picLocks noChangeAspect="1"/>
          </p:cNvPicPr>
          <p:nvPr/>
        </p:nvPicPr>
        <p:blipFill>
          <a:blip r:embed="rId3"/>
          <a:stretch>
            <a:fillRect/>
          </a:stretch>
        </p:blipFill>
        <p:spPr>
          <a:xfrm>
            <a:off x="502920" y="1115568"/>
            <a:ext cx="256032" cy="256032"/>
          </a:xfrm>
          <a:prstGeom prst="rect">
            <a:avLst/>
          </a:prstGeom>
        </p:spPr>
      </p:pic>
      <p:sp>
        <p:nvSpPr>
          <p:cNvPr id="10" name="Text 7"/>
          <p:cNvSpPr/>
          <p:nvPr/>
        </p:nvSpPr>
        <p:spPr>
          <a:xfrm>
            <a:off x="822960" y="1078992"/>
            <a:ext cx="3429000" cy="292608"/>
          </a:xfrm>
          <a:prstGeom prst="rect">
            <a:avLst/>
          </a:prstGeom>
          <a:noFill/>
          <a:ln/>
        </p:spPr>
        <p:txBody>
          <a:bodyPr wrap="square" lIns="0" tIns="0" rIns="0" bIns="0" rtlCol="0" anchor="ctr"/>
          <a:lstStyle/>
          <a:p>
            <a:pPr marL="0" indent="0">
              <a:buNone/>
            </a:pPr>
            <a:r>
              <a:rPr lang="en-US" sz="1200" b="1" dirty="0">
                <a:solidFill>
                  <a:srgbClr val="C41E1E"/>
                </a:solidFill>
                <a:latin typeface="Georgia" pitchFamily="34" charset="0"/>
                <a:ea typeface="Georgia" pitchFamily="34" charset="-122"/>
                <a:cs typeface="Georgia" pitchFamily="34" charset="-120"/>
              </a:rPr>
              <a:t>API Shutdown (Mid-Project)</a:t>
            </a:r>
            <a:endParaRPr lang="en-US" sz="1200" dirty="0"/>
          </a:p>
        </p:txBody>
      </p:sp>
      <p:sp>
        <p:nvSpPr>
          <p:cNvPr id="11" name="Text 8"/>
          <p:cNvSpPr/>
          <p:nvPr/>
        </p:nvSpPr>
        <p:spPr>
          <a:xfrm>
            <a:off x="502920" y="1417320"/>
            <a:ext cx="3749040" cy="868680"/>
          </a:xfrm>
          <a:prstGeom prst="rect">
            <a:avLst/>
          </a:prstGeom>
          <a:noFill/>
          <a:ln/>
        </p:spPr>
        <p:txBody>
          <a:bodyPr wrap="square" rtlCol="0" anchor="t"/>
          <a:lstStyle/>
          <a:p>
            <a:pPr marL="0" indent="0">
              <a:lnSpc>
                <a:spcPct val="125000"/>
              </a:lnSpc>
              <a:buNone/>
            </a:pPr>
            <a:r>
              <a:rPr lang="en-US" sz="950" dirty="0">
                <a:solidFill>
                  <a:srgbClr val="444444"/>
                </a:solidFill>
                <a:latin typeface="Calibri" pitchFamily="34" charset="0"/>
                <a:ea typeface="Calibri" pitchFamily="34" charset="-122"/>
                <a:cs typeface="Calibri" pitchFamily="34" charset="-120"/>
              </a:rPr>
              <a:t>Ergast API died end of 2024.</a:t>
            </a:r>
            <a:endParaRPr lang="en-US" sz="950" dirty="0"/>
          </a:p>
          <a:p>
            <a:pPr marL="0" indent="0">
              <a:lnSpc>
                <a:spcPct val="125000"/>
              </a:lnSpc>
              <a:buNone/>
            </a:pPr>
            <a:r>
              <a:rPr lang="en-US" sz="950" dirty="0">
                <a:solidFill>
                  <a:srgbClr val="444444"/>
                </a:solidFill>
                <a:latin typeface="Calibri" pitchFamily="34" charset="0"/>
                <a:ea typeface="Calibri" pitchFamily="34" charset="-122"/>
                <a:cs typeface="Calibri" pitchFamily="34" charset="-120"/>
              </a:rPr>
              <a:t>Migrated to Jolpica — same JSON format.</a:t>
            </a:r>
            <a:endParaRPr lang="en-US" sz="950" dirty="0"/>
          </a:p>
          <a:p>
            <a:pPr marL="0" indent="0">
              <a:lnSpc>
                <a:spcPct val="125000"/>
              </a:lnSpc>
              <a:buNone/>
            </a:pPr>
            <a:r>
              <a:rPr lang="en-US" sz="950" dirty="0">
                <a:solidFill>
                  <a:srgbClr val="444444"/>
                </a:solidFill>
                <a:latin typeface="Calibri" pitchFamily="34" charset="0"/>
                <a:ea typeface="Calibri" pitchFamily="34" charset="-122"/>
                <a:cs typeface="Calibri" pitchFamily="34" charset="-120"/>
              </a:rPr>
              <a:t>Rate limits: HTTP 429 after ~100 calls.</a:t>
            </a:r>
            <a:endParaRPr lang="en-US" sz="950" dirty="0"/>
          </a:p>
          <a:p>
            <a:pPr marL="0" indent="0">
              <a:lnSpc>
                <a:spcPct val="125000"/>
              </a:lnSpc>
              <a:buNone/>
            </a:pPr>
            <a:endParaRPr lang="en-US" sz="950" dirty="0"/>
          </a:p>
          <a:p>
            <a:pPr marL="0" indent="0">
              <a:lnSpc>
                <a:spcPct val="125000"/>
              </a:lnSpc>
              <a:buNone/>
            </a:pPr>
            <a:r>
              <a:rPr lang="en-US" sz="950" dirty="0">
                <a:solidFill>
                  <a:srgbClr val="444444"/>
                </a:solidFill>
                <a:latin typeface="Calibri" pitchFamily="34" charset="0"/>
                <a:ea typeface="Calibri" pitchFamily="34" charset="-122"/>
                <a:cs typeface="Calibri" pitchFamily="34" charset="-120"/>
              </a:rPr>
              <a:t>Solution: exponential backoff with</a:t>
            </a:r>
            <a:endParaRPr lang="en-US" sz="950" dirty="0"/>
          </a:p>
          <a:p>
            <a:pPr marL="0" indent="0">
              <a:lnSpc>
                <a:spcPct val="125000"/>
              </a:lnSpc>
              <a:buNone/>
            </a:pPr>
            <a:r>
              <a:rPr lang="en-US" sz="950" dirty="0">
                <a:solidFill>
                  <a:srgbClr val="444444"/>
                </a:solidFill>
                <a:latin typeface="Calibri" pitchFamily="34" charset="0"/>
                <a:ea typeface="Calibri" pitchFamily="34" charset="-122"/>
                <a:cs typeface="Calibri" pitchFamily="34" charset="-120"/>
              </a:rPr>
              <a:t>automatic retry and 30s cooldown.</a:t>
            </a:r>
            <a:endParaRPr lang="en-US" sz="950" dirty="0"/>
          </a:p>
        </p:txBody>
      </p:sp>
      <p:sp>
        <p:nvSpPr>
          <p:cNvPr id="12" name="Shape 9"/>
          <p:cNvSpPr/>
          <p:nvPr/>
        </p:nvSpPr>
        <p:spPr>
          <a:xfrm>
            <a:off x="4572000" y="1005840"/>
            <a:ext cx="4023360" cy="1371600"/>
          </a:xfrm>
          <a:prstGeom prst="rect">
            <a:avLst/>
          </a:prstGeom>
          <a:solidFill>
            <a:srgbClr val="FFFFFF"/>
          </a:solidFill>
          <a:ln/>
          <a:effectLst>
            <a:outerShdw blurRad="50800" dist="25400" dir="8100000" algn="bl" rotWithShape="0">
              <a:srgbClr val="000000">
                <a:alpha val="10000"/>
              </a:srgbClr>
            </a:outerShdw>
          </a:effectLst>
        </p:spPr>
        <p:txBody>
          <a:bodyPr/>
          <a:lstStyle/>
          <a:p>
            <a:endParaRPr lang="en-US"/>
          </a:p>
        </p:txBody>
      </p:sp>
      <p:sp>
        <p:nvSpPr>
          <p:cNvPr id="13" name="Shape 10"/>
          <p:cNvSpPr/>
          <p:nvPr/>
        </p:nvSpPr>
        <p:spPr>
          <a:xfrm>
            <a:off x="4572000" y="1005840"/>
            <a:ext cx="54864" cy="1371600"/>
          </a:xfrm>
          <a:prstGeom prst="rect">
            <a:avLst/>
          </a:prstGeom>
          <a:solidFill>
            <a:srgbClr val="D97706"/>
          </a:solidFill>
          <a:ln/>
        </p:spPr>
        <p:txBody>
          <a:bodyPr/>
          <a:lstStyle/>
          <a:p>
            <a:endParaRPr lang="en-US"/>
          </a:p>
        </p:txBody>
      </p:sp>
      <p:pic>
        <p:nvPicPr>
          <p:cNvPr id="14" name="Image 1" descr="preencoded.png"/>
          <p:cNvPicPr>
            <a:picLocks noChangeAspect="1"/>
          </p:cNvPicPr>
          <p:nvPr/>
        </p:nvPicPr>
        <p:blipFill>
          <a:blip r:embed="rId3"/>
          <a:stretch>
            <a:fillRect/>
          </a:stretch>
        </p:blipFill>
        <p:spPr>
          <a:xfrm>
            <a:off x="4709160" y="1115568"/>
            <a:ext cx="256032" cy="256032"/>
          </a:xfrm>
          <a:prstGeom prst="rect">
            <a:avLst/>
          </a:prstGeom>
        </p:spPr>
      </p:pic>
      <p:sp>
        <p:nvSpPr>
          <p:cNvPr id="15" name="Text 11"/>
          <p:cNvSpPr/>
          <p:nvPr/>
        </p:nvSpPr>
        <p:spPr>
          <a:xfrm>
            <a:off x="5029200" y="1078992"/>
            <a:ext cx="3429000" cy="292608"/>
          </a:xfrm>
          <a:prstGeom prst="rect">
            <a:avLst/>
          </a:prstGeom>
          <a:noFill/>
          <a:ln/>
        </p:spPr>
        <p:txBody>
          <a:bodyPr wrap="square" lIns="0" tIns="0" rIns="0" bIns="0" rtlCol="0" anchor="ctr"/>
          <a:lstStyle/>
          <a:p>
            <a:pPr marL="0" indent="0">
              <a:buNone/>
            </a:pPr>
            <a:r>
              <a:rPr lang="en-US" sz="1200" b="1" dirty="0">
                <a:solidFill>
                  <a:srgbClr val="D97706"/>
                </a:solidFill>
                <a:latin typeface="Georgia" pitchFamily="34" charset="0"/>
                <a:ea typeface="Georgia" pitchFamily="34" charset="-122"/>
                <a:cs typeface="Georgia" pitchFamily="34" charset="-120"/>
              </a:rPr>
              <a:t>Airflow → Spark Integration</a:t>
            </a:r>
            <a:endParaRPr lang="en-US" sz="1200" dirty="0"/>
          </a:p>
        </p:txBody>
      </p:sp>
      <p:sp>
        <p:nvSpPr>
          <p:cNvPr id="16" name="Text 12"/>
          <p:cNvSpPr/>
          <p:nvPr/>
        </p:nvSpPr>
        <p:spPr>
          <a:xfrm>
            <a:off x="4709160" y="1417320"/>
            <a:ext cx="3749040" cy="868680"/>
          </a:xfrm>
          <a:prstGeom prst="rect">
            <a:avLst/>
          </a:prstGeom>
          <a:noFill/>
          <a:ln/>
        </p:spPr>
        <p:txBody>
          <a:bodyPr wrap="square" rtlCol="0" anchor="t"/>
          <a:lstStyle/>
          <a:p>
            <a:pPr marL="0" indent="0">
              <a:lnSpc>
                <a:spcPct val="125000"/>
              </a:lnSpc>
              <a:buNone/>
            </a:pPr>
            <a:r>
              <a:rPr lang="en-US" sz="950" dirty="0">
                <a:solidFill>
                  <a:srgbClr val="444444"/>
                </a:solidFill>
                <a:latin typeface="Calibri" pitchFamily="34" charset="0"/>
                <a:ea typeface="Calibri" pitchFamily="34" charset="-122"/>
                <a:cs typeface="Calibri" pitchFamily="34" charset="-120"/>
              </a:rPr>
              <a:t>Airflow container has no spark-submit.</a:t>
            </a:r>
            <a:endParaRPr lang="en-US" sz="950" dirty="0"/>
          </a:p>
          <a:p>
            <a:pPr marL="0" indent="0">
              <a:lnSpc>
                <a:spcPct val="125000"/>
              </a:lnSpc>
              <a:buNone/>
            </a:pPr>
            <a:r>
              <a:rPr lang="en-US" sz="950" dirty="0">
                <a:solidFill>
                  <a:srgbClr val="444444"/>
                </a:solidFill>
                <a:latin typeface="Calibri" pitchFamily="34" charset="0"/>
                <a:ea typeface="Calibri" pitchFamily="34" charset="-122"/>
                <a:cs typeface="Calibri" pitchFamily="34" charset="-120"/>
              </a:rPr>
              <a:t>Needed to trigger Spark on cluster.</a:t>
            </a:r>
            <a:endParaRPr lang="en-US" sz="950" dirty="0"/>
          </a:p>
          <a:p>
            <a:pPr marL="0" indent="0">
              <a:lnSpc>
                <a:spcPct val="125000"/>
              </a:lnSpc>
              <a:buNone/>
            </a:pPr>
            <a:endParaRPr lang="en-US" sz="950" dirty="0"/>
          </a:p>
          <a:p>
            <a:pPr marL="0" indent="0">
              <a:lnSpc>
                <a:spcPct val="125000"/>
              </a:lnSpc>
              <a:buNone/>
            </a:pPr>
            <a:r>
              <a:rPr lang="en-US" sz="950" dirty="0">
                <a:solidFill>
                  <a:srgbClr val="444444"/>
                </a:solidFill>
                <a:latin typeface="Calibri" pitchFamily="34" charset="0"/>
                <a:ea typeface="Calibri" pitchFamily="34" charset="-122"/>
                <a:cs typeface="Calibri" pitchFamily="34" charset="-120"/>
              </a:rPr>
              <a:t>Solution: mounted Docker socket into</a:t>
            </a:r>
            <a:endParaRPr lang="en-US" sz="950" dirty="0"/>
          </a:p>
          <a:p>
            <a:pPr marL="0" indent="0">
              <a:lnSpc>
                <a:spcPct val="125000"/>
              </a:lnSpc>
              <a:buNone/>
            </a:pPr>
            <a:r>
              <a:rPr lang="en-US" sz="950" dirty="0">
                <a:solidFill>
                  <a:srgbClr val="444444"/>
                </a:solidFill>
                <a:latin typeface="Calibri" pitchFamily="34" charset="0"/>
                <a:ea typeface="Calibri" pitchFamily="34" charset="-122"/>
                <a:cs typeface="Calibri" pitchFamily="34" charset="-120"/>
              </a:rPr>
              <a:t>Airflow, installed CLI, used docker exec</a:t>
            </a:r>
            <a:endParaRPr lang="en-US" sz="950" dirty="0"/>
          </a:p>
          <a:p>
            <a:pPr marL="0" indent="0">
              <a:lnSpc>
                <a:spcPct val="125000"/>
              </a:lnSpc>
              <a:buNone/>
            </a:pPr>
            <a:r>
              <a:rPr lang="en-US" sz="950" dirty="0">
                <a:solidFill>
                  <a:srgbClr val="444444"/>
                </a:solidFill>
                <a:latin typeface="Calibri" pitchFamily="34" charset="0"/>
                <a:ea typeface="Calibri" pitchFamily="34" charset="-122"/>
                <a:cs typeface="Calibri" pitchFamily="34" charset="-120"/>
              </a:rPr>
              <a:t>to run spark-submit on Spark master.</a:t>
            </a:r>
            <a:endParaRPr lang="en-US" sz="950" dirty="0"/>
          </a:p>
        </p:txBody>
      </p:sp>
      <p:sp>
        <p:nvSpPr>
          <p:cNvPr id="17" name="Shape 13"/>
          <p:cNvSpPr/>
          <p:nvPr/>
        </p:nvSpPr>
        <p:spPr>
          <a:xfrm>
            <a:off x="365760" y="2560320"/>
            <a:ext cx="4023360" cy="1371600"/>
          </a:xfrm>
          <a:prstGeom prst="rect">
            <a:avLst/>
          </a:prstGeom>
          <a:solidFill>
            <a:srgbClr val="FFFFFF"/>
          </a:solidFill>
          <a:ln/>
          <a:effectLst>
            <a:outerShdw blurRad="50800" dist="25400" dir="8100000" algn="bl" rotWithShape="0">
              <a:srgbClr val="000000">
                <a:alpha val="10000"/>
              </a:srgbClr>
            </a:outerShdw>
          </a:effectLst>
        </p:spPr>
        <p:txBody>
          <a:bodyPr/>
          <a:lstStyle/>
          <a:p>
            <a:endParaRPr lang="en-US"/>
          </a:p>
        </p:txBody>
      </p:sp>
      <p:sp>
        <p:nvSpPr>
          <p:cNvPr id="18" name="Shape 14"/>
          <p:cNvSpPr/>
          <p:nvPr/>
        </p:nvSpPr>
        <p:spPr>
          <a:xfrm>
            <a:off x="365760" y="2560320"/>
            <a:ext cx="54864" cy="1371600"/>
          </a:xfrm>
          <a:prstGeom prst="rect">
            <a:avLst/>
          </a:prstGeom>
          <a:solidFill>
            <a:srgbClr val="2563EB"/>
          </a:solidFill>
          <a:ln/>
        </p:spPr>
        <p:txBody>
          <a:bodyPr/>
          <a:lstStyle/>
          <a:p>
            <a:endParaRPr lang="en-US"/>
          </a:p>
        </p:txBody>
      </p:sp>
      <p:pic>
        <p:nvPicPr>
          <p:cNvPr id="19" name="Image 2" descr="preencoded.png"/>
          <p:cNvPicPr>
            <a:picLocks noChangeAspect="1"/>
          </p:cNvPicPr>
          <p:nvPr/>
        </p:nvPicPr>
        <p:blipFill>
          <a:blip r:embed="rId3"/>
          <a:stretch>
            <a:fillRect/>
          </a:stretch>
        </p:blipFill>
        <p:spPr>
          <a:xfrm>
            <a:off x="502920" y="2670048"/>
            <a:ext cx="256032" cy="256032"/>
          </a:xfrm>
          <a:prstGeom prst="rect">
            <a:avLst/>
          </a:prstGeom>
        </p:spPr>
      </p:pic>
      <p:sp>
        <p:nvSpPr>
          <p:cNvPr id="20" name="Text 15"/>
          <p:cNvSpPr/>
          <p:nvPr/>
        </p:nvSpPr>
        <p:spPr>
          <a:xfrm>
            <a:off x="822960" y="2633472"/>
            <a:ext cx="3429000" cy="292608"/>
          </a:xfrm>
          <a:prstGeom prst="rect">
            <a:avLst/>
          </a:prstGeom>
          <a:noFill/>
          <a:ln/>
        </p:spPr>
        <p:txBody>
          <a:bodyPr wrap="square" lIns="0" tIns="0" rIns="0" bIns="0" rtlCol="0" anchor="ctr"/>
          <a:lstStyle/>
          <a:p>
            <a:pPr marL="0" indent="0">
              <a:buNone/>
            </a:pPr>
            <a:r>
              <a:rPr lang="en-US" sz="1200" b="1" dirty="0">
                <a:solidFill>
                  <a:srgbClr val="2563EB"/>
                </a:solidFill>
                <a:latin typeface="Georgia" pitchFamily="34" charset="0"/>
                <a:ea typeface="Georgia" pitchFamily="34" charset="-122"/>
                <a:cs typeface="Georgia" pitchFamily="34" charset="-120"/>
              </a:rPr>
              <a:t>Docker Container Issues</a:t>
            </a:r>
            <a:endParaRPr lang="en-US" sz="1200" dirty="0"/>
          </a:p>
        </p:txBody>
      </p:sp>
      <p:sp>
        <p:nvSpPr>
          <p:cNvPr id="21" name="Text 16"/>
          <p:cNvSpPr/>
          <p:nvPr/>
        </p:nvSpPr>
        <p:spPr>
          <a:xfrm>
            <a:off x="502920" y="2971800"/>
            <a:ext cx="3749040" cy="868680"/>
          </a:xfrm>
          <a:prstGeom prst="rect">
            <a:avLst/>
          </a:prstGeom>
          <a:noFill/>
          <a:ln/>
        </p:spPr>
        <p:txBody>
          <a:bodyPr wrap="square" rtlCol="0" anchor="t"/>
          <a:lstStyle/>
          <a:p>
            <a:pPr marL="0" indent="0">
              <a:lnSpc>
                <a:spcPct val="125000"/>
              </a:lnSpc>
              <a:buNone/>
            </a:pPr>
            <a:r>
              <a:rPr lang="en-US" sz="950" dirty="0">
                <a:solidFill>
                  <a:srgbClr val="444444"/>
                </a:solidFill>
                <a:latin typeface="Calibri" pitchFamily="34" charset="0"/>
                <a:ea typeface="Calibri" pitchFamily="34" charset="-122"/>
                <a:cs typeface="Calibri" pitchFamily="34" charset="-120"/>
              </a:rPr>
              <a:t>Bitnami images removed from Docker Hub.</a:t>
            </a:r>
            <a:endParaRPr lang="en-US" sz="950" dirty="0"/>
          </a:p>
          <a:p>
            <a:pPr marL="0" indent="0">
              <a:lnSpc>
                <a:spcPct val="125000"/>
              </a:lnSpc>
              <a:buNone/>
            </a:pPr>
            <a:r>
              <a:rPr lang="en-US" sz="950" dirty="0">
                <a:solidFill>
                  <a:srgbClr val="444444"/>
                </a:solidFill>
                <a:latin typeface="Calibri" pitchFamily="34" charset="0"/>
                <a:ea typeface="Calibri" pitchFamily="34" charset="-122"/>
                <a:cs typeface="Calibri" pitchFamily="34" charset="-120"/>
              </a:rPr>
              <a:t>Containers dying on startup.</a:t>
            </a:r>
            <a:endParaRPr lang="en-US" sz="950" dirty="0"/>
          </a:p>
          <a:p>
            <a:pPr marL="0" indent="0">
              <a:lnSpc>
                <a:spcPct val="125000"/>
              </a:lnSpc>
              <a:buNone/>
            </a:pPr>
            <a:r>
              <a:rPr lang="en-US" sz="950" dirty="0">
                <a:solidFill>
                  <a:srgbClr val="444444"/>
                </a:solidFill>
                <a:latin typeface="Calibri" pitchFamily="34" charset="0"/>
                <a:ea typeface="Calibri" pitchFamily="34" charset="-122"/>
                <a:cs typeface="Calibri" pitchFamily="34" charset="-120"/>
              </a:rPr>
              <a:t>Folder spaces broke volume mounts.</a:t>
            </a:r>
            <a:endParaRPr lang="en-US" sz="950" dirty="0"/>
          </a:p>
          <a:p>
            <a:pPr marL="0" indent="0">
              <a:lnSpc>
                <a:spcPct val="125000"/>
              </a:lnSpc>
              <a:buNone/>
            </a:pPr>
            <a:r>
              <a:rPr lang="en-US" sz="950" dirty="0">
                <a:solidFill>
                  <a:srgbClr val="444444"/>
                </a:solidFill>
                <a:latin typeface="Calibri" pitchFamily="34" charset="0"/>
                <a:ea typeface="Calibri" pitchFamily="34" charset="-122"/>
                <a:cs typeface="Calibri" pitchFamily="34" charset="-120"/>
              </a:rPr>
              <a:t>Timestamp NANOS format crashed Spark.</a:t>
            </a:r>
            <a:endParaRPr lang="en-US" sz="950" dirty="0"/>
          </a:p>
          <a:p>
            <a:pPr marL="0" indent="0">
              <a:lnSpc>
                <a:spcPct val="125000"/>
              </a:lnSpc>
              <a:buNone/>
            </a:pPr>
            <a:endParaRPr lang="en-US" sz="950" dirty="0"/>
          </a:p>
          <a:p>
            <a:pPr marL="0" indent="0">
              <a:lnSpc>
                <a:spcPct val="125000"/>
              </a:lnSpc>
              <a:buNone/>
            </a:pPr>
            <a:r>
              <a:rPr lang="en-US" sz="950" dirty="0">
                <a:solidFill>
                  <a:srgbClr val="444444"/>
                </a:solidFill>
                <a:latin typeface="Calibri" pitchFamily="34" charset="0"/>
                <a:ea typeface="Calibri" pitchFamily="34" charset="-122"/>
                <a:cs typeface="Calibri" pitchFamily="34" charset="-120"/>
              </a:rPr>
              <a:t>Each required targeted investigation.</a:t>
            </a:r>
            <a:endParaRPr lang="en-US" sz="950" dirty="0"/>
          </a:p>
        </p:txBody>
      </p:sp>
      <p:sp>
        <p:nvSpPr>
          <p:cNvPr id="22" name="Shape 17"/>
          <p:cNvSpPr/>
          <p:nvPr/>
        </p:nvSpPr>
        <p:spPr>
          <a:xfrm>
            <a:off x="4572000" y="2560320"/>
            <a:ext cx="4023360" cy="1371600"/>
          </a:xfrm>
          <a:prstGeom prst="rect">
            <a:avLst/>
          </a:prstGeom>
          <a:solidFill>
            <a:srgbClr val="FFFFFF"/>
          </a:solidFill>
          <a:ln/>
          <a:effectLst>
            <a:outerShdw blurRad="50800" dist="25400" dir="8100000" algn="bl" rotWithShape="0">
              <a:srgbClr val="000000">
                <a:alpha val="10000"/>
              </a:srgbClr>
            </a:outerShdw>
          </a:effectLst>
        </p:spPr>
        <p:txBody>
          <a:bodyPr/>
          <a:lstStyle/>
          <a:p>
            <a:endParaRPr lang="en-US"/>
          </a:p>
        </p:txBody>
      </p:sp>
      <p:sp>
        <p:nvSpPr>
          <p:cNvPr id="23" name="Shape 18"/>
          <p:cNvSpPr/>
          <p:nvPr/>
        </p:nvSpPr>
        <p:spPr>
          <a:xfrm>
            <a:off x="4572000" y="2560320"/>
            <a:ext cx="54864" cy="1371600"/>
          </a:xfrm>
          <a:prstGeom prst="rect">
            <a:avLst/>
          </a:prstGeom>
          <a:solidFill>
            <a:srgbClr val="7C3AED"/>
          </a:solidFill>
          <a:ln/>
        </p:spPr>
        <p:txBody>
          <a:bodyPr/>
          <a:lstStyle/>
          <a:p>
            <a:endParaRPr lang="en-US"/>
          </a:p>
        </p:txBody>
      </p:sp>
      <p:pic>
        <p:nvPicPr>
          <p:cNvPr id="24" name="Image 3" descr="preencoded.png"/>
          <p:cNvPicPr>
            <a:picLocks noChangeAspect="1"/>
          </p:cNvPicPr>
          <p:nvPr/>
        </p:nvPicPr>
        <p:blipFill>
          <a:blip r:embed="rId3"/>
          <a:stretch>
            <a:fillRect/>
          </a:stretch>
        </p:blipFill>
        <p:spPr>
          <a:xfrm>
            <a:off x="4709160" y="2670048"/>
            <a:ext cx="256032" cy="256032"/>
          </a:xfrm>
          <a:prstGeom prst="rect">
            <a:avLst/>
          </a:prstGeom>
        </p:spPr>
      </p:pic>
      <p:sp>
        <p:nvSpPr>
          <p:cNvPr id="25" name="Text 19"/>
          <p:cNvSpPr/>
          <p:nvPr/>
        </p:nvSpPr>
        <p:spPr>
          <a:xfrm>
            <a:off x="5029200" y="2633472"/>
            <a:ext cx="3429000" cy="292608"/>
          </a:xfrm>
          <a:prstGeom prst="rect">
            <a:avLst/>
          </a:prstGeom>
          <a:noFill/>
          <a:ln/>
        </p:spPr>
        <p:txBody>
          <a:bodyPr wrap="square" lIns="0" tIns="0" rIns="0" bIns="0" rtlCol="0" anchor="ctr"/>
          <a:lstStyle/>
          <a:p>
            <a:pPr marL="0" indent="0">
              <a:buNone/>
            </a:pPr>
            <a:r>
              <a:rPr lang="en-US" sz="1200" b="1" dirty="0">
                <a:solidFill>
                  <a:srgbClr val="7C3AED"/>
                </a:solidFill>
                <a:latin typeface="Georgia" pitchFamily="34" charset="0"/>
                <a:ea typeface="Georgia" pitchFamily="34" charset="-122"/>
                <a:cs typeface="Georgia" pitchFamily="34" charset="-120"/>
              </a:rPr>
              <a:t>Spark Worker OOM (Code 137)</a:t>
            </a:r>
            <a:endParaRPr lang="en-US" sz="1200" dirty="0"/>
          </a:p>
        </p:txBody>
      </p:sp>
      <p:sp>
        <p:nvSpPr>
          <p:cNvPr id="26" name="Text 20"/>
          <p:cNvSpPr/>
          <p:nvPr/>
        </p:nvSpPr>
        <p:spPr>
          <a:xfrm>
            <a:off x="4709160" y="2971800"/>
            <a:ext cx="3749040" cy="868680"/>
          </a:xfrm>
          <a:prstGeom prst="rect">
            <a:avLst/>
          </a:prstGeom>
          <a:noFill/>
          <a:ln/>
        </p:spPr>
        <p:txBody>
          <a:bodyPr wrap="square" rtlCol="0" anchor="t"/>
          <a:lstStyle/>
          <a:p>
            <a:pPr marL="0" indent="0">
              <a:lnSpc>
                <a:spcPct val="125000"/>
              </a:lnSpc>
              <a:buNone/>
            </a:pPr>
            <a:r>
              <a:rPr lang="en-US" sz="950" dirty="0">
                <a:solidFill>
                  <a:srgbClr val="444444"/>
                </a:solidFill>
                <a:latin typeface="Calibri" pitchFamily="34" charset="0"/>
                <a:ea typeface="Calibri" pitchFamily="34" charset="-122"/>
                <a:cs typeface="Calibri" pitchFamily="34" charset="-120"/>
              </a:rPr>
              <a:t>Workers crashed processing 181K laps.</a:t>
            </a:r>
            <a:endParaRPr lang="en-US" sz="950" dirty="0"/>
          </a:p>
          <a:p>
            <a:pPr marL="0" indent="0">
              <a:lnSpc>
                <a:spcPct val="125000"/>
              </a:lnSpc>
              <a:buNone/>
            </a:pPr>
            <a:r>
              <a:rPr lang="en-US" sz="950" dirty="0">
                <a:solidFill>
                  <a:srgbClr val="444444"/>
                </a:solidFill>
                <a:latin typeface="Calibri" pitchFamily="34" charset="0"/>
                <a:ea typeface="Calibri" pitchFamily="34" charset="-122"/>
                <a:cs typeface="Calibri" pitchFamily="34" charset="-120"/>
              </a:rPr>
              <a:t>Airflow retry caught it automatically.</a:t>
            </a:r>
            <a:endParaRPr lang="en-US" sz="950" dirty="0"/>
          </a:p>
          <a:p>
            <a:pPr marL="0" indent="0">
              <a:lnSpc>
                <a:spcPct val="125000"/>
              </a:lnSpc>
              <a:buNone/>
            </a:pPr>
            <a:r>
              <a:rPr lang="en-US" sz="950" dirty="0">
                <a:solidFill>
                  <a:srgbClr val="444444"/>
                </a:solidFill>
                <a:latin typeface="Calibri" pitchFamily="34" charset="0"/>
                <a:ea typeface="Calibri" pitchFamily="34" charset="-122"/>
                <a:cs typeface="Calibri" pitchFamily="34" charset="-120"/>
              </a:rPr>
              <a:t>Succeeded on second attempt.</a:t>
            </a:r>
            <a:endParaRPr lang="en-US" sz="950" dirty="0"/>
          </a:p>
          <a:p>
            <a:pPr marL="0" indent="0">
              <a:lnSpc>
                <a:spcPct val="125000"/>
              </a:lnSpc>
              <a:buNone/>
            </a:pPr>
            <a:endParaRPr lang="en-US" sz="950" dirty="0"/>
          </a:p>
          <a:p>
            <a:pPr marL="0" indent="0">
              <a:lnSpc>
                <a:spcPct val="125000"/>
              </a:lnSpc>
              <a:buNone/>
            </a:pPr>
            <a:r>
              <a:rPr lang="en-US" sz="950" dirty="0">
                <a:solidFill>
                  <a:srgbClr val="444444"/>
                </a:solidFill>
                <a:latin typeface="Calibri" pitchFamily="34" charset="0"/>
                <a:ea typeface="Calibri" pitchFamily="34" charset="-122"/>
                <a:cs typeface="Calibri" pitchFamily="34" charset="-120"/>
              </a:rPr>
              <a:t>This IS fault tolerance — the system</a:t>
            </a:r>
            <a:endParaRPr lang="en-US" sz="950" dirty="0"/>
          </a:p>
          <a:p>
            <a:pPr marL="0" indent="0">
              <a:lnSpc>
                <a:spcPct val="125000"/>
              </a:lnSpc>
              <a:buNone/>
            </a:pPr>
            <a:r>
              <a:rPr lang="en-US" sz="950" dirty="0">
                <a:solidFill>
                  <a:srgbClr val="444444"/>
                </a:solidFill>
                <a:latin typeface="Calibri" pitchFamily="34" charset="0"/>
                <a:ea typeface="Calibri" pitchFamily="34" charset="-122"/>
                <a:cs typeface="Calibri" pitchFamily="34" charset="-120"/>
              </a:rPr>
              <a:t>recovered without human intervention.</a:t>
            </a:r>
            <a:endParaRPr lang="en-US" sz="950" dirty="0"/>
          </a:p>
        </p:txBody>
      </p:sp>
      <p:sp>
        <p:nvSpPr>
          <p:cNvPr id="27" name="Text 21"/>
          <p:cNvSpPr/>
          <p:nvPr/>
        </p:nvSpPr>
        <p:spPr>
          <a:xfrm>
            <a:off x="457200" y="4114800"/>
            <a:ext cx="8229600" cy="457200"/>
          </a:xfrm>
          <a:prstGeom prst="rect">
            <a:avLst/>
          </a:prstGeom>
          <a:noFill/>
          <a:ln/>
        </p:spPr>
        <p:txBody>
          <a:bodyPr wrap="square" lIns="0" tIns="0" rIns="0" bIns="0" rtlCol="0" anchor="ctr"/>
          <a:lstStyle/>
          <a:p>
            <a:pPr marL="0" indent="0">
              <a:buNone/>
            </a:pPr>
            <a:r>
              <a:rPr lang="en-US" sz="1000" b="1" i="1" dirty="0">
                <a:solidFill>
                  <a:srgbClr val="C41E1E"/>
                </a:solidFill>
                <a:latin typeface="Calibri" pitchFamily="34" charset="0"/>
                <a:ea typeface="Calibri" pitchFamily="34" charset="-122"/>
                <a:cs typeface="Calibri" pitchFamily="34" charset="-120"/>
              </a:rPr>
              <a:t>These aren't edge cases — they're the NORMAL state of real-world data engineering. Building retry logic from day 1 saved weeks of debugging.</a:t>
            </a:r>
            <a:endParaRPr lang="en-US" sz="1000" dirty="0"/>
          </a:p>
        </p:txBody>
      </p:sp>
      <p:sp>
        <p:nvSpPr>
          <p:cNvPr id="28" name="Text 22"/>
          <p:cNvSpPr/>
          <p:nvPr/>
        </p:nvSpPr>
        <p:spPr>
          <a:xfrm>
            <a:off x="457200" y="4709160"/>
            <a:ext cx="6400800" cy="365760"/>
          </a:xfrm>
          <a:prstGeom prst="rect">
            <a:avLst/>
          </a:prstGeom>
          <a:noFill/>
          <a:ln/>
        </p:spPr>
        <p:txBody>
          <a:bodyPr wrap="square" rtlCol="0" anchor="ctr"/>
          <a:lstStyle/>
          <a:p>
            <a:pPr marL="0" indent="0">
              <a:buNone/>
            </a:pPr>
            <a:r>
              <a:rPr lang="en-US" sz="900" dirty="0">
                <a:solidFill>
                  <a:srgbClr val="949594"/>
                </a:solidFill>
                <a:latin typeface="Calibri" pitchFamily="34" charset="0"/>
                <a:ea typeface="Calibri" pitchFamily="34" charset="-122"/>
                <a:cs typeface="Calibri" pitchFamily="34" charset="-120"/>
              </a:rPr>
              <a:t>Speaker 3 — Predictions &amp; AI</a:t>
            </a:r>
            <a:endParaRPr lang="en-US" sz="900" dirty="0"/>
          </a:p>
        </p:txBody>
      </p:sp>
      <p:sp>
        <p:nvSpPr>
          <p:cNvPr id="29" name="Text 23"/>
          <p:cNvSpPr/>
          <p:nvPr/>
        </p:nvSpPr>
        <p:spPr>
          <a:xfrm>
            <a:off x="8412480" y="4709160"/>
            <a:ext cx="548640" cy="365760"/>
          </a:xfrm>
          <a:prstGeom prst="rect">
            <a:avLst/>
          </a:prstGeom>
          <a:noFill/>
          <a:ln/>
        </p:spPr>
        <p:txBody>
          <a:bodyPr wrap="square" rtlCol="0" anchor="ctr"/>
          <a:lstStyle/>
          <a:p>
            <a:pPr marL="0" indent="0" algn="r">
              <a:buNone/>
            </a:pPr>
            <a:r>
              <a:rPr lang="en-US" sz="900" dirty="0">
                <a:solidFill>
                  <a:srgbClr val="949594"/>
                </a:solidFill>
                <a:latin typeface="Calibri" pitchFamily="34" charset="0"/>
                <a:ea typeface="Calibri" pitchFamily="34" charset="-122"/>
                <a:cs typeface="Calibri" pitchFamily="34" charset="-120"/>
              </a:rPr>
              <a:t>23</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5F5F5"/>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C41E1E"/>
          </a:solidFill>
          <a:ln/>
        </p:spPr>
        <p:txBody>
          <a:bodyPr/>
          <a:lstStyle/>
          <a:p>
            <a:endParaRPr lang="en-US"/>
          </a:p>
        </p:txBody>
      </p:sp>
      <p:sp>
        <p:nvSpPr>
          <p:cNvPr id="3" name="Shape 1"/>
          <p:cNvSpPr/>
          <p:nvPr/>
        </p:nvSpPr>
        <p:spPr>
          <a:xfrm>
            <a:off x="8778240" y="0"/>
            <a:ext cx="137160" cy="5143500"/>
          </a:xfrm>
          <a:prstGeom prst="rect">
            <a:avLst/>
          </a:prstGeom>
          <a:solidFill>
            <a:srgbClr val="C41E1E"/>
          </a:solidFill>
          <a:ln/>
        </p:spPr>
        <p:txBody>
          <a:bodyPr/>
          <a:lstStyle/>
          <a:p>
            <a:endParaRPr lang="en-US"/>
          </a:p>
        </p:txBody>
      </p:sp>
      <p:sp>
        <p:nvSpPr>
          <p:cNvPr id="4" name="Shape 2"/>
          <p:cNvSpPr/>
          <p:nvPr/>
        </p:nvSpPr>
        <p:spPr>
          <a:xfrm>
            <a:off x="8961120" y="0"/>
            <a:ext cx="73152" cy="5143500"/>
          </a:xfrm>
          <a:prstGeom prst="rect">
            <a:avLst/>
          </a:prstGeom>
          <a:solidFill>
            <a:srgbClr val="C41E1E">
              <a:alpha val="40000"/>
            </a:srgbClr>
          </a:solidFill>
          <a:ln/>
        </p:spPr>
        <p:txBody>
          <a:bodyPr/>
          <a:lstStyle/>
          <a:p>
            <a:endParaRPr lang="en-US"/>
          </a:p>
        </p:txBody>
      </p:sp>
      <p:sp>
        <p:nvSpPr>
          <p:cNvPr id="5" name="Text 3"/>
          <p:cNvSpPr/>
          <p:nvPr/>
        </p:nvSpPr>
        <p:spPr>
          <a:xfrm>
            <a:off x="731520" y="182880"/>
            <a:ext cx="7315200" cy="548640"/>
          </a:xfrm>
          <a:prstGeom prst="rect">
            <a:avLst/>
          </a:prstGeom>
          <a:noFill/>
          <a:ln/>
        </p:spPr>
        <p:txBody>
          <a:bodyPr wrap="square" lIns="0" tIns="0" rIns="0" bIns="0" rtlCol="0" anchor="ctr"/>
          <a:lstStyle/>
          <a:p>
            <a:pPr marL="0" indent="0">
              <a:buNone/>
            </a:pPr>
            <a:r>
              <a:rPr lang="en-US" sz="2600" b="1" dirty="0">
                <a:solidFill>
                  <a:srgbClr val="1A1A2E"/>
                </a:solidFill>
                <a:latin typeface="Georgia" pitchFamily="34" charset="0"/>
                <a:ea typeface="Georgia" pitchFamily="34" charset="-122"/>
                <a:cs typeface="Georgia" pitchFamily="34" charset="-120"/>
              </a:rPr>
              <a:t>Limitations &amp; Lessons Learned</a:t>
            </a:r>
            <a:endParaRPr lang="en-US" sz="2600" dirty="0"/>
          </a:p>
        </p:txBody>
      </p:sp>
      <p:sp>
        <p:nvSpPr>
          <p:cNvPr id="6" name="Shape 4"/>
          <p:cNvSpPr/>
          <p:nvPr/>
        </p:nvSpPr>
        <p:spPr>
          <a:xfrm>
            <a:off x="365760" y="868680"/>
            <a:ext cx="4023360" cy="1188720"/>
          </a:xfrm>
          <a:prstGeom prst="rect">
            <a:avLst/>
          </a:prstGeom>
          <a:solidFill>
            <a:srgbClr val="FFFFFF"/>
          </a:solidFill>
          <a:ln/>
          <a:effectLst>
            <a:outerShdw blurRad="50800" dist="25400" dir="8100000" algn="bl" rotWithShape="0">
              <a:srgbClr val="000000">
                <a:alpha val="10000"/>
              </a:srgbClr>
            </a:outerShdw>
          </a:effectLst>
        </p:spPr>
        <p:txBody>
          <a:bodyPr/>
          <a:lstStyle/>
          <a:p>
            <a:endParaRPr lang="en-US"/>
          </a:p>
        </p:txBody>
      </p:sp>
      <p:sp>
        <p:nvSpPr>
          <p:cNvPr id="7" name="Shape 5"/>
          <p:cNvSpPr/>
          <p:nvPr/>
        </p:nvSpPr>
        <p:spPr>
          <a:xfrm>
            <a:off x="365760" y="868680"/>
            <a:ext cx="54864" cy="1188720"/>
          </a:xfrm>
          <a:prstGeom prst="rect">
            <a:avLst/>
          </a:prstGeom>
          <a:solidFill>
            <a:srgbClr val="C41E1E"/>
          </a:solidFill>
          <a:ln/>
        </p:spPr>
        <p:txBody>
          <a:bodyPr/>
          <a:lstStyle/>
          <a:p>
            <a:endParaRPr lang="en-US"/>
          </a:p>
        </p:txBody>
      </p:sp>
      <p:sp>
        <p:nvSpPr>
          <p:cNvPr id="8" name="Text 6"/>
          <p:cNvSpPr/>
          <p:nvPr/>
        </p:nvSpPr>
        <p:spPr>
          <a:xfrm>
            <a:off x="502920" y="941832"/>
            <a:ext cx="3429000" cy="292608"/>
          </a:xfrm>
          <a:prstGeom prst="rect">
            <a:avLst/>
          </a:prstGeom>
          <a:noFill/>
          <a:ln/>
        </p:spPr>
        <p:txBody>
          <a:bodyPr wrap="square" lIns="0" tIns="0" rIns="0" bIns="0" rtlCol="0" anchor="ctr"/>
          <a:lstStyle/>
          <a:p>
            <a:pPr marL="0" indent="0">
              <a:buNone/>
            </a:pPr>
            <a:r>
              <a:rPr lang="en-US" sz="1200" b="1" dirty="0">
                <a:solidFill>
                  <a:srgbClr val="C41E1E"/>
                </a:solidFill>
                <a:latin typeface="Georgia" pitchFamily="34" charset="0"/>
                <a:ea typeface="Georgia" pitchFamily="34" charset="-122"/>
                <a:cs typeface="Georgia" pitchFamily="34" charset="-120"/>
              </a:rPr>
              <a:t>Prediction Ceiling (~78%)</a:t>
            </a:r>
            <a:endParaRPr lang="en-US" sz="1200" dirty="0"/>
          </a:p>
        </p:txBody>
      </p:sp>
      <p:sp>
        <p:nvSpPr>
          <p:cNvPr id="9" name="Text 7"/>
          <p:cNvSpPr/>
          <p:nvPr/>
        </p:nvSpPr>
        <p:spPr>
          <a:xfrm>
            <a:off x="502920" y="1280160"/>
            <a:ext cx="3749040" cy="685800"/>
          </a:xfrm>
          <a:prstGeom prst="rect">
            <a:avLst/>
          </a:prstGeom>
          <a:noFill/>
          <a:ln/>
        </p:spPr>
        <p:txBody>
          <a:bodyPr wrap="square" rtlCol="0" anchor="t"/>
          <a:lstStyle/>
          <a:p>
            <a:pPr marL="0" indent="0">
              <a:lnSpc>
                <a:spcPct val="125000"/>
              </a:lnSpc>
              <a:buNone/>
            </a:pPr>
            <a:r>
              <a:rPr lang="en-US" sz="950" dirty="0">
                <a:solidFill>
                  <a:srgbClr val="444444"/>
                </a:solidFill>
                <a:latin typeface="Calibri" pitchFamily="34" charset="0"/>
                <a:ea typeface="Calibri" pitchFamily="34" charset="-122"/>
                <a:cs typeface="Calibri" pitchFamily="34" charset="-120"/>
              </a:rPr>
              <a:t>F1 has inherent unpredictability:</a:t>
            </a:r>
            <a:endParaRPr lang="en-US" sz="950" dirty="0"/>
          </a:p>
          <a:p>
            <a:pPr marL="0" indent="0">
              <a:lnSpc>
                <a:spcPct val="125000"/>
              </a:lnSpc>
              <a:buNone/>
            </a:pPr>
            <a:r>
              <a:rPr lang="en-US" sz="950" dirty="0">
                <a:solidFill>
                  <a:srgbClr val="444444"/>
                </a:solidFill>
                <a:latin typeface="Calibri" pitchFamily="34" charset="0"/>
                <a:ea typeface="Calibri" pitchFamily="34" charset="-122"/>
                <a:cs typeface="Calibri" pitchFamily="34" charset="-120"/>
              </a:rPr>
              <a:t>crashes, rain, mechanical failures,</a:t>
            </a:r>
            <a:endParaRPr lang="en-US" sz="950" dirty="0"/>
          </a:p>
          <a:p>
            <a:pPr marL="0" indent="0">
              <a:lnSpc>
                <a:spcPct val="125000"/>
              </a:lnSpc>
              <a:buNone/>
            </a:pPr>
            <a:r>
              <a:rPr lang="en-US" sz="950" dirty="0">
                <a:solidFill>
                  <a:srgbClr val="444444"/>
                </a:solidFill>
                <a:latin typeface="Calibri" pitchFamily="34" charset="0"/>
                <a:ea typeface="Calibri" pitchFamily="34" charset="-122"/>
                <a:cs typeface="Calibri" pitchFamily="34" charset="-120"/>
              </a:rPr>
              <a:t>safety cars, strategy gambles.</a:t>
            </a:r>
            <a:endParaRPr lang="en-US" sz="950" dirty="0"/>
          </a:p>
          <a:p>
            <a:pPr marL="0" indent="0">
              <a:lnSpc>
                <a:spcPct val="125000"/>
              </a:lnSpc>
              <a:buNone/>
            </a:pPr>
            <a:r>
              <a:rPr lang="en-US" sz="950" dirty="0">
                <a:solidFill>
                  <a:srgbClr val="444444"/>
                </a:solidFill>
                <a:latin typeface="Calibri" pitchFamily="34" charset="0"/>
                <a:ea typeface="Calibri" pitchFamily="34" charset="-122"/>
                <a:cs typeface="Calibri" pitchFamily="34" charset="-120"/>
              </a:rPr>
              <a:t>Model uses pre-race data only.</a:t>
            </a:r>
            <a:endParaRPr lang="en-US" sz="950" dirty="0"/>
          </a:p>
          <a:p>
            <a:pPr marL="0" indent="0">
              <a:lnSpc>
                <a:spcPct val="125000"/>
              </a:lnSpc>
              <a:buNone/>
            </a:pPr>
            <a:r>
              <a:rPr lang="en-US" sz="950" dirty="0">
                <a:solidFill>
                  <a:srgbClr val="444444"/>
                </a:solidFill>
                <a:latin typeface="Calibri" pitchFamily="34" charset="0"/>
                <a:ea typeface="Calibri" pitchFamily="34" charset="-122"/>
                <a:cs typeface="Calibri" pitchFamily="34" charset="-120"/>
              </a:rPr>
              <a:t>To exceed ~78% → need live telemetry.</a:t>
            </a:r>
            <a:endParaRPr lang="en-US" sz="950" dirty="0"/>
          </a:p>
        </p:txBody>
      </p:sp>
      <p:sp>
        <p:nvSpPr>
          <p:cNvPr id="10" name="Shape 8"/>
          <p:cNvSpPr/>
          <p:nvPr/>
        </p:nvSpPr>
        <p:spPr>
          <a:xfrm>
            <a:off x="4572000" y="868680"/>
            <a:ext cx="4023360" cy="1188720"/>
          </a:xfrm>
          <a:prstGeom prst="rect">
            <a:avLst/>
          </a:prstGeom>
          <a:solidFill>
            <a:srgbClr val="FFFFFF"/>
          </a:solidFill>
          <a:ln/>
          <a:effectLst>
            <a:outerShdw blurRad="50800" dist="25400" dir="8100000" algn="bl" rotWithShape="0">
              <a:srgbClr val="000000">
                <a:alpha val="10000"/>
              </a:srgbClr>
            </a:outerShdw>
          </a:effectLst>
        </p:spPr>
        <p:txBody>
          <a:bodyPr/>
          <a:lstStyle/>
          <a:p>
            <a:endParaRPr lang="en-US"/>
          </a:p>
        </p:txBody>
      </p:sp>
      <p:sp>
        <p:nvSpPr>
          <p:cNvPr id="11" name="Shape 9"/>
          <p:cNvSpPr/>
          <p:nvPr/>
        </p:nvSpPr>
        <p:spPr>
          <a:xfrm>
            <a:off x="4572000" y="868680"/>
            <a:ext cx="54864" cy="1188720"/>
          </a:xfrm>
          <a:prstGeom prst="rect">
            <a:avLst/>
          </a:prstGeom>
          <a:solidFill>
            <a:srgbClr val="949594"/>
          </a:solidFill>
          <a:ln/>
        </p:spPr>
        <p:txBody>
          <a:bodyPr/>
          <a:lstStyle/>
          <a:p>
            <a:endParaRPr lang="en-US"/>
          </a:p>
        </p:txBody>
      </p:sp>
      <p:sp>
        <p:nvSpPr>
          <p:cNvPr id="12" name="Text 10"/>
          <p:cNvSpPr/>
          <p:nvPr/>
        </p:nvSpPr>
        <p:spPr>
          <a:xfrm>
            <a:off x="4709160" y="941832"/>
            <a:ext cx="3429000" cy="292608"/>
          </a:xfrm>
          <a:prstGeom prst="rect">
            <a:avLst/>
          </a:prstGeom>
          <a:noFill/>
          <a:ln/>
        </p:spPr>
        <p:txBody>
          <a:bodyPr wrap="square" lIns="0" tIns="0" rIns="0" bIns="0" rtlCol="0" anchor="ctr"/>
          <a:lstStyle/>
          <a:p>
            <a:pPr marL="0" indent="0">
              <a:buNone/>
            </a:pPr>
            <a:r>
              <a:rPr lang="en-US" sz="1200" b="1" dirty="0">
                <a:solidFill>
                  <a:srgbClr val="949594"/>
                </a:solidFill>
                <a:latin typeface="Georgia" pitchFamily="34" charset="0"/>
                <a:ea typeface="Georgia" pitchFamily="34" charset="-122"/>
                <a:cs typeface="Georgia" pitchFamily="34" charset="-120"/>
              </a:rPr>
              <a:t>Data Volume (3,524 rows)</a:t>
            </a:r>
            <a:endParaRPr lang="en-US" sz="1200" dirty="0"/>
          </a:p>
        </p:txBody>
      </p:sp>
      <p:sp>
        <p:nvSpPr>
          <p:cNvPr id="13" name="Text 11"/>
          <p:cNvSpPr/>
          <p:nvPr/>
        </p:nvSpPr>
        <p:spPr>
          <a:xfrm>
            <a:off x="4709160" y="1280160"/>
            <a:ext cx="3749040" cy="685800"/>
          </a:xfrm>
          <a:prstGeom prst="rect">
            <a:avLst/>
          </a:prstGeom>
          <a:noFill/>
          <a:ln/>
        </p:spPr>
        <p:txBody>
          <a:bodyPr wrap="square" rtlCol="0" anchor="t"/>
          <a:lstStyle/>
          <a:p>
            <a:pPr marL="0" indent="0">
              <a:lnSpc>
                <a:spcPct val="125000"/>
              </a:lnSpc>
              <a:buNone/>
            </a:pPr>
            <a:r>
              <a:rPr lang="en-US" sz="950" dirty="0">
                <a:solidFill>
                  <a:srgbClr val="444444"/>
                </a:solidFill>
                <a:latin typeface="Calibri" pitchFamily="34" charset="0"/>
                <a:ea typeface="Calibri" pitchFamily="34" charset="-122"/>
                <a:cs typeface="Calibri" pitchFamily="34" charset="-120"/>
              </a:rPr>
              <a:t>Modest for ML — explains why neural</a:t>
            </a:r>
            <a:endParaRPr lang="en-US" sz="950" dirty="0"/>
          </a:p>
          <a:p>
            <a:pPr marL="0" indent="0">
              <a:lnSpc>
                <a:spcPct val="125000"/>
              </a:lnSpc>
              <a:buNone/>
            </a:pPr>
            <a:r>
              <a:rPr lang="en-US" sz="950" dirty="0">
                <a:solidFill>
                  <a:srgbClr val="444444"/>
                </a:solidFill>
                <a:latin typeface="Calibri" pitchFamily="34" charset="0"/>
                <a:ea typeface="Calibri" pitchFamily="34" charset="-122"/>
                <a:cs typeface="Calibri" pitchFamily="34" charset="-120"/>
              </a:rPr>
              <a:t>nets failed (29.6%). Tree ensembles</a:t>
            </a:r>
            <a:endParaRPr lang="en-US" sz="950" dirty="0"/>
          </a:p>
          <a:p>
            <a:pPr marL="0" indent="0">
              <a:lnSpc>
                <a:spcPct val="125000"/>
              </a:lnSpc>
              <a:buNone/>
            </a:pPr>
            <a:r>
              <a:rPr lang="en-US" sz="950" dirty="0">
                <a:solidFill>
                  <a:srgbClr val="444444"/>
                </a:solidFill>
                <a:latin typeface="Calibri" pitchFamily="34" charset="0"/>
                <a:ea typeface="Calibri" pitchFamily="34" charset="-122"/>
                <a:cs typeface="Calibri" pitchFamily="34" charset="-120"/>
              </a:rPr>
              <a:t>excel at this scale. Deep learning</a:t>
            </a:r>
            <a:endParaRPr lang="en-US" sz="950" dirty="0"/>
          </a:p>
          <a:p>
            <a:pPr marL="0" indent="0">
              <a:lnSpc>
                <a:spcPct val="125000"/>
              </a:lnSpc>
              <a:buNone/>
            </a:pPr>
            <a:r>
              <a:rPr lang="en-US" sz="950" dirty="0">
                <a:solidFill>
                  <a:srgbClr val="444444"/>
                </a:solidFill>
                <a:latin typeface="Calibri" pitchFamily="34" charset="0"/>
                <a:ea typeface="Calibri" pitchFamily="34" charset="-122"/>
                <a:cs typeface="Calibri" pitchFamily="34" charset="-120"/>
              </a:rPr>
              <a:t>needs 50K+ rows to compete.</a:t>
            </a:r>
            <a:endParaRPr lang="en-US" sz="950" dirty="0"/>
          </a:p>
        </p:txBody>
      </p:sp>
      <p:sp>
        <p:nvSpPr>
          <p:cNvPr id="14" name="Shape 12"/>
          <p:cNvSpPr/>
          <p:nvPr/>
        </p:nvSpPr>
        <p:spPr>
          <a:xfrm>
            <a:off x="365760" y="2240280"/>
            <a:ext cx="4023360" cy="1188720"/>
          </a:xfrm>
          <a:prstGeom prst="rect">
            <a:avLst/>
          </a:prstGeom>
          <a:solidFill>
            <a:srgbClr val="FFFFFF"/>
          </a:solidFill>
          <a:ln/>
          <a:effectLst>
            <a:outerShdw blurRad="50800" dist="25400" dir="8100000" algn="bl" rotWithShape="0">
              <a:srgbClr val="000000">
                <a:alpha val="10000"/>
              </a:srgbClr>
            </a:outerShdw>
          </a:effectLst>
        </p:spPr>
        <p:txBody>
          <a:bodyPr/>
          <a:lstStyle/>
          <a:p>
            <a:endParaRPr lang="en-US"/>
          </a:p>
        </p:txBody>
      </p:sp>
      <p:sp>
        <p:nvSpPr>
          <p:cNvPr id="15" name="Shape 13"/>
          <p:cNvSpPr/>
          <p:nvPr/>
        </p:nvSpPr>
        <p:spPr>
          <a:xfrm>
            <a:off x="365760" y="2240280"/>
            <a:ext cx="54864" cy="1188720"/>
          </a:xfrm>
          <a:prstGeom prst="rect">
            <a:avLst/>
          </a:prstGeom>
          <a:solidFill>
            <a:srgbClr val="059669"/>
          </a:solidFill>
          <a:ln/>
        </p:spPr>
        <p:txBody>
          <a:bodyPr/>
          <a:lstStyle/>
          <a:p>
            <a:endParaRPr lang="en-US"/>
          </a:p>
        </p:txBody>
      </p:sp>
      <p:pic>
        <p:nvPicPr>
          <p:cNvPr id="16" name="Image 0" descr="preencoded.png"/>
          <p:cNvPicPr>
            <a:picLocks noChangeAspect="1"/>
          </p:cNvPicPr>
          <p:nvPr/>
        </p:nvPicPr>
        <p:blipFill>
          <a:blip r:embed="rId3"/>
          <a:stretch>
            <a:fillRect/>
          </a:stretch>
        </p:blipFill>
        <p:spPr>
          <a:xfrm>
            <a:off x="502920" y="2350008"/>
            <a:ext cx="256032" cy="256032"/>
          </a:xfrm>
          <a:prstGeom prst="rect">
            <a:avLst/>
          </a:prstGeom>
        </p:spPr>
      </p:pic>
      <p:sp>
        <p:nvSpPr>
          <p:cNvPr id="17" name="Text 14"/>
          <p:cNvSpPr/>
          <p:nvPr/>
        </p:nvSpPr>
        <p:spPr>
          <a:xfrm>
            <a:off x="822960" y="2313432"/>
            <a:ext cx="3429000" cy="292608"/>
          </a:xfrm>
          <a:prstGeom prst="rect">
            <a:avLst/>
          </a:prstGeom>
          <a:noFill/>
          <a:ln/>
        </p:spPr>
        <p:txBody>
          <a:bodyPr wrap="square" lIns="0" tIns="0" rIns="0" bIns="0" rtlCol="0" anchor="ctr"/>
          <a:lstStyle/>
          <a:p>
            <a:pPr marL="0" indent="0">
              <a:buNone/>
            </a:pPr>
            <a:r>
              <a:rPr lang="en-US" sz="1200" b="1" dirty="0">
                <a:solidFill>
                  <a:srgbClr val="059669"/>
                </a:solidFill>
                <a:latin typeface="Georgia" pitchFamily="34" charset="0"/>
                <a:ea typeface="Georgia" pitchFamily="34" charset="-122"/>
                <a:cs typeface="Georgia" pitchFamily="34" charset="-120"/>
              </a:rPr>
              <a:t>Features &gt; Algorithms</a:t>
            </a:r>
            <a:endParaRPr lang="en-US" sz="1200" dirty="0"/>
          </a:p>
        </p:txBody>
      </p:sp>
      <p:sp>
        <p:nvSpPr>
          <p:cNvPr id="18" name="Text 15"/>
          <p:cNvSpPr/>
          <p:nvPr/>
        </p:nvSpPr>
        <p:spPr>
          <a:xfrm>
            <a:off x="502920" y="2651760"/>
            <a:ext cx="3749040" cy="685800"/>
          </a:xfrm>
          <a:prstGeom prst="rect">
            <a:avLst/>
          </a:prstGeom>
          <a:noFill/>
          <a:ln/>
        </p:spPr>
        <p:txBody>
          <a:bodyPr wrap="square" rtlCol="0" anchor="t"/>
          <a:lstStyle/>
          <a:p>
            <a:pPr marL="0" indent="0">
              <a:lnSpc>
                <a:spcPct val="125000"/>
              </a:lnSpc>
              <a:buNone/>
            </a:pPr>
            <a:r>
              <a:rPr lang="en-US" sz="950" dirty="0">
                <a:solidFill>
                  <a:srgbClr val="444444"/>
                </a:solidFill>
                <a:latin typeface="Calibri" pitchFamily="34" charset="0"/>
                <a:ea typeface="Calibri" pitchFamily="34" charset="-122"/>
                <a:cs typeface="Calibri" pitchFamily="34" charset="-120"/>
              </a:rPr>
              <a:t>Weather: +20.4% accuracy</a:t>
            </a:r>
            <a:endParaRPr lang="en-US" sz="950" dirty="0"/>
          </a:p>
          <a:p>
            <a:pPr marL="0" indent="0">
              <a:lnSpc>
                <a:spcPct val="125000"/>
              </a:lnSpc>
              <a:buNone/>
            </a:pPr>
            <a:r>
              <a:rPr lang="en-US" sz="950" dirty="0">
                <a:solidFill>
                  <a:srgbClr val="444444"/>
                </a:solidFill>
                <a:latin typeface="Calibri" pitchFamily="34" charset="0"/>
                <a:ea typeface="Calibri" pitchFamily="34" charset="-122"/>
                <a:cs typeface="Calibri" pitchFamily="34" charset="-120"/>
              </a:rPr>
              <a:t>Tire data: -23% position MAE</a:t>
            </a:r>
            <a:endParaRPr lang="en-US" sz="950" dirty="0"/>
          </a:p>
          <a:p>
            <a:pPr marL="0" indent="0">
              <a:lnSpc>
                <a:spcPct val="125000"/>
              </a:lnSpc>
              <a:buNone/>
            </a:pPr>
            <a:r>
              <a:rPr lang="en-US" sz="950" dirty="0">
                <a:solidFill>
                  <a:srgbClr val="444444"/>
                </a:solidFill>
                <a:latin typeface="Calibri" pitchFamily="34" charset="0"/>
                <a:ea typeface="Calibri" pitchFamily="34" charset="-122"/>
                <a:cs typeface="Calibri" pitchFamily="34" charset="-120"/>
              </a:rPr>
              <a:t>Algorithm switch: only -2.4%</a:t>
            </a:r>
            <a:endParaRPr lang="en-US" sz="950" dirty="0"/>
          </a:p>
          <a:p>
            <a:pPr marL="0" indent="0">
              <a:lnSpc>
                <a:spcPct val="125000"/>
              </a:lnSpc>
              <a:buNone/>
            </a:pPr>
            <a:endParaRPr lang="en-US" sz="950" dirty="0"/>
          </a:p>
          <a:p>
            <a:pPr marL="0" indent="0">
              <a:lnSpc>
                <a:spcPct val="125000"/>
              </a:lnSpc>
              <a:buNone/>
            </a:pPr>
            <a:r>
              <a:rPr lang="en-US" sz="950" dirty="0">
                <a:solidFill>
                  <a:srgbClr val="444444"/>
                </a:solidFill>
                <a:latin typeface="Calibri" pitchFamily="34" charset="0"/>
                <a:ea typeface="Calibri" pitchFamily="34" charset="-122"/>
                <a:cs typeface="Calibri" pitchFamily="34" charset="-120"/>
              </a:rPr>
              <a:t>Spend 80% on features, 20% on models.</a:t>
            </a:r>
            <a:endParaRPr lang="en-US" sz="950" dirty="0"/>
          </a:p>
        </p:txBody>
      </p:sp>
      <p:sp>
        <p:nvSpPr>
          <p:cNvPr id="19" name="Shape 16"/>
          <p:cNvSpPr/>
          <p:nvPr/>
        </p:nvSpPr>
        <p:spPr>
          <a:xfrm>
            <a:off x="4572000" y="2240280"/>
            <a:ext cx="4023360" cy="1188720"/>
          </a:xfrm>
          <a:prstGeom prst="rect">
            <a:avLst/>
          </a:prstGeom>
          <a:solidFill>
            <a:srgbClr val="FFFFFF"/>
          </a:solidFill>
          <a:ln/>
          <a:effectLst>
            <a:outerShdw blurRad="50800" dist="25400" dir="8100000" algn="bl" rotWithShape="0">
              <a:srgbClr val="000000">
                <a:alpha val="10000"/>
              </a:srgbClr>
            </a:outerShdw>
          </a:effectLst>
        </p:spPr>
        <p:txBody>
          <a:bodyPr/>
          <a:lstStyle/>
          <a:p>
            <a:endParaRPr lang="en-US"/>
          </a:p>
        </p:txBody>
      </p:sp>
      <p:sp>
        <p:nvSpPr>
          <p:cNvPr id="20" name="Shape 17"/>
          <p:cNvSpPr/>
          <p:nvPr/>
        </p:nvSpPr>
        <p:spPr>
          <a:xfrm>
            <a:off x="4572000" y="2240280"/>
            <a:ext cx="54864" cy="1188720"/>
          </a:xfrm>
          <a:prstGeom prst="rect">
            <a:avLst/>
          </a:prstGeom>
          <a:solidFill>
            <a:srgbClr val="2563EB"/>
          </a:solidFill>
          <a:ln/>
        </p:spPr>
        <p:txBody>
          <a:bodyPr/>
          <a:lstStyle/>
          <a:p>
            <a:endParaRPr lang="en-US"/>
          </a:p>
        </p:txBody>
      </p:sp>
      <p:pic>
        <p:nvPicPr>
          <p:cNvPr id="21" name="Image 1" descr="preencoded.png"/>
          <p:cNvPicPr>
            <a:picLocks noChangeAspect="1"/>
          </p:cNvPicPr>
          <p:nvPr/>
        </p:nvPicPr>
        <p:blipFill>
          <a:blip r:embed="rId3"/>
          <a:stretch>
            <a:fillRect/>
          </a:stretch>
        </p:blipFill>
        <p:spPr>
          <a:xfrm>
            <a:off x="4709160" y="2350008"/>
            <a:ext cx="256032" cy="256032"/>
          </a:xfrm>
          <a:prstGeom prst="rect">
            <a:avLst/>
          </a:prstGeom>
        </p:spPr>
      </p:pic>
      <p:sp>
        <p:nvSpPr>
          <p:cNvPr id="22" name="Text 18"/>
          <p:cNvSpPr/>
          <p:nvPr/>
        </p:nvSpPr>
        <p:spPr>
          <a:xfrm>
            <a:off x="5029200" y="2313432"/>
            <a:ext cx="3429000" cy="292608"/>
          </a:xfrm>
          <a:prstGeom prst="rect">
            <a:avLst/>
          </a:prstGeom>
          <a:noFill/>
          <a:ln/>
        </p:spPr>
        <p:txBody>
          <a:bodyPr wrap="square" lIns="0" tIns="0" rIns="0" bIns="0" rtlCol="0" anchor="ctr"/>
          <a:lstStyle/>
          <a:p>
            <a:pPr marL="0" indent="0">
              <a:buNone/>
            </a:pPr>
            <a:r>
              <a:rPr lang="en-US" sz="1200" b="1" dirty="0">
                <a:solidFill>
                  <a:srgbClr val="2563EB"/>
                </a:solidFill>
                <a:latin typeface="Georgia" pitchFamily="34" charset="0"/>
                <a:ea typeface="Georgia" pitchFamily="34" charset="-122"/>
                <a:cs typeface="Georgia" pitchFamily="34" charset="-120"/>
              </a:rPr>
              <a:t>Fault Tolerance is Essential</a:t>
            </a:r>
            <a:endParaRPr lang="en-US" sz="1200" dirty="0"/>
          </a:p>
        </p:txBody>
      </p:sp>
      <p:sp>
        <p:nvSpPr>
          <p:cNvPr id="23" name="Text 19"/>
          <p:cNvSpPr/>
          <p:nvPr/>
        </p:nvSpPr>
        <p:spPr>
          <a:xfrm>
            <a:off x="4709160" y="2651760"/>
            <a:ext cx="3749040" cy="685800"/>
          </a:xfrm>
          <a:prstGeom prst="rect">
            <a:avLst/>
          </a:prstGeom>
          <a:noFill/>
          <a:ln/>
        </p:spPr>
        <p:txBody>
          <a:bodyPr wrap="square" rtlCol="0" anchor="t"/>
          <a:lstStyle/>
          <a:p>
            <a:pPr marL="0" indent="0">
              <a:lnSpc>
                <a:spcPct val="125000"/>
              </a:lnSpc>
              <a:buNone/>
            </a:pPr>
            <a:r>
              <a:rPr lang="en-US" sz="950" dirty="0">
                <a:solidFill>
                  <a:srgbClr val="444444"/>
                </a:solidFill>
                <a:latin typeface="Calibri" pitchFamily="34" charset="0"/>
                <a:ea typeface="Calibri" pitchFamily="34" charset="-122"/>
                <a:cs typeface="Calibri" pitchFamily="34" charset="-120"/>
              </a:rPr>
              <a:t>API shutdowns, schema changes, OOM</a:t>
            </a:r>
            <a:endParaRPr lang="en-US" sz="950" dirty="0"/>
          </a:p>
          <a:p>
            <a:pPr marL="0" indent="0">
              <a:lnSpc>
                <a:spcPct val="125000"/>
              </a:lnSpc>
              <a:buNone/>
            </a:pPr>
            <a:r>
              <a:rPr lang="en-US" sz="950" dirty="0">
                <a:solidFill>
                  <a:srgbClr val="444444"/>
                </a:solidFill>
                <a:latin typeface="Calibri" pitchFamily="34" charset="0"/>
                <a:ea typeface="Calibri" pitchFamily="34" charset="-122"/>
                <a:cs typeface="Calibri" pitchFamily="34" charset="-120"/>
              </a:rPr>
              <a:t>crashes are NORMAL in production.</a:t>
            </a:r>
            <a:endParaRPr lang="en-US" sz="950" dirty="0"/>
          </a:p>
          <a:p>
            <a:pPr marL="0" indent="0">
              <a:lnSpc>
                <a:spcPct val="125000"/>
              </a:lnSpc>
              <a:buNone/>
            </a:pPr>
            <a:r>
              <a:rPr lang="en-US" sz="950" dirty="0">
                <a:solidFill>
                  <a:srgbClr val="444444"/>
                </a:solidFill>
                <a:latin typeface="Calibri" pitchFamily="34" charset="0"/>
                <a:ea typeface="Calibri" pitchFamily="34" charset="-122"/>
                <a:cs typeface="Calibri" pitchFamily="34" charset="-120"/>
              </a:rPr>
              <a:t>Build retry logic from the start.</a:t>
            </a:r>
            <a:endParaRPr lang="en-US" sz="950" dirty="0"/>
          </a:p>
          <a:p>
            <a:pPr marL="0" indent="0">
              <a:lnSpc>
                <a:spcPct val="125000"/>
              </a:lnSpc>
              <a:buNone/>
            </a:pPr>
            <a:r>
              <a:rPr lang="en-US" sz="950" dirty="0">
                <a:solidFill>
                  <a:srgbClr val="444444"/>
                </a:solidFill>
                <a:latin typeface="Calibri" pitchFamily="34" charset="0"/>
                <a:ea typeface="Calibri" pitchFamily="34" charset="-122"/>
                <a:cs typeface="Calibri" pitchFamily="34" charset="-120"/>
              </a:rPr>
              <a:t>Airflow caught failures automatically.</a:t>
            </a:r>
            <a:endParaRPr lang="en-US" sz="950" dirty="0"/>
          </a:p>
        </p:txBody>
      </p:sp>
      <p:sp>
        <p:nvSpPr>
          <p:cNvPr id="24" name="Shape 20"/>
          <p:cNvSpPr/>
          <p:nvPr/>
        </p:nvSpPr>
        <p:spPr>
          <a:xfrm>
            <a:off x="365760" y="3611880"/>
            <a:ext cx="4023360" cy="914400"/>
          </a:xfrm>
          <a:prstGeom prst="rect">
            <a:avLst/>
          </a:prstGeom>
          <a:solidFill>
            <a:srgbClr val="FFFFFF"/>
          </a:solidFill>
          <a:ln/>
          <a:effectLst>
            <a:outerShdw blurRad="50800" dist="25400" dir="8100000" algn="bl" rotWithShape="0">
              <a:srgbClr val="000000">
                <a:alpha val="10000"/>
              </a:srgbClr>
            </a:outerShdw>
          </a:effectLst>
        </p:spPr>
        <p:txBody>
          <a:bodyPr/>
          <a:lstStyle/>
          <a:p>
            <a:endParaRPr lang="en-US"/>
          </a:p>
        </p:txBody>
      </p:sp>
      <p:sp>
        <p:nvSpPr>
          <p:cNvPr id="25" name="Shape 21"/>
          <p:cNvSpPr/>
          <p:nvPr/>
        </p:nvSpPr>
        <p:spPr>
          <a:xfrm>
            <a:off x="365760" y="3611880"/>
            <a:ext cx="54864" cy="914400"/>
          </a:xfrm>
          <a:prstGeom prst="rect">
            <a:avLst/>
          </a:prstGeom>
          <a:solidFill>
            <a:srgbClr val="D97706"/>
          </a:solidFill>
          <a:ln/>
        </p:spPr>
        <p:txBody>
          <a:bodyPr/>
          <a:lstStyle/>
          <a:p>
            <a:endParaRPr lang="en-US"/>
          </a:p>
        </p:txBody>
      </p:sp>
      <p:pic>
        <p:nvPicPr>
          <p:cNvPr id="26" name="Image 2" descr="preencoded.png"/>
          <p:cNvPicPr>
            <a:picLocks noChangeAspect="1"/>
          </p:cNvPicPr>
          <p:nvPr/>
        </p:nvPicPr>
        <p:blipFill>
          <a:blip r:embed="rId3"/>
          <a:stretch>
            <a:fillRect/>
          </a:stretch>
        </p:blipFill>
        <p:spPr>
          <a:xfrm>
            <a:off x="502920" y="3721608"/>
            <a:ext cx="256032" cy="256032"/>
          </a:xfrm>
          <a:prstGeom prst="rect">
            <a:avLst/>
          </a:prstGeom>
        </p:spPr>
      </p:pic>
      <p:sp>
        <p:nvSpPr>
          <p:cNvPr id="27" name="Text 22"/>
          <p:cNvSpPr/>
          <p:nvPr/>
        </p:nvSpPr>
        <p:spPr>
          <a:xfrm>
            <a:off x="822960" y="3685032"/>
            <a:ext cx="3429000" cy="292608"/>
          </a:xfrm>
          <a:prstGeom prst="rect">
            <a:avLst/>
          </a:prstGeom>
          <a:noFill/>
          <a:ln/>
        </p:spPr>
        <p:txBody>
          <a:bodyPr wrap="square" lIns="0" tIns="0" rIns="0" bIns="0" rtlCol="0" anchor="ctr"/>
          <a:lstStyle/>
          <a:p>
            <a:pPr marL="0" indent="0">
              <a:buNone/>
            </a:pPr>
            <a:r>
              <a:rPr lang="en-US" sz="1200" b="1" dirty="0">
                <a:solidFill>
                  <a:srgbClr val="D97706"/>
                </a:solidFill>
                <a:latin typeface="Georgia" pitchFamily="34" charset="0"/>
                <a:ea typeface="Georgia" pitchFamily="34" charset="-122"/>
                <a:cs typeface="Georgia" pitchFamily="34" charset="-120"/>
              </a:rPr>
              <a:t>The Car Matters Most</a:t>
            </a:r>
            <a:endParaRPr lang="en-US" sz="1200" dirty="0"/>
          </a:p>
        </p:txBody>
      </p:sp>
      <p:sp>
        <p:nvSpPr>
          <p:cNvPr id="28" name="Text 23"/>
          <p:cNvSpPr/>
          <p:nvPr/>
        </p:nvSpPr>
        <p:spPr>
          <a:xfrm>
            <a:off x="502920" y="4023360"/>
            <a:ext cx="3749040" cy="411480"/>
          </a:xfrm>
          <a:prstGeom prst="rect">
            <a:avLst/>
          </a:prstGeom>
          <a:noFill/>
          <a:ln/>
        </p:spPr>
        <p:txBody>
          <a:bodyPr wrap="square" rtlCol="0" anchor="t"/>
          <a:lstStyle/>
          <a:p>
            <a:pPr marL="0" indent="0">
              <a:lnSpc>
                <a:spcPct val="125000"/>
              </a:lnSpc>
              <a:buNone/>
            </a:pPr>
            <a:r>
              <a:rPr lang="en-US" sz="950" dirty="0">
                <a:solidFill>
                  <a:srgbClr val="444444"/>
                </a:solidFill>
                <a:latin typeface="Calibri" pitchFamily="34" charset="0"/>
                <a:ea typeface="Calibri" pitchFamily="34" charset="-122"/>
                <a:cs typeface="Calibri" pitchFamily="34" charset="-120"/>
              </a:rPr>
              <a:t>constructor_rolling_points is #1 feature</a:t>
            </a:r>
            <a:endParaRPr lang="en-US" sz="950" dirty="0"/>
          </a:p>
          <a:p>
            <a:pPr marL="0" indent="0">
              <a:lnSpc>
                <a:spcPct val="125000"/>
              </a:lnSpc>
              <a:buNone/>
            </a:pPr>
            <a:r>
              <a:rPr lang="en-US" sz="950" dirty="0">
                <a:solidFill>
                  <a:srgbClr val="444444"/>
                </a:solidFill>
                <a:latin typeface="Calibri" pitchFamily="34" charset="0"/>
                <a:ea typeface="Calibri" pitchFamily="34" charset="-122"/>
                <a:cs typeface="Calibri" pitchFamily="34" charset="-120"/>
              </a:rPr>
              <a:t>in ALL 3 models. Car ≈ 80% of F1 perf.</a:t>
            </a:r>
            <a:endParaRPr lang="en-US" sz="950" dirty="0"/>
          </a:p>
          <a:p>
            <a:pPr marL="0" indent="0">
              <a:lnSpc>
                <a:spcPct val="125000"/>
              </a:lnSpc>
              <a:buNone/>
            </a:pPr>
            <a:r>
              <a:rPr lang="en-US" sz="950" dirty="0">
                <a:solidFill>
                  <a:srgbClr val="444444"/>
                </a:solidFill>
                <a:latin typeface="Calibri" pitchFamily="34" charset="0"/>
                <a:ea typeface="Calibri" pitchFamily="34" charset="-122"/>
                <a:cs typeface="Calibri" pitchFamily="34" charset="-120"/>
              </a:rPr>
              <a:t>Our model confirms this quantitatively.</a:t>
            </a:r>
            <a:endParaRPr lang="en-US" sz="950" dirty="0"/>
          </a:p>
        </p:txBody>
      </p:sp>
      <p:sp>
        <p:nvSpPr>
          <p:cNvPr id="29" name="Shape 24"/>
          <p:cNvSpPr/>
          <p:nvPr/>
        </p:nvSpPr>
        <p:spPr>
          <a:xfrm>
            <a:off x="4572000" y="3611880"/>
            <a:ext cx="4023360" cy="914400"/>
          </a:xfrm>
          <a:prstGeom prst="rect">
            <a:avLst/>
          </a:prstGeom>
          <a:solidFill>
            <a:srgbClr val="FFFFFF"/>
          </a:solidFill>
          <a:ln/>
          <a:effectLst>
            <a:outerShdw blurRad="50800" dist="25400" dir="8100000" algn="bl" rotWithShape="0">
              <a:srgbClr val="000000">
                <a:alpha val="10000"/>
              </a:srgbClr>
            </a:outerShdw>
          </a:effectLst>
        </p:spPr>
        <p:txBody>
          <a:bodyPr/>
          <a:lstStyle/>
          <a:p>
            <a:endParaRPr lang="en-US"/>
          </a:p>
        </p:txBody>
      </p:sp>
      <p:sp>
        <p:nvSpPr>
          <p:cNvPr id="30" name="Shape 25"/>
          <p:cNvSpPr/>
          <p:nvPr/>
        </p:nvSpPr>
        <p:spPr>
          <a:xfrm>
            <a:off x="4572000" y="3611880"/>
            <a:ext cx="54864" cy="914400"/>
          </a:xfrm>
          <a:prstGeom prst="rect">
            <a:avLst/>
          </a:prstGeom>
          <a:solidFill>
            <a:srgbClr val="7C3AED"/>
          </a:solidFill>
          <a:ln/>
        </p:spPr>
        <p:txBody>
          <a:bodyPr/>
          <a:lstStyle/>
          <a:p>
            <a:endParaRPr lang="en-US"/>
          </a:p>
        </p:txBody>
      </p:sp>
      <p:pic>
        <p:nvPicPr>
          <p:cNvPr id="31" name="Image 3" descr="preencoded.png"/>
          <p:cNvPicPr>
            <a:picLocks noChangeAspect="1"/>
          </p:cNvPicPr>
          <p:nvPr/>
        </p:nvPicPr>
        <p:blipFill>
          <a:blip r:embed="rId3"/>
          <a:stretch>
            <a:fillRect/>
          </a:stretch>
        </p:blipFill>
        <p:spPr>
          <a:xfrm>
            <a:off x="4709160" y="3721608"/>
            <a:ext cx="256032" cy="256032"/>
          </a:xfrm>
          <a:prstGeom prst="rect">
            <a:avLst/>
          </a:prstGeom>
        </p:spPr>
      </p:pic>
      <p:sp>
        <p:nvSpPr>
          <p:cNvPr id="32" name="Text 26"/>
          <p:cNvSpPr/>
          <p:nvPr/>
        </p:nvSpPr>
        <p:spPr>
          <a:xfrm>
            <a:off x="5029200" y="3685032"/>
            <a:ext cx="3429000" cy="292608"/>
          </a:xfrm>
          <a:prstGeom prst="rect">
            <a:avLst/>
          </a:prstGeom>
          <a:noFill/>
          <a:ln/>
        </p:spPr>
        <p:txBody>
          <a:bodyPr wrap="square" lIns="0" tIns="0" rIns="0" bIns="0" rtlCol="0" anchor="ctr"/>
          <a:lstStyle/>
          <a:p>
            <a:pPr marL="0" indent="0">
              <a:buNone/>
            </a:pPr>
            <a:r>
              <a:rPr lang="en-US" sz="1200" b="1" dirty="0">
                <a:solidFill>
                  <a:srgbClr val="7C3AED"/>
                </a:solidFill>
                <a:latin typeface="Georgia" pitchFamily="34" charset="0"/>
                <a:ea typeface="Georgia" pitchFamily="34" charset="-122"/>
                <a:cs typeface="Georgia" pitchFamily="34" charset="-120"/>
              </a:rPr>
              <a:t>Agents Add Real Value</a:t>
            </a:r>
            <a:endParaRPr lang="en-US" sz="1200" dirty="0"/>
          </a:p>
        </p:txBody>
      </p:sp>
      <p:sp>
        <p:nvSpPr>
          <p:cNvPr id="33" name="Text 27"/>
          <p:cNvSpPr/>
          <p:nvPr/>
        </p:nvSpPr>
        <p:spPr>
          <a:xfrm>
            <a:off x="4709160" y="4023360"/>
            <a:ext cx="3749040" cy="411480"/>
          </a:xfrm>
          <a:prstGeom prst="rect">
            <a:avLst/>
          </a:prstGeom>
          <a:noFill/>
          <a:ln/>
        </p:spPr>
        <p:txBody>
          <a:bodyPr wrap="square" rtlCol="0" anchor="t"/>
          <a:lstStyle/>
          <a:p>
            <a:pPr marL="0" indent="0">
              <a:lnSpc>
                <a:spcPct val="125000"/>
              </a:lnSpc>
              <a:buNone/>
            </a:pPr>
            <a:r>
              <a:rPr lang="en-US" sz="950" dirty="0">
                <a:solidFill>
                  <a:srgbClr val="444444"/>
                </a:solidFill>
                <a:latin typeface="Calibri" pitchFamily="34" charset="0"/>
                <a:ea typeface="Calibri" pitchFamily="34" charset="-122"/>
                <a:cs typeface="Calibri" pitchFamily="34" charset="-120"/>
              </a:rPr>
              <a:t>Feature Agent found constructor_dominance</a:t>
            </a:r>
            <a:endParaRPr lang="en-US" sz="950" dirty="0"/>
          </a:p>
          <a:p>
            <a:pPr marL="0" indent="0">
              <a:lnSpc>
                <a:spcPct val="125000"/>
              </a:lnSpc>
              <a:buNone/>
            </a:pPr>
            <a:r>
              <a:rPr lang="en-US" sz="950" dirty="0">
                <a:solidFill>
                  <a:srgbClr val="444444"/>
                </a:solidFill>
                <a:latin typeface="Calibri" pitchFamily="34" charset="0"/>
                <a:ea typeface="Calibri" pitchFamily="34" charset="-122"/>
                <a:cs typeface="Calibri" pitchFamily="34" charset="-120"/>
              </a:rPr>
              <a:t>(corr=0.594) autonomously. Model Agent</a:t>
            </a:r>
            <a:endParaRPr lang="en-US" sz="950" dirty="0"/>
          </a:p>
          <a:p>
            <a:pPr marL="0" indent="0">
              <a:lnSpc>
                <a:spcPct val="125000"/>
              </a:lnSpc>
              <a:buNone/>
            </a:pPr>
            <a:r>
              <a:rPr lang="en-US" sz="950" dirty="0">
                <a:solidFill>
                  <a:srgbClr val="444444"/>
                </a:solidFill>
                <a:latin typeface="Calibri" pitchFamily="34" charset="0"/>
                <a:ea typeface="Calibri" pitchFamily="34" charset="-122"/>
                <a:cs typeface="Calibri" pitchFamily="34" charset="-120"/>
              </a:rPr>
              <a:t>found worst circuits. Static pipelines miss this.</a:t>
            </a:r>
            <a:endParaRPr lang="en-US" sz="950" dirty="0"/>
          </a:p>
        </p:txBody>
      </p:sp>
      <p:sp>
        <p:nvSpPr>
          <p:cNvPr id="34" name="Text 28"/>
          <p:cNvSpPr/>
          <p:nvPr/>
        </p:nvSpPr>
        <p:spPr>
          <a:xfrm>
            <a:off x="457200" y="4709160"/>
            <a:ext cx="6400800" cy="365760"/>
          </a:xfrm>
          <a:prstGeom prst="rect">
            <a:avLst/>
          </a:prstGeom>
          <a:noFill/>
          <a:ln/>
        </p:spPr>
        <p:txBody>
          <a:bodyPr wrap="square" rtlCol="0" anchor="ctr"/>
          <a:lstStyle/>
          <a:p>
            <a:pPr marL="0" indent="0">
              <a:buNone/>
            </a:pPr>
            <a:r>
              <a:rPr lang="en-US" sz="900" dirty="0">
                <a:solidFill>
                  <a:srgbClr val="949594"/>
                </a:solidFill>
                <a:latin typeface="Calibri" pitchFamily="34" charset="0"/>
                <a:ea typeface="Calibri" pitchFamily="34" charset="-122"/>
                <a:cs typeface="Calibri" pitchFamily="34" charset="-120"/>
              </a:rPr>
              <a:t>Speaker 3 — Predictions &amp; AI</a:t>
            </a:r>
            <a:endParaRPr lang="en-US" sz="900" dirty="0"/>
          </a:p>
        </p:txBody>
      </p:sp>
      <p:sp>
        <p:nvSpPr>
          <p:cNvPr id="35" name="Text 29"/>
          <p:cNvSpPr/>
          <p:nvPr/>
        </p:nvSpPr>
        <p:spPr>
          <a:xfrm>
            <a:off x="8412480" y="4709160"/>
            <a:ext cx="548640" cy="365760"/>
          </a:xfrm>
          <a:prstGeom prst="rect">
            <a:avLst/>
          </a:prstGeom>
          <a:noFill/>
          <a:ln/>
        </p:spPr>
        <p:txBody>
          <a:bodyPr wrap="square" rtlCol="0" anchor="ctr"/>
          <a:lstStyle/>
          <a:p>
            <a:pPr marL="0" indent="0" algn="r">
              <a:buNone/>
            </a:pPr>
            <a:r>
              <a:rPr lang="en-US" sz="900" dirty="0">
                <a:solidFill>
                  <a:srgbClr val="949594"/>
                </a:solidFill>
                <a:latin typeface="Calibri" pitchFamily="34" charset="0"/>
                <a:ea typeface="Calibri" pitchFamily="34" charset="-122"/>
                <a:cs typeface="Calibri" pitchFamily="34" charset="-120"/>
              </a:rPr>
              <a:t>24</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1A1A2E"/>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C41E1E"/>
          </a:solidFill>
          <a:ln/>
        </p:spPr>
        <p:txBody>
          <a:bodyPr/>
          <a:lstStyle/>
          <a:p>
            <a:endParaRPr lang="en-US"/>
          </a:p>
        </p:txBody>
      </p:sp>
      <p:sp>
        <p:nvSpPr>
          <p:cNvPr id="3" name="Shape 1"/>
          <p:cNvSpPr/>
          <p:nvPr/>
        </p:nvSpPr>
        <p:spPr>
          <a:xfrm>
            <a:off x="0" y="5084064"/>
            <a:ext cx="9144000" cy="54864"/>
          </a:xfrm>
          <a:prstGeom prst="rect">
            <a:avLst/>
          </a:prstGeom>
          <a:solidFill>
            <a:srgbClr val="C41E1E"/>
          </a:solidFill>
          <a:ln/>
        </p:spPr>
        <p:txBody>
          <a:bodyPr/>
          <a:lstStyle/>
          <a:p>
            <a:endParaRPr lang="en-US"/>
          </a:p>
        </p:txBody>
      </p:sp>
      <p:sp>
        <p:nvSpPr>
          <p:cNvPr id="4" name="Shape 2"/>
          <p:cNvSpPr/>
          <p:nvPr/>
        </p:nvSpPr>
        <p:spPr>
          <a:xfrm>
            <a:off x="8778240" y="0"/>
            <a:ext cx="137160" cy="5143500"/>
          </a:xfrm>
          <a:prstGeom prst="rect">
            <a:avLst/>
          </a:prstGeom>
          <a:solidFill>
            <a:srgbClr val="C41E1E"/>
          </a:solidFill>
          <a:ln/>
        </p:spPr>
        <p:txBody>
          <a:bodyPr/>
          <a:lstStyle/>
          <a:p>
            <a:endParaRPr lang="en-US"/>
          </a:p>
        </p:txBody>
      </p:sp>
      <p:sp>
        <p:nvSpPr>
          <p:cNvPr id="5" name="Shape 3"/>
          <p:cNvSpPr/>
          <p:nvPr/>
        </p:nvSpPr>
        <p:spPr>
          <a:xfrm>
            <a:off x="8961120" y="0"/>
            <a:ext cx="73152" cy="5143500"/>
          </a:xfrm>
          <a:prstGeom prst="rect">
            <a:avLst/>
          </a:prstGeom>
          <a:solidFill>
            <a:srgbClr val="C41E1E">
              <a:alpha val="40000"/>
            </a:srgbClr>
          </a:solidFill>
          <a:ln/>
        </p:spPr>
        <p:txBody>
          <a:bodyPr/>
          <a:lstStyle/>
          <a:p>
            <a:endParaRPr lang="en-US"/>
          </a:p>
        </p:txBody>
      </p:sp>
      <p:pic>
        <p:nvPicPr>
          <p:cNvPr id="6" name="Image 0" descr="preencoded.png"/>
          <p:cNvPicPr>
            <a:picLocks noChangeAspect="1"/>
          </p:cNvPicPr>
          <p:nvPr/>
        </p:nvPicPr>
        <p:blipFill>
          <a:blip r:embed="rId3"/>
          <a:stretch>
            <a:fillRect/>
          </a:stretch>
        </p:blipFill>
        <p:spPr>
          <a:xfrm>
            <a:off x="7498080" y="274320"/>
            <a:ext cx="457200" cy="457200"/>
          </a:xfrm>
          <a:prstGeom prst="rect">
            <a:avLst/>
          </a:prstGeom>
        </p:spPr>
      </p:pic>
      <p:sp>
        <p:nvSpPr>
          <p:cNvPr id="7" name="Text 4"/>
          <p:cNvSpPr/>
          <p:nvPr/>
        </p:nvSpPr>
        <p:spPr>
          <a:xfrm>
            <a:off x="731520" y="274320"/>
            <a:ext cx="6400800" cy="548640"/>
          </a:xfrm>
          <a:prstGeom prst="rect">
            <a:avLst/>
          </a:prstGeom>
          <a:noFill/>
          <a:ln/>
        </p:spPr>
        <p:txBody>
          <a:bodyPr wrap="square" lIns="0" tIns="0" rIns="0" bIns="0" rtlCol="0" anchor="ctr"/>
          <a:lstStyle/>
          <a:p>
            <a:pPr marL="0" indent="0">
              <a:buNone/>
            </a:pPr>
            <a:r>
              <a:rPr lang="en-US" sz="3000" b="1" dirty="0">
                <a:solidFill>
                  <a:srgbClr val="FFFFFF"/>
                </a:solidFill>
                <a:latin typeface="Georgia" pitchFamily="34" charset="0"/>
                <a:ea typeface="Georgia" pitchFamily="34" charset="-122"/>
                <a:cs typeface="Georgia" pitchFamily="34" charset="-120"/>
              </a:rPr>
              <a:t>Future Work</a:t>
            </a:r>
            <a:endParaRPr lang="en-US" sz="3000" dirty="0"/>
          </a:p>
        </p:txBody>
      </p:sp>
      <p:sp>
        <p:nvSpPr>
          <p:cNvPr id="8" name="Shape 5"/>
          <p:cNvSpPr/>
          <p:nvPr/>
        </p:nvSpPr>
        <p:spPr>
          <a:xfrm>
            <a:off x="731520" y="868680"/>
            <a:ext cx="1828800" cy="36576"/>
          </a:xfrm>
          <a:prstGeom prst="rect">
            <a:avLst/>
          </a:prstGeom>
          <a:solidFill>
            <a:srgbClr val="C41E1E"/>
          </a:solidFill>
          <a:ln/>
        </p:spPr>
        <p:txBody>
          <a:bodyPr/>
          <a:lstStyle/>
          <a:p>
            <a:endParaRPr lang="en-US"/>
          </a:p>
        </p:txBody>
      </p:sp>
      <p:sp>
        <p:nvSpPr>
          <p:cNvPr id="9" name="Shape 6"/>
          <p:cNvSpPr/>
          <p:nvPr/>
        </p:nvSpPr>
        <p:spPr>
          <a:xfrm>
            <a:off x="457200" y="1143000"/>
            <a:ext cx="2560320" cy="1463040"/>
          </a:xfrm>
          <a:prstGeom prst="rect">
            <a:avLst/>
          </a:prstGeom>
          <a:solidFill>
            <a:srgbClr val="1A1A2E"/>
          </a:solidFill>
          <a:ln w="19050">
            <a:solidFill>
              <a:srgbClr val="C41E1E"/>
            </a:solidFill>
            <a:prstDash val="solid"/>
          </a:ln>
        </p:spPr>
        <p:txBody>
          <a:bodyPr/>
          <a:lstStyle/>
          <a:p>
            <a:endParaRPr lang="en-US"/>
          </a:p>
        </p:txBody>
      </p:sp>
      <p:sp>
        <p:nvSpPr>
          <p:cNvPr id="10" name="Text 7"/>
          <p:cNvSpPr/>
          <p:nvPr/>
        </p:nvSpPr>
        <p:spPr>
          <a:xfrm>
            <a:off x="457200" y="1234440"/>
            <a:ext cx="2560320" cy="320040"/>
          </a:xfrm>
          <a:prstGeom prst="rect">
            <a:avLst/>
          </a:prstGeom>
          <a:noFill/>
          <a:ln/>
        </p:spPr>
        <p:txBody>
          <a:bodyPr wrap="square" lIns="0" tIns="0" rIns="0" bIns="0" rtlCol="0" anchor="ctr"/>
          <a:lstStyle/>
          <a:p>
            <a:pPr marL="0" indent="0" algn="ctr">
              <a:buNone/>
            </a:pPr>
            <a:r>
              <a:rPr lang="en-US" sz="1200" b="1" dirty="0">
                <a:solidFill>
                  <a:srgbClr val="C41E1E"/>
                </a:solidFill>
                <a:latin typeface="Georgia" pitchFamily="34" charset="0"/>
                <a:ea typeface="Georgia" pitchFamily="34" charset="-122"/>
                <a:cs typeface="Georgia" pitchFamily="34" charset="-120"/>
              </a:rPr>
              <a:t>📡 Real-Time Streaming</a:t>
            </a:r>
            <a:endParaRPr lang="en-US" sz="1200" dirty="0"/>
          </a:p>
        </p:txBody>
      </p:sp>
      <p:sp>
        <p:nvSpPr>
          <p:cNvPr id="11" name="Text 8"/>
          <p:cNvSpPr/>
          <p:nvPr/>
        </p:nvSpPr>
        <p:spPr>
          <a:xfrm>
            <a:off x="548640" y="1600200"/>
            <a:ext cx="2377440" cy="822960"/>
          </a:xfrm>
          <a:prstGeom prst="rect">
            <a:avLst/>
          </a:prstGeom>
          <a:noFill/>
          <a:ln/>
        </p:spPr>
        <p:txBody>
          <a:bodyPr wrap="square" lIns="0" tIns="0" rIns="0" bIns="0" rtlCol="0" anchor="ctr"/>
          <a:lstStyle/>
          <a:p>
            <a:pPr marL="0" indent="0" algn="ctr">
              <a:buNone/>
            </a:pPr>
            <a:r>
              <a:rPr lang="en-US" sz="950" dirty="0">
                <a:solidFill>
                  <a:srgbClr val="949594"/>
                </a:solidFill>
                <a:latin typeface="Calibri" pitchFamily="34" charset="0"/>
                <a:ea typeface="Calibri" pitchFamily="34" charset="-122"/>
                <a:cs typeface="Calibri" pitchFamily="34" charset="-120"/>
              </a:rPr>
              <a:t>Spark Structured Streaming for</a:t>
            </a:r>
            <a:endParaRPr lang="en-US" sz="950" dirty="0"/>
          </a:p>
          <a:p>
            <a:pPr marL="0" indent="0" algn="ctr">
              <a:buNone/>
            </a:pPr>
            <a:r>
              <a:rPr lang="en-US" sz="950" dirty="0">
                <a:solidFill>
                  <a:srgbClr val="949594"/>
                </a:solidFill>
                <a:latin typeface="Calibri" pitchFamily="34" charset="0"/>
                <a:ea typeface="Calibri" pitchFamily="34" charset="-122"/>
                <a:cs typeface="Calibri" pitchFamily="34" charset="-120"/>
              </a:rPr>
              <a:t>live predictions during the race.</a:t>
            </a:r>
            <a:endParaRPr lang="en-US" sz="950" dirty="0"/>
          </a:p>
          <a:p>
            <a:pPr marL="0" indent="0" algn="ctr">
              <a:buNone/>
            </a:pPr>
            <a:r>
              <a:rPr lang="en-US" sz="950" dirty="0">
                <a:solidFill>
                  <a:srgbClr val="949594"/>
                </a:solidFill>
                <a:latin typeface="Calibri" pitchFamily="34" charset="0"/>
                <a:ea typeface="Calibri" pitchFamily="34" charset="-122"/>
                <a:cs typeface="Calibri" pitchFamily="34" charset="-120"/>
              </a:rPr>
              <a:t>Update odds as each lap completes.</a:t>
            </a:r>
            <a:endParaRPr lang="en-US" sz="950" dirty="0"/>
          </a:p>
        </p:txBody>
      </p:sp>
      <p:sp>
        <p:nvSpPr>
          <p:cNvPr id="12" name="Shape 9"/>
          <p:cNvSpPr/>
          <p:nvPr/>
        </p:nvSpPr>
        <p:spPr>
          <a:xfrm>
            <a:off x="3246120" y="1143000"/>
            <a:ext cx="2560320" cy="1463040"/>
          </a:xfrm>
          <a:prstGeom prst="rect">
            <a:avLst/>
          </a:prstGeom>
          <a:solidFill>
            <a:srgbClr val="1A1A2E"/>
          </a:solidFill>
          <a:ln w="19050">
            <a:solidFill>
              <a:srgbClr val="2563EB"/>
            </a:solidFill>
            <a:prstDash val="solid"/>
          </a:ln>
        </p:spPr>
        <p:txBody>
          <a:bodyPr/>
          <a:lstStyle/>
          <a:p>
            <a:endParaRPr lang="en-US"/>
          </a:p>
        </p:txBody>
      </p:sp>
      <p:sp>
        <p:nvSpPr>
          <p:cNvPr id="13" name="Text 10"/>
          <p:cNvSpPr/>
          <p:nvPr/>
        </p:nvSpPr>
        <p:spPr>
          <a:xfrm>
            <a:off x="3246120" y="1234440"/>
            <a:ext cx="2560320" cy="320040"/>
          </a:xfrm>
          <a:prstGeom prst="rect">
            <a:avLst/>
          </a:prstGeom>
          <a:noFill/>
          <a:ln/>
        </p:spPr>
        <p:txBody>
          <a:bodyPr wrap="square" lIns="0" tIns="0" rIns="0" bIns="0" rtlCol="0" anchor="ctr"/>
          <a:lstStyle/>
          <a:p>
            <a:pPr marL="0" indent="0" algn="ctr">
              <a:buNone/>
            </a:pPr>
            <a:r>
              <a:rPr lang="en-US" sz="1200" b="1" dirty="0">
                <a:solidFill>
                  <a:srgbClr val="2563EB"/>
                </a:solidFill>
                <a:latin typeface="Georgia" pitchFamily="34" charset="0"/>
                <a:ea typeface="Georgia" pitchFamily="34" charset="-122"/>
                <a:cs typeface="Georgia" pitchFamily="34" charset="-120"/>
              </a:rPr>
              <a:t>☁️ Cloud Deployment</a:t>
            </a:r>
            <a:endParaRPr lang="en-US" sz="1200" dirty="0"/>
          </a:p>
        </p:txBody>
      </p:sp>
      <p:sp>
        <p:nvSpPr>
          <p:cNvPr id="14" name="Text 11"/>
          <p:cNvSpPr/>
          <p:nvPr/>
        </p:nvSpPr>
        <p:spPr>
          <a:xfrm>
            <a:off x="3337560" y="1600200"/>
            <a:ext cx="2377440" cy="822960"/>
          </a:xfrm>
          <a:prstGeom prst="rect">
            <a:avLst/>
          </a:prstGeom>
          <a:noFill/>
          <a:ln/>
        </p:spPr>
        <p:txBody>
          <a:bodyPr wrap="square" lIns="0" tIns="0" rIns="0" bIns="0" rtlCol="0" anchor="ctr"/>
          <a:lstStyle/>
          <a:p>
            <a:pPr marL="0" indent="0" algn="ctr">
              <a:buNone/>
            </a:pPr>
            <a:r>
              <a:rPr lang="en-US" sz="950" dirty="0">
                <a:solidFill>
                  <a:srgbClr val="949594"/>
                </a:solidFill>
                <a:latin typeface="Calibri" pitchFamily="34" charset="0"/>
                <a:ea typeface="Calibri" pitchFamily="34" charset="-122"/>
                <a:cs typeface="Calibri" pitchFamily="34" charset="-120"/>
              </a:rPr>
              <a:t>AWS EMR or Azure Databricks for</a:t>
            </a:r>
            <a:endParaRPr lang="en-US" sz="950" dirty="0"/>
          </a:p>
          <a:p>
            <a:pPr marL="0" indent="0" algn="ctr">
              <a:buNone/>
            </a:pPr>
            <a:r>
              <a:rPr lang="en-US" sz="950" dirty="0">
                <a:solidFill>
                  <a:srgbClr val="949594"/>
                </a:solidFill>
                <a:latin typeface="Calibri" pitchFamily="34" charset="0"/>
                <a:ea typeface="Calibri" pitchFamily="34" charset="-122"/>
                <a:cs typeface="Calibri" pitchFamily="34" charset="-120"/>
              </a:rPr>
              <a:t>true cluster scale. Our Docker</a:t>
            </a:r>
            <a:endParaRPr lang="en-US" sz="950" dirty="0"/>
          </a:p>
          <a:p>
            <a:pPr marL="0" indent="0" algn="ctr">
              <a:buNone/>
            </a:pPr>
            <a:r>
              <a:rPr lang="en-US" sz="950" dirty="0">
                <a:solidFill>
                  <a:srgbClr val="949594"/>
                </a:solidFill>
                <a:latin typeface="Calibri" pitchFamily="34" charset="0"/>
                <a:ea typeface="Calibri" pitchFamily="34" charset="-122"/>
                <a:cs typeface="Calibri" pitchFamily="34" charset="-120"/>
              </a:rPr>
              <a:t>architecture migrates seamlessly.</a:t>
            </a:r>
            <a:endParaRPr lang="en-US" sz="950" dirty="0"/>
          </a:p>
        </p:txBody>
      </p:sp>
      <p:sp>
        <p:nvSpPr>
          <p:cNvPr id="15" name="Shape 12"/>
          <p:cNvSpPr/>
          <p:nvPr/>
        </p:nvSpPr>
        <p:spPr>
          <a:xfrm>
            <a:off x="6035040" y="1143000"/>
            <a:ext cx="2560320" cy="1463040"/>
          </a:xfrm>
          <a:prstGeom prst="rect">
            <a:avLst/>
          </a:prstGeom>
          <a:solidFill>
            <a:srgbClr val="1A1A2E"/>
          </a:solidFill>
          <a:ln w="19050">
            <a:solidFill>
              <a:srgbClr val="059669"/>
            </a:solidFill>
            <a:prstDash val="solid"/>
          </a:ln>
        </p:spPr>
        <p:txBody>
          <a:bodyPr/>
          <a:lstStyle/>
          <a:p>
            <a:endParaRPr lang="en-US"/>
          </a:p>
        </p:txBody>
      </p:sp>
      <p:sp>
        <p:nvSpPr>
          <p:cNvPr id="16" name="Text 13"/>
          <p:cNvSpPr/>
          <p:nvPr/>
        </p:nvSpPr>
        <p:spPr>
          <a:xfrm>
            <a:off x="6035040" y="1234440"/>
            <a:ext cx="2560320" cy="320040"/>
          </a:xfrm>
          <a:prstGeom prst="rect">
            <a:avLst/>
          </a:prstGeom>
          <a:noFill/>
          <a:ln/>
        </p:spPr>
        <p:txBody>
          <a:bodyPr wrap="square" lIns="0" tIns="0" rIns="0" bIns="0" rtlCol="0" anchor="ctr"/>
          <a:lstStyle/>
          <a:p>
            <a:pPr marL="0" indent="0" algn="ctr">
              <a:buNone/>
            </a:pPr>
            <a:r>
              <a:rPr lang="en-US" sz="1200" b="1" dirty="0">
                <a:solidFill>
                  <a:srgbClr val="059669"/>
                </a:solidFill>
                <a:latin typeface="Georgia" pitchFamily="34" charset="0"/>
                <a:ea typeface="Georgia" pitchFamily="34" charset="-122"/>
                <a:cs typeface="Georgia" pitchFamily="34" charset="-120"/>
              </a:rPr>
              <a:t>🏎️ Car Telemetry Data</a:t>
            </a:r>
            <a:endParaRPr lang="en-US" sz="1200" dirty="0"/>
          </a:p>
        </p:txBody>
      </p:sp>
      <p:sp>
        <p:nvSpPr>
          <p:cNvPr id="17" name="Text 14"/>
          <p:cNvSpPr/>
          <p:nvPr/>
        </p:nvSpPr>
        <p:spPr>
          <a:xfrm>
            <a:off x="6126480" y="1600200"/>
            <a:ext cx="2377440" cy="822960"/>
          </a:xfrm>
          <a:prstGeom prst="rect">
            <a:avLst/>
          </a:prstGeom>
          <a:noFill/>
          <a:ln/>
        </p:spPr>
        <p:txBody>
          <a:bodyPr wrap="square" lIns="0" tIns="0" rIns="0" bIns="0" rtlCol="0" anchor="ctr"/>
          <a:lstStyle/>
          <a:p>
            <a:pPr marL="0" indent="0" algn="ctr">
              <a:buNone/>
            </a:pPr>
            <a:r>
              <a:rPr lang="en-US" sz="950" dirty="0">
                <a:solidFill>
                  <a:srgbClr val="949594"/>
                </a:solidFill>
                <a:latin typeface="Calibri" pitchFamily="34" charset="0"/>
                <a:ea typeface="Calibri" pitchFamily="34" charset="-122"/>
                <a:cs typeface="Calibri" pitchFamily="34" charset="-120"/>
              </a:rPr>
              <a:t>Throttle, brake, DRS, engine modes</a:t>
            </a:r>
            <a:endParaRPr lang="en-US" sz="950" dirty="0"/>
          </a:p>
          <a:p>
            <a:pPr marL="0" indent="0" algn="ctr">
              <a:buNone/>
            </a:pPr>
            <a:r>
              <a:rPr lang="en-US" sz="950" dirty="0">
                <a:solidFill>
                  <a:srgbClr val="949594"/>
                </a:solidFill>
                <a:latin typeface="Calibri" pitchFamily="34" charset="0"/>
                <a:ea typeface="Calibri" pitchFamily="34" charset="-122"/>
                <a:cs typeface="Calibri" pitchFamily="34" charset="-120"/>
              </a:rPr>
              <a:t>from FastF1 telemetry API. Could</a:t>
            </a:r>
            <a:endParaRPr lang="en-US" sz="950" dirty="0"/>
          </a:p>
          <a:p>
            <a:pPr marL="0" indent="0" algn="ctr">
              <a:buNone/>
            </a:pPr>
            <a:r>
              <a:rPr lang="en-US" sz="950" dirty="0">
                <a:solidFill>
                  <a:srgbClr val="949594"/>
                </a:solidFill>
                <a:latin typeface="Calibri" pitchFamily="34" charset="0"/>
                <a:ea typeface="Calibri" pitchFamily="34" charset="-122"/>
                <a:cs typeface="Calibri" pitchFamily="34" charset="-120"/>
              </a:rPr>
              <a:t>break through the 78% ceiling.</a:t>
            </a:r>
            <a:endParaRPr lang="en-US" sz="950" dirty="0"/>
          </a:p>
        </p:txBody>
      </p:sp>
      <p:sp>
        <p:nvSpPr>
          <p:cNvPr id="18" name="Shape 15"/>
          <p:cNvSpPr/>
          <p:nvPr/>
        </p:nvSpPr>
        <p:spPr>
          <a:xfrm>
            <a:off x="457200" y="2880360"/>
            <a:ext cx="8229600" cy="54864"/>
          </a:xfrm>
          <a:prstGeom prst="rect">
            <a:avLst/>
          </a:prstGeom>
          <a:solidFill>
            <a:srgbClr val="C41E1E"/>
          </a:solidFill>
          <a:ln/>
        </p:spPr>
        <p:txBody>
          <a:bodyPr/>
          <a:lstStyle/>
          <a:p>
            <a:endParaRPr lang="en-US"/>
          </a:p>
        </p:txBody>
      </p:sp>
      <p:sp>
        <p:nvSpPr>
          <p:cNvPr id="19" name="Text 16"/>
          <p:cNvSpPr/>
          <p:nvPr/>
        </p:nvSpPr>
        <p:spPr>
          <a:xfrm>
            <a:off x="457200" y="3108960"/>
            <a:ext cx="1188720" cy="365760"/>
          </a:xfrm>
          <a:prstGeom prst="rect">
            <a:avLst/>
          </a:prstGeom>
          <a:noFill/>
          <a:ln/>
        </p:spPr>
        <p:txBody>
          <a:bodyPr wrap="square" lIns="0" tIns="0" rIns="0" bIns="0" rtlCol="0" anchor="ctr"/>
          <a:lstStyle/>
          <a:p>
            <a:pPr marL="0" indent="0" algn="ctr">
              <a:buNone/>
            </a:pPr>
            <a:r>
              <a:rPr lang="en-US" sz="1800" b="1" dirty="0">
                <a:solidFill>
                  <a:srgbClr val="C41E1E"/>
                </a:solidFill>
                <a:latin typeface="Georgia" pitchFamily="34" charset="0"/>
                <a:ea typeface="Georgia" pitchFamily="34" charset="-122"/>
                <a:cs typeface="Georgia" pitchFamily="34" charset="-120"/>
              </a:rPr>
              <a:t>77.8%</a:t>
            </a:r>
            <a:endParaRPr lang="en-US" sz="1800" dirty="0"/>
          </a:p>
        </p:txBody>
      </p:sp>
      <p:sp>
        <p:nvSpPr>
          <p:cNvPr id="20" name="Text 17"/>
          <p:cNvSpPr/>
          <p:nvPr/>
        </p:nvSpPr>
        <p:spPr>
          <a:xfrm>
            <a:off x="457200" y="3474720"/>
            <a:ext cx="1188720" cy="182880"/>
          </a:xfrm>
          <a:prstGeom prst="rect">
            <a:avLst/>
          </a:prstGeom>
          <a:noFill/>
          <a:ln/>
        </p:spPr>
        <p:txBody>
          <a:bodyPr wrap="square" lIns="0" tIns="0" rIns="0" bIns="0" rtlCol="0" anchor="ctr"/>
          <a:lstStyle/>
          <a:p>
            <a:pPr marL="0" indent="0" algn="ctr">
              <a:buNone/>
            </a:pPr>
            <a:r>
              <a:rPr lang="en-US" sz="900" dirty="0">
                <a:solidFill>
                  <a:srgbClr val="949594"/>
                </a:solidFill>
                <a:latin typeface="Calibri" pitchFamily="34" charset="0"/>
                <a:ea typeface="Calibri" pitchFamily="34" charset="-122"/>
                <a:cs typeface="Calibri" pitchFamily="34" charset="-120"/>
              </a:rPr>
              <a:t>Winner</a:t>
            </a:r>
            <a:endParaRPr lang="en-US" sz="900" dirty="0"/>
          </a:p>
        </p:txBody>
      </p:sp>
      <p:sp>
        <p:nvSpPr>
          <p:cNvPr id="21" name="Text 18"/>
          <p:cNvSpPr/>
          <p:nvPr/>
        </p:nvSpPr>
        <p:spPr>
          <a:xfrm>
            <a:off x="1828800" y="3108960"/>
            <a:ext cx="1188720" cy="365760"/>
          </a:xfrm>
          <a:prstGeom prst="rect">
            <a:avLst/>
          </a:prstGeom>
          <a:noFill/>
          <a:ln/>
        </p:spPr>
        <p:txBody>
          <a:bodyPr wrap="square" lIns="0" tIns="0" rIns="0" bIns="0" rtlCol="0" anchor="ctr"/>
          <a:lstStyle/>
          <a:p>
            <a:pPr marL="0" indent="0" algn="ctr">
              <a:buNone/>
            </a:pPr>
            <a:r>
              <a:rPr lang="en-US" sz="1800" b="1" dirty="0">
                <a:solidFill>
                  <a:srgbClr val="C41E1E"/>
                </a:solidFill>
                <a:latin typeface="Georgia" pitchFamily="34" charset="0"/>
                <a:ea typeface="Georgia" pitchFamily="34" charset="-122"/>
                <a:cs typeface="Georgia" pitchFamily="34" charset="-120"/>
              </a:rPr>
              <a:t>93.4%</a:t>
            </a:r>
            <a:endParaRPr lang="en-US" sz="1800" dirty="0"/>
          </a:p>
        </p:txBody>
      </p:sp>
      <p:sp>
        <p:nvSpPr>
          <p:cNvPr id="22" name="Text 19"/>
          <p:cNvSpPr/>
          <p:nvPr/>
        </p:nvSpPr>
        <p:spPr>
          <a:xfrm>
            <a:off x="1828800" y="3474720"/>
            <a:ext cx="1188720" cy="182880"/>
          </a:xfrm>
          <a:prstGeom prst="rect">
            <a:avLst/>
          </a:prstGeom>
          <a:noFill/>
          <a:ln/>
        </p:spPr>
        <p:txBody>
          <a:bodyPr wrap="square" lIns="0" tIns="0" rIns="0" bIns="0" rtlCol="0" anchor="ctr"/>
          <a:lstStyle/>
          <a:p>
            <a:pPr marL="0" indent="0" algn="ctr">
              <a:buNone/>
            </a:pPr>
            <a:r>
              <a:rPr lang="en-US" sz="900" dirty="0">
                <a:solidFill>
                  <a:srgbClr val="949594"/>
                </a:solidFill>
                <a:latin typeface="Calibri" pitchFamily="34" charset="0"/>
                <a:ea typeface="Calibri" pitchFamily="34" charset="-122"/>
                <a:cs typeface="Calibri" pitchFamily="34" charset="-120"/>
              </a:rPr>
              <a:t>Podium</a:t>
            </a:r>
            <a:endParaRPr lang="en-US" sz="900" dirty="0"/>
          </a:p>
        </p:txBody>
      </p:sp>
      <p:sp>
        <p:nvSpPr>
          <p:cNvPr id="23" name="Text 20"/>
          <p:cNvSpPr/>
          <p:nvPr/>
        </p:nvSpPr>
        <p:spPr>
          <a:xfrm>
            <a:off x="3200400" y="3108960"/>
            <a:ext cx="1188720" cy="365760"/>
          </a:xfrm>
          <a:prstGeom prst="rect">
            <a:avLst/>
          </a:prstGeom>
          <a:noFill/>
          <a:ln/>
        </p:spPr>
        <p:txBody>
          <a:bodyPr wrap="square" lIns="0" tIns="0" rIns="0" bIns="0" rtlCol="0" anchor="ctr"/>
          <a:lstStyle/>
          <a:p>
            <a:pPr marL="0" indent="0" algn="ctr">
              <a:buNone/>
            </a:pPr>
            <a:r>
              <a:rPr lang="en-US" sz="1800" b="1" dirty="0">
                <a:solidFill>
                  <a:srgbClr val="C41E1E"/>
                </a:solidFill>
                <a:latin typeface="Georgia" pitchFamily="34" charset="0"/>
                <a:ea typeface="Georgia" pitchFamily="34" charset="-122"/>
                <a:cs typeface="Georgia" pitchFamily="34" charset="-120"/>
              </a:rPr>
              <a:t>100%</a:t>
            </a:r>
            <a:endParaRPr lang="en-US" sz="1800" dirty="0"/>
          </a:p>
        </p:txBody>
      </p:sp>
      <p:sp>
        <p:nvSpPr>
          <p:cNvPr id="24" name="Text 21"/>
          <p:cNvSpPr/>
          <p:nvPr/>
        </p:nvSpPr>
        <p:spPr>
          <a:xfrm>
            <a:off x="3200400" y="3474720"/>
            <a:ext cx="1188720" cy="182880"/>
          </a:xfrm>
          <a:prstGeom prst="rect">
            <a:avLst/>
          </a:prstGeom>
          <a:noFill/>
          <a:ln/>
        </p:spPr>
        <p:txBody>
          <a:bodyPr wrap="square" lIns="0" tIns="0" rIns="0" bIns="0" rtlCol="0" anchor="ctr"/>
          <a:lstStyle/>
          <a:p>
            <a:pPr marL="0" indent="0" algn="ctr">
              <a:buNone/>
            </a:pPr>
            <a:r>
              <a:rPr lang="en-US" sz="900" dirty="0">
                <a:solidFill>
                  <a:srgbClr val="949594"/>
                </a:solidFill>
                <a:latin typeface="Calibri" pitchFamily="34" charset="0"/>
                <a:ea typeface="Calibri" pitchFamily="34" charset="-122"/>
                <a:cs typeface="Calibri" pitchFamily="34" charset="-120"/>
              </a:rPr>
              <a:t>Top-3</a:t>
            </a:r>
            <a:endParaRPr lang="en-US" sz="900" dirty="0"/>
          </a:p>
        </p:txBody>
      </p:sp>
      <p:sp>
        <p:nvSpPr>
          <p:cNvPr id="25" name="Text 22"/>
          <p:cNvSpPr/>
          <p:nvPr/>
        </p:nvSpPr>
        <p:spPr>
          <a:xfrm>
            <a:off x="4572000" y="3108960"/>
            <a:ext cx="1188720" cy="365760"/>
          </a:xfrm>
          <a:prstGeom prst="rect">
            <a:avLst/>
          </a:prstGeom>
          <a:noFill/>
          <a:ln/>
        </p:spPr>
        <p:txBody>
          <a:bodyPr wrap="square" lIns="0" tIns="0" rIns="0" bIns="0" rtlCol="0" anchor="ctr"/>
          <a:lstStyle/>
          <a:p>
            <a:pPr marL="0" indent="0" algn="ctr">
              <a:buNone/>
            </a:pPr>
            <a:r>
              <a:rPr lang="en-US" sz="1800" b="1" dirty="0">
                <a:solidFill>
                  <a:srgbClr val="C41E1E"/>
                </a:solidFill>
                <a:latin typeface="Georgia" pitchFamily="34" charset="0"/>
                <a:ea typeface="Georgia" pitchFamily="34" charset="-122"/>
                <a:cs typeface="Georgia" pitchFamily="34" charset="-120"/>
              </a:rPr>
              <a:t>2.096</a:t>
            </a:r>
            <a:endParaRPr lang="en-US" sz="1800" dirty="0"/>
          </a:p>
        </p:txBody>
      </p:sp>
      <p:sp>
        <p:nvSpPr>
          <p:cNvPr id="26" name="Text 23"/>
          <p:cNvSpPr/>
          <p:nvPr/>
        </p:nvSpPr>
        <p:spPr>
          <a:xfrm>
            <a:off x="4572000" y="3474720"/>
            <a:ext cx="1188720" cy="182880"/>
          </a:xfrm>
          <a:prstGeom prst="rect">
            <a:avLst/>
          </a:prstGeom>
          <a:noFill/>
          <a:ln/>
        </p:spPr>
        <p:txBody>
          <a:bodyPr wrap="square" lIns="0" tIns="0" rIns="0" bIns="0" rtlCol="0" anchor="ctr"/>
          <a:lstStyle/>
          <a:p>
            <a:pPr marL="0" indent="0" algn="ctr">
              <a:buNone/>
            </a:pPr>
            <a:r>
              <a:rPr lang="en-US" sz="900" dirty="0">
                <a:solidFill>
                  <a:srgbClr val="949594"/>
                </a:solidFill>
                <a:latin typeface="Calibri" pitchFamily="34" charset="0"/>
                <a:ea typeface="Calibri" pitchFamily="34" charset="-122"/>
                <a:cs typeface="Calibri" pitchFamily="34" charset="-120"/>
              </a:rPr>
              <a:t>MAE</a:t>
            </a:r>
            <a:endParaRPr lang="en-US" sz="900" dirty="0"/>
          </a:p>
        </p:txBody>
      </p:sp>
      <p:sp>
        <p:nvSpPr>
          <p:cNvPr id="27" name="Text 24"/>
          <p:cNvSpPr/>
          <p:nvPr/>
        </p:nvSpPr>
        <p:spPr>
          <a:xfrm>
            <a:off x="5943600" y="3108960"/>
            <a:ext cx="1188720" cy="365760"/>
          </a:xfrm>
          <a:prstGeom prst="rect">
            <a:avLst/>
          </a:prstGeom>
          <a:noFill/>
          <a:ln/>
        </p:spPr>
        <p:txBody>
          <a:bodyPr wrap="square" lIns="0" tIns="0" rIns="0" bIns="0" rtlCol="0" anchor="ctr"/>
          <a:lstStyle/>
          <a:p>
            <a:pPr marL="0" indent="0" algn="ctr">
              <a:buNone/>
            </a:pPr>
            <a:r>
              <a:rPr lang="en-US" sz="1800" b="1" dirty="0">
                <a:solidFill>
                  <a:srgbClr val="C41E1E"/>
                </a:solidFill>
                <a:latin typeface="Georgia" pitchFamily="34" charset="0"/>
                <a:ea typeface="Georgia" pitchFamily="34" charset="-122"/>
                <a:cs typeface="Georgia" pitchFamily="34" charset="-120"/>
              </a:rPr>
              <a:t>85</a:t>
            </a:r>
            <a:endParaRPr lang="en-US" sz="1800" dirty="0"/>
          </a:p>
        </p:txBody>
      </p:sp>
      <p:sp>
        <p:nvSpPr>
          <p:cNvPr id="28" name="Text 25"/>
          <p:cNvSpPr/>
          <p:nvPr/>
        </p:nvSpPr>
        <p:spPr>
          <a:xfrm>
            <a:off x="5943600" y="3474720"/>
            <a:ext cx="1188720" cy="182880"/>
          </a:xfrm>
          <a:prstGeom prst="rect">
            <a:avLst/>
          </a:prstGeom>
          <a:noFill/>
          <a:ln/>
        </p:spPr>
        <p:txBody>
          <a:bodyPr wrap="square" lIns="0" tIns="0" rIns="0" bIns="0" rtlCol="0" anchor="ctr"/>
          <a:lstStyle/>
          <a:p>
            <a:pPr marL="0" indent="0" algn="ctr">
              <a:buNone/>
            </a:pPr>
            <a:r>
              <a:rPr lang="en-US" sz="900" dirty="0">
                <a:solidFill>
                  <a:srgbClr val="949594"/>
                </a:solidFill>
                <a:latin typeface="Calibri" pitchFamily="34" charset="0"/>
                <a:ea typeface="Calibri" pitchFamily="34" charset="-122"/>
                <a:cs typeface="Calibri" pitchFamily="34" charset="-120"/>
              </a:rPr>
              <a:t>Features</a:t>
            </a:r>
            <a:endParaRPr lang="en-US" sz="900" dirty="0"/>
          </a:p>
        </p:txBody>
      </p:sp>
      <p:sp>
        <p:nvSpPr>
          <p:cNvPr id="29" name="Text 26"/>
          <p:cNvSpPr/>
          <p:nvPr/>
        </p:nvSpPr>
        <p:spPr>
          <a:xfrm>
            <a:off x="7315200" y="3108960"/>
            <a:ext cx="1188720" cy="365760"/>
          </a:xfrm>
          <a:prstGeom prst="rect">
            <a:avLst/>
          </a:prstGeom>
          <a:noFill/>
          <a:ln/>
        </p:spPr>
        <p:txBody>
          <a:bodyPr wrap="square" lIns="0" tIns="0" rIns="0" bIns="0" rtlCol="0" anchor="ctr"/>
          <a:lstStyle/>
          <a:p>
            <a:pPr marL="0" indent="0" algn="ctr">
              <a:buNone/>
            </a:pPr>
            <a:r>
              <a:rPr lang="en-US" sz="1800" b="1" dirty="0">
                <a:solidFill>
                  <a:srgbClr val="C41E1E"/>
                </a:solidFill>
                <a:latin typeface="Georgia" pitchFamily="34" charset="0"/>
                <a:ea typeface="Georgia" pitchFamily="34" charset="-122"/>
                <a:cs typeface="Georgia" pitchFamily="34" charset="-120"/>
              </a:rPr>
              <a:t>9</a:t>
            </a:r>
            <a:endParaRPr lang="en-US" sz="1800" dirty="0"/>
          </a:p>
        </p:txBody>
      </p:sp>
      <p:sp>
        <p:nvSpPr>
          <p:cNvPr id="30" name="Text 27"/>
          <p:cNvSpPr/>
          <p:nvPr/>
        </p:nvSpPr>
        <p:spPr>
          <a:xfrm>
            <a:off x="7315200" y="3474720"/>
            <a:ext cx="1188720" cy="182880"/>
          </a:xfrm>
          <a:prstGeom prst="rect">
            <a:avLst/>
          </a:prstGeom>
          <a:noFill/>
          <a:ln/>
        </p:spPr>
        <p:txBody>
          <a:bodyPr wrap="square" lIns="0" tIns="0" rIns="0" bIns="0" rtlCol="0" anchor="ctr"/>
          <a:lstStyle/>
          <a:p>
            <a:pPr marL="0" indent="0" algn="ctr">
              <a:buNone/>
            </a:pPr>
            <a:r>
              <a:rPr lang="en-US" sz="900" dirty="0">
                <a:solidFill>
                  <a:srgbClr val="949594"/>
                </a:solidFill>
                <a:latin typeface="Calibri" pitchFamily="34" charset="0"/>
                <a:ea typeface="Calibri" pitchFamily="34" charset="-122"/>
                <a:cs typeface="Calibri" pitchFamily="34" charset="-120"/>
              </a:rPr>
              <a:t>Seasons</a:t>
            </a:r>
            <a:endParaRPr lang="en-US" sz="900" dirty="0"/>
          </a:p>
        </p:txBody>
      </p:sp>
      <p:sp>
        <p:nvSpPr>
          <p:cNvPr id="31" name="Text 28"/>
          <p:cNvSpPr/>
          <p:nvPr/>
        </p:nvSpPr>
        <p:spPr>
          <a:xfrm>
            <a:off x="731520" y="3840480"/>
            <a:ext cx="7315200" cy="548640"/>
          </a:xfrm>
          <a:prstGeom prst="rect">
            <a:avLst/>
          </a:prstGeom>
          <a:noFill/>
          <a:ln/>
        </p:spPr>
        <p:txBody>
          <a:bodyPr wrap="square" lIns="0" tIns="0" rIns="0" bIns="0" rtlCol="0" anchor="ctr"/>
          <a:lstStyle/>
          <a:p>
            <a:pPr marL="0" indent="0">
              <a:buNone/>
            </a:pPr>
            <a:r>
              <a:rPr lang="en-US" sz="2800" b="1" dirty="0">
                <a:solidFill>
                  <a:srgbClr val="FFFFFF"/>
                </a:solidFill>
                <a:latin typeface="Georgia" pitchFamily="34" charset="0"/>
                <a:ea typeface="Georgia" pitchFamily="34" charset="-122"/>
                <a:cs typeface="Georgia" pitchFamily="34" charset="-120"/>
              </a:rPr>
              <a:t>Thank you! Questions?</a:t>
            </a:r>
            <a:endParaRPr lang="en-US" sz="2800" dirty="0"/>
          </a:p>
        </p:txBody>
      </p:sp>
      <p:sp>
        <p:nvSpPr>
          <p:cNvPr id="32" name="Text 29"/>
          <p:cNvSpPr/>
          <p:nvPr/>
        </p:nvSpPr>
        <p:spPr>
          <a:xfrm>
            <a:off x="731520" y="4389120"/>
            <a:ext cx="7315200" cy="320040"/>
          </a:xfrm>
          <a:prstGeom prst="rect">
            <a:avLst/>
          </a:prstGeom>
          <a:noFill/>
          <a:ln/>
        </p:spPr>
        <p:txBody>
          <a:bodyPr wrap="square" lIns="0" tIns="0" rIns="0" bIns="0" rtlCol="0" anchor="ctr"/>
          <a:lstStyle/>
          <a:p>
            <a:pPr marL="0" indent="0">
              <a:buNone/>
            </a:pPr>
            <a:r>
              <a:rPr lang="en-US" sz="1000" dirty="0">
                <a:solidFill>
                  <a:srgbClr val="949594"/>
                </a:solidFill>
                <a:latin typeface="Calibri" pitchFamily="34" charset="0"/>
                <a:ea typeface="Calibri" pitchFamily="34" charset="-122"/>
                <a:cs typeface="Calibri" pitchFamily="34" charset="-120"/>
              </a:rPr>
              <a:t>Live demo available:  Streamlit Dashboard (localhost:8501)  •  Airflow UI (localhost:8081)  •  Spark Cluster (localhost:8080)</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376</TotalTime>
  <Words>5505</Words>
  <Application>Microsoft Macintosh PowerPoint</Application>
  <PresentationFormat>On-screen Show (16:9)</PresentationFormat>
  <Paragraphs>851</Paragraphs>
  <Slides>25</Slides>
  <Notes>25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25</vt:i4>
      </vt:variant>
    </vt:vector>
  </HeadingPairs>
  <TitlesOfParts>
    <vt:vector size="29" baseType="lpstr">
      <vt:lpstr>Arial</vt:lpstr>
      <vt:lpstr>Calibri</vt:lpstr>
      <vt:lpstr>Georgia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F1 Big Data Analytics Platform</dc:title>
  <dc:subject>PptxGenJS Presentation</dc:subject>
  <dc:creator>Sandeep</dc:creator>
  <cp:lastModifiedBy>bhawna s</cp:lastModifiedBy>
  <cp:revision>2</cp:revision>
  <dcterms:created xsi:type="dcterms:W3CDTF">2026-04-18T13:38:56Z</dcterms:created>
  <dcterms:modified xsi:type="dcterms:W3CDTF">2026-04-20T02:09:09Z</dcterms:modified>
</cp:coreProperties>
</file>