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rts/chart1.xml" ContentType="application/vnd.openxmlformats-officedocument.drawingml.chart+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86096"/>
  </p:normalViewPr>
  <p:slideViewPr>
    <p:cSldViewPr snapToGrid="0" snapToObjects="1">
      <p:cViewPr varScale="1">
        <p:scale>
          <a:sx n="145" d="100"/>
          <a:sy n="145" d="100"/>
        </p:scale>
        <p:origin x="7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barChart>
        <c:barDir val="bar"/>
        <c:grouping val="clustered"/>
        <c:varyColors val="0"/>
        <c:ser>
          <c:idx val="0"/>
          <c:order val="0"/>
          <c:tx>
            <c:strRef>
              <c:f>Sheet1!$B$1</c:f>
              <c:strCache>
                <c:ptCount val="1"/>
                <c:pt idx="0">
                  <c:v>Importance</c:v>
                </c:pt>
              </c:strCache>
            </c:strRef>
          </c:tx>
          <c:spPr>
            <a:solidFill>
              <a:srgbClr val="C41E1E"/>
            </a:solidFill>
            <a:effectLst/>
          </c:spPr>
          <c:invertIfNegative val="0"/>
          <c:cat>
            <c:strRef>
              <c:f>Sheet1!$A$2:$A$11</c:f>
              <c:strCache>
                <c:ptCount val="10"/>
                <c:pt idx="0">
                  <c:v>#10 avg_track_temp</c:v>
                </c:pt>
                <c:pt idx="1">
                  <c:v>#9 constructor_reliability</c:v>
                </c:pt>
                <c:pt idx="2">
                  <c:v>#8 circuit_avg_position</c:v>
                </c:pt>
                <c:pt idx="3">
                  <c:v>#7 avg_tire_deg_slope</c:v>
                </c:pt>
                <c:pt idx="4">
                  <c:v>#6 season_cum_points</c:v>
                </c:pt>
                <c:pt idx="5">
                  <c:v>#5 driver_elo_rating</c:v>
                </c:pt>
                <c:pt idx="6">
                  <c:v>#4 grid_elo_interaction</c:v>
                </c:pt>
                <c:pt idx="7">
                  <c:v>#3 quali_gap_to_pole</c:v>
                </c:pt>
                <c:pt idx="8">
                  <c:v>#2 rolling_avg_pos_5</c:v>
                </c:pt>
                <c:pt idx="9">
                  <c:v>#1 constructor_rolling_pts</c:v>
                </c:pt>
              </c:strCache>
            </c:strRef>
          </c:cat>
          <c:val>
            <c:numRef>
              <c:f>Sheet1!$B$2:$B$11</c:f>
              <c:numCache>
                <c:formatCode>General</c:formatCode>
                <c:ptCount val="10"/>
                <c:pt idx="0">
                  <c:v>1</c:v>
                </c:pt>
                <c:pt idx="1">
                  <c:v>2</c:v>
                </c:pt>
                <c:pt idx="2">
                  <c:v>3</c:v>
                </c:pt>
                <c:pt idx="3">
                  <c:v>4</c:v>
                </c:pt>
                <c:pt idx="4">
                  <c:v>5</c:v>
                </c:pt>
                <c:pt idx="5">
                  <c:v>6</c:v>
                </c:pt>
                <c:pt idx="6">
                  <c:v>7</c:v>
                </c:pt>
                <c:pt idx="7">
                  <c:v>8</c:v>
                </c:pt>
                <c:pt idx="8">
                  <c:v>9</c:v>
                </c:pt>
                <c:pt idx="9">
                  <c:v>10</c:v>
                </c:pt>
              </c:numCache>
            </c:numRef>
          </c:val>
          <c:extLst>
            <c:ext xmlns:c16="http://schemas.microsoft.com/office/drawing/2014/chart" uri="{C3380CC4-5D6E-409C-BE32-E72D297353CC}">
              <c16:uniqueId val="{00000000-E07F-A848-BD1C-B9F7449611C7}"/>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44444"/>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093204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Today we present our F1 Big Data Analytics Platform — a complete end-to-end system that predicts Formula 1 race outcomes. We process 9 seasons of data through Apache Spark, schedule with Airflow, containerize with Docker, and compare 3 ML models. Our best model predicts the race winner correctly 77.8% of the time, and the actual winner is ALWAYS in our top 3 predictions — 100% of the time.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explain F1 for context. 10 teams each field 2 drivers across 24 races. Grid position — where you start — is determined by qualifying on Saturday with 3 elimination rounds. F1 uses 3 tire compounds trading speed for durability. The constructor — the team — determines 80% of performance, which our model confirms as the #1 feature. Points go to top 10 finishers. These concepts are the foundation of our 85 features.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tackle 3 prediction tasks. Position prediction is regression — MAE 2.096 means we're off by about 2 positions. Podium prediction is classification — 93.4% accuracy. Winner prediction is ranking — 77.8% correct. Most importantly, 100% top-3 accuracy: the actual winner is ALWAYS in our top 3 picks. No single model wins all tasks — XGBoost is best for position, Gradient Boosting for winner and podium.</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follow a 3-phase methodology. Phase 1 uses core race data — 3,524 results, qualifying, pit stops — achieving 50% winner baseline. Phase 2 adds 181K individual lap records and tire degradation models, improving position MAE from 2.74 to 2.10 — a 23% improvement. Phase 3 adds weather data — the game-changer — pushing winner accuracy from 50% to 77.8%. Key insight: adding the right data contributed far more than switching algorithms.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medallion architecture has 5 stages. Extraction pulls from 3 APIs. Bronze stores raw parquet files — 223K total records. Silver uses Apache Spark to clean, deduplicate, and join into a race_master table — 3,524 rows. Gold computes 85 ML features using Spark Window functions — rolling averages, ELO ratings, tire degradation, weather. Consumption feeds this into 3 ML models, 4 AI agents, and our Streamlit dashboard.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entire stack runs in Docker — 7 containers started with one command. Spark cluster has 1 master and 2 workers with 4 cores total. Airflow schedules the full pipeline every Monday. PostgreSQL stores metadata. The tech stack has 3 pillars: Spark for distributed processing, Airflow for scheduling, and our ML+AI layer with 3 models, 4 agents, and a Streamlit dashboard.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ETL pipeline has 5 automated tasks. Ingest pulls from APIs with retry logic for rate limits. Silver uses Spark to clean and join. Gold computes 85 features using Window functions. Retrain compares 3 models. Agents evaluate quality. The feature engineering table shows how raw data transforms: finishing positions become rolling averages, qualifying times become gap-to-pole, lap times become tire degradation slopes. Constructor rolling points — our #1 feature — is computed by Spark averaging team points over the last 10 races.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Speaker 2 takes over to cover data engineering details, tire and weather impact on predictions, and our 3-model comparison.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data comes from free, open sources. Jolpica API replaced the Ergast API which shut down in 2024. FastF1 provides telemetry — 181K individual lap records and 24K weather measurements. In total: 223K raw records get distilled through our ETL pipeline into 3,524 clean rows with 85 features each — about 300K feature values ready for ML. This data reduction is the core of the medallion architecture.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Spark uses Window Functions — computing rolling averages partitioned by driver across the cluster. Airflow schedules 5 tasks every Monday. We faced real production bugs: Spark refused to merge parquet files with different column types across seasons — we built a custom schema evolution handler. Spark workers ran out of memory on 181K laps, but Airflow's retry logic caught it and re-ran automatically. These are real-world data engineering challenges.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2 integrated 181K laps and tire degradation data. F1 has 3 dry compounds — Soft is fastest but fragile, Hard is slowest but durable. We built features like tire degradation slope — how many seconds per lap each driver loses as their tires wear. The result: MAE improved from 2.74 to 2.10, a 23% improvement. In practical terms, predictions went from ~3 positions off to ~2. The key insight: tire management is the hidden skill our model now captures.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3 added 10 weather features from 24K measurements. Rain is the great equalizer — a driver who qualifies 10th might win in the rain. We capture track temperature (hot tracks destroy tires faster), humidity (leading indicator of rain), and temperature variation (unstable conditions). The result: winner accuracy jumped from 50% to 70.4% — a 20.4% gain in one step. For context, switching from Gradient Boosting to XGBoost only added 7.4%. Better data beats better algorithms.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compare 3 tree-based ensembles. Random Forest builds 200 trees in parallel and averages — like 200 independent analysts. Gradient Boosting builds 300 trees sequentially, each targeting previous mistakes — like F1 post-race debriefs. XGBoost adds regularization on top — like having a risk manager. Each has strengths: RF is most consistent, GB wins winner prediction at 77.8%, XGBoost wins position prediction with lowest MAE. All three are tree-based because trees dominate tabular data.</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tested 7 algorithms, not just 3. Logistic regression scored 40-44% — it assumes linear relationships but F1 outcomes depend on complex interactions. Neural networks were the WORST at 29.6% — with only 3,524 rows, deep learning can't learn effective patterns. This confirms established ML research that tree ensembles dominate tabular data. Stacking added complexity but zero improvement over single Gradient Boosting.</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results table tells the full story. XGBoost wins position prediction with MAE 2.096 and R-squared 0.740. Gradient Boosting wins winner prediction at 77.8% and podium F1 at 0.780. But the most impressive result: ALL three models achieve 100% top-3 accuracy — the actual winner is always in the top 3 predictions. No single model dominates — which is exactly why we compare 3 instead of picking one upfront.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feature importance chart reveals what drives predictions. Number 1 is constructor rolling points — team strength. This confirms what F1 engineers know: the car is about 80% of performance. Grid position and qualifying pace are next. Driver ELO rating captures individual skill. Tire degradation and weather features from Phases 2 and 3 both appear in the top 10 — validating that our 3-phase methodology was the right approach.</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single most important takeaway. Weather added 20.4% accuracy. Tire data reduced error by 23%. But switching algorithms only improved by 2.4%. The lesson for any ML project: on tabular data, invest 80% of effort in getting the right features and only 20% in model selection. Better data always beats better algorithms. This is a well-established principle but it's powerful to see it confirmed with our own data.</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now takes over to show live prediction results, explain our Agentic AI system with 4 autonomous agents, and share challenges, limitations, and lessons learned.</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sample predictions. We correctly predicted Piastri in China, Verstappen in Japan, Norris in Monaco, Russell in Spain, and Antonelli in the 2026 Japanese GP. Our one miss — Australia — the actual winner Norris was our #2 pick. Overall: 21 out of 27 winners correct, and the actual winner is always in our top 3. The model also provides probability estimates — Monaco had 86% confidence for Norris, while Spain was only 26% for Russell.</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Traditional ML is static — train once, deploy, hope. Our agents make the pipeline intelligent. The key difference: scripts follow rules, agents make judgments. When the Data Agent found 51.5% null in Q3 data, it reasoned that this is expected because only 10 of 20 drivers reach Q3 — not a bug. A simple script would have flagged this as an error. We use LangGraph to orchestrate 4 agents as a directed graph with conditional routing — if model MAE exceeds 4.0, it triggers retraining automatically.</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each agent found. Data Agent correctly identified 51.5% null in Q3 as expected, not a bug. Feature Agent proposed 5 features, accepted 3 based on correlation — including constructor_dominance at 0.594 correlation, more predictive than most hand-engineered features. Model Agent diagnosed weak circuits — Zandvoort has 4.1 position error, suggesting unusual track characteristics. Insight Agent combines everything into a strategy briefing. All run automatically every Monday via Airflow.</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faced real production challenges. The Ergast API shut down mid-project — we migrated to Jolpica with retry logic. Airflow couldn't talk to Spark — we mounted the Docker socket and used docker exec. Bitnami images disappeared from Docker Hub. Spark workers ran out of memory on 181K laps but Airflow's retry caught it. The point: these aren't edge cases, they're normal data engineering. We built fault tolerance from day one.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honest about limitations. The ceiling is about 78% because F1 has inherent randomness. 3,524 rows is why neural nets failed. Key lessons: features beat algorithms every time. Fault tolerance is essential — crashes are normal. The car matters most, confirmed by our #1 feature. And agents add genuine value — the Feature Agent discovered a feature more predictive than most hand-engineered ones.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future directions: real-time streaming with Spark Structured Streaming for live race predictions, cloud deployment on AWS or Azure for true scale, and car telemetry data to break the 78% ceiling. Our final numbers: 77.8% winner, 93.4% podium, 100% top-3, MAE 2.096, 85 features, 9 seasons. We have a live demo ready — Streamlit dashboard, Airflow pipeline, and Spark cluster all running. Thank you for your time. Happy to take questions.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1.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11.png"/></Relationships>
</file>

<file path=ppt/slides/_rels/slide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15.png"/><Relationship Id="rId4" Type="http://schemas.openxmlformats.org/officeDocument/2006/relationships/image" Target="../media/image14.png"/></Relationships>
</file>

<file path=ppt/slides/_rels/slide2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C41E1E"/>
          </a:solidFill>
          <a:ln/>
        </p:spPr>
        <p:txBody>
          <a:bodyPr/>
          <a:lstStyle/>
          <a:p>
            <a:endParaRPr lang="en-US"/>
          </a:p>
        </p:txBody>
      </p:sp>
      <p:sp>
        <p:nvSpPr>
          <p:cNvPr id="3" name="Shape 1"/>
          <p:cNvSpPr/>
          <p:nvPr/>
        </p:nvSpPr>
        <p:spPr>
          <a:xfrm>
            <a:off x="0" y="4796823"/>
            <a:ext cx="9144000" cy="73152"/>
          </a:xfrm>
          <a:prstGeom prst="rect">
            <a:avLst/>
          </a:prstGeom>
          <a:solidFill>
            <a:srgbClr val="C41E1E"/>
          </a:solidFill>
          <a:ln/>
        </p:spPr>
        <p:txBody>
          <a:bodyPr/>
          <a:lstStyle/>
          <a:p>
            <a:endParaRPr lang="en-US"/>
          </a:p>
        </p:txBody>
      </p:sp>
      <p:sp>
        <p:nvSpPr>
          <p:cNvPr id="4" name="Shape 2"/>
          <p:cNvSpPr/>
          <p:nvPr/>
        </p:nvSpPr>
        <p:spPr>
          <a:xfrm>
            <a:off x="8778240" y="0"/>
            <a:ext cx="137160" cy="5143500"/>
          </a:xfrm>
          <a:prstGeom prst="rect">
            <a:avLst/>
          </a:prstGeom>
          <a:solidFill>
            <a:srgbClr val="C41E1E"/>
          </a:solidFill>
          <a:ln/>
        </p:spPr>
        <p:txBody>
          <a:bodyPr/>
          <a:lstStyle/>
          <a:p>
            <a:endParaRPr lang="en-US"/>
          </a:p>
        </p:txBody>
      </p:sp>
      <p:sp>
        <p:nvSpPr>
          <p:cNvPr id="5" name="Shape 3"/>
          <p:cNvSpPr/>
          <p:nvPr/>
        </p:nvSpPr>
        <p:spPr>
          <a:xfrm>
            <a:off x="8961120" y="0"/>
            <a:ext cx="73152" cy="5143500"/>
          </a:xfrm>
          <a:prstGeom prst="rect">
            <a:avLst/>
          </a:prstGeom>
          <a:solidFill>
            <a:srgbClr val="C41E1E">
              <a:alpha val="40000"/>
            </a:srgbClr>
          </a:solidFill>
          <a:ln/>
        </p:spPr>
        <p:txBody>
          <a:bodyPr/>
          <a:lstStyle/>
          <a:p>
            <a:endParaRPr lang="en-US"/>
          </a:p>
        </p:txBody>
      </p:sp>
      <p:pic>
        <p:nvPicPr>
          <p:cNvPr id="6" name="Image 0" descr="preencoded.png"/>
          <p:cNvPicPr>
            <a:picLocks noChangeAspect="1"/>
          </p:cNvPicPr>
          <p:nvPr/>
        </p:nvPicPr>
        <p:blipFill>
          <a:blip r:embed="rId3"/>
          <a:stretch>
            <a:fillRect/>
          </a:stretch>
        </p:blipFill>
        <p:spPr>
          <a:xfrm>
            <a:off x="7772400" y="457200"/>
            <a:ext cx="731520" cy="731520"/>
          </a:xfrm>
          <a:prstGeom prst="rect">
            <a:avLst/>
          </a:prstGeom>
        </p:spPr>
      </p:pic>
      <p:sp>
        <p:nvSpPr>
          <p:cNvPr id="7" name="Text 4"/>
          <p:cNvSpPr/>
          <p:nvPr/>
        </p:nvSpPr>
        <p:spPr>
          <a:xfrm>
            <a:off x="731520" y="731520"/>
            <a:ext cx="7315200" cy="1463040"/>
          </a:xfrm>
          <a:prstGeom prst="rect">
            <a:avLst/>
          </a:prstGeom>
          <a:noFill/>
          <a:ln/>
        </p:spPr>
        <p:txBody>
          <a:bodyPr wrap="square" lIns="0" tIns="0" rIns="0" bIns="0" rtlCol="0" anchor="ctr"/>
          <a:lstStyle/>
          <a:p>
            <a:pPr marL="0" indent="0">
              <a:lnSpc>
                <a:spcPct val="110000"/>
              </a:lnSpc>
              <a:buNone/>
            </a:pPr>
            <a:r>
              <a:rPr lang="en-US" sz="4000" b="1" dirty="0">
                <a:solidFill>
                  <a:srgbClr val="FFFFFF"/>
                </a:solidFill>
                <a:latin typeface="Georgia" pitchFamily="34" charset="0"/>
                <a:ea typeface="Georgia" pitchFamily="34" charset="-122"/>
                <a:cs typeface="Georgia" pitchFamily="34" charset="-120"/>
              </a:rPr>
              <a:t>F1 Big Data</a:t>
            </a:r>
            <a:endParaRPr lang="en-US" sz="4000" dirty="0"/>
          </a:p>
          <a:p>
            <a:pPr marL="0" indent="0">
              <a:lnSpc>
                <a:spcPct val="110000"/>
              </a:lnSpc>
              <a:buNone/>
            </a:pPr>
            <a:r>
              <a:rPr lang="en-US" sz="4000" b="1" dirty="0">
                <a:solidFill>
                  <a:srgbClr val="FFFFFF"/>
                </a:solidFill>
                <a:latin typeface="Georgia" pitchFamily="34" charset="0"/>
                <a:ea typeface="Georgia" pitchFamily="34" charset="-122"/>
                <a:cs typeface="Georgia" pitchFamily="34" charset="-120"/>
              </a:rPr>
              <a:t>Analytics Platform</a:t>
            </a:r>
            <a:endParaRPr lang="en-US" sz="4000" dirty="0"/>
          </a:p>
        </p:txBody>
      </p:sp>
      <p:sp>
        <p:nvSpPr>
          <p:cNvPr id="8" name="Text 5"/>
          <p:cNvSpPr/>
          <p:nvPr/>
        </p:nvSpPr>
        <p:spPr>
          <a:xfrm>
            <a:off x="731520" y="2286000"/>
            <a:ext cx="6400800" cy="457200"/>
          </a:xfrm>
          <a:prstGeom prst="rect">
            <a:avLst/>
          </a:prstGeom>
          <a:noFill/>
          <a:ln/>
        </p:spPr>
        <p:txBody>
          <a:bodyPr wrap="square" lIns="0" tIns="0" rIns="0" bIns="0" rtlCol="0" anchor="ctr"/>
          <a:lstStyle/>
          <a:p>
            <a:pPr marL="0" indent="0">
              <a:buNone/>
            </a:pPr>
            <a:r>
              <a:rPr lang="en-US" sz="1400" dirty="0">
                <a:solidFill>
                  <a:srgbClr val="949594"/>
                </a:solidFill>
                <a:latin typeface="Calibri" pitchFamily="34" charset="0"/>
                <a:ea typeface="Calibri" pitchFamily="34" charset="-122"/>
                <a:cs typeface="Calibri" pitchFamily="34" charset="-120"/>
              </a:rPr>
              <a:t>Race Outcome Prediction Using Apache Spark, Docker, Airflow &amp; Machine Learning</a:t>
            </a:r>
            <a:endParaRPr lang="en-US" sz="1400" dirty="0"/>
          </a:p>
        </p:txBody>
      </p:sp>
      <p:sp>
        <p:nvSpPr>
          <p:cNvPr id="9" name="Shape 6"/>
          <p:cNvSpPr/>
          <p:nvPr/>
        </p:nvSpPr>
        <p:spPr>
          <a:xfrm>
            <a:off x="731520" y="2926080"/>
            <a:ext cx="2286000" cy="36576"/>
          </a:xfrm>
          <a:prstGeom prst="rect">
            <a:avLst/>
          </a:prstGeom>
          <a:solidFill>
            <a:srgbClr val="C41E1E"/>
          </a:solidFill>
          <a:ln/>
        </p:spPr>
        <p:txBody>
          <a:bodyPr/>
          <a:lstStyle/>
          <a:p>
            <a:endParaRPr lang="en-US"/>
          </a:p>
        </p:txBody>
      </p:sp>
      <p:sp>
        <p:nvSpPr>
          <p:cNvPr id="10" name="Text 7"/>
          <p:cNvSpPr/>
          <p:nvPr/>
        </p:nvSpPr>
        <p:spPr>
          <a:xfrm>
            <a:off x="731520" y="3200400"/>
            <a:ext cx="1280160" cy="365760"/>
          </a:xfrm>
          <a:prstGeom prst="rect">
            <a:avLst/>
          </a:prstGeom>
          <a:noFill/>
          <a:ln/>
        </p:spPr>
        <p:txBody>
          <a:bodyPr wrap="square" lIns="0" tIns="0" rIns="0" bIns="0" rtlCol="0" anchor="ctr"/>
          <a:lstStyle/>
          <a:p>
            <a:pPr marL="0" indent="0">
              <a:buNone/>
            </a:pPr>
            <a:r>
              <a:rPr lang="en-US" sz="1800" b="1" dirty="0">
                <a:solidFill>
                  <a:srgbClr val="C41E1E"/>
                </a:solidFill>
                <a:latin typeface="Georgia" pitchFamily="34" charset="0"/>
                <a:ea typeface="Georgia" pitchFamily="34" charset="-122"/>
                <a:cs typeface="Georgia" pitchFamily="34" charset="-120"/>
              </a:rPr>
              <a:t>9</a:t>
            </a:r>
            <a:endParaRPr lang="en-US" sz="1800" dirty="0"/>
          </a:p>
        </p:txBody>
      </p:sp>
      <p:sp>
        <p:nvSpPr>
          <p:cNvPr id="11" name="Text 8"/>
          <p:cNvSpPr/>
          <p:nvPr/>
        </p:nvSpPr>
        <p:spPr>
          <a:xfrm>
            <a:off x="731520" y="3566160"/>
            <a:ext cx="1280160" cy="228600"/>
          </a:xfrm>
          <a:prstGeom prst="rect">
            <a:avLst/>
          </a:prstGeom>
          <a:noFill/>
          <a:ln/>
        </p:spPr>
        <p:txBody>
          <a:bodyPr wrap="square" lIns="0" tIns="0" rIns="0" bIns="0" rtlCol="0" anchor="ctr"/>
          <a:lstStyle/>
          <a:p>
            <a:pPr marL="0" indent="0">
              <a:buNone/>
            </a:pPr>
            <a:r>
              <a:rPr lang="en-US" sz="900" dirty="0">
                <a:solidFill>
                  <a:srgbClr val="949594"/>
                </a:solidFill>
                <a:latin typeface="Calibri" pitchFamily="34" charset="0"/>
                <a:ea typeface="Calibri" pitchFamily="34" charset="-122"/>
                <a:cs typeface="Calibri" pitchFamily="34" charset="-120"/>
              </a:rPr>
              <a:t>Seasons</a:t>
            </a:r>
            <a:endParaRPr lang="en-US" sz="900" dirty="0"/>
          </a:p>
        </p:txBody>
      </p:sp>
      <p:sp>
        <p:nvSpPr>
          <p:cNvPr id="12" name="Text 9"/>
          <p:cNvSpPr/>
          <p:nvPr/>
        </p:nvSpPr>
        <p:spPr>
          <a:xfrm>
            <a:off x="2194560" y="3200400"/>
            <a:ext cx="1280160" cy="365760"/>
          </a:xfrm>
          <a:prstGeom prst="rect">
            <a:avLst/>
          </a:prstGeom>
          <a:noFill/>
          <a:ln/>
        </p:spPr>
        <p:txBody>
          <a:bodyPr wrap="square" lIns="0" tIns="0" rIns="0" bIns="0" rtlCol="0" anchor="ctr"/>
          <a:lstStyle/>
          <a:p>
            <a:pPr marL="0" indent="0">
              <a:buNone/>
            </a:pPr>
            <a:r>
              <a:rPr lang="en-US" sz="1800" b="1" dirty="0">
                <a:solidFill>
                  <a:srgbClr val="C41E1E"/>
                </a:solidFill>
                <a:latin typeface="Georgia" pitchFamily="34" charset="0"/>
                <a:ea typeface="Georgia" pitchFamily="34" charset="-122"/>
                <a:cs typeface="Georgia" pitchFamily="34" charset="-120"/>
              </a:rPr>
              <a:t>3,524</a:t>
            </a:r>
            <a:endParaRPr lang="en-US" sz="1800" dirty="0"/>
          </a:p>
        </p:txBody>
      </p:sp>
      <p:sp>
        <p:nvSpPr>
          <p:cNvPr id="13" name="Text 10"/>
          <p:cNvSpPr/>
          <p:nvPr/>
        </p:nvSpPr>
        <p:spPr>
          <a:xfrm>
            <a:off x="2194560" y="3566160"/>
            <a:ext cx="1280160" cy="228600"/>
          </a:xfrm>
          <a:prstGeom prst="rect">
            <a:avLst/>
          </a:prstGeom>
          <a:noFill/>
          <a:ln/>
        </p:spPr>
        <p:txBody>
          <a:bodyPr wrap="square" lIns="0" tIns="0" rIns="0" bIns="0" rtlCol="0" anchor="ctr"/>
          <a:lstStyle/>
          <a:p>
            <a:pPr marL="0" indent="0">
              <a:buNone/>
            </a:pPr>
            <a:r>
              <a:rPr lang="en-US" sz="900" dirty="0">
                <a:solidFill>
                  <a:srgbClr val="949594"/>
                </a:solidFill>
                <a:latin typeface="Calibri" pitchFamily="34" charset="0"/>
                <a:ea typeface="Calibri" pitchFamily="34" charset="-122"/>
                <a:cs typeface="Calibri" pitchFamily="34" charset="-120"/>
              </a:rPr>
              <a:t>Races</a:t>
            </a:r>
            <a:endParaRPr lang="en-US" sz="900" dirty="0"/>
          </a:p>
        </p:txBody>
      </p:sp>
      <p:sp>
        <p:nvSpPr>
          <p:cNvPr id="14" name="Text 11"/>
          <p:cNvSpPr/>
          <p:nvPr/>
        </p:nvSpPr>
        <p:spPr>
          <a:xfrm>
            <a:off x="3657600" y="3200400"/>
            <a:ext cx="1280160" cy="365760"/>
          </a:xfrm>
          <a:prstGeom prst="rect">
            <a:avLst/>
          </a:prstGeom>
          <a:noFill/>
          <a:ln/>
        </p:spPr>
        <p:txBody>
          <a:bodyPr wrap="square" lIns="0" tIns="0" rIns="0" bIns="0" rtlCol="0" anchor="ctr"/>
          <a:lstStyle/>
          <a:p>
            <a:pPr marL="0" indent="0">
              <a:buNone/>
            </a:pPr>
            <a:r>
              <a:rPr lang="en-US" sz="1800" b="1" dirty="0">
                <a:solidFill>
                  <a:srgbClr val="C41E1E"/>
                </a:solidFill>
                <a:latin typeface="Georgia" pitchFamily="34" charset="0"/>
                <a:ea typeface="Georgia" pitchFamily="34" charset="-122"/>
                <a:cs typeface="Georgia" pitchFamily="34" charset="-120"/>
              </a:rPr>
              <a:t>85</a:t>
            </a:r>
            <a:endParaRPr lang="en-US" sz="1800" dirty="0"/>
          </a:p>
        </p:txBody>
      </p:sp>
      <p:sp>
        <p:nvSpPr>
          <p:cNvPr id="15" name="Text 12"/>
          <p:cNvSpPr/>
          <p:nvPr/>
        </p:nvSpPr>
        <p:spPr>
          <a:xfrm>
            <a:off x="3657600" y="3566160"/>
            <a:ext cx="1280160" cy="228600"/>
          </a:xfrm>
          <a:prstGeom prst="rect">
            <a:avLst/>
          </a:prstGeom>
          <a:noFill/>
          <a:ln/>
        </p:spPr>
        <p:txBody>
          <a:bodyPr wrap="square" lIns="0" tIns="0" rIns="0" bIns="0" rtlCol="0" anchor="ctr"/>
          <a:lstStyle/>
          <a:p>
            <a:pPr marL="0" indent="0">
              <a:buNone/>
            </a:pPr>
            <a:r>
              <a:rPr lang="en-US" sz="900" dirty="0">
                <a:solidFill>
                  <a:srgbClr val="949594"/>
                </a:solidFill>
                <a:latin typeface="Calibri" pitchFamily="34" charset="0"/>
                <a:ea typeface="Calibri" pitchFamily="34" charset="-122"/>
                <a:cs typeface="Calibri" pitchFamily="34" charset="-120"/>
              </a:rPr>
              <a:t>Features</a:t>
            </a:r>
            <a:endParaRPr lang="en-US" sz="900" dirty="0"/>
          </a:p>
        </p:txBody>
      </p:sp>
      <p:sp>
        <p:nvSpPr>
          <p:cNvPr id="16" name="Text 13"/>
          <p:cNvSpPr/>
          <p:nvPr/>
        </p:nvSpPr>
        <p:spPr>
          <a:xfrm>
            <a:off x="5120640" y="3200400"/>
            <a:ext cx="1280160" cy="365760"/>
          </a:xfrm>
          <a:prstGeom prst="rect">
            <a:avLst/>
          </a:prstGeom>
          <a:noFill/>
          <a:ln/>
        </p:spPr>
        <p:txBody>
          <a:bodyPr wrap="square" lIns="0" tIns="0" rIns="0" bIns="0" rtlCol="0" anchor="ctr"/>
          <a:lstStyle/>
          <a:p>
            <a:pPr marL="0" indent="0">
              <a:buNone/>
            </a:pPr>
            <a:r>
              <a:rPr lang="en-US" sz="1800" b="1" dirty="0">
                <a:solidFill>
                  <a:srgbClr val="C41E1E"/>
                </a:solidFill>
                <a:latin typeface="Georgia" pitchFamily="34" charset="0"/>
                <a:ea typeface="Georgia" pitchFamily="34" charset="-122"/>
                <a:cs typeface="Georgia" pitchFamily="34" charset="-120"/>
              </a:rPr>
              <a:t>77.8%</a:t>
            </a:r>
            <a:endParaRPr lang="en-US" sz="1800" dirty="0"/>
          </a:p>
        </p:txBody>
      </p:sp>
      <p:sp>
        <p:nvSpPr>
          <p:cNvPr id="17" name="Text 14"/>
          <p:cNvSpPr/>
          <p:nvPr/>
        </p:nvSpPr>
        <p:spPr>
          <a:xfrm>
            <a:off x="5120640" y="3566160"/>
            <a:ext cx="1280160" cy="228600"/>
          </a:xfrm>
          <a:prstGeom prst="rect">
            <a:avLst/>
          </a:prstGeom>
          <a:noFill/>
          <a:ln/>
        </p:spPr>
        <p:txBody>
          <a:bodyPr wrap="square" lIns="0" tIns="0" rIns="0" bIns="0" rtlCol="0" anchor="ctr"/>
          <a:lstStyle/>
          <a:p>
            <a:pPr marL="0" indent="0">
              <a:buNone/>
            </a:pPr>
            <a:r>
              <a:rPr lang="en-US" sz="900" dirty="0">
                <a:solidFill>
                  <a:srgbClr val="949594"/>
                </a:solidFill>
                <a:latin typeface="Calibri" pitchFamily="34" charset="0"/>
                <a:ea typeface="Calibri" pitchFamily="34" charset="-122"/>
                <a:cs typeface="Calibri" pitchFamily="34" charset="-120"/>
              </a:rPr>
              <a:t>Winner Acc</a:t>
            </a:r>
            <a:endParaRPr lang="en-US" sz="900" dirty="0"/>
          </a:p>
        </p:txBody>
      </p:sp>
      <p:sp>
        <p:nvSpPr>
          <p:cNvPr id="18" name="Text 15"/>
          <p:cNvSpPr/>
          <p:nvPr/>
        </p:nvSpPr>
        <p:spPr>
          <a:xfrm>
            <a:off x="6583680" y="3200400"/>
            <a:ext cx="1280160" cy="365760"/>
          </a:xfrm>
          <a:prstGeom prst="rect">
            <a:avLst/>
          </a:prstGeom>
          <a:noFill/>
          <a:ln/>
        </p:spPr>
        <p:txBody>
          <a:bodyPr wrap="square" lIns="0" tIns="0" rIns="0" bIns="0" rtlCol="0" anchor="ctr"/>
          <a:lstStyle/>
          <a:p>
            <a:pPr marL="0" indent="0">
              <a:buNone/>
            </a:pPr>
            <a:r>
              <a:rPr lang="en-US" sz="1800" b="1" dirty="0">
                <a:solidFill>
                  <a:srgbClr val="C41E1E"/>
                </a:solidFill>
                <a:latin typeface="Georgia" pitchFamily="34" charset="0"/>
                <a:ea typeface="Georgia" pitchFamily="34" charset="-122"/>
                <a:cs typeface="Georgia" pitchFamily="34" charset="-120"/>
              </a:rPr>
              <a:t>100%</a:t>
            </a:r>
            <a:endParaRPr lang="en-US" sz="1800" dirty="0"/>
          </a:p>
        </p:txBody>
      </p:sp>
      <p:sp>
        <p:nvSpPr>
          <p:cNvPr id="19" name="Text 16"/>
          <p:cNvSpPr/>
          <p:nvPr/>
        </p:nvSpPr>
        <p:spPr>
          <a:xfrm>
            <a:off x="6583680" y="3566160"/>
            <a:ext cx="1280160" cy="228600"/>
          </a:xfrm>
          <a:prstGeom prst="rect">
            <a:avLst/>
          </a:prstGeom>
          <a:noFill/>
          <a:ln/>
        </p:spPr>
        <p:txBody>
          <a:bodyPr wrap="square" lIns="0" tIns="0" rIns="0" bIns="0" rtlCol="0" anchor="ctr"/>
          <a:lstStyle/>
          <a:p>
            <a:pPr marL="0" indent="0">
              <a:buNone/>
            </a:pPr>
            <a:r>
              <a:rPr lang="en-US" sz="900" dirty="0">
                <a:solidFill>
                  <a:srgbClr val="949594"/>
                </a:solidFill>
                <a:latin typeface="Calibri" pitchFamily="34" charset="0"/>
                <a:ea typeface="Calibri" pitchFamily="34" charset="-122"/>
                <a:cs typeface="Calibri" pitchFamily="34" charset="-120"/>
              </a:rPr>
              <a:t>Top-3 Acc</a:t>
            </a:r>
            <a:endParaRPr lang="en-US" sz="900" dirty="0"/>
          </a:p>
        </p:txBody>
      </p:sp>
      <p:sp>
        <p:nvSpPr>
          <p:cNvPr id="20" name="Text 17"/>
          <p:cNvSpPr/>
          <p:nvPr/>
        </p:nvSpPr>
        <p:spPr>
          <a:xfrm>
            <a:off x="731520" y="4389120"/>
            <a:ext cx="4572000" cy="274320"/>
          </a:xfrm>
          <a:prstGeom prst="rect">
            <a:avLst/>
          </a:prstGeom>
          <a:noFill/>
          <a:ln/>
        </p:spPr>
        <p:txBody>
          <a:bodyPr wrap="square" lIns="0" tIns="0" rIns="0" bIns="0" rtlCol="0" anchor="ctr"/>
          <a:lstStyle/>
          <a:p>
            <a:pPr marL="0" indent="0">
              <a:buNone/>
            </a:pPr>
            <a:r>
              <a:rPr lang="en-US" sz="1100" dirty="0">
                <a:solidFill>
                  <a:srgbClr val="949594"/>
                </a:solidFill>
                <a:latin typeface="Calibri" pitchFamily="34" charset="0"/>
                <a:ea typeface="Calibri" pitchFamily="34" charset="-122"/>
                <a:cs typeface="Calibri" pitchFamily="34" charset="-120"/>
              </a:rPr>
              <a:t>•  Bhawna </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5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C41E1E"/>
          </a:solidFill>
          <a:ln/>
        </p:spPr>
        <p:txBody>
          <a:bodyPr/>
          <a:lstStyle/>
          <a:p>
            <a:endParaRPr lang="en-US"/>
          </a:p>
        </p:txBody>
      </p:sp>
      <p:sp>
        <p:nvSpPr>
          <p:cNvPr id="3" name="Shape 1"/>
          <p:cNvSpPr/>
          <p:nvPr/>
        </p:nvSpPr>
        <p:spPr>
          <a:xfrm>
            <a:off x="8778240" y="0"/>
            <a:ext cx="137160" cy="5143500"/>
          </a:xfrm>
          <a:prstGeom prst="rect">
            <a:avLst/>
          </a:prstGeom>
          <a:solidFill>
            <a:srgbClr val="C41E1E"/>
          </a:solidFill>
          <a:ln/>
        </p:spPr>
        <p:txBody>
          <a:bodyPr/>
          <a:lstStyle/>
          <a:p>
            <a:endParaRPr lang="en-US"/>
          </a:p>
        </p:txBody>
      </p:sp>
      <p:sp>
        <p:nvSpPr>
          <p:cNvPr id="4" name="Shape 2"/>
          <p:cNvSpPr/>
          <p:nvPr/>
        </p:nvSpPr>
        <p:spPr>
          <a:xfrm>
            <a:off x="8961120" y="0"/>
            <a:ext cx="73152" cy="5143500"/>
          </a:xfrm>
          <a:prstGeom prst="rect">
            <a:avLst/>
          </a:prstGeom>
          <a:solidFill>
            <a:srgbClr val="C41E1E">
              <a:alpha val="40000"/>
            </a:srgbClr>
          </a:solidFill>
          <a:ln/>
        </p:spPr>
        <p:txBody>
          <a:bodyPr/>
          <a:lstStyle/>
          <a:p>
            <a:endParaRPr lang="en-US"/>
          </a:p>
        </p:txBody>
      </p:sp>
      <p:sp>
        <p:nvSpPr>
          <p:cNvPr id="5" name="Text 3"/>
          <p:cNvSpPr/>
          <p:nvPr/>
        </p:nvSpPr>
        <p:spPr>
          <a:xfrm>
            <a:off x="731520" y="182880"/>
            <a:ext cx="7315200" cy="548640"/>
          </a:xfrm>
          <a:prstGeom prst="rect">
            <a:avLst/>
          </a:prstGeom>
          <a:noFill/>
          <a:ln/>
        </p:spPr>
        <p:txBody>
          <a:bodyPr wrap="square" lIns="0" tIns="0" rIns="0" bIns="0" rtlCol="0" anchor="ctr"/>
          <a:lstStyle/>
          <a:p>
            <a:pPr marL="0" indent="0">
              <a:buNone/>
            </a:pPr>
            <a:r>
              <a:rPr lang="en-US" sz="2800" b="1" dirty="0">
                <a:solidFill>
                  <a:srgbClr val="1A1A2E"/>
                </a:solidFill>
                <a:latin typeface="Georgia" pitchFamily="34" charset="0"/>
                <a:ea typeface="Georgia" pitchFamily="34" charset="-122"/>
                <a:cs typeface="Georgia" pitchFamily="34" charset="-120"/>
              </a:rPr>
              <a:t>Agenda</a:t>
            </a:r>
            <a:endParaRPr lang="en-US" sz="2800" dirty="0"/>
          </a:p>
        </p:txBody>
      </p:sp>
      <p:sp>
        <p:nvSpPr>
          <p:cNvPr id="6" name="Text 4"/>
          <p:cNvSpPr/>
          <p:nvPr/>
        </p:nvSpPr>
        <p:spPr>
          <a:xfrm>
            <a:off x="731520" y="685800"/>
            <a:ext cx="7315200" cy="228600"/>
          </a:xfrm>
          <a:prstGeom prst="rect">
            <a:avLst/>
          </a:prstGeom>
          <a:noFill/>
          <a:ln/>
        </p:spPr>
        <p:txBody>
          <a:bodyPr wrap="square" lIns="0" tIns="0" rIns="0" bIns="0" rtlCol="0" anchor="ctr"/>
          <a:lstStyle/>
          <a:p>
            <a:pPr marL="0" indent="0">
              <a:buNone/>
            </a:pPr>
            <a:endParaRPr lang="en-US" sz="1100" dirty="0"/>
          </a:p>
        </p:txBody>
      </p:sp>
      <p:sp>
        <p:nvSpPr>
          <p:cNvPr id="7" name="Shape 5"/>
          <p:cNvSpPr/>
          <p:nvPr/>
        </p:nvSpPr>
        <p:spPr>
          <a:xfrm>
            <a:off x="365760" y="1051560"/>
            <a:ext cx="2651760" cy="22860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US" dirty="0"/>
          </a:p>
        </p:txBody>
      </p:sp>
      <p:sp>
        <p:nvSpPr>
          <p:cNvPr id="8" name="Shape 6"/>
          <p:cNvSpPr/>
          <p:nvPr/>
        </p:nvSpPr>
        <p:spPr>
          <a:xfrm>
            <a:off x="365760" y="1051560"/>
            <a:ext cx="54864" cy="2286000"/>
          </a:xfrm>
          <a:prstGeom prst="rect">
            <a:avLst/>
          </a:prstGeom>
          <a:solidFill>
            <a:srgbClr val="2563EB"/>
          </a:solidFill>
          <a:ln/>
        </p:spPr>
        <p:txBody>
          <a:bodyPr/>
          <a:lstStyle/>
          <a:p>
            <a:endParaRPr lang="en-US"/>
          </a:p>
        </p:txBody>
      </p:sp>
      <p:pic>
        <p:nvPicPr>
          <p:cNvPr id="9" name="Image 0" descr="preencoded.png"/>
          <p:cNvPicPr>
            <a:picLocks noChangeAspect="1"/>
          </p:cNvPicPr>
          <p:nvPr/>
        </p:nvPicPr>
        <p:blipFill>
          <a:blip r:embed="rId3"/>
          <a:stretch>
            <a:fillRect/>
          </a:stretch>
        </p:blipFill>
        <p:spPr>
          <a:xfrm>
            <a:off x="502920" y="1161288"/>
            <a:ext cx="256032" cy="256032"/>
          </a:xfrm>
          <a:prstGeom prst="rect">
            <a:avLst/>
          </a:prstGeom>
        </p:spPr>
      </p:pic>
      <p:sp>
        <p:nvSpPr>
          <p:cNvPr id="10" name="Text 7"/>
          <p:cNvSpPr/>
          <p:nvPr/>
        </p:nvSpPr>
        <p:spPr>
          <a:xfrm>
            <a:off x="815009" y="1132663"/>
            <a:ext cx="2057400" cy="292608"/>
          </a:xfrm>
          <a:prstGeom prst="rect">
            <a:avLst/>
          </a:prstGeom>
          <a:noFill/>
          <a:ln/>
        </p:spPr>
        <p:txBody>
          <a:bodyPr wrap="square" lIns="0" tIns="0" rIns="0" bIns="0" rtlCol="0" anchor="ctr"/>
          <a:lstStyle/>
          <a:p>
            <a:r>
              <a:rPr lang="en-US" sz="1200" b="1" dirty="0">
                <a:solidFill>
                  <a:srgbClr val="2563EB"/>
                </a:solidFill>
                <a:latin typeface="Georgia" pitchFamily="34" charset="0"/>
                <a:ea typeface="Georgia" pitchFamily="34" charset="-122"/>
                <a:cs typeface="Georgia" pitchFamily="34" charset="-120"/>
              </a:rPr>
              <a:t>Problem &amp; Architecture</a:t>
            </a:r>
            <a:endParaRPr lang="en-US" sz="1200" dirty="0"/>
          </a:p>
          <a:p>
            <a:pPr marL="0" indent="0">
              <a:buNone/>
            </a:pPr>
            <a:endParaRPr lang="en-US" sz="1200" dirty="0"/>
          </a:p>
        </p:txBody>
      </p:sp>
      <p:sp>
        <p:nvSpPr>
          <p:cNvPr id="11" name="Text 8"/>
          <p:cNvSpPr/>
          <p:nvPr/>
        </p:nvSpPr>
        <p:spPr>
          <a:xfrm>
            <a:off x="502920" y="1463040"/>
            <a:ext cx="2377440" cy="1783080"/>
          </a:xfrm>
          <a:prstGeom prst="rect">
            <a:avLst/>
          </a:prstGeom>
          <a:noFill/>
          <a:ln/>
        </p:spPr>
        <p:txBody>
          <a:bodyPr wrap="square" rtlCol="0" anchor="t"/>
          <a:lstStyle/>
          <a:p>
            <a:pPr marL="0" indent="0">
              <a:lnSpc>
                <a:spcPct val="125000"/>
              </a:lnSpc>
              <a:buNone/>
            </a:pP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 What is Formula 1?</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 Project Goal — 3 prediction tasks</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 3-Phase methodology</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 Medallion lakehouse architecture</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 Docker infrastructure (7 containers)</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 Complete technology stack</a:t>
            </a:r>
            <a:endParaRPr lang="en-US" sz="950" dirty="0"/>
          </a:p>
        </p:txBody>
      </p:sp>
      <p:sp>
        <p:nvSpPr>
          <p:cNvPr id="12" name="Shape 9"/>
          <p:cNvSpPr/>
          <p:nvPr/>
        </p:nvSpPr>
        <p:spPr>
          <a:xfrm>
            <a:off x="3200400" y="1051560"/>
            <a:ext cx="2651760" cy="22860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US"/>
          </a:p>
        </p:txBody>
      </p:sp>
      <p:sp>
        <p:nvSpPr>
          <p:cNvPr id="13" name="Shape 10"/>
          <p:cNvSpPr/>
          <p:nvPr/>
        </p:nvSpPr>
        <p:spPr>
          <a:xfrm>
            <a:off x="3200400" y="1051560"/>
            <a:ext cx="54864" cy="2286000"/>
          </a:xfrm>
          <a:prstGeom prst="rect">
            <a:avLst/>
          </a:prstGeom>
          <a:solidFill>
            <a:srgbClr val="059669"/>
          </a:solidFill>
          <a:ln/>
        </p:spPr>
        <p:txBody>
          <a:bodyPr/>
          <a:lstStyle/>
          <a:p>
            <a:endParaRPr lang="en-US"/>
          </a:p>
        </p:txBody>
      </p:sp>
      <p:pic>
        <p:nvPicPr>
          <p:cNvPr id="14" name="Image 1" descr="preencoded.png"/>
          <p:cNvPicPr>
            <a:picLocks noChangeAspect="1"/>
          </p:cNvPicPr>
          <p:nvPr/>
        </p:nvPicPr>
        <p:blipFill>
          <a:blip r:embed="rId4"/>
          <a:stretch>
            <a:fillRect/>
          </a:stretch>
        </p:blipFill>
        <p:spPr>
          <a:xfrm>
            <a:off x="3337560" y="1161288"/>
            <a:ext cx="256032" cy="256032"/>
          </a:xfrm>
          <a:prstGeom prst="rect">
            <a:avLst/>
          </a:prstGeom>
        </p:spPr>
      </p:pic>
      <p:sp>
        <p:nvSpPr>
          <p:cNvPr id="15" name="Text 11"/>
          <p:cNvSpPr/>
          <p:nvPr/>
        </p:nvSpPr>
        <p:spPr>
          <a:xfrm>
            <a:off x="3657600" y="1124712"/>
            <a:ext cx="2057400" cy="292608"/>
          </a:xfrm>
          <a:prstGeom prst="rect">
            <a:avLst/>
          </a:prstGeom>
          <a:noFill/>
          <a:ln/>
        </p:spPr>
        <p:txBody>
          <a:bodyPr wrap="square" lIns="0" tIns="0" rIns="0" bIns="0" rtlCol="0" anchor="ctr"/>
          <a:lstStyle/>
          <a:p>
            <a:pPr marL="0" indent="0">
              <a:buNone/>
            </a:pPr>
            <a:r>
              <a:rPr lang="en-US" sz="1200" b="1" dirty="0">
                <a:solidFill>
                  <a:srgbClr val="059669"/>
                </a:solidFill>
                <a:latin typeface="Georgia" pitchFamily="34" charset="0"/>
              </a:rPr>
              <a:t>Data Engineering &amp; ML</a:t>
            </a:r>
            <a:endParaRPr lang="en-US" sz="1200" dirty="0"/>
          </a:p>
        </p:txBody>
      </p:sp>
      <p:sp>
        <p:nvSpPr>
          <p:cNvPr id="16" name="Text 12"/>
          <p:cNvSpPr/>
          <p:nvPr/>
        </p:nvSpPr>
        <p:spPr>
          <a:xfrm>
            <a:off x="3337560" y="1463040"/>
            <a:ext cx="2377440" cy="1783080"/>
          </a:xfrm>
          <a:prstGeom prst="rect">
            <a:avLst/>
          </a:prstGeom>
          <a:noFill/>
          <a:ln/>
        </p:spPr>
        <p:txBody>
          <a:bodyPr wrap="square" rtlCol="0" anchor="t"/>
          <a:lstStyle/>
          <a:p>
            <a:pPr marL="0" indent="0">
              <a:lnSpc>
                <a:spcPct val="125000"/>
              </a:lnSpc>
              <a:buNone/>
            </a:pPr>
            <a:endParaRPr lang="en-US" sz="950" dirty="0"/>
          </a:p>
          <a:p>
            <a:pPr marL="0" indent="0">
              <a:lnSpc>
                <a:spcPct val="125000"/>
              </a:lnSpc>
              <a:buNone/>
            </a:pP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 Data sources &amp; volumes</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 Apache Spark Window functions</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 Airflow Monday pipeline</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 Tire &amp; weather impact</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 3 ML models explained</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 Feature importance &amp; results</a:t>
            </a:r>
            <a:endParaRPr lang="en-US" sz="950" dirty="0"/>
          </a:p>
        </p:txBody>
      </p:sp>
      <p:sp>
        <p:nvSpPr>
          <p:cNvPr id="17" name="Shape 13"/>
          <p:cNvSpPr/>
          <p:nvPr/>
        </p:nvSpPr>
        <p:spPr>
          <a:xfrm>
            <a:off x="6035040" y="1051560"/>
            <a:ext cx="2651760" cy="22860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US"/>
          </a:p>
        </p:txBody>
      </p:sp>
      <p:sp>
        <p:nvSpPr>
          <p:cNvPr id="18" name="Shape 14"/>
          <p:cNvSpPr/>
          <p:nvPr/>
        </p:nvSpPr>
        <p:spPr>
          <a:xfrm>
            <a:off x="6035040" y="1051560"/>
            <a:ext cx="54864" cy="2286000"/>
          </a:xfrm>
          <a:prstGeom prst="rect">
            <a:avLst/>
          </a:prstGeom>
          <a:solidFill>
            <a:srgbClr val="7C3AED"/>
          </a:solidFill>
          <a:ln/>
        </p:spPr>
        <p:txBody>
          <a:bodyPr/>
          <a:lstStyle/>
          <a:p>
            <a:endParaRPr lang="en-US"/>
          </a:p>
        </p:txBody>
      </p:sp>
      <p:pic>
        <p:nvPicPr>
          <p:cNvPr id="19" name="Image 2" descr="preencoded.png"/>
          <p:cNvPicPr>
            <a:picLocks noChangeAspect="1"/>
          </p:cNvPicPr>
          <p:nvPr/>
        </p:nvPicPr>
        <p:blipFill>
          <a:blip r:embed="rId5"/>
          <a:stretch>
            <a:fillRect/>
          </a:stretch>
        </p:blipFill>
        <p:spPr>
          <a:xfrm>
            <a:off x="6172200" y="1161288"/>
            <a:ext cx="256032" cy="256032"/>
          </a:xfrm>
          <a:prstGeom prst="rect">
            <a:avLst/>
          </a:prstGeom>
        </p:spPr>
      </p:pic>
      <p:sp>
        <p:nvSpPr>
          <p:cNvPr id="20" name="Text 15"/>
          <p:cNvSpPr/>
          <p:nvPr/>
        </p:nvSpPr>
        <p:spPr>
          <a:xfrm>
            <a:off x="6492240" y="1124712"/>
            <a:ext cx="2057400" cy="292608"/>
          </a:xfrm>
          <a:prstGeom prst="rect">
            <a:avLst/>
          </a:prstGeom>
          <a:noFill/>
          <a:ln/>
        </p:spPr>
        <p:txBody>
          <a:bodyPr wrap="square" lIns="0" tIns="0" rIns="0" bIns="0" rtlCol="0" anchor="ctr"/>
          <a:lstStyle/>
          <a:p>
            <a:pPr marL="0" indent="0">
              <a:buNone/>
            </a:pPr>
            <a:r>
              <a:rPr lang="en-US" sz="1200" b="1" dirty="0">
                <a:solidFill>
                  <a:srgbClr val="7C3AED"/>
                </a:solidFill>
                <a:latin typeface="Georgia" pitchFamily="34" charset="0"/>
              </a:rPr>
              <a:t>Prediction &amp; Agentic AI</a:t>
            </a:r>
            <a:endParaRPr lang="en-US" sz="1200" dirty="0"/>
          </a:p>
        </p:txBody>
      </p:sp>
      <p:sp>
        <p:nvSpPr>
          <p:cNvPr id="21" name="Text 16"/>
          <p:cNvSpPr/>
          <p:nvPr/>
        </p:nvSpPr>
        <p:spPr>
          <a:xfrm>
            <a:off x="6172200" y="1463040"/>
            <a:ext cx="2377440" cy="1783080"/>
          </a:xfrm>
          <a:prstGeom prst="rect">
            <a:avLst/>
          </a:prstGeom>
          <a:noFill/>
          <a:ln/>
        </p:spPr>
        <p:txBody>
          <a:bodyPr wrap="square" rtlCol="0" anchor="t"/>
          <a:lstStyle/>
          <a:p>
            <a:pPr marL="0" indent="0">
              <a:lnSpc>
                <a:spcPct val="125000"/>
              </a:lnSpc>
              <a:buNone/>
            </a:pP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 Live race predictions</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 4 autonomous AI agents</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 LangGraph orchestration</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 Challenges &amp; debugging</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 Limitations &amp; lessons</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 Future work &amp; demo</a:t>
            </a:r>
            <a:endParaRPr lang="en-US" sz="950" dirty="0"/>
          </a:p>
        </p:txBody>
      </p:sp>
      <p:sp>
        <p:nvSpPr>
          <p:cNvPr id="22" name="Shape 17"/>
          <p:cNvSpPr/>
          <p:nvPr/>
        </p:nvSpPr>
        <p:spPr>
          <a:xfrm>
            <a:off x="365760" y="3566160"/>
            <a:ext cx="8321040" cy="822960"/>
          </a:xfrm>
          <a:prstGeom prst="rect">
            <a:avLst/>
          </a:prstGeom>
          <a:solidFill>
            <a:srgbClr val="E8F0FE"/>
          </a:solidFill>
          <a:ln/>
          <a:effectLst>
            <a:outerShdw blurRad="50800" dist="25400" dir="8100000" algn="bl" rotWithShape="0">
              <a:srgbClr val="000000">
                <a:alpha val="10000"/>
              </a:srgbClr>
            </a:outerShdw>
          </a:effectLst>
        </p:spPr>
        <p:txBody>
          <a:bodyPr/>
          <a:lstStyle/>
          <a:p>
            <a:endParaRPr lang="en-US" dirty="0"/>
          </a:p>
        </p:txBody>
      </p:sp>
      <p:sp>
        <p:nvSpPr>
          <p:cNvPr id="23" name="Text 18"/>
          <p:cNvSpPr/>
          <p:nvPr/>
        </p:nvSpPr>
        <p:spPr>
          <a:xfrm>
            <a:off x="548640" y="3657600"/>
            <a:ext cx="8046720" cy="640080"/>
          </a:xfrm>
          <a:prstGeom prst="rect">
            <a:avLst/>
          </a:prstGeom>
          <a:noFill/>
          <a:ln/>
        </p:spPr>
        <p:txBody>
          <a:bodyPr wrap="square" lIns="0" tIns="0" rIns="0" bIns="0" rtlCol="0" anchor="ctr"/>
          <a:lstStyle/>
          <a:p>
            <a:pPr marL="0" indent="0">
              <a:buNone/>
            </a:pPr>
            <a:endParaRPr lang="en-US" sz="1000" dirty="0"/>
          </a:p>
        </p:txBody>
      </p:sp>
      <p:sp>
        <p:nvSpPr>
          <p:cNvPr id="24" name="Text 19"/>
          <p:cNvSpPr/>
          <p:nvPr/>
        </p:nvSpPr>
        <p:spPr>
          <a:xfrm>
            <a:off x="438912" y="4206240"/>
            <a:ext cx="6400800" cy="365760"/>
          </a:xfrm>
          <a:prstGeom prst="rect">
            <a:avLst/>
          </a:prstGeom>
          <a:noFill/>
          <a:ln/>
        </p:spPr>
        <p:txBody>
          <a:bodyPr wrap="square" rtlCol="0" anchor="ctr"/>
          <a:lstStyle/>
          <a:p>
            <a:pPr marL="0" indent="0">
              <a:buNone/>
            </a:pPr>
            <a:endParaRPr lang="en-US" sz="900" dirty="0"/>
          </a:p>
        </p:txBody>
      </p:sp>
      <p:sp>
        <p:nvSpPr>
          <p:cNvPr id="25" name="Text 20"/>
          <p:cNvSpPr/>
          <p:nvPr/>
        </p:nvSpPr>
        <p:spPr>
          <a:xfrm>
            <a:off x="8412480" y="4709160"/>
            <a:ext cx="548640" cy="365760"/>
          </a:xfrm>
          <a:prstGeom prst="rect">
            <a:avLst/>
          </a:prstGeom>
          <a:noFill/>
          <a:ln/>
        </p:spPr>
        <p:txBody>
          <a:bodyPr wrap="square" rtlCol="0" anchor="ctr"/>
          <a:lstStyle/>
          <a:p>
            <a:pPr marL="0" indent="0" algn="r">
              <a:buNone/>
            </a:pPr>
            <a:r>
              <a:rPr lang="en-US" sz="900" dirty="0">
                <a:solidFill>
                  <a:srgbClr val="949594"/>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5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C41E1E"/>
          </a:solidFill>
          <a:ln/>
        </p:spPr>
        <p:txBody>
          <a:bodyPr/>
          <a:lstStyle/>
          <a:p>
            <a:endParaRPr lang="en-US"/>
          </a:p>
        </p:txBody>
      </p:sp>
      <p:sp>
        <p:nvSpPr>
          <p:cNvPr id="3" name="Shape 1"/>
          <p:cNvSpPr/>
          <p:nvPr/>
        </p:nvSpPr>
        <p:spPr>
          <a:xfrm>
            <a:off x="8778240" y="0"/>
            <a:ext cx="137160" cy="5143500"/>
          </a:xfrm>
          <a:prstGeom prst="rect">
            <a:avLst/>
          </a:prstGeom>
          <a:solidFill>
            <a:srgbClr val="C41E1E"/>
          </a:solidFill>
          <a:ln/>
        </p:spPr>
        <p:txBody>
          <a:bodyPr/>
          <a:lstStyle/>
          <a:p>
            <a:endParaRPr lang="en-US"/>
          </a:p>
        </p:txBody>
      </p:sp>
      <p:sp>
        <p:nvSpPr>
          <p:cNvPr id="4" name="Shape 2"/>
          <p:cNvSpPr/>
          <p:nvPr/>
        </p:nvSpPr>
        <p:spPr>
          <a:xfrm>
            <a:off x="8961120" y="0"/>
            <a:ext cx="73152" cy="5143500"/>
          </a:xfrm>
          <a:prstGeom prst="rect">
            <a:avLst/>
          </a:prstGeom>
          <a:solidFill>
            <a:srgbClr val="C41E1E">
              <a:alpha val="40000"/>
            </a:srgbClr>
          </a:solidFill>
          <a:ln/>
        </p:spPr>
        <p:txBody>
          <a:bodyPr/>
          <a:lstStyle/>
          <a:p>
            <a:endParaRPr lang="en-US"/>
          </a:p>
        </p:txBody>
      </p:sp>
      <p:pic>
        <p:nvPicPr>
          <p:cNvPr id="5" name="Image 0" descr="preencoded.png"/>
          <p:cNvPicPr>
            <a:picLocks noChangeAspect="1"/>
          </p:cNvPicPr>
          <p:nvPr/>
        </p:nvPicPr>
        <p:blipFill>
          <a:blip r:embed="rId3"/>
          <a:stretch>
            <a:fillRect/>
          </a:stretch>
        </p:blipFill>
        <p:spPr>
          <a:xfrm>
            <a:off x="365760" y="182880"/>
            <a:ext cx="320040" cy="320040"/>
          </a:xfrm>
          <a:prstGeom prst="rect">
            <a:avLst/>
          </a:prstGeom>
        </p:spPr>
      </p:pic>
      <p:sp>
        <p:nvSpPr>
          <p:cNvPr id="6" name="Text 3"/>
          <p:cNvSpPr/>
          <p:nvPr/>
        </p:nvSpPr>
        <p:spPr>
          <a:xfrm>
            <a:off x="777240" y="182880"/>
            <a:ext cx="7315200" cy="548640"/>
          </a:xfrm>
          <a:prstGeom prst="rect">
            <a:avLst/>
          </a:prstGeom>
          <a:noFill/>
          <a:ln/>
        </p:spPr>
        <p:txBody>
          <a:bodyPr wrap="square" lIns="0" tIns="0" rIns="0" bIns="0" rtlCol="0" anchor="ctr"/>
          <a:lstStyle/>
          <a:p>
            <a:pPr marL="0" indent="0">
              <a:buNone/>
            </a:pPr>
            <a:r>
              <a:rPr lang="en-US" sz="2800" b="1" dirty="0">
                <a:solidFill>
                  <a:srgbClr val="1A1A2E"/>
                </a:solidFill>
                <a:latin typeface="Georgia" pitchFamily="34" charset="0"/>
                <a:ea typeface="Georgia" pitchFamily="34" charset="-122"/>
                <a:cs typeface="Georgia" pitchFamily="34" charset="-120"/>
              </a:rPr>
              <a:t>What is Formula 1?</a:t>
            </a:r>
            <a:endParaRPr lang="en-US" sz="2800" dirty="0"/>
          </a:p>
        </p:txBody>
      </p:sp>
      <p:sp>
        <p:nvSpPr>
          <p:cNvPr id="7" name="Text 4"/>
          <p:cNvSpPr/>
          <p:nvPr/>
        </p:nvSpPr>
        <p:spPr>
          <a:xfrm>
            <a:off x="777240" y="685800"/>
            <a:ext cx="7315200" cy="228600"/>
          </a:xfrm>
          <a:prstGeom prst="rect">
            <a:avLst/>
          </a:prstGeom>
          <a:noFill/>
          <a:ln/>
        </p:spPr>
        <p:txBody>
          <a:bodyPr wrap="square" lIns="0" tIns="0" rIns="0" bIns="0" rtlCol="0" anchor="ctr"/>
          <a:lstStyle/>
          <a:p>
            <a:pPr marL="0" indent="0">
              <a:buNone/>
            </a:pPr>
            <a:r>
              <a:rPr lang="en-US" sz="1100" dirty="0">
                <a:solidFill>
                  <a:srgbClr val="949594"/>
                </a:solidFill>
                <a:latin typeface="Calibri" pitchFamily="34" charset="0"/>
                <a:ea typeface="Calibri" pitchFamily="34" charset="-122"/>
                <a:cs typeface="Calibri" pitchFamily="34" charset="-120"/>
              </a:rPr>
              <a:t>The pinnacle of motorsport — 10 teams, 20 drivers, 24 races per season</a:t>
            </a:r>
            <a:endParaRPr lang="en-US" sz="1100" dirty="0"/>
          </a:p>
        </p:txBody>
      </p:sp>
      <p:sp>
        <p:nvSpPr>
          <p:cNvPr id="8" name="Shape 5"/>
          <p:cNvSpPr/>
          <p:nvPr/>
        </p:nvSpPr>
        <p:spPr>
          <a:xfrm>
            <a:off x="365760" y="1051560"/>
            <a:ext cx="2606040" cy="13716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US"/>
          </a:p>
        </p:txBody>
      </p:sp>
      <p:sp>
        <p:nvSpPr>
          <p:cNvPr id="9" name="Shape 6"/>
          <p:cNvSpPr/>
          <p:nvPr/>
        </p:nvSpPr>
        <p:spPr>
          <a:xfrm>
            <a:off x="365760" y="1051560"/>
            <a:ext cx="2606040" cy="45720"/>
          </a:xfrm>
          <a:prstGeom prst="rect">
            <a:avLst/>
          </a:prstGeom>
          <a:solidFill>
            <a:srgbClr val="C41E1E"/>
          </a:solidFill>
          <a:ln/>
        </p:spPr>
        <p:txBody>
          <a:bodyPr/>
          <a:lstStyle/>
          <a:p>
            <a:endParaRPr lang="en-US"/>
          </a:p>
        </p:txBody>
      </p:sp>
      <p:sp>
        <p:nvSpPr>
          <p:cNvPr id="10" name="Text 7"/>
          <p:cNvSpPr/>
          <p:nvPr/>
        </p:nvSpPr>
        <p:spPr>
          <a:xfrm>
            <a:off x="475488" y="1161288"/>
            <a:ext cx="2377440" cy="256032"/>
          </a:xfrm>
          <a:prstGeom prst="rect">
            <a:avLst/>
          </a:prstGeom>
          <a:noFill/>
          <a:ln/>
        </p:spPr>
        <p:txBody>
          <a:bodyPr wrap="square" lIns="0" tIns="0" rIns="0" bIns="0" rtlCol="0" anchor="ctr"/>
          <a:lstStyle/>
          <a:p>
            <a:pPr marL="0" indent="0">
              <a:buNone/>
            </a:pPr>
            <a:r>
              <a:rPr lang="en-US" sz="1100" b="1" dirty="0">
                <a:solidFill>
                  <a:srgbClr val="C41E1E"/>
                </a:solidFill>
                <a:latin typeface="Georgia" pitchFamily="34" charset="0"/>
                <a:ea typeface="Georgia" pitchFamily="34" charset="-122"/>
                <a:cs typeface="Georgia" pitchFamily="34" charset="-120"/>
              </a:rPr>
              <a:t>Grid Position</a:t>
            </a:r>
            <a:endParaRPr lang="en-US" sz="1100" dirty="0"/>
          </a:p>
        </p:txBody>
      </p:sp>
      <p:sp>
        <p:nvSpPr>
          <p:cNvPr id="11" name="Text 8"/>
          <p:cNvSpPr/>
          <p:nvPr/>
        </p:nvSpPr>
        <p:spPr>
          <a:xfrm>
            <a:off x="475488" y="1463040"/>
            <a:ext cx="2377440" cy="868680"/>
          </a:xfrm>
          <a:prstGeom prst="rect">
            <a:avLst/>
          </a:prstGeom>
          <a:noFill/>
          <a:ln/>
        </p:spPr>
        <p:txBody>
          <a:bodyPr wrap="square" lIns="0" tIns="0" rIns="0" bIns="0" rtlCol="0" anchor="t"/>
          <a:lstStyle/>
          <a:p>
            <a:pPr marL="0" indent="0">
              <a:buNone/>
            </a:pPr>
            <a:r>
              <a:rPr lang="en-US" sz="900" dirty="0">
                <a:solidFill>
                  <a:srgbClr val="444444"/>
                </a:solidFill>
                <a:latin typeface="Calibri" pitchFamily="34" charset="0"/>
                <a:ea typeface="Calibri" pitchFamily="34" charset="-122"/>
                <a:cs typeface="Calibri" pitchFamily="34" charset="-120"/>
              </a:rPr>
              <a:t>Starting order set by Saturday qualifying.</a:t>
            </a:r>
            <a:endParaRPr lang="en-US" sz="900" dirty="0"/>
          </a:p>
          <a:p>
            <a:pPr marL="0" indent="0">
              <a:buNone/>
            </a:pPr>
            <a:r>
              <a:rPr lang="en-US" sz="900" dirty="0">
                <a:solidFill>
                  <a:srgbClr val="444444"/>
                </a:solidFill>
                <a:latin typeface="Calibri" pitchFamily="34" charset="0"/>
                <a:ea typeface="Calibri" pitchFamily="34" charset="-122"/>
                <a:cs typeface="Calibri" pitchFamily="34" charset="-120"/>
              </a:rPr>
              <a:t>Fastest lap = P1 (pole position).</a:t>
            </a:r>
            <a:endParaRPr lang="en-US" sz="900" dirty="0"/>
          </a:p>
          <a:p>
            <a:pPr marL="0" indent="0">
              <a:buNone/>
            </a:pPr>
            <a:r>
              <a:rPr lang="en-US" sz="900" dirty="0">
                <a:solidFill>
                  <a:srgbClr val="444444"/>
                </a:solidFill>
                <a:latin typeface="Calibri" pitchFamily="34" charset="0"/>
                <a:ea typeface="Calibri" pitchFamily="34" charset="-122"/>
                <a:cs typeface="Calibri" pitchFamily="34" charset="-120"/>
              </a:rPr>
              <a:t>Our model's #2 most important feature.</a:t>
            </a:r>
            <a:endParaRPr lang="en-US" sz="900" dirty="0"/>
          </a:p>
        </p:txBody>
      </p:sp>
      <p:sp>
        <p:nvSpPr>
          <p:cNvPr id="12" name="Shape 9"/>
          <p:cNvSpPr/>
          <p:nvPr/>
        </p:nvSpPr>
        <p:spPr>
          <a:xfrm>
            <a:off x="3154680" y="1051560"/>
            <a:ext cx="2606040" cy="13716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US"/>
          </a:p>
        </p:txBody>
      </p:sp>
      <p:sp>
        <p:nvSpPr>
          <p:cNvPr id="13" name="Shape 10"/>
          <p:cNvSpPr/>
          <p:nvPr/>
        </p:nvSpPr>
        <p:spPr>
          <a:xfrm>
            <a:off x="3154680" y="1051560"/>
            <a:ext cx="2606040" cy="45720"/>
          </a:xfrm>
          <a:prstGeom prst="rect">
            <a:avLst/>
          </a:prstGeom>
          <a:solidFill>
            <a:srgbClr val="D97706"/>
          </a:solidFill>
          <a:ln/>
        </p:spPr>
        <p:txBody>
          <a:bodyPr/>
          <a:lstStyle/>
          <a:p>
            <a:endParaRPr lang="en-US"/>
          </a:p>
        </p:txBody>
      </p:sp>
      <p:sp>
        <p:nvSpPr>
          <p:cNvPr id="14" name="Text 11"/>
          <p:cNvSpPr/>
          <p:nvPr/>
        </p:nvSpPr>
        <p:spPr>
          <a:xfrm>
            <a:off x="3264408" y="1161288"/>
            <a:ext cx="2377440" cy="256032"/>
          </a:xfrm>
          <a:prstGeom prst="rect">
            <a:avLst/>
          </a:prstGeom>
          <a:noFill/>
          <a:ln/>
        </p:spPr>
        <p:txBody>
          <a:bodyPr wrap="square" lIns="0" tIns="0" rIns="0" bIns="0" rtlCol="0" anchor="ctr"/>
          <a:lstStyle/>
          <a:p>
            <a:pPr marL="0" indent="0">
              <a:buNone/>
            </a:pPr>
            <a:r>
              <a:rPr lang="en-US" sz="1100" b="1" dirty="0">
                <a:solidFill>
                  <a:srgbClr val="D97706"/>
                </a:solidFill>
                <a:latin typeface="Georgia" pitchFamily="34" charset="0"/>
                <a:ea typeface="Georgia" pitchFamily="34" charset="-122"/>
                <a:cs typeface="Georgia" pitchFamily="34" charset="-120"/>
              </a:rPr>
              <a:t>Tire Compounds</a:t>
            </a:r>
            <a:endParaRPr lang="en-US" sz="1100" dirty="0"/>
          </a:p>
        </p:txBody>
      </p:sp>
      <p:sp>
        <p:nvSpPr>
          <p:cNvPr id="15" name="Text 12"/>
          <p:cNvSpPr/>
          <p:nvPr/>
        </p:nvSpPr>
        <p:spPr>
          <a:xfrm>
            <a:off x="3264408" y="1463040"/>
            <a:ext cx="2377440" cy="868680"/>
          </a:xfrm>
          <a:prstGeom prst="rect">
            <a:avLst/>
          </a:prstGeom>
          <a:noFill/>
          <a:ln/>
        </p:spPr>
        <p:txBody>
          <a:bodyPr wrap="square" lIns="0" tIns="0" rIns="0" bIns="0" rtlCol="0" anchor="t"/>
          <a:lstStyle/>
          <a:p>
            <a:pPr marL="0" indent="0">
              <a:buNone/>
            </a:pPr>
            <a:r>
              <a:rPr lang="en-US" sz="900" dirty="0">
                <a:solidFill>
                  <a:srgbClr val="444444"/>
                </a:solidFill>
                <a:latin typeface="Calibri" pitchFamily="34" charset="0"/>
                <a:ea typeface="Calibri" pitchFamily="34" charset="-122"/>
                <a:cs typeface="Calibri" pitchFamily="34" charset="-120"/>
              </a:rPr>
              <a:t>SOFT (red) = fast, 10-15 laps</a:t>
            </a:r>
            <a:endParaRPr lang="en-US" sz="900" dirty="0"/>
          </a:p>
          <a:p>
            <a:pPr marL="0" indent="0">
              <a:buNone/>
            </a:pPr>
            <a:r>
              <a:rPr lang="en-US" sz="900" dirty="0">
                <a:solidFill>
                  <a:srgbClr val="444444"/>
                </a:solidFill>
                <a:latin typeface="Calibri" pitchFamily="34" charset="0"/>
                <a:ea typeface="Calibri" pitchFamily="34" charset="-122"/>
                <a:cs typeface="Calibri" pitchFamily="34" charset="-120"/>
              </a:rPr>
              <a:t>MEDIUM (yellow) = balanced, 20-30 laps</a:t>
            </a:r>
            <a:endParaRPr lang="en-US" sz="900" dirty="0"/>
          </a:p>
          <a:p>
            <a:pPr marL="0" indent="0">
              <a:buNone/>
            </a:pPr>
            <a:r>
              <a:rPr lang="en-US" sz="900" dirty="0">
                <a:solidFill>
                  <a:srgbClr val="444444"/>
                </a:solidFill>
                <a:latin typeface="Calibri" pitchFamily="34" charset="0"/>
                <a:ea typeface="Calibri" pitchFamily="34" charset="-122"/>
                <a:cs typeface="Calibri" pitchFamily="34" charset="-120"/>
              </a:rPr>
              <a:t>HARD (white) = durable, 30-40 laps</a:t>
            </a:r>
            <a:endParaRPr lang="en-US" sz="900" dirty="0"/>
          </a:p>
        </p:txBody>
      </p:sp>
      <p:sp>
        <p:nvSpPr>
          <p:cNvPr id="16" name="Shape 13"/>
          <p:cNvSpPr/>
          <p:nvPr/>
        </p:nvSpPr>
        <p:spPr>
          <a:xfrm>
            <a:off x="5943600" y="1051560"/>
            <a:ext cx="2606040" cy="13716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US"/>
          </a:p>
        </p:txBody>
      </p:sp>
      <p:sp>
        <p:nvSpPr>
          <p:cNvPr id="17" name="Shape 14"/>
          <p:cNvSpPr/>
          <p:nvPr/>
        </p:nvSpPr>
        <p:spPr>
          <a:xfrm>
            <a:off x="5943600" y="1051560"/>
            <a:ext cx="2606040" cy="45720"/>
          </a:xfrm>
          <a:prstGeom prst="rect">
            <a:avLst/>
          </a:prstGeom>
          <a:solidFill>
            <a:srgbClr val="2563EB"/>
          </a:solidFill>
          <a:ln/>
        </p:spPr>
        <p:txBody>
          <a:bodyPr/>
          <a:lstStyle/>
          <a:p>
            <a:endParaRPr lang="en-US"/>
          </a:p>
        </p:txBody>
      </p:sp>
      <p:sp>
        <p:nvSpPr>
          <p:cNvPr id="18" name="Text 15"/>
          <p:cNvSpPr/>
          <p:nvPr/>
        </p:nvSpPr>
        <p:spPr>
          <a:xfrm>
            <a:off x="6053328" y="1161288"/>
            <a:ext cx="2377440" cy="256032"/>
          </a:xfrm>
          <a:prstGeom prst="rect">
            <a:avLst/>
          </a:prstGeom>
          <a:noFill/>
          <a:ln/>
        </p:spPr>
        <p:txBody>
          <a:bodyPr wrap="square" lIns="0" tIns="0" rIns="0" bIns="0" rtlCol="0" anchor="ctr"/>
          <a:lstStyle/>
          <a:p>
            <a:pPr marL="0" indent="0">
              <a:buNone/>
            </a:pPr>
            <a:r>
              <a:rPr lang="en-US" sz="1100" b="1" dirty="0">
                <a:solidFill>
                  <a:srgbClr val="2563EB"/>
                </a:solidFill>
                <a:latin typeface="Georgia" pitchFamily="34" charset="0"/>
                <a:ea typeface="Georgia" pitchFamily="34" charset="-122"/>
                <a:cs typeface="Georgia" pitchFamily="34" charset="-120"/>
              </a:rPr>
              <a:t>Constructor</a:t>
            </a:r>
            <a:endParaRPr lang="en-US" sz="1100" dirty="0"/>
          </a:p>
        </p:txBody>
      </p:sp>
      <p:sp>
        <p:nvSpPr>
          <p:cNvPr id="19" name="Text 16"/>
          <p:cNvSpPr/>
          <p:nvPr/>
        </p:nvSpPr>
        <p:spPr>
          <a:xfrm>
            <a:off x="6053328" y="1463040"/>
            <a:ext cx="2377440" cy="868680"/>
          </a:xfrm>
          <a:prstGeom prst="rect">
            <a:avLst/>
          </a:prstGeom>
          <a:noFill/>
          <a:ln/>
        </p:spPr>
        <p:txBody>
          <a:bodyPr wrap="square" lIns="0" tIns="0" rIns="0" bIns="0" rtlCol="0" anchor="t"/>
          <a:lstStyle/>
          <a:p>
            <a:pPr marL="0" indent="0">
              <a:buNone/>
            </a:pPr>
            <a:r>
              <a:rPr lang="en-US" sz="900" dirty="0">
                <a:solidFill>
                  <a:srgbClr val="444444"/>
                </a:solidFill>
                <a:latin typeface="Calibri" pitchFamily="34" charset="0"/>
                <a:ea typeface="Calibri" pitchFamily="34" charset="-122"/>
                <a:cs typeface="Calibri" pitchFamily="34" charset="-120"/>
              </a:rPr>
              <a:t>Team that builds the car.</a:t>
            </a:r>
            <a:endParaRPr lang="en-US" sz="900" dirty="0"/>
          </a:p>
          <a:p>
            <a:pPr marL="0" indent="0">
              <a:buNone/>
            </a:pPr>
            <a:r>
              <a:rPr lang="en-US" sz="900" dirty="0">
                <a:solidFill>
                  <a:srgbClr val="444444"/>
                </a:solidFill>
                <a:latin typeface="Calibri" pitchFamily="34" charset="0"/>
                <a:ea typeface="Calibri" pitchFamily="34" charset="-122"/>
                <a:cs typeface="Calibri" pitchFamily="34" charset="-120"/>
              </a:rPr>
              <a:t>Car = ~80% of performance.</a:t>
            </a:r>
            <a:endParaRPr lang="en-US" sz="900" dirty="0"/>
          </a:p>
          <a:p>
            <a:pPr marL="0" indent="0">
              <a:buNone/>
            </a:pPr>
            <a:r>
              <a:rPr lang="en-US" sz="900" dirty="0">
                <a:solidFill>
                  <a:srgbClr val="444444"/>
                </a:solidFill>
                <a:latin typeface="Calibri" pitchFamily="34" charset="0"/>
                <a:ea typeface="Calibri" pitchFamily="34" charset="-122"/>
                <a:cs typeface="Calibri" pitchFamily="34" charset="-120"/>
              </a:rPr>
              <a:t>Our #1 predictive feature.</a:t>
            </a:r>
            <a:endParaRPr lang="en-US" sz="900" dirty="0"/>
          </a:p>
        </p:txBody>
      </p:sp>
      <p:sp>
        <p:nvSpPr>
          <p:cNvPr id="20" name="Shape 17"/>
          <p:cNvSpPr/>
          <p:nvPr/>
        </p:nvSpPr>
        <p:spPr>
          <a:xfrm>
            <a:off x="365760" y="2606040"/>
            <a:ext cx="2606040" cy="13716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US"/>
          </a:p>
        </p:txBody>
      </p:sp>
      <p:sp>
        <p:nvSpPr>
          <p:cNvPr id="21" name="Shape 18"/>
          <p:cNvSpPr/>
          <p:nvPr/>
        </p:nvSpPr>
        <p:spPr>
          <a:xfrm>
            <a:off x="365760" y="2606040"/>
            <a:ext cx="2606040" cy="45720"/>
          </a:xfrm>
          <a:prstGeom prst="rect">
            <a:avLst/>
          </a:prstGeom>
          <a:solidFill>
            <a:srgbClr val="059669"/>
          </a:solidFill>
          <a:ln/>
        </p:spPr>
        <p:txBody>
          <a:bodyPr/>
          <a:lstStyle/>
          <a:p>
            <a:endParaRPr lang="en-US"/>
          </a:p>
        </p:txBody>
      </p:sp>
      <p:sp>
        <p:nvSpPr>
          <p:cNvPr id="22" name="Text 19"/>
          <p:cNvSpPr/>
          <p:nvPr/>
        </p:nvSpPr>
        <p:spPr>
          <a:xfrm>
            <a:off x="475488" y="2715768"/>
            <a:ext cx="2377440" cy="256032"/>
          </a:xfrm>
          <a:prstGeom prst="rect">
            <a:avLst/>
          </a:prstGeom>
          <a:noFill/>
          <a:ln/>
        </p:spPr>
        <p:txBody>
          <a:bodyPr wrap="square" lIns="0" tIns="0" rIns="0" bIns="0" rtlCol="0" anchor="ctr"/>
          <a:lstStyle/>
          <a:p>
            <a:pPr marL="0" indent="0">
              <a:buNone/>
            </a:pPr>
            <a:r>
              <a:rPr lang="en-US" sz="1100" b="1" dirty="0">
                <a:solidFill>
                  <a:srgbClr val="059669"/>
                </a:solidFill>
                <a:latin typeface="Georgia" pitchFamily="34" charset="0"/>
                <a:ea typeface="Georgia" pitchFamily="34" charset="-122"/>
                <a:cs typeface="Georgia" pitchFamily="34" charset="-120"/>
              </a:rPr>
              <a:t>Pit Stop</a:t>
            </a:r>
            <a:endParaRPr lang="en-US" sz="1100" dirty="0"/>
          </a:p>
        </p:txBody>
      </p:sp>
      <p:sp>
        <p:nvSpPr>
          <p:cNvPr id="23" name="Text 20"/>
          <p:cNvSpPr/>
          <p:nvPr/>
        </p:nvSpPr>
        <p:spPr>
          <a:xfrm>
            <a:off x="475488" y="3017520"/>
            <a:ext cx="2377440" cy="868680"/>
          </a:xfrm>
          <a:prstGeom prst="rect">
            <a:avLst/>
          </a:prstGeom>
          <a:noFill/>
          <a:ln/>
        </p:spPr>
        <p:txBody>
          <a:bodyPr wrap="square" lIns="0" tIns="0" rIns="0" bIns="0" rtlCol="0" anchor="t"/>
          <a:lstStyle/>
          <a:p>
            <a:pPr marL="0" indent="0">
              <a:buNone/>
            </a:pPr>
            <a:r>
              <a:rPr lang="en-US" sz="900" dirty="0">
                <a:solidFill>
                  <a:srgbClr val="444444"/>
                </a:solidFill>
                <a:latin typeface="Calibri" pitchFamily="34" charset="0"/>
                <a:ea typeface="Calibri" pitchFamily="34" charset="-122"/>
                <a:cs typeface="Calibri" pitchFamily="34" charset="-120"/>
              </a:rPr>
              <a:t>Tire change during race (2-3 sec).</a:t>
            </a:r>
            <a:endParaRPr lang="en-US" sz="900" dirty="0"/>
          </a:p>
          <a:p>
            <a:pPr marL="0" indent="0">
              <a:buNone/>
            </a:pPr>
            <a:r>
              <a:rPr lang="en-US" sz="900" dirty="0">
                <a:solidFill>
                  <a:srgbClr val="444444"/>
                </a:solidFill>
                <a:latin typeface="Calibri" pitchFamily="34" charset="0"/>
                <a:ea typeface="Calibri" pitchFamily="34" charset="-122"/>
                <a:cs typeface="Calibri" pitchFamily="34" charset="-120"/>
              </a:rPr>
              <a:t>Strategy: when to stop, which tire.</a:t>
            </a:r>
            <a:endParaRPr lang="en-US" sz="900" dirty="0"/>
          </a:p>
          <a:p>
            <a:pPr marL="0" indent="0">
              <a:buNone/>
            </a:pPr>
            <a:r>
              <a:rPr lang="en-US" sz="900" dirty="0">
                <a:solidFill>
                  <a:srgbClr val="444444"/>
                </a:solidFill>
                <a:latin typeface="Calibri" pitchFamily="34" charset="0"/>
                <a:ea typeface="Calibri" pitchFamily="34" charset="-122"/>
                <a:cs typeface="Calibri" pitchFamily="34" charset="-120"/>
              </a:rPr>
              <a:t>Our model tracks pit stop patterns.</a:t>
            </a:r>
            <a:endParaRPr lang="en-US" sz="900" dirty="0"/>
          </a:p>
        </p:txBody>
      </p:sp>
      <p:sp>
        <p:nvSpPr>
          <p:cNvPr id="24" name="Shape 21"/>
          <p:cNvSpPr/>
          <p:nvPr/>
        </p:nvSpPr>
        <p:spPr>
          <a:xfrm>
            <a:off x="3154680" y="2606040"/>
            <a:ext cx="2606040" cy="13716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US"/>
          </a:p>
        </p:txBody>
      </p:sp>
      <p:sp>
        <p:nvSpPr>
          <p:cNvPr id="25" name="Shape 22"/>
          <p:cNvSpPr/>
          <p:nvPr/>
        </p:nvSpPr>
        <p:spPr>
          <a:xfrm>
            <a:off x="3154680" y="2606040"/>
            <a:ext cx="2606040" cy="45720"/>
          </a:xfrm>
          <a:prstGeom prst="rect">
            <a:avLst/>
          </a:prstGeom>
          <a:solidFill>
            <a:srgbClr val="7C3AED"/>
          </a:solidFill>
          <a:ln/>
        </p:spPr>
        <p:txBody>
          <a:bodyPr/>
          <a:lstStyle/>
          <a:p>
            <a:endParaRPr lang="en-US"/>
          </a:p>
        </p:txBody>
      </p:sp>
      <p:sp>
        <p:nvSpPr>
          <p:cNvPr id="26" name="Text 23"/>
          <p:cNvSpPr/>
          <p:nvPr/>
        </p:nvSpPr>
        <p:spPr>
          <a:xfrm>
            <a:off x="3264408" y="2715768"/>
            <a:ext cx="2377440" cy="256032"/>
          </a:xfrm>
          <a:prstGeom prst="rect">
            <a:avLst/>
          </a:prstGeom>
          <a:noFill/>
          <a:ln/>
        </p:spPr>
        <p:txBody>
          <a:bodyPr wrap="square" lIns="0" tIns="0" rIns="0" bIns="0" rtlCol="0" anchor="ctr"/>
          <a:lstStyle/>
          <a:p>
            <a:pPr marL="0" indent="0">
              <a:buNone/>
            </a:pPr>
            <a:r>
              <a:rPr lang="en-US" sz="1100" b="1" dirty="0">
                <a:solidFill>
                  <a:srgbClr val="7C3AED"/>
                </a:solidFill>
                <a:latin typeface="Georgia" pitchFamily="34" charset="0"/>
                <a:ea typeface="Georgia" pitchFamily="34" charset="-122"/>
                <a:cs typeface="Georgia" pitchFamily="34" charset="-120"/>
              </a:rPr>
              <a:t>Qualifying (Q1/Q2/Q3)</a:t>
            </a:r>
            <a:endParaRPr lang="en-US" sz="1100" dirty="0"/>
          </a:p>
        </p:txBody>
      </p:sp>
      <p:sp>
        <p:nvSpPr>
          <p:cNvPr id="27" name="Text 24"/>
          <p:cNvSpPr/>
          <p:nvPr/>
        </p:nvSpPr>
        <p:spPr>
          <a:xfrm>
            <a:off x="3264408" y="3017520"/>
            <a:ext cx="2377440" cy="868680"/>
          </a:xfrm>
          <a:prstGeom prst="rect">
            <a:avLst/>
          </a:prstGeom>
          <a:noFill/>
          <a:ln/>
        </p:spPr>
        <p:txBody>
          <a:bodyPr wrap="square" lIns="0" tIns="0" rIns="0" bIns="0" rtlCol="0" anchor="t"/>
          <a:lstStyle/>
          <a:p>
            <a:pPr marL="0" indent="0">
              <a:buNone/>
            </a:pPr>
            <a:r>
              <a:rPr lang="en-US" sz="900" dirty="0">
                <a:solidFill>
                  <a:srgbClr val="444444"/>
                </a:solidFill>
                <a:latin typeface="Calibri" pitchFamily="34" charset="0"/>
                <a:ea typeface="Calibri" pitchFamily="34" charset="-122"/>
                <a:cs typeface="Calibri" pitchFamily="34" charset="-120"/>
              </a:rPr>
              <a:t>Q1: all 20, slowest 5 out</a:t>
            </a:r>
            <a:endParaRPr lang="en-US" sz="900" dirty="0"/>
          </a:p>
          <a:p>
            <a:pPr marL="0" indent="0">
              <a:buNone/>
            </a:pPr>
            <a:r>
              <a:rPr lang="en-US" sz="900" dirty="0">
                <a:solidFill>
                  <a:srgbClr val="444444"/>
                </a:solidFill>
                <a:latin typeface="Calibri" pitchFamily="34" charset="0"/>
                <a:ea typeface="Calibri" pitchFamily="34" charset="-122"/>
                <a:cs typeface="Calibri" pitchFamily="34" charset="-120"/>
              </a:rPr>
              <a:t>Q2: 15 left, slowest 5 out</a:t>
            </a:r>
            <a:endParaRPr lang="en-US" sz="900" dirty="0"/>
          </a:p>
          <a:p>
            <a:pPr marL="0" indent="0">
              <a:buNone/>
            </a:pPr>
            <a:r>
              <a:rPr lang="en-US" sz="900" dirty="0">
                <a:solidFill>
                  <a:srgbClr val="444444"/>
                </a:solidFill>
                <a:latin typeface="Calibri" pitchFamily="34" charset="0"/>
                <a:ea typeface="Calibri" pitchFamily="34" charset="-122"/>
                <a:cs typeface="Calibri" pitchFamily="34" charset="-120"/>
              </a:rPr>
              <a:t>Q3: top 10 fight for pole</a:t>
            </a:r>
            <a:endParaRPr lang="en-US" sz="900" dirty="0"/>
          </a:p>
        </p:txBody>
      </p:sp>
      <p:sp>
        <p:nvSpPr>
          <p:cNvPr id="28" name="Shape 25"/>
          <p:cNvSpPr/>
          <p:nvPr/>
        </p:nvSpPr>
        <p:spPr>
          <a:xfrm>
            <a:off x="5943600" y="2606040"/>
            <a:ext cx="2606040" cy="13716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US"/>
          </a:p>
        </p:txBody>
      </p:sp>
      <p:sp>
        <p:nvSpPr>
          <p:cNvPr id="29" name="Shape 26"/>
          <p:cNvSpPr/>
          <p:nvPr/>
        </p:nvSpPr>
        <p:spPr>
          <a:xfrm>
            <a:off x="5943600" y="2606040"/>
            <a:ext cx="2606040" cy="45720"/>
          </a:xfrm>
          <a:prstGeom prst="rect">
            <a:avLst/>
          </a:prstGeom>
          <a:solidFill>
            <a:srgbClr val="0891B2"/>
          </a:solidFill>
          <a:ln/>
        </p:spPr>
        <p:txBody>
          <a:bodyPr/>
          <a:lstStyle/>
          <a:p>
            <a:endParaRPr lang="en-US"/>
          </a:p>
        </p:txBody>
      </p:sp>
      <p:sp>
        <p:nvSpPr>
          <p:cNvPr id="30" name="Text 27"/>
          <p:cNvSpPr/>
          <p:nvPr/>
        </p:nvSpPr>
        <p:spPr>
          <a:xfrm>
            <a:off x="6053328" y="2715768"/>
            <a:ext cx="2377440" cy="256032"/>
          </a:xfrm>
          <a:prstGeom prst="rect">
            <a:avLst/>
          </a:prstGeom>
          <a:noFill/>
          <a:ln/>
        </p:spPr>
        <p:txBody>
          <a:bodyPr wrap="square" lIns="0" tIns="0" rIns="0" bIns="0" rtlCol="0" anchor="ctr"/>
          <a:lstStyle/>
          <a:p>
            <a:pPr marL="0" indent="0">
              <a:buNone/>
            </a:pPr>
            <a:r>
              <a:rPr lang="en-US" sz="1100" b="1" dirty="0">
                <a:solidFill>
                  <a:srgbClr val="0891B2"/>
                </a:solidFill>
                <a:latin typeface="Georgia" pitchFamily="34" charset="0"/>
                <a:ea typeface="Georgia" pitchFamily="34" charset="-122"/>
                <a:cs typeface="Georgia" pitchFamily="34" charset="-120"/>
              </a:rPr>
              <a:t>Points System</a:t>
            </a:r>
            <a:endParaRPr lang="en-US" sz="1100" dirty="0"/>
          </a:p>
        </p:txBody>
      </p:sp>
      <p:sp>
        <p:nvSpPr>
          <p:cNvPr id="31" name="Text 28"/>
          <p:cNvSpPr/>
          <p:nvPr/>
        </p:nvSpPr>
        <p:spPr>
          <a:xfrm>
            <a:off x="6053328" y="3017520"/>
            <a:ext cx="2377440" cy="868680"/>
          </a:xfrm>
          <a:prstGeom prst="rect">
            <a:avLst/>
          </a:prstGeom>
          <a:noFill/>
          <a:ln/>
        </p:spPr>
        <p:txBody>
          <a:bodyPr wrap="square" lIns="0" tIns="0" rIns="0" bIns="0" rtlCol="0" anchor="t"/>
          <a:lstStyle/>
          <a:p>
            <a:pPr marL="0" indent="0">
              <a:buNone/>
            </a:pPr>
            <a:r>
              <a:rPr lang="en-US" sz="900" dirty="0">
                <a:solidFill>
                  <a:srgbClr val="444444"/>
                </a:solidFill>
                <a:latin typeface="Calibri" pitchFamily="34" charset="0"/>
                <a:ea typeface="Calibri" pitchFamily="34" charset="-122"/>
                <a:cs typeface="Calibri" pitchFamily="34" charset="-120"/>
              </a:rPr>
              <a:t>P1=25, P2=18, P3=15, P4=12...</a:t>
            </a:r>
            <a:endParaRPr lang="en-US" sz="900" dirty="0"/>
          </a:p>
          <a:p>
            <a:pPr marL="0" indent="0">
              <a:buNone/>
            </a:pPr>
            <a:r>
              <a:rPr lang="en-US" sz="900" dirty="0">
                <a:solidFill>
                  <a:srgbClr val="444444"/>
                </a:solidFill>
                <a:latin typeface="Calibri" pitchFamily="34" charset="0"/>
                <a:ea typeface="Calibri" pitchFamily="34" charset="-122"/>
                <a:cs typeface="Calibri" pitchFamily="34" charset="-120"/>
              </a:rPr>
              <a:t>P10=1 point. P11+ = zero.</a:t>
            </a:r>
            <a:endParaRPr lang="en-US" sz="900" dirty="0"/>
          </a:p>
          <a:p>
            <a:pPr marL="0" indent="0">
              <a:buNone/>
            </a:pPr>
            <a:r>
              <a:rPr lang="en-US" sz="900" dirty="0">
                <a:solidFill>
                  <a:srgbClr val="444444"/>
                </a:solidFill>
                <a:latin typeface="Calibri" pitchFamily="34" charset="0"/>
                <a:ea typeface="Calibri" pitchFamily="34" charset="-122"/>
                <a:cs typeface="Calibri" pitchFamily="34" charset="-120"/>
              </a:rPr>
              <a:t>Our model predicts these.</a:t>
            </a:r>
            <a:endParaRPr lang="en-US" sz="900" dirty="0"/>
          </a:p>
        </p:txBody>
      </p:sp>
      <p:sp>
        <p:nvSpPr>
          <p:cNvPr id="32" name="Text 29"/>
          <p:cNvSpPr/>
          <p:nvPr/>
        </p:nvSpPr>
        <p:spPr>
          <a:xfrm>
            <a:off x="457200" y="4709160"/>
            <a:ext cx="6400800" cy="365760"/>
          </a:xfrm>
          <a:prstGeom prst="rect">
            <a:avLst/>
          </a:prstGeom>
          <a:noFill/>
          <a:ln/>
        </p:spPr>
        <p:txBody>
          <a:bodyPr wrap="square" rtlCol="0" anchor="ctr"/>
          <a:lstStyle/>
          <a:p>
            <a:pPr marL="0" indent="0">
              <a:buNone/>
            </a:pPr>
            <a:r>
              <a:rPr lang="en-US" sz="900" dirty="0">
                <a:solidFill>
                  <a:srgbClr val="949594"/>
                </a:solidFill>
                <a:latin typeface="Calibri" pitchFamily="34" charset="0"/>
                <a:ea typeface="Calibri" pitchFamily="34" charset="-122"/>
                <a:cs typeface="Calibri" pitchFamily="34" charset="-120"/>
              </a:rPr>
              <a:t>Speaker 1 — Problem &amp; Architecture</a:t>
            </a:r>
            <a:endParaRPr lang="en-US" sz="900" dirty="0"/>
          </a:p>
        </p:txBody>
      </p:sp>
      <p:sp>
        <p:nvSpPr>
          <p:cNvPr id="33" name="Text 30"/>
          <p:cNvSpPr/>
          <p:nvPr/>
        </p:nvSpPr>
        <p:spPr>
          <a:xfrm>
            <a:off x="8412480" y="4709160"/>
            <a:ext cx="548640" cy="365760"/>
          </a:xfrm>
          <a:prstGeom prst="rect">
            <a:avLst/>
          </a:prstGeom>
          <a:noFill/>
          <a:ln/>
        </p:spPr>
        <p:txBody>
          <a:bodyPr wrap="square" rtlCol="0" anchor="ctr"/>
          <a:lstStyle/>
          <a:p>
            <a:pPr marL="0" indent="0" algn="r">
              <a:buNone/>
            </a:pPr>
            <a:r>
              <a:rPr lang="en-US" sz="900" dirty="0">
                <a:solidFill>
                  <a:srgbClr val="949594"/>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5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C41E1E"/>
          </a:solidFill>
          <a:ln/>
        </p:spPr>
        <p:txBody>
          <a:bodyPr/>
          <a:lstStyle/>
          <a:p>
            <a:endParaRPr lang="en-US"/>
          </a:p>
        </p:txBody>
      </p:sp>
      <p:sp>
        <p:nvSpPr>
          <p:cNvPr id="3" name="Shape 1"/>
          <p:cNvSpPr/>
          <p:nvPr/>
        </p:nvSpPr>
        <p:spPr>
          <a:xfrm>
            <a:off x="8778240" y="0"/>
            <a:ext cx="137160" cy="5143500"/>
          </a:xfrm>
          <a:prstGeom prst="rect">
            <a:avLst/>
          </a:prstGeom>
          <a:solidFill>
            <a:srgbClr val="C41E1E"/>
          </a:solidFill>
          <a:ln/>
        </p:spPr>
        <p:txBody>
          <a:bodyPr/>
          <a:lstStyle/>
          <a:p>
            <a:endParaRPr lang="en-US"/>
          </a:p>
        </p:txBody>
      </p:sp>
      <p:sp>
        <p:nvSpPr>
          <p:cNvPr id="4" name="Shape 2"/>
          <p:cNvSpPr/>
          <p:nvPr/>
        </p:nvSpPr>
        <p:spPr>
          <a:xfrm>
            <a:off x="8961120" y="0"/>
            <a:ext cx="73152" cy="5143500"/>
          </a:xfrm>
          <a:prstGeom prst="rect">
            <a:avLst/>
          </a:prstGeom>
          <a:solidFill>
            <a:srgbClr val="C41E1E">
              <a:alpha val="40000"/>
            </a:srgbClr>
          </a:solidFill>
          <a:ln/>
        </p:spPr>
        <p:txBody>
          <a:bodyPr/>
          <a:lstStyle/>
          <a:p>
            <a:endParaRPr lang="en-US"/>
          </a:p>
        </p:txBody>
      </p:sp>
      <p:pic>
        <p:nvPicPr>
          <p:cNvPr id="5" name="Image 0" descr="preencoded.png"/>
          <p:cNvPicPr>
            <a:picLocks noChangeAspect="1"/>
          </p:cNvPicPr>
          <p:nvPr/>
        </p:nvPicPr>
        <p:blipFill>
          <a:blip r:embed="rId3"/>
          <a:stretch>
            <a:fillRect/>
          </a:stretch>
        </p:blipFill>
        <p:spPr>
          <a:xfrm>
            <a:off x="365760" y="182880"/>
            <a:ext cx="320040" cy="320040"/>
          </a:xfrm>
          <a:prstGeom prst="rect">
            <a:avLst/>
          </a:prstGeom>
        </p:spPr>
      </p:pic>
      <p:sp>
        <p:nvSpPr>
          <p:cNvPr id="6" name="Text 3"/>
          <p:cNvSpPr/>
          <p:nvPr/>
        </p:nvSpPr>
        <p:spPr>
          <a:xfrm>
            <a:off x="777240" y="182880"/>
            <a:ext cx="7315200" cy="548640"/>
          </a:xfrm>
          <a:prstGeom prst="rect">
            <a:avLst/>
          </a:prstGeom>
          <a:noFill/>
          <a:ln/>
        </p:spPr>
        <p:txBody>
          <a:bodyPr wrap="square" lIns="0" tIns="0" rIns="0" bIns="0" rtlCol="0" anchor="ctr"/>
          <a:lstStyle/>
          <a:p>
            <a:pPr marL="0" indent="0">
              <a:buNone/>
            </a:pPr>
            <a:r>
              <a:rPr lang="en-US" sz="2800" b="1" dirty="0">
                <a:solidFill>
                  <a:srgbClr val="1A1A2E"/>
                </a:solidFill>
                <a:latin typeface="Georgia" pitchFamily="34" charset="0"/>
                <a:ea typeface="Georgia" pitchFamily="34" charset="-122"/>
                <a:cs typeface="Georgia" pitchFamily="34" charset="-120"/>
              </a:rPr>
              <a:t>Project Goal — 3 Prediction Tasks</a:t>
            </a:r>
            <a:endParaRPr lang="en-US" sz="2800" dirty="0"/>
          </a:p>
        </p:txBody>
      </p:sp>
      <p:sp>
        <p:nvSpPr>
          <p:cNvPr id="7" name="Text 4"/>
          <p:cNvSpPr/>
          <p:nvPr/>
        </p:nvSpPr>
        <p:spPr>
          <a:xfrm>
            <a:off x="777240" y="685800"/>
            <a:ext cx="7315200" cy="228600"/>
          </a:xfrm>
          <a:prstGeom prst="rect">
            <a:avLst/>
          </a:prstGeom>
          <a:noFill/>
          <a:ln/>
        </p:spPr>
        <p:txBody>
          <a:bodyPr wrap="square" lIns="0" tIns="0" rIns="0" bIns="0" rtlCol="0" anchor="ctr"/>
          <a:lstStyle/>
          <a:p>
            <a:pPr marL="0" indent="0">
              <a:buNone/>
            </a:pPr>
            <a:r>
              <a:rPr lang="en-US" sz="1100" dirty="0">
                <a:solidFill>
                  <a:srgbClr val="949594"/>
                </a:solidFill>
                <a:latin typeface="Calibri" pitchFamily="34" charset="0"/>
                <a:ea typeface="Calibri" pitchFamily="34" charset="-122"/>
                <a:cs typeface="Calibri" pitchFamily="34" charset="-120"/>
              </a:rPr>
              <a:t>Predict F1 race outcomes using 9 seasons of data, big data tools, and 3 ML models</a:t>
            </a:r>
            <a:endParaRPr lang="en-US" sz="1100" dirty="0"/>
          </a:p>
        </p:txBody>
      </p:sp>
      <p:sp>
        <p:nvSpPr>
          <p:cNvPr id="8" name="Shape 5"/>
          <p:cNvSpPr/>
          <p:nvPr/>
        </p:nvSpPr>
        <p:spPr>
          <a:xfrm>
            <a:off x="365760" y="1051560"/>
            <a:ext cx="2606040" cy="292608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US"/>
          </a:p>
        </p:txBody>
      </p:sp>
      <p:sp>
        <p:nvSpPr>
          <p:cNvPr id="9" name="Shape 6"/>
          <p:cNvSpPr/>
          <p:nvPr/>
        </p:nvSpPr>
        <p:spPr>
          <a:xfrm>
            <a:off x="365760" y="1051560"/>
            <a:ext cx="2606040" cy="54864"/>
          </a:xfrm>
          <a:prstGeom prst="rect">
            <a:avLst/>
          </a:prstGeom>
          <a:solidFill>
            <a:srgbClr val="C41E1E"/>
          </a:solidFill>
          <a:ln/>
        </p:spPr>
        <p:txBody>
          <a:bodyPr/>
          <a:lstStyle/>
          <a:p>
            <a:endParaRPr lang="en-US"/>
          </a:p>
        </p:txBody>
      </p:sp>
      <p:sp>
        <p:nvSpPr>
          <p:cNvPr id="10" name="Text 7"/>
          <p:cNvSpPr/>
          <p:nvPr/>
        </p:nvSpPr>
        <p:spPr>
          <a:xfrm>
            <a:off x="365760" y="1234440"/>
            <a:ext cx="2606040" cy="320040"/>
          </a:xfrm>
          <a:prstGeom prst="rect">
            <a:avLst/>
          </a:prstGeom>
          <a:noFill/>
          <a:ln/>
        </p:spPr>
        <p:txBody>
          <a:bodyPr wrap="square" lIns="0" tIns="0" rIns="0" bIns="0" rtlCol="0" anchor="ctr"/>
          <a:lstStyle/>
          <a:p>
            <a:pPr marL="0" indent="0" algn="ctr">
              <a:buNone/>
            </a:pPr>
            <a:r>
              <a:rPr lang="en-US" sz="1400" b="1" dirty="0">
                <a:solidFill>
                  <a:srgbClr val="C41E1E"/>
                </a:solidFill>
                <a:latin typeface="Georgia" pitchFamily="34" charset="0"/>
                <a:ea typeface="Georgia" pitchFamily="34" charset="-122"/>
                <a:cs typeface="Georgia" pitchFamily="34" charset="-120"/>
              </a:rPr>
              <a:t>Finishing Position</a:t>
            </a:r>
            <a:endParaRPr lang="en-US" sz="1400" dirty="0"/>
          </a:p>
        </p:txBody>
      </p:sp>
      <p:sp>
        <p:nvSpPr>
          <p:cNvPr id="11" name="Text 8"/>
          <p:cNvSpPr/>
          <p:nvPr/>
        </p:nvSpPr>
        <p:spPr>
          <a:xfrm>
            <a:off x="365760" y="1554480"/>
            <a:ext cx="2606040" cy="182880"/>
          </a:xfrm>
          <a:prstGeom prst="rect">
            <a:avLst/>
          </a:prstGeom>
          <a:noFill/>
          <a:ln/>
        </p:spPr>
        <p:txBody>
          <a:bodyPr wrap="square" lIns="0" tIns="0" rIns="0" bIns="0" rtlCol="0" anchor="ctr"/>
          <a:lstStyle/>
          <a:p>
            <a:pPr marL="0" indent="0" algn="ctr">
              <a:buNone/>
            </a:pPr>
            <a:r>
              <a:rPr lang="en-US" sz="800" dirty="0">
                <a:solidFill>
                  <a:srgbClr val="949594"/>
                </a:solidFill>
                <a:latin typeface="Calibri" pitchFamily="34" charset="0"/>
                <a:ea typeface="Calibri" pitchFamily="34" charset="-122"/>
                <a:cs typeface="Calibri" pitchFamily="34" charset="-120"/>
              </a:rPr>
              <a:t>REGRESSION</a:t>
            </a:r>
            <a:endParaRPr lang="en-US" sz="800" dirty="0"/>
          </a:p>
        </p:txBody>
      </p:sp>
      <p:sp>
        <p:nvSpPr>
          <p:cNvPr id="12" name="Text 9"/>
          <p:cNvSpPr/>
          <p:nvPr/>
        </p:nvSpPr>
        <p:spPr>
          <a:xfrm>
            <a:off x="502920" y="1828800"/>
            <a:ext cx="2331720" cy="457200"/>
          </a:xfrm>
          <a:prstGeom prst="rect">
            <a:avLst/>
          </a:prstGeom>
          <a:noFill/>
          <a:ln/>
        </p:spPr>
        <p:txBody>
          <a:bodyPr wrap="square" lIns="0" tIns="0" rIns="0" bIns="0" rtlCol="0" anchor="ctr"/>
          <a:lstStyle/>
          <a:p>
            <a:pPr marL="0" indent="0" algn="ctr">
              <a:buNone/>
            </a:pPr>
            <a:r>
              <a:rPr lang="en-US" sz="1000" dirty="0">
                <a:solidFill>
                  <a:srgbClr val="444444"/>
                </a:solidFill>
                <a:latin typeface="Calibri" pitchFamily="34" charset="0"/>
                <a:ea typeface="Calibri" pitchFamily="34" charset="-122"/>
                <a:cs typeface="Calibri" pitchFamily="34" charset="-120"/>
              </a:rPr>
              <a:t>Where will each driver</a:t>
            </a:r>
            <a:endParaRPr lang="en-US" sz="1000" dirty="0"/>
          </a:p>
          <a:p>
            <a:pPr marL="0" indent="0" algn="ctr">
              <a:buNone/>
            </a:pPr>
            <a:r>
              <a:rPr lang="en-US" sz="1000" dirty="0">
                <a:solidFill>
                  <a:srgbClr val="444444"/>
                </a:solidFill>
                <a:latin typeface="Calibri" pitchFamily="34" charset="0"/>
                <a:ea typeface="Calibri" pitchFamily="34" charset="-122"/>
                <a:cs typeface="Calibri" pitchFamily="34" charset="-120"/>
              </a:rPr>
              <a:t>finish? (P1 through P20)</a:t>
            </a:r>
            <a:endParaRPr lang="en-US" sz="1000" dirty="0"/>
          </a:p>
        </p:txBody>
      </p:sp>
      <p:sp>
        <p:nvSpPr>
          <p:cNvPr id="13" name="Text 10"/>
          <p:cNvSpPr/>
          <p:nvPr/>
        </p:nvSpPr>
        <p:spPr>
          <a:xfrm>
            <a:off x="365760" y="2423160"/>
            <a:ext cx="2606040" cy="502920"/>
          </a:xfrm>
          <a:prstGeom prst="rect">
            <a:avLst/>
          </a:prstGeom>
          <a:noFill/>
          <a:ln/>
        </p:spPr>
        <p:txBody>
          <a:bodyPr wrap="square" lIns="0" tIns="0" rIns="0" bIns="0" rtlCol="0" anchor="ctr"/>
          <a:lstStyle/>
          <a:p>
            <a:pPr marL="0" indent="0" algn="ctr">
              <a:buNone/>
            </a:pPr>
            <a:r>
              <a:rPr lang="en-US" sz="2600" b="1" dirty="0">
                <a:solidFill>
                  <a:srgbClr val="C41E1E"/>
                </a:solidFill>
                <a:latin typeface="Georgia" pitchFamily="34" charset="0"/>
                <a:ea typeface="Georgia" pitchFamily="34" charset="-122"/>
                <a:cs typeface="Georgia" pitchFamily="34" charset="-120"/>
              </a:rPr>
              <a:t>MAE: 2.096</a:t>
            </a:r>
            <a:endParaRPr lang="en-US" sz="2600" dirty="0"/>
          </a:p>
        </p:txBody>
      </p:sp>
      <p:sp>
        <p:nvSpPr>
          <p:cNvPr id="14" name="Text 11"/>
          <p:cNvSpPr/>
          <p:nvPr/>
        </p:nvSpPr>
        <p:spPr>
          <a:xfrm>
            <a:off x="365760" y="2926080"/>
            <a:ext cx="2606040" cy="228600"/>
          </a:xfrm>
          <a:prstGeom prst="rect">
            <a:avLst/>
          </a:prstGeom>
          <a:noFill/>
          <a:ln/>
        </p:spPr>
        <p:txBody>
          <a:bodyPr wrap="square" lIns="0" tIns="0" rIns="0" bIns="0" rtlCol="0" anchor="ctr"/>
          <a:lstStyle/>
          <a:p>
            <a:pPr marL="0" indent="0" algn="ctr">
              <a:buNone/>
            </a:pPr>
            <a:r>
              <a:rPr lang="en-US" sz="1000" dirty="0">
                <a:solidFill>
                  <a:srgbClr val="C41E1E"/>
                </a:solidFill>
                <a:latin typeface="Calibri" pitchFamily="34" charset="0"/>
                <a:ea typeface="Calibri" pitchFamily="34" charset="-122"/>
                <a:cs typeface="Calibri" pitchFamily="34" charset="-120"/>
              </a:rPr>
              <a:t>~2 positions off</a:t>
            </a:r>
            <a:endParaRPr lang="en-US" sz="1000" dirty="0"/>
          </a:p>
        </p:txBody>
      </p:sp>
      <p:sp>
        <p:nvSpPr>
          <p:cNvPr id="15" name="Text 12"/>
          <p:cNvSpPr/>
          <p:nvPr/>
        </p:nvSpPr>
        <p:spPr>
          <a:xfrm>
            <a:off x="365760" y="3246120"/>
            <a:ext cx="2606040" cy="228600"/>
          </a:xfrm>
          <a:prstGeom prst="rect">
            <a:avLst/>
          </a:prstGeom>
          <a:noFill/>
          <a:ln/>
        </p:spPr>
        <p:txBody>
          <a:bodyPr wrap="square" lIns="0" tIns="0" rIns="0" bIns="0" rtlCol="0" anchor="ctr"/>
          <a:lstStyle/>
          <a:p>
            <a:pPr marL="0" indent="0" algn="ctr">
              <a:buNone/>
            </a:pPr>
            <a:r>
              <a:rPr lang="en-US" sz="900" dirty="0">
                <a:solidFill>
                  <a:srgbClr val="949594"/>
                </a:solidFill>
                <a:latin typeface="Calibri" pitchFamily="34" charset="0"/>
                <a:ea typeface="Calibri" pitchFamily="34" charset="-122"/>
                <a:cs typeface="Calibri" pitchFamily="34" charset="-120"/>
              </a:rPr>
              <a:t>XGBoost wins</a:t>
            </a:r>
            <a:endParaRPr lang="en-US" sz="900" dirty="0"/>
          </a:p>
        </p:txBody>
      </p:sp>
      <p:sp>
        <p:nvSpPr>
          <p:cNvPr id="16" name="Shape 13"/>
          <p:cNvSpPr/>
          <p:nvPr/>
        </p:nvSpPr>
        <p:spPr>
          <a:xfrm>
            <a:off x="3154680" y="1051560"/>
            <a:ext cx="2606040" cy="292608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US"/>
          </a:p>
        </p:txBody>
      </p:sp>
      <p:sp>
        <p:nvSpPr>
          <p:cNvPr id="17" name="Shape 14"/>
          <p:cNvSpPr/>
          <p:nvPr/>
        </p:nvSpPr>
        <p:spPr>
          <a:xfrm>
            <a:off x="3154680" y="1051560"/>
            <a:ext cx="2606040" cy="54864"/>
          </a:xfrm>
          <a:prstGeom prst="rect">
            <a:avLst/>
          </a:prstGeom>
          <a:solidFill>
            <a:srgbClr val="2563EB"/>
          </a:solidFill>
          <a:ln/>
        </p:spPr>
        <p:txBody>
          <a:bodyPr/>
          <a:lstStyle/>
          <a:p>
            <a:endParaRPr lang="en-US"/>
          </a:p>
        </p:txBody>
      </p:sp>
      <p:sp>
        <p:nvSpPr>
          <p:cNvPr id="18" name="Text 15"/>
          <p:cNvSpPr/>
          <p:nvPr/>
        </p:nvSpPr>
        <p:spPr>
          <a:xfrm>
            <a:off x="3154680" y="1234440"/>
            <a:ext cx="2606040" cy="320040"/>
          </a:xfrm>
          <a:prstGeom prst="rect">
            <a:avLst/>
          </a:prstGeom>
          <a:noFill/>
          <a:ln/>
        </p:spPr>
        <p:txBody>
          <a:bodyPr wrap="square" lIns="0" tIns="0" rIns="0" bIns="0" rtlCol="0" anchor="ctr"/>
          <a:lstStyle/>
          <a:p>
            <a:pPr marL="0" indent="0" algn="ctr">
              <a:buNone/>
            </a:pPr>
            <a:r>
              <a:rPr lang="en-US" sz="1400" b="1" dirty="0">
                <a:solidFill>
                  <a:srgbClr val="2563EB"/>
                </a:solidFill>
                <a:latin typeface="Georgia" pitchFamily="34" charset="0"/>
                <a:ea typeface="Georgia" pitchFamily="34" charset="-122"/>
                <a:cs typeface="Georgia" pitchFamily="34" charset="-120"/>
              </a:rPr>
              <a:t>Podium Finish</a:t>
            </a:r>
            <a:endParaRPr lang="en-US" sz="1400" dirty="0"/>
          </a:p>
        </p:txBody>
      </p:sp>
      <p:sp>
        <p:nvSpPr>
          <p:cNvPr id="19" name="Text 16"/>
          <p:cNvSpPr/>
          <p:nvPr/>
        </p:nvSpPr>
        <p:spPr>
          <a:xfrm>
            <a:off x="3154680" y="1554480"/>
            <a:ext cx="2606040" cy="182880"/>
          </a:xfrm>
          <a:prstGeom prst="rect">
            <a:avLst/>
          </a:prstGeom>
          <a:noFill/>
          <a:ln/>
        </p:spPr>
        <p:txBody>
          <a:bodyPr wrap="square" lIns="0" tIns="0" rIns="0" bIns="0" rtlCol="0" anchor="ctr"/>
          <a:lstStyle/>
          <a:p>
            <a:pPr marL="0" indent="0" algn="ctr">
              <a:buNone/>
            </a:pPr>
            <a:r>
              <a:rPr lang="en-US" sz="800" dirty="0">
                <a:solidFill>
                  <a:srgbClr val="949594"/>
                </a:solidFill>
                <a:latin typeface="Calibri" pitchFamily="34" charset="0"/>
                <a:ea typeface="Calibri" pitchFamily="34" charset="-122"/>
                <a:cs typeface="Calibri" pitchFamily="34" charset="-120"/>
              </a:rPr>
              <a:t>CLASSIFICATION</a:t>
            </a:r>
            <a:endParaRPr lang="en-US" sz="800" dirty="0"/>
          </a:p>
        </p:txBody>
      </p:sp>
      <p:sp>
        <p:nvSpPr>
          <p:cNvPr id="20" name="Text 17"/>
          <p:cNvSpPr/>
          <p:nvPr/>
        </p:nvSpPr>
        <p:spPr>
          <a:xfrm>
            <a:off x="3291840" y="1828800"/>
            <a:ext cx="2331720" cy="457200"/>
          </a:xfrm>
          <a:prstGeom prst="rect">
            <a:avLst/>
          </a:prstGeom>
          <a:noFill/>
          <a:ln/>
        </p:spPr>
        <p:txBody>
          <a:bodyPr wrap="square" lIns="0" tIns="0" rIns="0" bIns="0" rtlCol="0" anchor="ctr"/>
          <a:lstStyle/>
          <a:p>
            <a:pPr marL="0" indent="0" algn="ctr">
              <a:buNone/>
            </a:pPr>
            <a:r>
              <a:rPr lang="en-US" sz="1000" dirty="0">
                <a:solidFill>
                  <a:srgbClr val="444444"/>
                </a:solidFill>
                <a:latin typeface="Calibri" pitchFamily="34" charset="0"/>
                <a:ea typeface="Calibri" pitchFamily="34" charset="-122"/>
                <a:cs typeface="Calibri" pitchFamily="34" charset="-120"/>
              </a:rPr>
              <a:t>Will this driver finish</a:t>
            </a:r>
            <a:endParaRPr lang="en-US" sz="1000" dirty="0"/>
          </a:p>
          <a:p>
            <a:pPr marL="0" indent="0" algn="ctr">
              <a:buNone/>
            </a:pPr>
            <a:r>
              <a:rPr lang="en-US" sz="1000" dirty="0">
                <a:solidFill>
                  <a:srgbClr val="444444"/>
                </a:solidFill>
                <a:latin typeface="Calibri" pitchFamily="34" charset="0"/>
                <a:ea typeface="Calibri" pitchFamily="34" charset="-122"/>
                <a:cs typeface="Calibri" pitchFamily="34" charset="-120"/>
              </a:rPr>
              <a:t>in the top 3?</a:t>
            </a:r>
            <a:endParaRPr lang="en-US" sz="1000" dirty="0"/>
          </a:p>
        </p:txBody>
      </p:sp>
      <p:sp>
        <p:nvSpPr>
          <p:cNvPr id="21" name="Text 18"/>
          <p:cNvSpPr/>
          <p:nvPr/>
        </p:nvSpPr>
        <p:spPr>
          <a:xfrm>
            <a:off x="3154680" y="2423160"/>
            <a:ext cx="2606040" cy="502920"/>
          </a:xfrm>
          <a:prstGeom prst="rect">
            <a:avLst/>
          </a:prstGeom>
          <a:noFill/>
          <a:ln/>
        </p:spPr>
        <p:txBody>
          <a:bodyPr wrap="square" lIns="0" tIns="0" rIns="0" bIns="0" rtlCol="0" anchor="ctr"/>
          <a:lstStyle/>
          <a:p>
            <a:pPr marL="0" indent="0" algn="ctr">
              <a:buNone/>
            </a:pPr>
            <a:r>
              <a:rPr lang="en-US" sz="2600" b="1" dirty="0">
                <a:solidFill>
                  <a:srgbClr val="2563EB"/>
                </a:solidFill>
                <a:latin typeface="Georgia" pitchFamily="34" charset="0"/>
                <a:ea typeface="Georgia" pitchFamily="34" charset="-122"/>
                <a:cs typeface="Georgia" pitchFamily="34" charset="-120"/>
              </a:rPr>
              <a:t>93.4%</a:t>
            </a:r>
            <a:endParaRPr lang="en-US" sz="2600" dirty="0"/>
          </a:p>
        </p:txBody>
      </p:sp>
      <p:sp>
        <p:nvSpPr>
          <p:cNvPr id="22" name="Text 19"/>
          <p:cNvSpPr/>
          <p:nvPr/>
        </p:nvSpPr>
        <p:spPr>
          <a:xfrm>
            <a:off x="3154680" y="2926080"/>
            <a:ext cx="2606040" cy="228600"/>
          </a:xfrm>
          <a:prstGeom prst="rect">
            <a:avLst/>
          </a:prstGeom>
          <a:noFill/>
          <a:ln/>
        </p:spPr>
        <p:txBody>
          <a:bodyPr wrap="square" lIns="0" tIns="0" rIns="0" bIns="0" rtlCol="0" anchor="ctr"/>
          <a:lstStyle/>
          <a:p>
            <a:pPr marL="0" indent="0" algn="ctr">
              <a:buNone/>
            </a:pPr>
            <a:r>
              <a:rPr lang="en-US" sz="1000" dirty="0">
                <a:solidFill>
                  <a:srgbClr val="2563EB"/>
                </a:solidFill>
                <a:latin typeface="Calibri" pitchFamily="34" charset="0"/>
                <a:ea typeface="Calibri" pitchFamily="34" charset="-122"/>
                <a:cs typeface="Calibri" pitchFamily="34" charset="-120"/>
              </a:rPr>
              <a:t>Accuracy</a:t>
            </a:r>
            <a:endParaRPr lang="en-US" sz="1000" dirty="0"/>
          </a:p>
        </p:txBody>
      </p:sp>
      <p:sp>
        <p:nvSpPr>
          <p:cNvPr id="23" name="Text 20"/>
          <p:cNvSpPr/>
          <p:nvPr/>
        </p:nvSpPr>
        <p:spPr>
          <a:xfrm>
            <a:off x="3154680" y="3246120"/>
            <a:ext cx="2606040" cy="228600"/>
          </a:xfrm>
          <a:prstGeom prst="rect">
            <a:avLst/>
          </a:prstGeom>
          <a:noFill/>
          <a:ln/>
        </p:spPr>
        <p:txBody>
          <a:bodyPr wrap="square" lIns="0" tIns="0" rIns="0" bIns="0" rtlCol="0" anchor="ctr"/>
          <a:lstStyle/>
          <a:p>
            <a:pPr marL="0" indent="0" algn="ctr">
              <a:buNone/>
            </a:pPr>
            <a:r>
              <a:rPr lang="en-US" sz="900" dirty="0">
                <a:solidFill>
                  <a:srgbClr val="949594"/>
                </a:solidFill>
                <a:latin typeface="Calibri" pitchFamily="34" charset="0"/>
                <a:ea typeface="Calibri" pitchFamily="34" charset="-122"/>
                <a:cs typeface="Calibri" pitchFamily="34" charset="-120"/>
              </a:rPr>
              <a:t>Grad Boost wins</a:t>
            </a:r>
            <a:endParaRPr lang="en-US" sz="900" dirty="0"/>
          </a:p>
        </p:txBody>
      </p:sp>
      <p:sp>
        <p:nvSpPr>
          <p:cNvPr id="24" name="Shape 21"/>
          <p:cNvSpPr/>
          <p:nvPr/>
        </p:nvSpPr>
        <p:spPr>
          <a:xfrm>
            <a:off x="5943600" y="1051560"/>
            <a:ext cx="2606040" cy="292608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US"/>
          </a:p>
        </p:txBody>
      </p:sp>
      <p:sp>
        <p:nvSpPr>
          <p:cNvPr id="25" name="Shape 22"/>
          <p:cNvSpPr/>
          <p:nvPr/>
        </p:nvSpPr>
        <p:spPr>
          <a:xfrm>
            <a:off x="5943600" y="1051560"/>
            <a:ext cx="2606040" cy="54864"/>
          </a:xfrm>
          <a:prstGeom prst="rect">
            <a:avLst/>
          </a:prstGeom>
          <a:solidFill>
            <a:srgbClr val="059669"/>
          </a:solidFill>
          <a:ln/>
        </p:spPr>
        <p:txBody>
          <a:bodyPr/>
          <a:lstStyle/>
          <a:p>
            <a:endParaRPr lang="en-US"/>
          </a:p>
        </p:txBody>
      </p:sp>
      <p:sp>
        <p:nvSpPr>
          <p:cNvPr id="26" name="Text 23"/>
          <p:cNvSpPr/>
          <p:nvPr/>
        </p:nvSpPr>
        <p:spPr>
          <a:xfrm>
            <a:off x="5943600" y="1234440"/>
            <a:ext cx="2606040" cy="320040"/>
          </a:xfrm>
          <a:prstGeom prst="rect">
            <a:avLst/>
          </a:prstGeom>
          <a:noFill/>
          <a:ln/>
        </p:spPr>
        <p:txBody>
          <a:bodyPr wrap="square" lIns="0" tIns="0" rIns="0" bIns="0" rtlCol="0" anchor="ctr"/>
          <a:lstStyle/>
          <a:p>
            <a:pPr marL="0" indent="0" algn="ctr">
              <a:buNone/>
            </a:pPr>
            <a:r>
              <a:rPr lang="en-US" sz="1400" b="1" dirty="0">
                <a:solidFill>
                  <a:srgbClr val="059669"/>
                </a:solidFill>
                <a:latin typeface="Georgia" pitchFamily="34" charset="0"/>
                <a:ea typeface="Georgia" pitchFamily="34" charset="-122"/>
                <a:cs typeface="Georgia" pitchFamily="34" charset="-120"/>
              </a:rPr>
              <a:t>Race Winner</a:t>
            </a:r>
            <a:endParaRPr lang="en-US" sz="1400" dirty="0"/>
          </a:p>
        </p:txBody>
      </p:sp>
      <p:sp>
        <p:nvSpPr>
          <p:cNvPr id="27" name="Text 24"/>
          <p:cNvSpPr/>
          <p:nvPr/>
        </p:nvSpPr>
        <p:spPr>
          <a:xfrm>
            <a:off x="5943600" y="1554480"/>
            <a:ext cx="2606040" cy="182880"/>
          </a:xfrm>
          <a:prstGeom prst="rect">
            <a:avLst/>
          </a:prstGeom>
          <a:noFill/>
          <a:ln/>
        </p:spPr>
        <p:txBody>
          <a:bodyPr wrap="square" lIns="0" tIns="0" rIns="0" bIns="0" rtlCol="0" anchor="ctr"/>
          <a:lstStyle/>
          <a:p>
            <a:pPr marL="0" indent="0" algn="ctr">
              <a:buNone/>
            </a:pPr>
            <a:r>
              <a:rPr lang="en-US" sz="800" dirty="0">
                <a:solidFill>
                  <a:srgbClr val="949594"/>
                </a:solidFill>
                <a:latin typeface="Calibri" pitchFamily="34" charset="0"/>
                <a:ea typeface="Calibri" pitchFamily="34" charset="-122"/>
                <a:cs typeface="Calibri" pitchFamily="34" charset="-120"/>
              </a:rPr>
              <a:t>RANKING</a:t>
            </a:r>
            <a:endParaRPr lang="en-US" sz="800" dirty="0"/>
          </a:p>
        </p:txBody>
      </p:sp>
      <p:sp>
        <p:nvSpPr>
          <p:cNvPr id="28" name="Text 25"/>
          <p:cNvSpPr/>
          <p:nvPr/>
        </p:nvSpPr>
        <p:spPr>
          <a:xfrm>
            <a:off x="6080760" y="1828800"/>
            <a:ext cx="2331720" cy="457200"/>
          </a:xfrm>
          <a:prstGeom prst="rect">
            <a:avLst/>
          </a:prstGeom>
          <a:noFill/>
          <a:ln/>
        </p:spPr>
        <p:txBody>
          <a:bodyPr wrap="square" lIns="0" tIns="0" rIns="0" bIns="0" rtlCol="0" anchor="ctr"/>
          <a:lstStyle/>
          <a:p>
            <a:pPr marL="0" indent="0" algn="ctr">
              <a:buNone/>
            </a:pPr>
            <a:r>
              <a:rPr lang="en-US" sz="1000" dirty="0">
                <a:solidFill>
                  <a:srgbClr val="444444"/>
                </a:solidFill>
                <a:latin typeface="Calibri" pitchFamily="34" charset="0"/>
                <a:ea typeface="Calibri" pitchFamily="34" charset="-122"/>
                <a:cs typeface="Calibri" pitchFamily="34" charset="-120"/>
              </a:rPr>
              <a:t>Who will win?</a:t>
            </a:r>
            <a:endParaRPr lang="en-US" sz="1000" dirty="0"/>
          </a:p>
          <a:p>
            <a:pPr marL="0" indent="0" algn="ctr">
              <a:buNone/>
            </a:pPr>
            <a:r>
              <a:rPr lang="en-US" sz="1000" dirty="0">
                <a:solidFill>
                  <a:srgbClr val="444444"/>
                </a:solidFill>
                <a:latin typeface="Calibri" pitchFamily="34" charset="0"/>
                <a:ea typeface="Calibri" pitchFamily="34" charset="-122"/>
                <a:cs typeface="Calibri" pitchFamily="34" charset="-120"/>
              </a:rPr>
              <a:t>Rank all 20 drivers</a:t>
            </a:r>
            <a:endParaRPr lang="en-US" sz="1000" dirty="0"/>
          </a:p>
        </p:txBody>
      </p:sp>
      <p:sp>
        <p:nvSpPr>
          <p:cNvPr id="29" name="Text 26"/>
          <p:cNvSpPr/>
          <p:nvPr/>
        </p:nvSpPr>
        <p:spPr>
          <a:xfrm>
            <a:off x="5943600" y="2423160"/>
            <a:ext cx="2606040" cy="502920"/>
          </a:xfrm>
          <a:prstGeom prst="rect">
            <a:avLst/>
          </a:prstGeom>
          <a:noFill/>
          <a:ln/>
        </p:spPr>
        <p:txBody>
          <a:bodyPr wrap="square" lIns="0" tIns="0" rIns="0" bIns="0" rtlCol="0" anchor="ctr"/>
          <a:lstStyle/>
          <a:p>
            <a:pPr marL="0" indent="0" algn="ctr">
              <a:buNone/>
            </a:pPr>
            <a:r>
              <a:rPr lang="en-US" sz="2600" b="1" dirty="0">
                <a:solidFill>
                  <a:srgbClr val="059669"/>
                </a:solidFill>
                <a:latin typeface="Georgia" pitchFamily="34" charset="0"/>
                <a:ea typeface="Georgia" pitchFamily="34" charset="-122"/>
                <a:cs typeface="Georgia" pitchFamily="34" charset="-120"/>
              </a:rPr>
              <a:t>77.8%</a:t>
            </a:r>
            <a:endParaRPr lang="en-US" sz="2600" dirty="0"/>
          </a:p>
        </p:txBody>
      </p:sp>
      <p:sp>
        <p:nvSpPr>
          <p:cNvPr id="30" name="Text 27"/>
          <p:cNvSpPr/>
          <p:nvPr/>
        </p:nvSpPr>
        <p:spPr>
          <a:xfrm>
            <a:off x="5943600" y="2926080"/>
            <a:ext cx="2606040" cy="228600"/>
          </a:xfrm>
          <a:prstGeom prst="rect">
            <a:avLst/>
          </a:prstGeom>
          <a:noFill/>
          <a:ln/>
        </p:spPr>
        <p:txBody>
          <a:bodyPr wrap="square" lIns="0" tIns="0" rIns="0" bIns="0" rtlCol="0" anchor="ctr"/>
          <a:lstStyle/>
          <a:p>
            <a:pPr marL="0" indent="0" algn="ctr">
              <a:buNone/>
            </a:pPr>
            <a:r>
              <a:rPr lang="en-US" sz="1000" dirty="0">
                <a:solidFill>
                  <a:srgbClr val="059669"/>
                </a:solidFill>
                <a:latin typeface="Calibri" pitchFamily="34" charset="0"/>
                <a:ea typeface="Calibri" pitchFamily="34" charset="-122"/>
                <a:cs typeface="Calibri" pitchFamily="34" charset="-120"/>
              </a:rPr>
              <a:t>Correct winner</a:t>
            </a:r>
            <a:endParaRPr lang="en-US" sz="1000" dirty="0"/>
          </a:p>
        </p:txBody>
      </p:sp>
      <p:sp>
        <p:nvSpPr>
          <p:cNvPr id="31" name="Text 28"/>
          <p:cNvSpPr/>
          <p:nvPr/>
        </p:nvSpPr>
        <p:spPr>
          <a:xfrm>
            <a:off x="5943600" y="3246120"/>
            <a:ext cx="2606040" cy="228600"/>
          </a:xfrm>
          <a:prstGeom prst="rect">
            <a:avLst/>
          </a:prstGeom>
          <a:noFill/>
          <a:ln/>
        </p:spPr>
        <p:txBody>
          <a:bodyPr wrap="square" lIns="0" tIns="0" rIns="0" bIns="0" rtlCol="0" anchor="ctr"/>
          <a:lstStyle/>
          <a:p>
            <a:pPr marL="0" indent="0" algn="ctr">
              <a:buNone/>
            </a:pPr>
            <a:r>
              <a:rPr lang="en-US" sz="900" dirty="0">
                <a:solidFill>
                  <a:srgbClr val="949594"/>
                </a:solidFill>
                <a:latin typeface="Calibri" pitchFamily="34" charset="0"/>
                <a:ea typeface="Calibri" pitchFamily="34" charset="-122"/>
                <a:cs typeface="Calibri" pitchFamily="34" charset="-120"/>
              </a:rPr>
              <a:t>Grad Boost wins</a:t>
            </a:r>
            <a:endParaRPr lang="en-US" sz="900" dirty="0"/>
          </a:p>
        </p:txBody>
      </p:sp>
      <p:sp>
        <p:nvSpPr>
          <p:cNvPr id="32" name="Shape 29"/>
          <p:cNvSpPr/>
          <p:nvPr/>
        </p:nvSpPr>
        <p:spPr>
          <a:xfrm>
            <a:off x="365760" y="4160520"/>
            <a:ext cx="8321040" cy="457200"/>
          </a:xfrm>
          <a:prstGeom prst="rect">
            <a:avLst/>
          </a:prstGeom>
          <a:solidFill>
            <a:srgbClr val="E6F4EA"/>
          </a:solidFill>
          <a:ln/>
          <a:effectLst>
            <a:outerShdw blurRad="50800" dist="25400" dir="8100000" algn="bl" rotWithShape="0">
              <a:srgbClr val="000000">
                <a:alpha val="10000"/>
              </a:srgbClr>
            </a:outerShdw>
          </a:effectLst>
        </p:spPr>
        <p:txBody>
          <a:bodyPr/>
          <a:lstStyle/>
          <a:p>
            <a:endParaRPr lang="en-US"/>
          </a:p>
        </p:txBody>
      </p:sp>
      <p:sp>
        <p:nvSpPr>
          <p:cNvPr id="33" name="Text 30"/>
          <p:cNvSpPr/>
          <p:nvPr/>
        </p:nvSpPr>
        <p:spPr>
          <a:xfrm>
            <a:off x="548640" y="4206240"/>
            <a:ext cx="8046720" cy="320040"/>
          </a:xfrm>
          <a:prstGeom prst="rect">
            <a:avLst/>
          </a:prstGeom>
          <a:noFill/>
          <a:ln/>
        </p:spPr>
        <p:txBody>
          <a:bodyPr wrap="square" lIns="0" tIns="0" rIns="0" bIns="0" rtlCol="0" anchor="ctr"/>
          <a:lstStyle/>
          <a:p>
            <a:pPr marL="0" indent="0">
              <a:buNone/>
            </a:pPr>
            <a:r>
              <a:rPr lang="en-US" sz="1100" b="1" dirty="0">
                <a:solidFill>
                  <a:srgbClr val="059669"/>
                </a:solidFill>
                <a:latin typeface="Calibri" pitchFamily="34" charset="0"/>
                <a:ea typeface="Calibri" pitchFamily="34" charset="-122"/>
                <a:cs typeface="Calibri" pitchFamily="34" charset="-120"/>
              </a:rPr>
              <a:t>100% Top-3 Accuracy — the actual winner is ALWAYS in our model's top 3 predictions across all races tested</a:t>
            </a:r>
            <a:endParaRPr lang="en-US" sz="1100" dirty="0"/>
          </a:p>
        </p:txBody>
      </p:sp>
      <p:sp>
        <p:nvSpPr>
          <p:cNvPr id="34" name="Text 31"/>
          <p:cNvSpPr/>
          <p:nvPr/>
        </p:nvSpPr>
        <p:spPr>
          <a:xfrm>
            <a:off x="457200" y="4709160"/>
            <a:ext cx="6400800" cy="365760"/>
          </a:xfrm>
          <a:prstGeom prst="rect">
            <a:avLst/>
          </a:prstGeom>
          <a:noFill/>
          <a:ln/>
        </p:spPr>
        <p:txBody>
          <a:bodyPr wrap="square" rtlCol="0" anchor="ctr"/>
          <a:lstStyle/>
          <a:p>
            <a:pPr marL="0" indent="0">
              <a:buNone/>
            </a:pPr>
            <a:r>
              <a:rPr lang="en-US" sz="900" dirty="0">
                <a:solidFill>
                  <a:srgbClr val="949594"/>
                </a:solidFill>
                <a:latin typeface="Calibri" pitchFamily="34" charset="0"/>
                <a:ea typeface="Calibri" pitchFamily="34" charset="-122"/>
                <a:cs typeface="Calibri" pitchFamily="34" charset="-120"/>
              </a:rPr>
              <a:t>Speaker 1 — Problem &amp; Architecture</a:t>
            </a:r>
            <a:endParaRPr lang="en-US" sz="900" dirty="0"/>
          </a:p>
        </p:txBody>
      </p:sp>
      <p:sp>
        <p:nvSpPr>
          <p:cNvPr id="35" name="Text 32"/>
          <p:cNvSpPr/>
          <p:nvPr/>
        </p:nvSpPr>
        <p:spPr>
          <a:xfrm>
            <a:off x="8412480" y="4709160"/>
            <a:ext cx="548640" cy="365760"/>
          </a:xfrm>
          <a:prstGeom prst="rect">
            <a:avLst/>
          </a:prstGeom>
          <a:noFill/>
          <a:ln/>
        </p:spPr>
        <p:txBody>
          <a:bodyPr wrap="square" rtlCol="0" anchor="ctr"/>
          <a:lstStyle/>
          <a:p>
            <a:pPr marL="0" indent="0" algn="r">
              <a:buNone/>
            </a:pPr>
            <a:r>
              <a:rPr lang="en-US" sz="900" dirty="0">
                <a:solidFill>
                  <a:srgbClr val="949594"/>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5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C41E1E"/>
          </a:solidFill>
          <a:ln/>
        </p:spPr>
        <p:txBody>
          <a:bodyPr/>
          <a:lstStyle/>
          <a:p>
            <a:endParaRPr lang="en-US"/>
          </a:p>
        </p:txBody>
      </p:sp>
      <p:sp>
        <p:nvSpPr>
          <p:cNvPr id="3" name="Shape 1"/>
          <p:cNvSpPr/>
          <p:nvPr/>
        </p:nvSpPr>
        <p:spPr>
          <a:xfrm>
            <a:off x="8778240" y="0"/>
            <a:ext cx="137160" cy="5143500"/>
          </a:xfrm>
          <a:prstGeom prst="rect">
            <a:avLst/>
          </a:prstGeom>
          <a:solidFill>
            <a:srgbClr val="C41E1E"/>
          </a:solidFill>
          <a:ln/>
        </p:spPr>
        <p:txBody>
          <a:bodyPr/>
          <a:lstStyle/>
          <a:p>
            <a:endParaRPr lang="en-US"/>
          </a:p>
        </p:txBody>
      </p:sp>
      <p:sp>
        <p:nvSpPr>
          <p:cNvPr id="4" name="Shape 2"/>
          <p:cNvSpPr/>
          <p:nvPr/>
        </p:nvSpPr>
        <p:spPr>
          <a:xfrm>
            <a:off x="8961120" y="0"/>
            <a:ext cx="73152" cy="5143500"/>
          </a:xfrm>
          <a:prstGeom prst="rect">
            <a:avLst/>
          </a:prstGeom>
          <a:solidFill>
            <a:srgbClr val="C41E1E">
              <a:alpha val="40000"/>
            </a:srgbClr>
          </a:solidFill>
          <a:ln/>
        </p:spPr>
        <p:txBody>
          <a:bodyPr/>
          <a:lstStyle/>
          <a:p>
            <a:endParaRPr lang="en-US"/>
          </a:p>
        </p:txBody>
      </p:sp>
      <p:sp>
        <p:nvSpPr>
          <p:cNvPr id="5" name="Text 3"/>
          <p:cNvSpPr/>
          <p:nvPr/>
        </p:nvSpPr>
        <p:spPr>
          <a:xfrm>
            <a:off x="731520" y="182880"/>
            <a:ext cx="7315200" cy="548640"/>
          </a:xfrm>
          <a:prstGeom prst="rect">
            <a:avLst/>
          </a:prstGeom>
          <a:noFill/>
          <a:ln/>
        </p:spPr>
        <p:txBody>
          <a:bodyPr wrap="square" lIns="0" tIns="0" rIns="0" bIns="0" rtlCol="0" anchor="ctr"/>
          <a:lstStyle/>
          <a:p>
            <a:pPr marL="0" indent="0">
              <a:buNone/>
            </a:pPr>
            <a:r>
              <a:rPr lang="en-US" sz="2800" b="1" dirty="0">
                <a:solidFill>
                  <a:srgbClr val="1A1A2E"/>
                </a:solidFill>
                <a:latin typeface="Georgia" pitchFamily="34" charset="0"/>
                <a:ea typeface="Georgia" pitchFamily="34" charset="-122"/>
                <a:cs typeface="Georgia" pitchFamily="34" charset="-120"/>
              </a:rPr>
              <a:t>3-Phase Methodology</a:t>
            </a:r>
            <a:endParaRPr lang="en-US" sz="2800" dirty="0"/>
          </a:p>
        </p:txBody>
      </p:sp>
      <p:sp>
        <p:nvSpPr>
          <p:cNvPr id="6" name="Text 4"/>
          <p:cNvSpPr/>
          <p:nvPr/>
        </p:nvSpPr>
        <p:spPr>
          <a:xfrm>
            <a:off x="731520" y="685800"/>
            <a:ext cx="7315200" cy="228600"/>
          </a:xfrm>
          <a:prstGeom prst="rect">
            <a:avLst/>
          </a:prstGeom>
          <a:noFill/>
          <a:ln/>
        </p:spPr>
        <p:txBody>
          <a:bodyPr wrap="square" lIns="0" tIns="0" rIns="0" bIns="0" rtlCol="0" anchor="ctr"/>
          <a:lstStyle/>
          <a:p>
            <a:pPr marL="0" indent="0">
              <a:buNone/>
            </a:pPr>
            <a:r>
              <a:rPr lang="en-US" sz="1100" dirty="0">
                <a:solidFill>
                  <a:srgbClr val="949594"/>
                </a:solidFill>
                <a:latin typeface="Calibri" pitchFamily="34" charset="0"/>
                <a:ea typeface="Calibri" pitchFamily="34" charset="-122"/>
                <a:cs typeface="Calibri" pitchFamily="34" charset="-120"/>
              </a:rPr>
              <a:t>Each phase deliberately adds new data sources to systematically improve accuracy</a:t>
            </a:r>
            <a:endParaRPr lang="en-US" sz="1100" dirty="0"/>
          </a:p>
        </p:txBody>
      </p:sp>
      <p:sp>
        <p:nvSpPr>
          <p:cNvPr id="7" name="Shape 5"/>
          <p:cNvSpPr/>
          <p:nvPr/>
        </p:nvSpPr>
        <p:spPr>
          <a:xfrm>
            <a:off x="365760" y="1051560"/>
            <a:ext cx="2606040" cy="3200400"/>
          </a:xfrm>
          <a:prstGeom prst="rect">
            <a:avLst/>
          </a:prstGeom>
          <a:solidFill>
            <a:srgbClr val="E8F0FE"/>
          </a:solidFill>
          <a:ln/>
          <a:effectLst>
            <a:outerShdw blurRad="50800" dist="25400" dir="8100000" algn="bl" rotWithShape="0">
              <a:srgbClr val="000000">
                <a:alpha val="10000"/>
              </a:srgbClr>
            </a:outerShdw>
          </a:effectLst>
        </p:spPr>
        <p:txBody>
          <a:bodyPr/>
          <a:lstStyle/>
          <a:p>
            <a:endParaRPr lang="en-US"/>
          </a:p>
        </p:txBody>
      </p:sp>
      <p:sp>
        <p:nvSpPr>
          <p:cNvPr id="8" name="Shape 6"/>
          <p:cNvSpPr/>
          <p:nvPr/>
        </p:nvSpPr>
        <p:spPr>
          <a:xfrm>
            <a:off x="365760" y="1051560"/>
            <a:ext cx="2606040" cy="54864"/>
          </a:xfrm>
          <a:prstGeom prst="rect">
            <a:avLst/>
          </a:prstGeom>
          <a:solidFill>
            <a:srgbClr val="2563EB"/>
          </a:solidFill>
          <a:ln/>
        </p:spPr>
        <p:txBody>
          <a:bodyPr/>
          <a:lstStyle/>
          <a:p>
            <a:endParaRPr lang="en-US"/>
          </a:p>
        </p:txBody>
      </p:sp>
      <p:sp>
        <p:nvSpPr>
          <p:cNvPr id="9" name="Text 7"/>
          <p:cNvSpPr/>
          <p:nvPr/>
        </p:nvSpPr>
        <p:spPr>
          <a:xfrm>
            <a:off x="365760" y="1188720"/>
            <a:ext cx="2606040" cy="365760"/>
          </a:xfrm>
          <a:prstGeom prst="rect">
            <a:avLst/>
          </a:prstGeom>
          <a:noFill/>
          <a:ln/>
        </p:spPr>
        <p:txBody>
          <a:bodyPr wrap="square" lIns="0" tIns="0" rIns="0" bIns="0" rtlCol="0" anchor="ctr"/>
          <a:lstStyle/>
          <a:p>
            <a:pPr marL="0" indent="0" algn="ctr">
              <a:buNone/>
            </a:pPr>
            <a:r>
              <a:rPr lang="en-US" sz="1800" b="1" dirty="0">
                <a:solidFill>
                  <a:srgbClr val="2563EB"/>
                </a:solidFill>
                <a:latin typeface="Georgia" pitchFamily="34" charset="0"/>
                <a:ea typeface="Georgia" pitchFamily="34" charset="-122"/>
                <a:cs typeface="Georgia" pitchFamily="34" charset="-120"/>
              </a:rPr>
              <a:t>Phase 1</a:t>
            </a:r>
            <a:endParaRPr lang="en-US" sz="1800" dirty="0"/>
          </a:p>
        </p:txBody>
      </p:sp>
      <p:sp>
        <p:nvSpPr>
          <p:cNvPr id="10" name="Text 8"/>
          <p:cNvSpPr/>
          <p:nvPr/>
        </p:nvSpPr>
        <p:spPr>
          <a:xfrm>
            <a:off x="365760" y="1554480"/>
            <a:ext cx="2606040" cy="228600"/>
          </a:xfrm>
          <a:prstGeom prst="rect">
            <a:avLst/>
          </a:prstGeom>
          <a:noFill/>
          <a:ln/>
        </p:spPr>
        <p:txBody>
          <a:bodyPr wrap="square" lIns="0" tIns="0" rIns="0" bIns="0" rtlCol="0" anchor="ctr"/>
          <a:lstStyle/>
          <a:p>
            <a:pPr marL="0" indent="0" algn="ctr">
              <a:buNone/>
            </a:pPr>
            <a:r>
              <a:rPr lang="en-US" sz="1000" b="1" dirty="0">
                <a:solidFill>
                  <a:srgbClr val="2563EB"/>
                </a:solidFill>
                <a:latin typeface="Calibri" pitchFamily="34" charset="0"/>
                <a:ea typeface="Calibri" pitchFamily="34" charset="-122"/>
                <a:cs typeface="Calibri" pitchFamily="34" charset="-120"/>
              </a:rPr>
              <a:t>Core Race Data</a:t>
            </a:r>
            <a:endParaRPr lang="en-US" sz="1000" dirty="0"/>
          </a:p>
        </p:txBody>
      </p:sp>
      <p:sp>
        <p:nvSpPr>
          <p:cNvPr id="11" name="Text 9"/>
          <p:cNvSpPr/>
          <p:nvPr/>
        </p:nvSpPr>
        <p:spPr>
          <a:xfrm>
            <a:off x="548640" y="1874520"/>
            <a:ext cx="2240280" cy="914400"/>
          </a:xfrm>
          <a:prstGeom prst="rect">
            <a:avLst/>
          </a:prstGeom>
          <a:noFill/>
          <a:ln/>
        </p:spPr>
        <p:txBody>
          <a:bodyPr wrap="square" lIns="0" tIns="0" rIns="0" bIns="0" rtlCol="0" anchor="ctr"/>
          <a:lstStyle/>
          <a:p>
            <a:pPr marL="0" indent="0">
              <a:buNone/>
            </a:pPr>
            <a:r>
              <a:rPr lang="en-US" sz="900" dirty="0">
                <a:solidFill>
                  <a:srgbClr val="444444"/>
                </a:solidFill>
                <a:latin typeface="Calibri" pitchFamily="34" charset="0"/>
                <a:ea typeface="Calibri" pitchFamily="34" charset="-122"/>
                <a:cs typeface="Calibri" pitchFamily="34" charset="-120"/>
              </a:rPr>
              <a:t>Race results (3,524)</a:t>
            </a:r>
            <a:endParaRPr lang="en-US" sz="900" dirty="0"/>
          </a:p>
          <a:p>
            <a:pPr marL="0" indent="0">
              <a:buNone/>
            </a:pPr>
            <a:r>
              <a:rPr lang="en-US" sz="900" dirty="0">
                <a:solidFill>
                  <a:srgbClr val="444444"/>
                </a:solidFill>
                <a:latin typeface="Calibri" pitchFamily="34" charset="0"/>
                <a:ea typeface="Calibri" pitchFamily="34" charset="-122"/>
                <a:cs typeface="Calibri" pitchFamily="34" charset="-120"/>
              </a:rPr>
              <a:t>Qualifying times (3,518)</a:t>
            </a:r>
            <a:endParaRPr lang="en-US" sz="900" dirty="0"/>
          </a:p>
          <a:p>
            <a:pPr marL="0" indent="0">
              <a:buNone/>
            </a:pPr>
            <a:r>
              <a:rPr lang="en-US" sz="900" dirty="0">
                <a:solidFill>
                  <a:srgbClr val="444444"/>
                </a:solidFill>
                <a:latin typeface="Calibri" pitchFamily="34" charset="0"/>
                <a:ea typeface="Calibri" pitchFamily="34" charset="-122"/>
                <a:cs typeface="Calibri" pitchFamily="34" charset="-120"/>
              </a:rPr>
              <a:t>Pit stops (5,674)</a:t>
            </a:r>
            <a:endParaRPr lang="en-US" sz="900" dirty="0"/>
          </a:p>
          <a:p>
            <a:pPr marL="0" indent="0">
              <a:buNone/>
            </a:pPr>
            <a:r>
              <a:rPr lang="en-US" sz="900" dirty="0">
                <a:solidFill>
                  <a:srgbClr val="444444"/>
                </a:solidFill>
                <a:latin typeface="Calibri" pitchFamily="34" charset="0"/>
                <a:ea typeface="Calibri" pitchFamily="34" charset="-122"/>
                <a:cs typeface="Calibri" pitchFamily="34" charset="-120"/>
              </a:rPr>
              <a:t>Driver standings (195)</a:t>
            </a:r>
            <a:endParaRPr lang="en-US" sz="900" dirty="0"/>
          </a:p>
        </p:txBody>
      </p:sp>
      <p:sp>
        <p:nvSpPr>
          <p:cNvPr id="12" name="Shape 10"/>
          <p:cNvSpPr/>
          <p:nvPr/>
        </p:nvSpPr>
        <p:spPr>
          <a:xfrm>
            <a:off x="502920" y="2880360"/>
            <a:ext cx="1097280" cy="640080"/>
          </a:xfrm>
          <a:prstGeom prst="rect">
            <a:avLst/>
          </a:prstGeom>
          <a:solidFill>
            <a:srgbClr val="FFFFFF"/>
          </a:solidFill>
          <a:ln/>
        </p:spPr>
        <p:txBody>
          <a:bodyPr/>
          <a:lstStyle/>
          <a:p>
            <a:endParaRPr lang="en-US"/>
          </a:p>
        </p:txBody>
      </p:sp>
      <p:sp>
        <p:nvSpPr>
          <p:cNvPr id="13" name="Text 11"/>
          <p:cNvSpPr/>
          <p:nvPr/>
        </p:nvSpPr>
        <p:spPr>
          <a:xfrm>
            <a:off x="502920" y="2880360"/>
            <a:ext cx="1097280" cy="365760"/>
          </a:xfrm>
          <a:prstGeom prst="rect">
            <a:avLst/>
          </a:prstGeom>
          <a:noFill/>
          <a:ln/>
        </p:spPr>
        <p:txBody>
          <a:bodyPr wrap="square" lIns="0" tIns="0" rIns="0" bIns="0" rtlCol="0" anchor="ctr"/>
          <a:lstStyle/>
          <a:p>
            <a:pPr marL="0" indent="0" algn="ctr">
              <a:buNone/>
            </a:pPr>
            <a:r>
              <a:rPr lang="en-US" sz="1600" b="1" dirty="0">
                <a:solidFill>
                  <a:srgbClr val="2563EB"/>
                </a:solidFill>
                <a:latin typeface="Georgia" pitchFamily="34" charset="0"/>
                <a:ea typeface="Georgia" pitchFamily="34" charset="-122"/>
                <a:cs typeface="Georgia" pitchFamily="34" charset="-120"/>
              </a:rPr>
              <a:t>50%</a:t>
            </a:r>
            <a:endParaRPr lang="en-US" sz="1600" dirty="0"/>
          </a:p>
        </p:txBody>
      </p:sp>
      <p:sp>
        <p:nvSpPr>
          <p:cNvPr id="14" name="Text 12"/>
          <p:cNvSpPr/>
          <p:nvPr/>
        </p:nvSpPr>
        <p:spPr>
          <a:xfrm>
            <a:off x="502920" y="3246120"/>
            <a:ext cx="1097280" cy="182880"/>
          </a:xfrm>
          <a:prstGeom prst="rect">
            <a:avLst/>
          </a:prstGeom>
          <a:noFill/>
          <a:ln/>
        </p:spPr>
        <p:txBody>
          <a:bodyPr wrap="square" lIns="0" tIns="0" rIns="0" bIns="0" rtlCol="0" anchor="ctr"/>
          <a:lstStyle/>
          <a:p>
            <a:pPr marL="0" indent="0" algn="ctr">
              <a:buNone/>
            </a:pPr>
            <a:r>
              <a:rPr lang="en-US" sz="800" dirty="0">
                <a:solidFill>
                  <a:srgbClr val="949594"/>
                </a:solidFill>
                <a:latin typeface="Calibri" pitchFamily="34" charset="0"/>
                <a:ea typeface="Calibri" pitchFamily="34" charset="-122"/>
                <a:cs typeface="Calibri" pitchFamily="34" charset="-120"/>
              </a:rPr>
              <a:t>Winner</a:t>
            </a:r>
            <a:endParaRPr lang="en-US" sz="800" dirty="0"/>
          </a:p>
        </p:txBody>
      </p:sp>
      <p:sp>
        <p:nvSpPr>
          <p:cNvPr id="15" name="Shape 13"/>
          <p:cNvSpPr/>
          <p:nvPr/>
        </p:nvSpPr>
        <p:spPr>
          <a:xfrm>
            <a:off x="1737360" y="2880360"/>
            <a:ext cx="1097280" cy="640080"/>
          </a:xfrm>
          <a:prstGeom prst="rect">
            <a:avLst/>
          </a:prstGeom>
          <a:solidFill>
            <a:srgbClr val="FFFFFF"/>
          </a:solidFill>
          <a:ln/>
        </p:spPr>
        <p:txBody>
          <a:bodyPr/>
          <a:lstStyle/>
          <a:p>
            <a:endParaRPr lang="en-US"/>
          </a:p>
        </p:txBody>
      </p:sp>
      <p:sp>
        <p:nvSpPr>
          <p:cNvPr id="16" name="Text 14"/>
          <p:cNvSpPr/>
          <p:nvPr/>
        </p:nvSpPr>
        <p:spPr>
          <a:xfrm>
            <a:off x="1737360" y="2880360"/>
            <a:ext cx="1097280" cy="365760"/>
          </a:xfrm>
          <a:prstGeom prst="rect">
            <a:avLst/>
          </a:prstGeom>
          <a:noFill/>
          <a:ln/>
        </p:spPr>
        <p:txBody>
          <a:bodyPr wrap="square" lIns="0" tIns="0" rIns="0" bIns="0" rtlCol="0" anchor="ctr"/>
          <a:lstStyle/>
          <a:p>
            <a:pPr marL="0" indent="0" algn="ctr">
              <a:buNone/>
            </a:pPr>
            <a:r>
              <a:rPr lang="en-US" sz="1600" b="1" dirty="0">
                <a:solidFill>
                  <a:srgbClr val="2563EB"/>
                </a:solidFill>
                <a:latin typeface="Georgia" pitchFamily="34" charset="0"/>
                <a:ea typeface="Georgia" pitchFamily="34" charset="-122"/>
                <a:cs typeface="Georgia" pitchFamily="34" charset="-120"/>
              </a:rPr>
              <a:t>2.74</a:t>
            </a:r>
            <a:endParaRPr lang="en-US" sz="1600" dirty="0"/>
          </a:p>
        </p:txBody>
      </p:sp>
      <p:sp>
        <p:nvSpPr>
          <p:cNvPr id="17" name="Text 15"/>
          <p:cNvSpPr/>
          <p:nvPr/>
        </p:nvSpPr>
        <p:spPr>
          <a:xfrm>
            <a:off x="1737360" y="3246120"/>
            <a:ext cx="1097280" cy="182880"/>
          </a:xfrm>
          <a:prstGeom prst="rect">
            <a:avLst/>
          </a:prstGeom>
          <a:noFill/>
          <a:ln/>
        </p:spPr>
        <p:txBody>
          <a:bodyPr wrap="square" lIns="0" tIns="0" rIns="0" bIns="0" rtlCol="0" anchor="ctr"/>
          <a:lstStyle/>
          <a:p>
            <a:pPr marL="0" indent="0" algn="ctr">
              <a:buNone/>
            </a:pPr>
            <a:r>
              <a:rPr lang="en-US" sz="800" dirty="0">
                <a:solidFill>
                  <a:srgbClr val="949594"/>
                </a:solidFill>
                <a:latin typeface="Calibri" pitchFamily="34" charset="0"/>
                <a:ea typeface="Calibri" pitchFamily="34" charset="-122"/>
                <a:cs typeface="Calibri" pitchFamily="34" charset="-120"/>
              </a:rPr>
              <a:t>MAE</a:t>
            </a:r>
            <a:endParaRPr lang="en-US" sz="800" dirty="0"/>
          </a:p>
        </p:txBody>
      </p:sp>
      <p:sp>
        <p:nvSpPr>
          <p:cNvPr id="18" name="Text 16"/>
          <p:cNvSpPr/>
          <p:nvPr/>
        </p:nvSpPr>
        <p:spPr>
          <a:xfrm>
            <a:off x="365760" y="3657600"/>
            <a:ext cx="2606040" cy="228600"/>
          </a:xfrm>
          <a:prstGeom prst="rect">
            <a:avLst/>
          </a:prstGeom>
          <a:noFill/>
          <a:ln/>
        </p:spPr>
        <p:txBody>
          <a:bodyPr wrap="square" lIns="0" tIns="0" rIns="0" bIns="0" rtlCol="0" anchor="ctr"/>
          <a:lstStyle/>
          <a:p>
            <a:pPr marL="0" indent="0" algn="ctr">
              <a:buNone/>
            </a:pPr>
            <a:r>
              <a:rPr lang="en-US" sz="900" dirty="0">
                <a:solidFill>
                  <a:srgbClr val="2563EB"/>
                </a:solidFill>
                <a:latin typeface="Calibri" pitchFamily="34" charset="0"/>
                <a:ea typeface="Calibri" pitchFamily="34" charset="-122"/>
                <a:cs typeface="Calibri" pitchFamily="34" charset="-120"/>
              </a:rPr>
              <a:t>29 features</a:t>
            </a:r>
            <a:endParaRPr lang="en-US" sz="900" dirty="0"/>
          </a:p>
        </p:txBody>
      </p:sp>
      <p:sp>
        <p:nvSpPr>
          <p:cNvPr id="19" name="Shape 17"/>
          <p:cNvSpPr/>
          <p:nvPr/>
        </p:nvSpPr>
        <p:spPr>
          <a:xfrm>
            <a:off x="3154680" y="1051560"/>
            <a:ext cx="2606040" cy="3200400"/>
          </a:xfrm>
          <a:prstGeom prst="rect">
            <a:avLst/>
          </a:prstGeom>
          <a:solidFill>
            <a:srgbClr val="FEF9E7"/>
          </a:solidFill>
          <a:ln/>
          <a:effectLst>
            <a:outerShdw blurRad="50800" dist="25400" dir="8100000" algn="bl" rotWithShape="0">
              <a:srgbClr val="000000">
                <a:alpha val="10000"/>
              </a:srgbClr>
            </a:outerShdw>
          </a:effectLst>
        </p:spPr>
        <p:txBody>
          <a:bodyPr/>
          <a:lstStyle/>
          <a:p>
            <a:endParaRPr lang="en-US"/>
          </a:p>
        </p:txBody>
      </p:sp>
      <p:sp>
        <p:nvSpPr>
          <p:cNvPr id="20" name="Shape 18"/>
          <p:cNvSpPr/>
          <p:nvPr/>
        </p:nvSpPr>
        <p:spPr>
          <a:xfrm>
            <a:off x="3154680" y="1051560"/>
            <a:ext cx="2606040" cy="54864"/>
          </a:xfrm>
          <a:prstGeom prst="rect">
            <a:avLst/>
          </a:prstGeom>
          <a:solidFill>
            <a:srgbClr val="D97706"/>
          </a:solidFill>
          <a:ln/>
        </p:spPr>
        <p:txBody>
          <a:bodyPr/>
          <a:lstStyle/>
          <a:p>
            <a:endParaRPr lang="en-US"/>
          </a:p>
        </p:txBody>
      </p:sp>
      <p:sp>
        <p:nvSpPr>
          <p:cNvPr id="21" name="Text 19"/>
          <p:cNvSpPr/>
          <p:nvPr/>
        </p:nvSpPr>
        <p:spPr>
          <a:xfrm>
            <a:off x="3154680" y="1188720"/>
            <a:ext cx="2606040" cy="365760"/>
          </a:xfrm>
          <a:prstGeom prst="rect">
            <a:avLst/>
          </a:prstGeom>
          <a:noFill/>
          <a:ln/>
        </p:spPr>
        <p:txBody>
          <a:bodyPr wrap="square" lIns="0" tIns="0" rIns="0" bIns="0" rtlCol="0" anchor="ctr"/>
          <a:lstStyle/>
          <a:p>
            <a:pPr marL="0" indent="0" algn="ctr">
              <a:buNone/>
            </a:pPr>
            <a:r>
              <a:rPr lang="en-US" sz="1800" b="1" dirty="0">
                <a:solidFill>
                  <a:srgbClr val="D97706"/>
                </a:solidFill>
                <a:latin typeface="Georgia" pitchFamily="34" charset="0"/>
                <a:ea typeface="Georgia" pitchFamily="34" charset="-122"/>
                <a:cs typeface="Georgia" pitchFamily="34" charset="-120"/>
              </a:rPr>
              <a:t>Phase 2</a:t>
            </a:r>
            <a:endParaRPr lang="en-US" sz="1800" dirty="0"/>
          </a:p>
        </p:txBody>
      </p:sp>
      <p:sp>
        <p:nvSpPr>
          <p:cNvPr id="22" name="Text 20"/>
          <p:cNvSpPr/>
          <p:nvPr/>
        </p:nvSpPr>
        <p:spPr>
          <a:xfrm>
            <a:off x="3154680" y="1554480"/>
            <a:ext cx="2606040" cy="228600"/>
          </a:xfrm>
          <a:prstGeom prst="rect">
            <a:avLst/>
          </a:prstGeom>
          <a:noFill/>
          <a:ln/>
        </p:spPr>
        <p:txBody>
          <a:bodyPr wrap="square" lIns="0" tIns="0" rIns="0" bIns="0" rtlCol="0" anchor="ctr"/>
          <a:lstStyle/>
          <a:p>
            <a:pPr marL="0" indent="0" algn="ctr">
              <a:buNone/>
            </a:pPr>
            <a:r>
              <a:rPr lang="en-US" sz="1000" b="1" dirty="0">
                <a:solidFill>
                  <a:srgbClr val="D97706"/>
                </a:solidFill>
                <a:latin typeface="Calibri" pitchFamily="34" charset="0"/>
                <a:ea typeface="Calibri" pitchFamily="34" charset="-122"/>
                <a:cs typeface="Calibri" pitchFamily="34" charset="-120"/>
              </a:rPr>
              <a:t>Tire &amp; Lap Data</a:t>
            </a:r>
            <a:endParaRPr lang="en-US" sz="1000" dirty="0"/>
          </a:p>
        </p:txBody>
      </p:sp>
      <p:sp>
        <p:nvSpPr>
          <p:cNvPr id="23" name="Text 21"/>
          <p:cNvSpPr/>
          <p:nvPr/>
        </p:nvSpPr>
        <p:spPr>
          <a:xfrm>
            <a:off x="3337560" y="1874520"/>
            <a:ext cx="2240280" cy="914400"/>
          </a:xfrm>
          <a:prstGeom prst="rect">
            <a:avLst/>
          </a:prstGeom>
          <a:noFill/>
          <a:ln/>
        </p:spPr>
        <p:txBody>
          <a:bodyPr wrap="square" lIns="0" tIns="0" rIns="0" bIns="0" rtlCol="0" anchor="ctr"/>
          <a:lstStyle/>
          <a:p>
            <a:pPr marL="0" indent="0">
              <a:buNone/>
            </a:pPr>
            <a:r>
              <a:rPr lang="en-US" sz="900" dirty="0">
                <a:solidFill>
                  <a:srgbClr val="444444"/>
                </a:solidFill>
                <a:latin typeface="Calibri" pitchFamily="34" charset="0"/>
                <a:ea typeface="Calibri" pitchFamily="34" charset="-122"/>
                <a:cs typeface="Calibri" pitchFamily="34" charset="-120"/>
              </a:rPr>
              <a:t>Individual laps (181,721)</a:t>
            </a:r>
            <a:endParaRPr lang="en-US" sz="900" dirty="0"/>
          </a:p>
          <a:p>
            <a:pPr marL="0" indent="0">
              <a:buNone/>
            </a:pPr>
            <a:r>
              <a:rPr lang="en-US" sz="900" dirty="0">
                <a:solidFill>
                  <a:srgbClr val="444444"/>
                </a:solidFill>
                <a:latin typeface="Calibri" pitchFamily="34" charset="0"/>
                <a:ea typeface="Calibri" pitchFamily="34" charset="-122"/>
                <a:cs typeface="Calibri" pitchFamily="34" charset="-120"/>
              </a:rPr>
              <a:t>Tire degradation (7,996)</a:t>
            </a:r>
            <a:endParaRPr lang="en-US" sz="900" dirty="0"/>
          </a:p>
          <a:p>
            <a:pPr marL="0" indent="0">
              <a:buNone/>
            </a:pPr>
            <a:r>
              <a:rPr lang="en-US" sz="900" dirty="0">
                <a:solidFill>
                  <a:srgbClr val="444444"/>
                </a:solidFill>
                <a:latin typeface="Calibri" pitchFamily="34" charset="0"/>
                <a:ea typeface="Calibri" pitchFamily="34" charset="-122"/>
                <a:cs typeface="Calibri" pitchFamily="34" charset="-120"/>
              </a:rPr>
              <a:t>Stint analysis</a:t>
            </a:r>
            <a:endParaRPr lang="en-US" sz="900" dirty="0"/>
          </a:p>
          <a:p>
            <a:pPr marL="0" indent="0">
              <a:buNone/>
            </a:pPr>
            <a:r>
              <a:rPr lang="en-US" sz="900" dirty="0">
                <a:solidFill>
                  <a:srgbClr val="444444"/>
                </a:solidFill>
                <a:latin typeface="Calibri" pitchFamily="34" charset="0"/>
                <a:ea typeface="Calibri" pitchFamily="34" charset="-122"/>
                <a:cs typeface="Calibri" pitchFamily="34" charset="-120"/>
              </a:rPr>
              <a:t>Lap consistency</a:t>
            </a:r>
            <a:endParaRPr lang="en-US" sz="900" dirty="0"/>
          </a:p>
        </p:txBody>
      </p:sp>
      <p:sp>
        <p:nvSpPr>
          <p:cNvPr id="24" name="Shape 22"/>
          <p:cNvSpPr/>
          <p:nvPr/>
        </p:nvSpPr>
        <p:spPr>
          <a:xfrm>
            <a:off x="3291840" y="2880360"/>
            <a:ext cx="1097280" cy="640080"/>
          </a:xfrm>
          <a:prstGeom prst="rect">
            <a:avLst/>
          </a:prstGeom>
          <a:solidFill>
            <a:srgbClr val="FFFFFF"/>
          </a:solidFill>
          <a:ln/>
        </p:spPr>
        <p:txBody>
          <a:bodyPr/>
          <a:lstStyle/>
          <a:p>
            <a:endParaRPr lang="en-US"/>
          </a:p>
        </p:txBody>
      </p:sp>
      <p:sp>
        <p:nvSpPr>
          <p:cNvPr id="25" name="Text 23"/>
          <p:cNvSpPr/>
          <p:nvPr/>
        </p:nvSpPr>
        <p:spPr>
          <a:xfrm>
            <a:off x="3291840" y="2880360"/>
            <a:ext cx="1097280" cy="365760"/>
          </a:xfrm>
          <a:prstGeom prst="rect">
            <a:avLst/>
          </a:prstGeom>
          <a:noFill/>
          <a:ln/>
        </p:spPr>
        <p:txBody>
          <a:bodyPr wrap="square" lIns="0" tIns="0" rIns="0" bIns="0" rtlCol="0" anchor="ctr"/>
          <a:lstStyle/>
          <a:p>
            <a:pPr marL="0" indent="0" algn="ctr">
              <a:buNone/>
            </a:pPr>
            <a:r>
              <a:rPr lang="en-US" sz="1600" b="1" dirty="0">
                <a:solidFill>
                  <a:srgbClr val="D97706"/>
                </a:solidFill>
                <a:latin typeface="Georgia" pitchFamily="34" charset="0"/>
                <a:ea typeface="Georgia" pitchFamily="34" charset="-122"/>
                <a:cs typeface="Georgia" pitchFamily="34" charset="-120"/>
              </a:rPr>
              <a:t>50%</a:t>
            </a:r>
            <a:endParaRPr lang="en-US" sz="1600" dirty="0"/>
          </a:p>
        </p:txBody>
      </p:sp>
      <p:sp>
        <p:nvSpPr>
          <p:cNvPr id="26" name="Text 24"/>
          <p:cNvSpPr/>
          <p:nvPr/>
        </p:nvSpPr>
        <p:spPr>
          <a:xfrm>
            <a:off x="3291840" y="3246120"/>
            <a:ext cx="1097280" cy="182880"/>
          </a:xfrm>
          <a:prstGeom prst="rect">
            <a:avLst/>
          </a:prstGeom>
          <a:noFill/>
          <a:ln/>
        </p:spPr>
        <p:txBody>
          <a:bodyPr wrap="square" lIns="0" tIns="0" rIns="0" bIns="0" rtlCol="0" anchor="ctr"/>
          <a:lstStyle/>
          <a:p>
            <a:pPr marL="0" indent="0" algn="ctr">
              <a:buNone/>
            </a:pPr>
            <a:r>
              <a:rPr lang="en-US" sz="800" dirty="0">
                <a:solidFill>
                  <a:srgbClr val="949594"/>
                </a:solidFill>
                <a:latin typeface="Calibri" pitchFamily="34" charset="0"/>
                <a:ea typeface="Calibri" pitchFamily="34" charset="-122"/>
                <a:cs typeface="Calibri" pitchFamily="34" charset="-120"/>
              </a:rPr>
              <a:t>Winner</a:t>
            </a:r>
            <a:endParaRPr lang="en-US" sz="800" dirty="0"/>
          </a:p>
        </p:txBody>
      </p:sp>
      <p:sp>
        <p:nvSpPr>
          <p:cNvPr id="27" name="Shape 25"/>
          <p:cNvSpPr/>
          <p:nvPr/>
        </p:nvSpPr>
        <p:spPr>
          <a:xfrm>
            <a:off x="4526280" y="2880360"/>
            <a:ext cx="1097280" cy="640080"/>
          </a:xfrm>
          <a:prstGeom prst="rect">
            <a:avLst/>
          </a:prstGeom>
          <a:solidFill>
            <a:srgbClr val="FFFFFF"/>
          </a:solidFill>
          <a:ln/>
        </p:spPr>
        <p:txBody>
          <a:bodyPr/>
          <a:lstStyle/>
          <a:p>
            <a:endParaRPr lang="en-US"/>
          </a:p>
        </p:txBody>
      </p:sp>
      <p:sp>
        <p:nvSpPr>
          <p:cNvPr id="28" name="Text 26"/>
          <p:cNvSpPr/>
          <p:nvPr/>
        </p:nvSpPr>
        <p:spPr>
          <a:xfrm>
            <a:off x="4526280" y="2880360"/>
            <a:ext cx="1097280" cy="365760"/>
          </a:xfrm>
          <a:prstGeom prst="rect">
            <a:avLst/>
          </a:prstGeom>
          <a:noFill/>
          <a:ln/>
        </p:spPr>
        <p:txBody>
          <a:bodyPr wrap="square" lIns="0" tIns="0" rIns="0" bIns="0" rtlCol="0" anchor="ctr"/>
          <a:lstStyle/>
          <a:p>
            <a:pPr marL="0" indent="0" algn="ctr">
              <a:buNone/>
            </a:pPr>
            <a:r>
              <a:rPr lang="en-US" sz="1600" b="1" dirty="0">
                <a:solidFill>
                  <a:srgbClr val="D97706"/>
                </a:solidFill>
                <a:latin typeface="Georgia" pitchFamily="34" charset="0"/>
                <a:ea typeface="Georgia" pitchFamily="34" charset="-122"/>
                <a:cs typeface="Georgia" pitchFamily="34" charset="-120"/>
              </a:rPr>
              <a:t>2.10</a:t>
            </a:r>
            <a:endParaRPr lang="en-US" sz="1600" dirty="0"/>
          </a:p>
        </p:txBody>
      </p:sp>
      <p:sp>
        <p:nvSpPr>
          <p:cNvPr id="29" name="Text 27"/>
          <p:cNvSpPr/>
          <p:nvPr/>
        </p:nvSpPr>
        <p:spPr>
          <a:xfrm>
            <a:off x="4526280" y="3246120"/>
            <a:ext cx="1097280" cy="182880"/>
          </a:xfrm>
          <a:prstGeom prst="rect">
            <a:avLst/>
          </a:prstGeom>
          <a:noFill/>
          <a:ln/>
        </p:spPr>
        <p:txBody>
          <a:bodyPr wrap="square" lIns="0" tIns="0" rIns="0" bIns="0" rtlCol="0" anchor="ctr"/>
          <a:lstStyle/>
          <a:p>
            <a:pPr marL="0" indent="0" algn="ctr">
              <a:buNone/>
            </a:pPr>
            <a:r>
              <a:rPr lang="en-US" sz="800" dirty="0">
                <a:solidFill>
                  <a:srgbClr val="949594"/>
                </a:solidFill>
                <a:latin typeface="Calibri" pitchFamily="34" charset="0"/>
                <a:ea typeface="Calibri" pitchFamily="34" charset="-122"/>
                <a:cs typeface="Calibri" pitchFamily="34" charset="-120"/>
              </a:rPr>
              <a:t>MAE</a:t>
            </a:r>
            <a:endParaRPr lang="en-US" sz="800" dirty="0"/>
          </a:p>
        </p:txBody>
      </p:sp>
      <p:sp>
        <p:nvSpPr>
          <p:cNvPr id="30" name="Text 28"/>
          <p:cNvSpPr/>
          <p:nvPr/>
        </p:nvSpPr>
        <p:spPr>
          <a:xfrm>
            <a:off x="3154680" y="3657600"/>
            <a:ext cx="2606040" cy="228600"/>
          </a:xfrm>
          <a:prstGeom prst="rect">
            <a:avLst/>
          </a:prstGeom>
          <a:noFill/>
          <a:ln/>
        </p:spPr>
        <p:txBody>
          <a:bodyPr wrap="square" lIns="0" tIns="0" rIns="0" bIns="0" rtlCol="0" anchor="ctr"/>
          <a:lstStyle/>
          <a:p>
            <a:pPr marL="0" indent="0" algn="ctr">
              <a:buNone/>
            </a:pPr>
            <a:r>
              <a:rPr lang="en-US" sz="900" dirty="0">
                <a:solidFill>
                  <a:srgbClr val="D97706"/>
                </a:solidFill>
                <a:latin typeface="Calibri" pitchFamily="34" charset="0"/>
                <a:ea typeface="Calibri" pitchFamily="34" charset="-122"/>
                <a:cs typeface="Calibri" pitchFamily="34" charset="-120"/>
              </a:rPr>
              <a:t>59 features</a:t>
            </a:r>
            <a:endParaRPr lang="en-US" sz="900" dirty="0"/>
          </a:p>
        </p:txBody>
      </p:sp>
      <p:sp>
        <p:nvSpPr>
          <p:cNvPr id="31" name="Shape 29"/>
          <p:cNvSpPr/>
          <p:nvPr/>
        </p:nvSpPr>
        <p:spPr>
          <a:xfrm>
            <a:off x="5943600" y="1051560"/>
            <a:ext cx="2606040" cy="3200400"/>
          </a:xfrm>
          <a:prstGeom prst="rect">
            <a:avLst/>
          </a:prstGeom>
          <a:solidFill>
            <a:srgbClr val="E6F4EA"/>
          </a:solidFill>
          <a:ln/>
          <a:effectLst>
            <a:outerShdw blurRad="50800" dist="25400" dir="8100000" algn="bl" rotWithShape="0">
              <a:srgbClr val="000000">
                <a:alpha val="10000"/>
              </a:srgbClr>
            </a:outerShdw>
          </a:effectLst>
        </p:spPr>
        <p:txBody>
          <a:bodyPr/>
          <a:lstStyle/>
          <a:p>
            <a:endParaRPr lang="en-US"/>
          </a:p>
        </p:txBody>
      </p:sp>
      <p:sp>
        <p:nvSpPr>
          <p:cNvPr id="32" name="Shape 30"/>
          <p:cNvSpPr/>
          <p:nvPr/>
        </p:nvSpPr>
        <p:spPr>
          <a:xfrm>
            <a:off x="5943600" y="1051560"/>
            <a:ext cx="2606040" cy="54864"/>
          </a:xfrm>
          <a:prstGeom prst="rect">
            <a:avLst/>
          </a:prstGeom>
          <a:solidFill>
            <a:srgbClr val="059669"/>
          </a:solidFill>
          <a:ln/>
        </p:spPr>
        <p:txBody>
          <a:bodyPr/>
          <a:lstStyle/>
          <a:p>
            <a:endParaRPr lang="en-US"/>
          </a:p>
        </p:txBody>
      </p:sp>
      <p:sp>
        <p:nvSpPr>
          <p:cNvPr id="33" name="Text 31"/>
          <p:cNvSpPr/>
          <p:nvPr/>
        </p:nvSpPr>
        <p:spPr>
          <a:xfrm>
            <a:off x="5943600" y="1188720"/>
            <a:ext cx="2606040" cy="365760"/>
          </a:xfrm>
          <a:prstGeom prst="rect">
            <a:avLst/>
          </a:prstGeom>
          <a:noFill/>
          <a:ln/>
        </p:spPr>
        <p:txBody>
          <a:bodyPr wrap="square" lIns="0" tIns="0" rIns="0" bIns="0" rtlCol="0" anchor="ctr"/>
          <a:lstStyle/>
          <a:p>
            <a:pPr marL="0" indent="0" algn="ctr">
              <a:buNone/>
            </a:pPr>
            <a:r>
              <a:rPr lang="en-US" sz="1800" b="1" dirty="0">
                <a:solidFill>
                  <a:srgbClr val="059669"/>
                </a:solidFill>
                <a:latin typeface="Georgia" pitchFamily="34" charset="0"/>
                <a:ea typeface="Georgia" pitchFamily="34" charset="-122"/>
                <a:cs typeface="Georgia" pitchFamily="34" charset="-120"/>
              </a:rPr>
              <a:t>Phase 3</a:t>
            </a:r>
            <a:endParaRPr lang="en-US" sz="1800" dirty="0"/>
          </a:p>
        </p:txBody>
      </p:sp>
      <p:sp>
        <p:nvSpPr>
          <p:cNvPr id="34" name="Text 32"/>
          <p:cNvSpPr/>
          <p:nvPr/>
        </p:nvSpPr>
        <p:spPr>
          <a:xfrm>
            <a:off x="5943600" y="1554480"/>
            <a:ext cx="2606040" cy="228600"/>
          </a:xfrm>
          <a:prstGeom prst="rect">
            <a:avLst/>
          </a:prstGeom>
          <a:noFill/>
          <a:ln/>
        </p:spPr>
        <p:txBody>
          <a:bodyPr wrap="square" lIns="0" tIns="0" rIns="0" bIns="0" rtlCol="0" anchor="ctr"/>
          <a:lstStyle/>
          <a:p>
            <a:pPr marL="0" indent="0" algn="ctr">
              <a:buNone/>
            </a:pPr>
            <a:r>
              <a:rPr lang="en-US" sz="1000" b="1" dirty="0">
                <a:solidFill>
                  <a:srgbClr val="059669"/>
                </a:solidFill>
                <a:latin typeface="Calibri" pitchFamily="34" charset="0"/>
                <a:ea typeface="Calibri" pitchFamily="34" charset="-122"/>
                <a:cs typeface="Calibri" pitchFamily="34" charset="-120"/>
              </a:rPr>
              <a:t>Weather Data</a:t>
            </a:r>
            <a:endParaRPr lang="en-US" sz="1000" dirty="0"/>
          </a:p>
        </p:txBody>
      </p:sp>
      <p:sp>
        <p:nvSpPr>
          <p:cNvPr id="35" name="Text 33"/>
          <p:cNvSpPr/>
          <p:nvPr/>
        </p:nvSpPr>
        <p:spPr>
          <a:xfrm>
            <a:off x="6126480" y="1874520"/>
            <a:ext cx="2240280" cy="914400"/>
          </a:xfrm>
          <a:prstGeom prst="rect">
            <a:avLst/>
          </a:prstGeom>
          <a:noFill/>
          <a:ln/>
        </p:spPr>
        <p:txBody>
          <a:bodyPr wrap="square" lIns="0" tIns="0" rIns="0" bIns="0" rtlCol="0" anchor="ctr"/>
          <a:lstStyle/>
          <a:p>
            <a:pPr marL="0" indent="0">
              <a:buNone/>
            </a:pPr>
            <a:r>
              <a:rPr lang="en-US" sz="900" dirty="0">
                <a:solidFill>
                  <a:srgbClr val="444444"/>
                </a:solidFill>
                <a:latin typeface="Calibri" pitchFamily="34" charset="0"/>
                <a:ea typeface="Calibri" pitchFamily="34" charset="-122"/>
                <a:cs typeface="Calibri" pitchFamily="34" charset="-120"/>
              </a:rPr>
              <a:t>Track temperature</a:t>
            </a:r>
            <a:endParaRPr lang="en-US" sz="900" dirty="0"/>
          </a:p>
          <a:p>
            <a:pPr marL="0" indent="0">
              <a:buNone/>
            </a:pPr>
            <a:r>
              <a:rPr lang="en-US" sz="900" dirty="0">
                <a:solidFill>
                  <a:srgbClr val="444444"/>
                </a:solidFill>
                <a:latin typeface="Calibri" pitchFamily="34" charset="0"/>
                <a:ea typeface="Calibri" pitchFamily="34" charset="-122"/>
                <a:cs typeface="Calibri" pitchFamily="34" charset="-120"/>
              </a:rPr>
              <a:t>Air temperature</a:t>
            </a:r>
            <a:endParaRPr lang="en-US" sz="900" dirty="0"/>
          </a:p>
          <a:p>
            <a:pPr marL="0" indent="0">
              <a:buNone/>
            </a:pPr>
            <a:r>
              <a:rPr lang="en-US" sz="900" dirty="0">
                <a:solidFill>
                  <a:srgbClr val="444444"/>
                </a:solidFill>
                <a:latin typeface="Calibri" pitchFamily="34" charset="0"/>
                <a:ea typeface="Calibri" pitchFamily="34" charset="-122"/>
                <a:cs typeface="Calibri" pitchFamily="34" charset="-120"/>
              </a:rPr>
              <a:t>Humidity &amp; rainfall</a:t>
            </a:r>
            <a:endParaRPr lang="en-US" sz="900" dirty="0"/>
          </a:p>
          <a:p>
            <a:pPr marL="0" indent="0">
              <a:buNone/>
            </a:pPr>
            <a:r>
              <a:rPr lang="en-US" sz="900" dirty="0">
                <a:solidFill>
                  <a:srgbClr val="444444"/>
                </a:solidFill>
                <a:latin typeface="Calibri" pitchFamily="34" charset="0"/>
                <a:ea typeface="Calibri" pitchFamily="34" charset="-122"/>
                <a:cs typeface="Calibri" pitchFamily="34" charset="-120"/>
              </a:rPr>
              <a:t>10 weather features</a:t>
            </a:r>
            <a:endParaRPr lang="en-US" sz="900" dirty="0"/>
          </a:p>
        </p:txBody>
      </p:sp>
      <p:sp>
        <p:nvSpPr>
          <p:cNvPr id="36" name="Shape 34"/>
          <p:cNvSpPr/>
          <p:nvPr/>
        </p:nvSpPr>
        <p:spPr>
          <a:xfrm>
            <a:off x="6080760" y="2880360"/>
            <a:ext cx="1097280" cy="640080"/>
          </a:xfrm>
          <a:prstGeom prst="rect">
            <a:avLst/>
          </a:prstGeom>
          <a:solidFill>
            <a:srgbClr val="FFFFFF"/>
          </a:solidFill>
          <a:ln/>
        </p:spPr>
        <p:txBody>
          <a:bodyPr/>
          <a:lstStyle/>
          <a:p>
            <a:endParaRPr lang="en-US"/>
          </a:p>
        </p:txBody>
      </p:sp>
      <p:sp>
        <p:nvSpPr>
          <p:cNvPr id="37" name="Text 35"/>
          <p:cNvSpPr/>
          <p:nvPr/>
        </p:nvSpPr>
        <p:spPr>
          <a:xfrm>
            <a:off x="6080760" y="2880360"/>
            <a:ext cx="1097280" cy="365760"/>
          </a:xfrm>
          <a:prstGeom prst="rect">
            <a:avLst/>
          </a:prstGeom>
          <a:noFill/>
          <a:ln/>
        </p:spPr>
        <p:txBody>
          <a:bodyPr wrap="square" lIns="0" tIns="0" rIns="0" bIns="0" rtlCol="0" anchor="ctr"/>
          <a:lstStyle/>
          <a:p>
            <a:pPr marL="0" indent="0" algn="ctr">
              <a:buNone/>
            </a:pPr>
            <a:r>
              <a:rPr lang="en-US" sz="1600" b="1" dirty="0">
                <a:solidFill>
                  <a:srgbClr val="059669"/>
                </a:solidFill>
                <a:latin typeface="Georgia" pitchFamily="34" charset="0"/>
                <a:ea typeface="Georgia" pitchFamily="34" charset="-122"/>
                <a:cs typeface="Georgia" pitchFamily="34" charset="-120"/>
              </a:rPr>
              <a:t>77.8%</a:t>
            </a:r>
            <a:endParaRPr lang="en-US" sz="1600" dirty="0"/>
          </a:p>
        </p:txBody>
      </p:sp>
      <p:sp>
        <p:nvSpPr>
          <p:cNvPr id="38" name="Text 36"/>
          <p:cNvSpPr/>
          <p:nvPr/>
        </p:nvSpPr>
        <p:spPr>
          <a:xfrm>
            <a:off x="6080760" y="3246120"/>
            <a:ext cx="1097280" cy="182880"/>
          </a:xfrm>
          <a:prstGeom prst="rect">
            <a:avLst/>
          </a:prstGeom>
          <a:noFill/>
          <a:ln/>
        </p:spPr>
        <p:txBody>
          <a:bodyPr wrap="square" lIns="0" tIns="0" rIns="0" bIns="0" rtlCol="0" anchor="ctr"/>
          <a:lstStyle/>
          <a:p>
            <a:pPr marL="0" indent="0" algn="ctr">
              <a:buNone/>
            </a:pPr>
            <a:r>
              <a:rPr lang="en-US" sz="800" dirty="0">
                <a:solidFill>
                  <a:srgbClr val="949594"/>
                </a:solidFill>
                <a:latin typeface="Calibri" pitchFamily="34" charset="0"/>
                <a:ea typeface="Calibri" pitchFamily="34" charset="-122"/>
                <a:cs typeface="Calibri" pitchFamily="34" charset="-120"/>
              </a:rPr>
              <a:t>Winner</a:t>
            </a:r>
            <a:endParaRPr lang="en-US" sz="800" dirty="0"/>
          </a:p>
        </p:txBody>
      </p:sp>
      <p:sp>
        <p:nvSpPr>
          <p:cNvPr id="39" name="Shape 37"/>
          <p:cNvSpPr/>
          <p:nvPr/>
        </p:nvSpPr>
        <p:spPr>
          <a:xfrm>
            <a:off x="7315200" y="2880360"/>
            <a:ext cx="1097280" cy="640080"/>
          </a:xfrm>
          <a:prstGeom prst="rect">
            <a:avLst/>
          </a:prstGeom>
          <a:solidFill>
            <a:srgbClr val="FFFFFF"/>
          </a:solidFill>
          <a:ln/>
        </p:spPr>
        <p:txBody>
          <a:bodyPr/>
          <a:lstStyle/>
          <a:p>
            <a:endParaRPr lang="en-US"/>
          </a:p>
        </p:txBody>
      </p:sp>
      <p:sp>
        <p:nvSpPr>
          <p:cNvPr id="40" name="Text 38"/>
          <p:cNvSpPr/>
          <p:nvPr/>
        </p:nvSpPr>
        <p:spPr>
          <a:xfrm>
            <a:off x="7315200" y="2880360"/>
            <a:ext cx="1097280" cy="365760"/>
          </a:xfrm>
          <a:prstGeom prst="rect">
            <a:avLst/>
          </a:prstGeom>
          <a:noFill/>
          <a:ln/>
        </p:spPr>
        <p:txBody>
          <a:bodyPr wrap="square" lIns="0" tIns="0" rIns="0" bIns="0" rtlCol="0" anchor="ctr"/>
          <a:lstStyle/>
          <a:p>
            <a:pPr marL="0" indent="0" algn="ctr">
              <a:buNone/>
            </a:pPr>
            <a:r>
              <a:rPr lang="en-US" sz="1600" b="1" dirty="0">
                <a:solidFill>
                  <a:srgbClr val="059669"/>
                </a:solidFill>
                <a:latin typeface="Georgia" pitchFamily="34" charset="0"/>
                <a:ea typeface="Georgia" pitchFamily="34" charset="-122"/>
                <a:cs typeface="Georgia" pitchFamily="34" charset="-120"/>
              </a:rPr>
              <a:t>2.096</a:t>
            </a:r>
            <a:endParaRPr lang="en-US" sz="1600" dirty="0"/>
          </a:p>
        </p:txBody>
      </p:sp>
      <p:sp>
        <p:nvSpPr>
          <p:cNvPr id="41" name="Text 39"/>
          <p:cNvSpPr/>
          <p:nvPr/>
        </p:nvSpPr>
        <p:spPr>
          <a:xfrm>
            <a:off x="7315200" y="3246120"/>
            <a:ext cx="1097280" cy="182880"/>
          </a:xfrm>
          <a:prstGeom prst="rect">
            <a:avLst/>
          </a:prstGeom>
          <a:noFill/>
          <a:ln/>
        </p:spPr>
        <p:txBody>
          <a:bodyPr wrap="square" lIns="0" tIns="0" rIns="0" bIns="0" rtlCol="0" anchor="ctr"/>
          <a:lstStyle/>
          <a:p>
            <a:pPr marL="0" indent="0" algn="ctr">
              <a:buNone/>
            </a:pPr>
            <a:r>
              <a:rPr lang="en-US" sz="800" dirty="0">
                <a:solidFill>
                  <a:srgbClr val="949594"/>
                </a:solidFill>
                <a:latin typeface="Calibri" pitchFamily="34" charset="0"/>
                <a:ea typeface="Calibri" pitchFamily="34" charset="-122"/>
                <a:cs typeface="Calibri" pitchFamily="34" charset="-120"/>
              </a:rPr>
              <a:t>MAE</a:t>
            </a:r>
            <a:endParaRPr lang="en-US" sz="800" dirty="0"/>
          </a:p>
        </p:txBody>
      </p:sp>
      <p:sp>
        <p:nvSpPr>
          <p:cNvPr id="42" name="Text 40"/>
          <p:cNvSpPr/>
          <p:nvPr/>
        </p:nvSpPr>
        <p:spPr>
          <a:xfrm>
            <a:off x="5943600" y="3657600"/>
            <a:ext cx="2606040" cy="228600"/>
          </a:xfrm>
          <a:prstGeom prst="rect">
            <a:avLst/>
          </a:prstGeom>
          <a:noFill/>
          <a:ln/>
        </p:spPr>
        <p:txBody>
          <a:bodyPr wrap="square" lIns="0" tIns="0" rIns="0" bIns="0" rtlCol="0" anchor="ctr"/>
          <a:lstStyle/>
          <a:p>
            <a:pPr marL="0" indent="0" algn="ctr">
              <a:buNone/>
            </a:pPr>
            <a:r>
              <a:rPr lang="en-US" sz="900" dirty="0">
                <a:solidFill>
                  <a:srgbClr val="059669"/>
                </a:solidFill>
                <a:latin typeface="Calibri" pitchFamily="34" charset="0"/>
                <a:ea typeface="Calibri" pitchFamily="34" charset="-122"/>
                <a:cs typeface="Calibri" pitchFamily="34" charset="-120"/>
              </a:rPr>
              <a:t>85 features</a:t>
            </a:r>
            <a:endParaRPr lang="en-US" sz="900" dirty="0"/>
          </a:p>
        </p:txBody>
      </p:sp>
      <p:sp>
        <p:nvSpPr>
          <p:cNvPr id="43" name="Text 41"/>
          <p:cNvSpPr/>
          <p:nvPr/>
        </p:nvSpPr>
        <p:spPr>
          <a:xfrm>
            <a:off x="2880360" y="2286000"/>
            <a:ext cx="365760" cy="365760"/>
          </a:xfrm>
          <a:prstGeom prst="rect">
            <a:avLst/>
          </a:prstGeom>
          <a:noFill/>
          <a:ln/>
        </p:spPr>
        <p:txBody>
          <a:bodyPr wrap="square" rtlCol="0" anchor="ctr"/>
          <a:lstStyle/>
          <a:p>
            <a:pPr marL="0" indent="0" algn="ctr">
              <a:buNone/>
            </a:pPr>
            <a:r>
              <a:rPr lang="en-US" sz="2000" dirty="0">
                <a:solidFill>
                  <a:srgbClr val="949594"/>
                </a:solidFill>
              </a:rPr>
              <a:t>→</a:t>
            </a:r>
            <a:endParaRPr lang="en-US" sz="2000" dirty="0"/>
          </a:p>
        </p:txBody>
      </p:sp>
      <p:sp>
        <p:nvSpPr>
          <p:cNvPr id="44" name="Text 42"/>
          <p:cNvSpPr/>
          <p:nvPr/>
        </p:nvSpPr>
        <p:spPr>
          <a:xfrm>
            <a:off x="5669280" y="2286000"/>
            <a:ext cx="365760" cy="365760"/>
          </a:xfrm>
          <a:prstGeom prst="rect">
            <a:avLst/>
          </a:prstGeom>
          <a:noFill/>
          <a:ln/>
        </p:spPr>
        <p:txBody>
          <a:bodyPr wrap="square" rtlCol="0" anchor="ctr"/>
          <a:lstStyle/>
          <a:p>
            <a:pPr marL="0" indent="0" algn="ctr">
              <a:buNone/>
            </a:pPr>
            <a:r>
              <a:rPr lang="en-US" sz="2000" dirty="0">
                <a:solidFill>
                  <a:srgbClr val="949594"/>
                </a:solidFill>
              </a:rPr>
              <a:t>→</a:t>
            </a:r>
            <a:endParaRPr lang="en-US" sz="2000" dirty="0"/>
          </a:p>
        </p:txBody>
      </p:sp>
      <p:sp>
        <p:nvSpPr>
          <p:cNvPr id="45" name="Text 43"/>
          <p:cNvSpPr/>
          <p:nvPr/>
        </p:nvSpPr>
        <p:spPr>
          <a:xfrm>
            <a:off x="457200" y="4709160"/>
            <a:ext cx="6400800" cy="365760"/>
          </a:xfrm>
          <a:prstGeom prst="rect">
            <a:avLst/>
          </a:prstGeom>
          <a:noFill/>
          <a:ln/>
        </p:spPr>
        <p:txBody>
          <a:bodyPr wrap="square" rtlCol="0" anchor="ctr"/>
          <a:lstStyle/>
          <a:p>
            <a:pPr marL="0" indent="0">
              <a:buNone/>
            </a:pPr>
            <a:r>
              <a:rPr lang="en-US" sz="900" dirty="0">
                <a:solidFill>
                  <a:srgbClr val="949594"/>
                </a:solidFill>
                <a:latin typeface="Calibri" pitchFamily="34" charset="0"/>
                <a:ea typeface="Calibri" pitchFamily="34" charset="-122"/>
                <a:cs typeface="Calibri" pitchFamily="34" charset="-120"/>
              </a:rPr>
              <a:t>Speaker 1 — Problem &amp; Architecture</a:t>
            </a:r>
            <a:endParaRPr lang="en-US" sz="900" dirty="0"/>
          </a:p>
        </p:txBody>
      </p:sp>
      <p:sp>
        <p:nvSpPr>
          <p:cNvPr id="46" name="Text 44"/>
          <p:cNvSpPr/>
          <p:nvPr/>
        </p:nvSpPr>
        <p:spPr>
          <a:xfrm>
            <a:off x="8412480" y="4709160"/>
            <a:ext cx="548640" cy="365760"/>
          </a:xfrm>
          <a:prstGeom prst="rect">
            <a:avLst/>
          </a:prstGeom>
          <a:noFill/>
          <a:ln/>
        </p:spPr>
        <p:txBody>
          <a:bodyPr wrap="square" rtlCol="0" anchor="ctr"/>
          <a:lstStyle/>
          <a:p>
            <a:pPr marL="0" indent="0" algn="r">
              <a:buNone/>
            </a:pPr>
            <a:r>
              <a:rPr lang="en-US" sz="900" dirty="0">
                <a:solidFill>
                  <a:srgbClr val="949594"/>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5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C41E1E"/>
          </a:solidFill>
          <a:ln/>
        </p:spPr>
        <p:txBody>
          <a:bodyPr/>
          <a:lstStyle/>
          <a:p>
            <a:endParaRPr lang="en-US"/>
          </a:p>
        </p:txBody>
      </p:sp>
      <p:pic>
        <p:nvPicPr>
          <p:cNvPr id="3" name="Image 0" descr="preencoded.png"/>
          <p:cNvPicPr>
            <a:picLocks noChangeAspect="1"/>
          </p:cNvPicPr>
          <p:nvPr/>
        </p:nvPicPr>
        <p:blipFill>
          <a:blip r:embed="rId3"/>
          <a:stretch>
            <a:fillRect/>
          </a:stretch>
        </p:blipFill>
        <p:spPr>
          <a:xfrm>
            <a:off x="365760" y="182880"/>
            <a:ext cx="320040" cy="320040"/>
          </a:xfrm>
          <a:prstGeom prst="rect">
            <a:avLst/>
          </a:prstGeom>
        </p:spPr>
      </p:pic>
      <p:sp>
        <p:nvSpPr>
          <p:cNvPr id="4" name="Text 1"/>
          <p:cNvSpPr/>
          <p:nvPr/>
        </p:nvSpPr>
        <p:spPr>
          <a:xfrm>
            <a:off x="777240" y="182880"/>
            <a:ext cx="7315200" cy="548640"/>
          </a:xfrm>
          <a:prstGeom prst="rect">
            <a:avLst/>
          </a:prstGeom>
          <a:noFill/>
          <a:ln/>
        </p:spPr>
        <p:txBody>
          <a:bodyPr wrap="square" lIns="0" tIns="0" rIns="0" bIns="0" rtlCol="0" anchor="ctr"/>
          <a:lstStyle/>
          <a:p>
            <a:pPr marL="0" indent="0">
              <a:buNone/>
            </a:pPr>
            <a:r>
              <a:rPr lang="en-US" sz="2600" b="1" dirty="0">
                <a:solidFill>
                  <a:srgbClr val="1A1A2E"/>
                </a:solidFill>
                <a:latin typeface="Georgia" pitchFamily="34" charset="0"/>
                <a:ea typeface="Georgia" pitchFamily="34" charset="-122"/>
                <a:cs typeface="Georgia" pitchFamily="34" charset="-120"/>
              </a:rPr>
              <a:t>Medallion Lakehouse Architecture</a:t>
            </a:r>
            <a:endParaRPr lang="en-US" sz="2600" dirty="0"/>
          </a:p>
        </p:txBody>
      </p:sp>
      <p:sp>
        <p:nvSpPr>
          <p:cNvPr id="5" name="Text 2"/>
          <p:cNvSpPr/>
          <p:nvPr/>
        </p:nvSpPr>
        <p:spPr>
          <a:xfrm>
            <a:off x="777240" y="685800"/>
            <a:ext cx="7315200" cy="228600"/>
          </a:xfrm>
          <a:prstGeom prst="rect">
            <a:avLst/>
          </a:prstGeom>
          <a:noFill/>
          <a:ln/>
        </p:spPr>
        <p:txBody>
          <a:bodyPr wrap="square" lIns="0" tIns="0" rIns="0" bIns="0" rtlCol="0" anchor="ctr"/>
          <a:lstStyle/>
          <a:p>
            <a:pPr marL="0" indent="0">
              <a:buNone/>
            </a:pPr>
            <a:r>
              <a:rPr lang="en-US" sz="1100" dirty="0">
                <a:solidFill>
                  <a:srgbClr val="949594"/>
                </a:solidFill>
                <a:latin typeface="Calibri" pitchFamily="34" charset="0"/>
                <a:ea typeface="Calibri" pitchFamily="34" charset="-122"/>
                <a:cs typeface="Calibri" pitchFamily="34" charset="-120"/>
              </a:rPr>
              <a:t>Industry-standard data pattern used across Azure, AWS, and GCP platforms</a:t>
            </a:r>
            <a:endParaRPr lang="en-US" sz="1100" dirty="0"/>
          </a:p>
        </p:txBody>
      </p:sp>
      <p:sp>
        <p:nvSpPr>
          <p:cNvPr id="6" name="Shape 3"/>
          <p:cNvSpPr/>
          <p:nvPr/>
        </p:nvSpPr>
        <p:spPr>
          <a:xfrm>
            <a:off x="182880" y="1051560"/>
            <a:ext cx="1572768" cy="3017520"/>
          </a:xfrm>
          <a:prstGeom prst="rect">
            <a:avLst/>
          </a:prstGeom>
          <a:solidFill>
            <a:srgbClr val="E0F7FA"/>
          </a:solidFill>
          <a:ln/>
          <a:effectLst>
            <a:outerShdw blurRad="50800" dist="25400" dir="8100000" algn="bl" rotWithShape="0">
              <a:srgbClr val="000000">
                <a:alpha val="10000"/>
              </a:srgbClr>
            </a:outerShdw>
          </a:effectLst>
        </p:spPr>
        <p:txBody>
          <a:bodyPr/>
          <a:lstStyle/>
          <a:p>
            <a:endParaRPr lang="en-US"/>
          </a:p>
        </p:txBody>
      </p:sp>
      <p:sp>
        <p:nvSpPr>
          <p:cNvPr id="7" name="Text 4"/>
          <p:cNvSpPr/>
          <p:nvPr/>
        </p:nvSpPr>
        <p:spPr>
          <a:xfrm>
            <a:off x="182880" y="1143000"/>
            <a:ext cx="1572768" cy="320040"/>
          </a:xfrm>
          <a:prstGeom prst="rect">
            <a:avLst/>
          </a:prstGeom>
          <a:noFill/>
          <a:ln/>
        </p:spPr>
        <p:txBody>
          <a:bodyPr wrap="square" lIns="0" tIns="0" rIns="0" bIns="0" rtlCol="0" anchor="ctr"/>
          <a:lstStyle/>
          <a:p>
            <a:pPr marL="0" indent="0" algn="ctr">
              <a:buNone/>
            </a:pPr>
            <a:r>
              <a:rPr lang="en-US" sz="900" b="1" dirty="0">
                <a:solidFill>
                  <a:srgbClr val="00838F"/>
                </a:solidFill>
                <a:latin typeface="Georgia" pitchFamily="34" charset="0"/>
                <a:ea typeface="Georgia" pitchFamily="34" charset="-122"/>
                <a:cs typeface="Georgia" pitchFamily="34" charset="-120"/>
              </a:rPr>
              <a:t>EXTRACTION</a:t>
            </a:r>
            <a:endParaRPr lang="en-US" sz="900" dirty="0"/>
          </a:p>
        </p:txBody>
      </p:sp>
      <p:sp>
        <p:nvSpPr>
          <p:cNvPr id="8" name="Text 5"/>
          <p:cNvSpPr/>
          <p:nvPr/>
        </p:nvSpPr>
        <p:spPr>
          <a:xfrm>
            <a:off x="256032" y="1554480"/>
            <a:ext cx="1426464" cy="2286000"/>
          </a:xfrm>
          <a:prstGeom prst="rect">
            <a:avLst/>
          </a:prstGeom>
          <a:noFill/>
          <a:ln/>
        </p:spPr>
        <p:txBody>
          <a:bodyPr wrap="square" lIns="0" tIns="0" rIns="0" bIns="0" rtlCol="0" anchor="t"/>
          <a:lstStyle/>
          <a:p>
            <a:pPr marL="0" indent="0" algn="ctr">
              <a:buNone/>
            </a:pPr>
            <a:r>
              <a:rPr lang="en-US" sz="850" dirty="0">
                <a:solidFill>
                  <a:srgbClr val="444444"/>
                </a:solidFill>
                <a:latin typeface="Calibri" pitchFamily="34" charset="0"/>
                <a:ea typeface="Calibri" pitchFamily="34" charset="-122"/>
                <a:cs typeface="Calibri" pitchFamily="34" charset="-120"/>
              </a:rPr>
              <a:t>Jolpica API</a:t>
            </a:r>
            <a:endParaRPr lang="en-US" sz="850" dirty="0"/>
          </a:p>
          <a:p>
            <a:pPr marL="0" indent="0" algn="ctr">
              <a:buNone/>
            </a:pPr>
            <a:r>
              <a:rPr lang="en-US" sz="850" dirty="0">
                <a:solidFill>
                  <a:srgbClr val="444444"/>
                </a:solidFill>
                <a:latin typeface="Calibri" pitchFamily="34" charset="0"/>
                <a:ea typeface="Calibri" pitchFamily="34" charset="-122"/>
                <a:cs typeface="Calibri" pitchFamily="34" charset="-120"/>
              </a:rPr>
              <a:t>FastF1 API</a:t>
            </a:r>
            <a:endParaRPr lang="en-US" sz="850" dirty="0"/>
          </a:p>
          <a:p>
            <a:pPr marL="0" indent="0" algn="ctr">
              <a:buNone/>
            </a:pPr>
            <a:r>
              <a:rPr lang="en-US" sz="850" dirty="0">
                <a:solidFill>
                  <a:srgbClr val="444444"/>
                </a:solidFill>
                <a:latin typeface="Calibri" pitchFamily="34" charset="0"/>
                <a:ea typeface="Calibri" pitchFamily="34" charset="-122"/>
                <a:cs typeface="Calibri" pitchFamily="34" charset="-120"/>
              </a:rPr>
              <a:t>Weather API</a:t>
            </a:r>
            <a:endParaRPr lang="en-US" sz="850" dirty="0"/>
          </a:p>
          <a:p>
            <a:pPr marL="0" indent="0" algn="ctr">
              <a:buNone/>
            </a:pPr>
            <a:endParaRPr lang="en-US" sz="850" dirty="0"/>
          </a:p>
          <a:p>
            <a:pPr marL="0" indent="0" algn="ctr">
              <a:buNone/>
            </a:pPr>
            <a:r>
              <a:rPr lang="en-US" sz="850" dirty="0">
                <a:solidFill>
                  <a:srgbClr val="444444"/>
                </a:solidFill>
                <a:latin typeface="Calibri" pitchFamily="34" charset="0"/>
                <a:ea typeface="Calibri" pitchFamily="34" charset="-122"/>
                <a:cs typeface="Calibri" pitchFamily="34" charset="-120"/>
              </a:rPr>
              <a:t>9 seasons</a:t>
            </a:r>
            <a:endParaRPr lang="en-US" sz="850" dirty="0"/>
          </a:p>
          <a:p>
            <a:pPr marL="0" indent="0" algn="ctr">
              <a:buNone/>
            </a:pPr>
            <a:r>
              <a:rPr lang="en-US" sz="850" dirty="0">
                <a:solidFill>
                  <a:srgbClr val="444444"/>
                </a:solidFill>
                <a:latin typeface="Calibri" pitchFamily="34" charset="0"/>
                <a:ea typeface="Calibri" pitchFamily="34" charset="-122"/>
                <a:cs typeface="Calibri" pitchFamily="34" charset="-120"/>
              </a:rPr>
              <a:t>3 data sources</a:t>
            </a:r>
            <a:endParaRPr lang="en-US" sz="850" dirty="0"/>
          </a:p>
        </p:txBody>
      </p:sp>
      <p:sp>
        <p:nvSpPr>
          <p:cNvPr id="9" name="Text 6"/>
          <p:cNvSpPr/>
          <p:nvPr/>
        </p:nvSpPr>
        <p:spPr>
          <a:xfrm>
            <a:off x="1691640" y="2103120"/>
            <a:ext cx="274320" cy="365760"/>
          </a:xfrm>
          <a:prstGeom prst="rect">
            <a:avLst/>
          </a:prstGeom>
          <a:noFill/>
          <a:ln/>
        </p:spPr>
        <p:txBody>
          <a:bodyPr wrap="square" rtlCol="0" anchor="ctr"/>
          <a:lstStyle/>
          <a:p>
            <a:pPr marL="0" indent="0" algn="ctr">
              <a:buNone/>
            </a:pPr>
            <a:r>
              <a:rPr lang="en-US" sz="1600" dirty="0">
                <a:solidFill>
                  <a:srgbClr val="949594"/>
                </a:solidFill>
              </a:rPr>
              <a:t>→</a:t>
            </a:r>
            <a:endParaRPr lang="en-US" sz="1600" dirty="0"/>
          </a:p>
        </p:txBody>
      </p:sp>
      <p:sp>
        <p:nvSpPr>
          <p:cNvPr id="10" name="Shape 7"/>
          <p:cNvSpPr/>
          <p:nvPr/>
        </p:nvSpPr>
        <p:spPr>
          <a:xfrm>
            <a:off x="1901952" y="1051560"/>
            <a:ext cx="1572768" cy="3017520"/>
          </a:xfrm>
          <a:prstGeom prst="rect">
            <a:avLst/>
          </a:prstGeom>
          <a:solidFill>
            <a:srgbClr val="F4E4C1"/>
          </a:solidFill>
          <a:ln/>
          <a:effectLst>
            <a:outerShdw blurRad="50800" dist="25400" dir="8100000" algn="bl" rotWithShape="0">
              <a:srgbClr val="000000">
                <a:alpha val="10000"/>
              </a:srgbClr>
            </a:outerShdw>
          </a:effectLst>
        </p:spPr>
        <p:txBody>
          <a:bodyPr/>
          <a:lstStyle/>
          <a:p>
            <a:endParaRPr lang="en-US"/>
          </a:p>
        </p:txBody>
      </p:sp>
      <p:sp>
        <p:nvSpPr>
          <p:cNvPr id="11" name="Text 8"/>
          <p:cNvSpPr/>
          <p:nvPr/>
        </p:nvSpPr>
        <p:spPr>
          <a:xfrm>
            <a:off x="1901952" y="1143000"/>
            <a:ext cx="1572768" cy="320040"/>
          </a:xfrm>
          <a:prstGeom prst="rect">
            <a:avLst/>
          </a:prstGeom>
          <a:noFill/>
          <a:ln/>
        </p:spPr>
        <p:txBody>
          <a:bodyPr wrap="square" lIns="0" tIns="0" rIns="0" bIns="0" rtlCol="0" anchor="ctr"/>
          <a:lstStyle/>
          <a:p>
            <a:pPr marL="0" indent="0" algn="ctr">
              <a:buNone/>
            </a:pPr>
            <a:r>
              <a:rPr lang="en-US" sz="900" b="1" dirty="0">
                <a:solidFill>
                  <a:srgbClr val="8B4513"/>
                </a:solidFill>
                <a:latin typeface="Georgia" pitchFamily="34" charset="0"/>
                <a:ea typeface="Georgia" pitchFamily="34" charset="-122"/>
                <a:cs typeface="Georgia" pitchFamily="34" charset="-120"/>
              </a:rPr>
              <a:t>🥉 BRONZE</a:t>
            </a:r>
            <a:endParaRPr lang="en-US" sz="900" dirty="0"/>
          </a:p>
        </p:txBody>
      </p:sp>
      <p:sp>
        <p:nvSpPr>
          <p:cNvPr id="12" name="Text 9"/>
          <p:cNvSpPr/>
          <p:nvPr/>
        </p:nvSpPr>
        <p:spPr>
          <a:xfrm>
            <a:off x="1975104" y="1554480"/>
            <a:ext cx="1426464" cy="2286000"/>
          </a:xfrm>
          <a:prstGeom prst="rect">
            <a:avLst/>
          </a:prstGeom>
          <a:noFill/>
          <a:ln/>
        </p:spPr>
        <p:txBody>
          <a:bodyPr wrap="square" lIns="0" tIns="0" rIns="0" bIns="0" rtlCol="0" anchor="t"/>
          <a:lstStyle/>
          <a:p>
            <a:pPr marL="0" indent="0" algn="ctr">
              <a:buNone/>
            </a:pPr>
            <a:r>
              <a:rPr lang="en-US" sz="850" dirty="0">
                <a:solidFill>
                  <a:srgbClr val="444444"/>
                </a:solidFill>
                <a:latin typeface="Calibri" pitchFamily="34" charset="0"/>
                <a:ea typeface="Calibri" pitchFamily="34" charset="-122"/>
                <a:cs typeface="Calibri" pitchFamily="34" charset="-120"/>
              </a:rPr>
              <a:t>Raw Parquet files</a:t>
            </a:r>
            <a:endParaRPr lang="en-US" sz="850" dirty="0"/>
          </a:p>
          <a:p>
            <a:pPr marL="0" indent="0" algn="ctr">
              <a:buNone/>
            </a:pPr>
            <a:r>
              <a:rPr lang="en-US" sz="850" dirty="0">
                <a:solidFill>
                  <a:srgbClr val="444444"/>
                </a:solidFill>
                <a:latin typeface="Calibri" pitchFamily="34" charset="0"/>
                <a:ea typeface="Calibri" pitchFamily="34" charset="-122"/>
                <a:cs typeface="Calibri" pitchFamily="34" charset="-120"/>
              </a:rPr>
              <a:t>As-received from APIs</a:t>
            </a:r>
            <a:endParaRPr lang="en-US" sz="850" dirty="0"/>
          </a:p>
          <a:p>
            <a:pPr marL="0" indent="0" algn="ctr">
              <a:buNone/>
            </a:pPr>
            <a:r>
              <a:rPr lang="en-US" sz="850" dirty="0">
                <a:solidFill>
                  <a:srgbClr val="444444"/>
                </a:solidFill>
                <a:latin typeface="Calibri" pitchFamily="34" charset="0"/>
                <a:ea typeface="Calibri" pitchFamily="34" charset="-122"/>
                <a:cs typeface="Calibri" pitchFamily="34" charset="-120"/>
              </a:rPr>
              <a:t>No transformations</a:t>
            </a:r>
            <a:endParaRPr lang="en-US" sz="850" dirty="0"/>
          </a:p>
          <a:p>
            <a:pPr marL="0" indent="0" algn="ctr">
              <a:buNone/>
            </a:pPr>
            <a:endParaRPr lang="en-US" sz="850" dirty="0"/>
          </a:p>
          <a:p>
            <a:pPr marL="0" indent="0" algn="ctr">
              <a:buNone/>
            </a:pPr>
            <a:r>
              <a:rPr lang="en-US" sz="850" dirty="0">
                <a:solidFill>
                  <a:srgbClr val="444444"/>
                </a:solidFill>
                <a:latin typeface="Calibri" pitchFamily="34" charset="0"/>
                <a:ea typeface="Calibri" pitchFamily="34" charset="-122"/>
                <a:cs typeface="Calibri" pitchFamily="34" charset="-120"/>
              </a:rPr>
              <a:t>3,524 results</a:t>
            </a:r>
            <a:endParaRPr lang="en-US" sz="850" dirty="0"/>
          </a:p>
          <a:p>
            <a:pPr marL="0" indent="0" algn="ctr">
              <a:buNone/>
            </a:pPr>
            <a:r>
              <a:rPr lang="en-US" sz="850" dirty="0">
                <a:solidFill>
                  <a:srgbClr val="444444"/>
                </a:solidFill>
                <a:latin typeface="Calibri" pitchFamily="34" charset="0"/>
                <a:ea typeface="Calibri" pitchFamily="34" charset="-122"/>
                <a:cs typeface="Calibri" pitchFamily="34" charset="-120"/>
              </a:rPr>
              <a:t>181K laps</a:t>
            </a:r>
            <a:endParaRPr lang="en-US" sz="850" dirty="0"/>
          </a:p>
          <a:p>
            <a:pPr marL="0" indent="0" algn="ctr">
              <a:buNone/>
            </a:pPr>
            <a:r>
              <a:rPr lang="en-US" sz="850" dirty="0">
                <a:solidFill>
                  <a:srgbClr val="444444"/>
                </a:solidFill>
                <a:latin typeface="Calibri" pitchFamily="34" charset="0"/>
                <a:ea typeface="Calibri" pitchFamily="34" charset="-122"/>
                <a:cs typeface="Calibri" pitchFamily="34" charset="-120"/>
              </a:rPr>
              <a:t>24K weather</a:t>
            </a:r>
            <a:endParaRPr lang="en-US" sz="850" dirty="0"/>
          </a:p>
        </p:txBody>
      </p:sp>
      <p:sp>
        <p:nvSpPr>
          <p:cNvPr id="13" name="Text 10"/>
          <p:cNvSpPr/>
          <p:nvPr/>
        </p:nvSpPr>
        <p:spPr>
          <a:xfrm>
            <a:off x="3410712" y="2103120"/>
            <a:ext cx="274320" cy="365760"/>
          </a:xfrm>
          <a:prstGeom prst="rect">
            <a:avLst/>
          </a:prstGeom>
          <a:noFill/>
          <a:ln/>
        </p:spPr>
        <p:txBody>
          <a:bodyPr wrap="square" rtlCol="0" anchor="ctr"/>
          <a:lstStyle/>
          <a:p>
            <a:pPr marL="0" indent="0" algn="ctr">
              <a:buNone/>
            </a:pPr>
            <a:r>
              <a:rPr lang="en-US" sz="1600" dirty="0">
                <a:solidFill>
                  <a:srgbClr val="949594"/>
                </a:solidFill>
              </a:rPr>
              <a:t>→</a:t>
            </a:r>
            <a:endParaRPr lang="en-US" sz="1600" dirty="0"/>
          </a:p>
        </p:txBody>
      </p:sp>
      <p:sp>
        <p:nvSpPr>
          <p:cNvPr id="14" name="Shape 11"/>
          <p:cNvSpPr/>
          <p:nvPr/>
        </p:nvSpPr>
        <p:spPr>
          <a:xfrm>
            <a:off x="3621024" y="1051560"/>
            <a:ext cx="1572768" cy="3017520"/>
          </a:xfrm>
          <a:prstGeom prst="rect">
            <a:avLst/>
          </a:prstGeom>
          <a:solidFill>
            <a:srgbClr val="E8E8E8"/>
          </a:solidFill>
          <a:ln/>
          <a:effectLst>
            <a:outerShdw blurRad="50800" dist="25400" dir="8100000" algn="bl" rotWithShape="0">
              <a:srgbClr val="000000">
                <a:alpha val="10000"/>
              </a:srgbClr>
            </a:outerShdw>
          </a:effectLst>
        </p:spPr>
        <p:txBody>
          <a:bodyPr/>
          <a:lstStyle/>
          <a:p>
            <a:endParaRPr lang="en-US"/>
          </a:p>
        </p:txBody>
      </p:sp>
      <p:sp>
        <p:nvSpPr>
          <p:cNvPr id="15" name="Text 12"/>
          <p:cNvSpPr/>
          <p:nvPr/>
        </p:nvSpPr>
        <p:spPr>
          <a:xfrm>
            <a:off x="3621024" y="1143000"/>
            <a:ext cx="1572768" cy="320040"/>
          </a:xfrm>
          <a:prstGeom prst="rect">
            <a:avLst/>
          </a:prstGeom>
          <a:noFill/>
          <a:ln/>
        </p:spPr>
        <p:txBody>
          <a:bodyPr wrap="square" lIns="0" tIns="0" rIns="0" bIns="0" rtlCol="0" anchor="ctr"/>
          <a:lstStyle/>
          <a:p>
            <a:pPr marL="0" indent="0" algn="ctr">
              <a:buNone/>
            </a:pPr>
            <a:r>
              <a:rPr lang="en-US" sz="900" b="1" dirty="0">
                <a:solidFill>
                  <a:srgbClr val="606060"/>
                </a:solidFill>
                <a:latin typeface="Georgia" pitchFamily="34" charset="0"/>
                <a:ea typeface="Georgia" pitchFamily="34" charset="-122"/>
                <a:cs typeface="Georgia" pitchFamily="34" charset="-120"/>
              </a:rPr>
              <a:t>🥈 SILVER</a:t>
            </a:r>
            <a:endParaRPr lang="en-US" sz="900" dirty="0"/>
          </a:p>
        </p:txBody>
      </p:sp>
      <p:sp>
        <p:nvSpPr>
          <p:cNvPr id="16" name="Text 13"/>
          <p:cNvSpPr/>
          <p:nvPr/>
        </p:nvSpPr>
        <p:spPr>
          <a:xfrm>
            <a:off x="3694176" y="1554480"/>
            <a:ext cx="1426464" cy="2286000"/>
          </a:xfrm>
          <a:prstGeom prst="rect">
            <a:avLst/>
          </a:prstGeom>
          <a:noFill/>
          <a:ln/>
        </p:spPr>
        <p:txBody>
          <a:bodyPr wrap="square" lIns="0" tIns="0" rIns="0" bIns="0" rtlCol="0" anchor="t"/>
          <a:lstStyle/>
          <a:p>
            <a:pPr marL="0" indent="0" algn="ctr">
              <a:buNone/>
            </a:pPr>
            <a:r>
              <a:rPr lang="en-US" sz="850" dirty="0">
                <a:solidFill>
                  <a:srgbClr val="444444"/>
                </a:solidFill>
                <a:latin typeface="Calibri" pitchFamily="34" charset="0"/>
                <a:ea typeface="Calibri" pitchFamily="34" charset="-122"/>
                <a:cs typeface="Calibri" pitchFamily="34" charset="-120"/>
              </a:rPr>
              <a:t>Spark-processed</a:t>
            </a:r>
            <a:endParaRPr lang="en-US" sz="850" dirty="0"/>
          </a:p>
          <a:p>
            <a:pPr marL="0" indent="0" algn="ctr">
              <a:buNone/>
            </a:pPr>
            <a:r>
              <a:rPr lang="en-US" sz="850" dirty="0">
                <a:solidFill>
                  <a:srgbClr val="444444"/>
                </a:solidFill>
                <a:latin typeface="Calibri" pitchFamily="34" charset="0"/>
                <a:ea typeface="Calibri" pitchFamily="34" charset="-122"/>
                <a:cs typeface="Calibri" pitchFamily="34" charset="-120"/>
              </a:rPr>
              <a:t>Deduplicated</a:t>
            </a:r>
            <a:endParaRPr lang="en-US" sz="850" dirty="0"/>
          </a:p>
          <a:p>
            <a:pPr marL="0" indent="0" algn="ctr">
              <a:buNone/>
            </a:pPr>
            <a:r>
              <a:rPr lang="en-US" sz="850" dirty="0">
                <a:solidFill>
                  <a:srgbClr val="444444"/>
                </a:solidFill>
                <a:latin typeface="Calibri" pitchFamily="34" charset="0"/>
                <a:ea typeface="Calibri" pitchFamily="34" charset="-122"/>
                <a:cs typeface="Calibri" pitchFamily="34" charset="-120"/>
              </a:rPr>
              <a:t>Type-cast &amp; joined</a:t>
            </a:r>
            <a:endParaRPr lang="en-US" sz="850" dirty="0"/>
          </a:p>
          <a:p>
            <a:pPr marL="0" indent="0" algn="ctr">
              <a:buNone/>
            </a:pPr>
            <a:endParaRPr lang="en-US" sz="850" dirty="0"/>
          </a:p>
          <a:p>
            <a:pPr marL="0" indent="0" algn="ctr">
              <a:buNone/>
            </a:pPr>
            <a:r>
              <a:rPr lang="en-US" sz="850" dirty="0">
                <a:solidFill>
                  <a:srgbClr val="444444"/>
                </a:solidFill>
                <a:latin typeface="Calibri" pitchFamily="34" charset="0"/>
                <a:ea typeface="Calibri" pitchFamily="34" charset="-122"/>
                <a:cs typeface="Calibri" pitchFamily="34" charset="-120"/>
              </a:rPr>
              <a:t>race_master table</a:t>
            </a:r>
            <a:endParaRPr lang="en-US" sz="850" dirty="0"/>
          </a:p>
          <a:p>
            <a:pPr marL="0" indent="0" algn="ctr">
              <a:buNone/>
            </a:pPr>
            <a:r>
              <a:rPr lang="en-US" sz="850" dirty="0">
                <a:solidFill>
                  <a:srgbClr val="444444"/>
                </a:solidFill>
                <a:latin typeface="Calibri" pitchFamily="34" charset="0"/>
                <a:ea typeface="Calibri" pitchFamily="34" charset="-122"/>
                <a:cs typeface="Calibri" pitchFamily="34" charset="-120"/>
              </a:rPr>
              <a:t>3,524 clean rows</a:t>
            </a:r>
            <a:endParaRPr lang="en-US" sz="850" dirty="0"/>
          </a:p>
        </p:txBody>
      </p:sp>
      <p:sp>
        <p:nvSpPr>
          <p:cNvPr id="17" name="Text 14"/>
          <p:cNvSpPr/>
          <p:nvPr/>
        </p:nvSpPr>
        <p:spPr>
          <a:xfrm>
            <a:off x="5129784" y="2103120"/>
            <a:ext cx="274320" cy="365760"/>
          </a:xfrm>
          <a:prstGeom prst="rect">
            <a:avLst/>
          </a:prstGeom>
          <a:noFill/>
          <a:ln/>
        </p:spPr>
        <p:txBody>
          <a:bodyPr wrap="square" rtlCol="0" anchor="ctr"/>
          <a:lstStyle/>
          <a:p>
            <a:pPr marL="0" indent="0" algn="ctr">
              <a:buNone/>
            </a:pPr>
            <a:r>
              <a:rPr lang="en-US" sz="1600" dirty="0">
                <a:solidFill>
                  <a:srgbClr val="949594"/>
                </a:solidFill>
              </a:rPr>
              <a:t>→</a:t>
            </a:r>
            <a:endParaRPr lang="en-US" sz="1600" dirty="0"/>
          </a:p>
        </p:txBody>
      </p:sp>
      <p:sp>
        <p:nvSpPr>
          <p:cNvPr id="18" name="Shape 15"/>
          <p:cNvSpPr/>
          <p:nvPr/>
        </p:nvSpPr>
        <p:spPr>
          <a:xfrm>
            <a:off x="5340096" y="1051560"/>
            <a:ext cx="1572768" cy="3017520"/>
          </a:xfrm>
          <a:prstGeom prst="rect">
            <a:avLst/>
          </a:prstGeom>
          <a:solidFill>
            <a:srgbClr val="FFF4B8"/>
          </a:solidFill>
          <a:ln/>
          <a:effectLst>
            <a:outerShdw blurRad="50800" dist="25400" dir="8100000" algn="bl" rotWithShape="0">
              <a:srgbClr val="000000">
                <a:alpha val="10000"/>
              </a:srgbClr>
            </a:outerShdw>
          </a:effectLst>
        </p:spPr>
        <p:txBody>
          <a:bodyPr/>
          <a:lstStyle/>
          <a:p>
            <a:endParaRPr lang="en-US"/>
          </a:p>
        </p:txBody>
      </p:sp>
      <p:sp>
        <p:nvSpPr>
          <p:cNvPr id="19" name="Text 16"/>
          <p:cNvSpPr/>
          <p:nvPr/>
        </p:nvSpPr>
        <p:spPr>
          <a:xfrm>
            <a:off x="5340096" y="1143000"/>
            <a:ext cx="1572768" cy="320040"/>
          </a:xfrm>
          <a:prstGeom prst="rect">
            <a:avLst/>
          </a:prstGeom>
          <a:noFill/>
          <a:ln/>
        </p:spPr>
        <p:txBody>
          <a:bodyPr wrap="square" lIns="0" tIns="0" rIns="0" bIns="0" rtlCol="0" anchor="ctr"/>
          <a:lstStyle/>
          <a:p>
            <a:pPr marL="0" indent="0" algn="ctr">
              <a:buNone/>
            </a:pPr>
            <a:r>
              <a:rPr lang="en-US" sz="900" b="1" dirty="0">
                <a:solidFill>
                  <a:srgbClr val="B8860B"/>
                </a:solidFill>
                <a:latin typeface="Georgia" pitchFamily="34" charset="0"/>
                <a:ea typeface="Georgia" pitchFamily="34" charset="-122"/>
                <a:cs typeface="Georgia" pitchFamily="34" charset="-120"/>
              </a:rPr>
              <a:t>🥇 GOLD</a:t>
            </a:r>
            <a:endParaRPr lang="en-US" sz="900" dirty="0"/>
          </a:p>
        </p:txBody>
      </p:sp>
      <p:sp>
        <p:nvSpPr>
          <p:cNvPr id="20" name="Text 17"/>
          <p:cNvSpPr/>
          <p:nvPr/>
        </p:nvSpPr>
        <p:spPr>
          <a:xfrm>
            <a:off x="5413248" y="1554480"/>
            <a:ext cx="1426464" cy="2286000"/>
          </a:xfrm>
          <a:prstGeom prst="rect">
            <a:avLst/>
          </a:prstGeom>
          <a:noFill/>
          <a:ln/>
        </p:spPr>
        <p:txBody>
          <a:bodyPr wrap="square" lIns="0" tIns="0" rIns="0" bIns="0" rtlCol="0" anchor="t"/>
          <a:lstStyle/>
          <a:p>
            <a:pPr marL="0" indent="0" algn="ctr">
              <a:buNone/>
            </a:pPr>
            <a:r>
              <a:rPr lang="en-US" sz="850" dirty="0">
                <a:solidFill>
                  <a:srgbClr val="444444"/>
                </a:solidFill>
                <a:latin typeface="Calibri" pitchFamily="34" charset="0"/>
                <a:ea typeface="Calibri" pitchFamily="34" charset="-122"/>
                <a:cs typeface="Calibri" pitchFamily="34" charset="-120"/>
              </a:rPr>
              <a:t>85 ML features</a:t>
            </a:r>
            <a:endParaRPr lang="en-US" sz="850" dirty="0"/>
          </a:p>
          <a:p>
            <a:pPr marL="0" indent="0" algn="ctr">
              <a:buNone/>
            </a:pPr>
            <a:r>
              <a:rPr lang="en-US" sz="850" dirty="0">
                <a:solidFill>
                  <a:srgbClr val="444444"/>
                </a:solidFill>
                <a:latin typeface="Calibri" pitchFamily="34" charset="0"/>
                <a:ea typeface="Calibri" pitchFamily="34" charset="-122"/>
                <a:cs typeface="Calibri" pitchFamily="34" charset="-120"/>
              </a:rPr>
              <a:t>Window functions</a:t>
            </a:r>
            <a:endParaRPr lang="en-US" sz="850" dirty="0"/>
          </a:p>
          <a:p>
            <a:pPr marL="0" indent="0" algn="ctr">
              <a:buNone/>
            </a:pPr>
            <a:r>
              <a:rPr lang="en-US" sz="850" dirty="0">
                <a:solidFill>
                  <a:srgbClr val="444444"/>
                </a:solidFill>
                <a:latin typeface="Calibri" pitchFamily="34" charset="0"/>
                <a:ea typeface="Calibri" pitchFamily="34" charset="-122"/>
                <a:cs typeface="Calibri" pitchFamily="34" charset="-120"/>
              </a:rPr>
              <a:t>ELO ratings</a:t>
            </a:r>
            <a:endParaRPr lang="en-US" sz="850" dirty="0"/>
          </a:p>
          <a:p>
            <a:pPr marL="0" indent="0" algn="ctr">
              <a:buNone/>
            </a:pPr>
            <a:endParaRPr lang="en-US" sz="850" dirty="0"/>
          </a:p>
          <a:p>
            <a:pPr marL="0" indent="0" algn="ctr">
              <a:buNone/>
            </a:pPr>
            <a:r>
              <a:rPr lang="en-US" sz="850" dirty="0">
                <a:solidFill>
                  <a:srgbClr val="444444"/>
                </a:solidFill>
                <a:latin typeface="Calibri" pitchFamily="34" charset="0"/>
                <a:ea typeface="Calibri" pitchFamily="34" charset="-122"/>
                <a:cs typeface="Calibri" pitchFamily="34" charset="-120"/>
              </a:rPr>
              <a:t>Tire degradation</a:t>
            </a:r>
            <a:endParaRPr lang="en-US" sz="850" dirty="0"/>
          </a:p>
          <a:p>
            <a:pPr marL="0" indent="0" algn="ctr">
              <a:buNone/>
            </a:pPr>
            <a:r>
              <a:rPr lang="en-US" sz="850" dirty="0">
                <a:solidFill>
                  <a:srgbClr val="444444"/>
                </a:solidFill>
                <a:latin typeface="Calibri" pitchFamily="34" charset="0"/>
                <a:ea typeface="Calibri" pitchFamily="34" charset="-122"/>
                <a:cs typeface="Calibri" pitchFamily="34" charset="-120"/>
              </a:rPr>
              <a:t>Weather features</a:t>
            </a:r>
            <a:endParaRPr lang="en-US" sz="850" dirty="0"/>
          </a:p>
          <a:p>
            <a:pPr marL="0" indent="0" algn="ctr">
              <a:buNone/>
            </a:pPr>
            <a:r>
              <a:rPr lang="en-US" sz="850" dirty="0">
                <a:solidFill>
                  <a:srgbClr val="444444"/>
                </a:solidFill>
                <a:latin typeface="Calibri" pitchFamily="34" charset="0"/>
                <a:ea typeface="Calibri" pitchFamily="34" charset="-122"/>
                <a:cs typeface="Calibri" pitchFamily="34" charset="-120"/>
              </a:rPr>
              <a:t>Interaction terms</a:t>
            </a:r>
            <a:endParaRPr lang="en-US" sz="850" dirty="0"/>
          </a:p>
        </p:txBody>
      </p:sp>
      <p:sp>
        <p:nvSpPr>
          <p:cNvPr id="21" name="Text 18"/>
          <p:cNvSpPr/>
          <p:nvPr/>
        </p:nvSpPr>
        <p:spPr>
          <a:xfrm>
            <a:off x="6848856" y="2103120"/>
            <a:ext cx="274320" cy="365760"/>
          </a:xfrm>
          <a:prstGeom prst="rect">
            <a:avLst/>
          </a:prstGeom>
          <a:noFill/>
          <a:ln/>
        </p:spPr>
        <p:txBody>
          <a:bodyPr wrap="square" rtlCol="0" anchor="ctr"/>
          <a:lstStyle/>
          <a:p>
            <a:pPr marL="0" indent="0" algn="ctr">
              <a:buNone/>
            </a:pPr>
            <a:r>
              <a:rPr lang="en-US" sz="1600" dirty="0">
                <a:solidFill>
                  <a:srgbClr val="949594"/>
                </a:solidFill>
              </a:rPr>
              <a:t>→</a:t>
            </a:r>
            <a:endParaRPr lang="en-US" sz="1600" dirty="0"/>
          </a:p>
        </p:txBody>
      </p:sp>
      <p:sp>
        <p:nvSpPr>
          <p:cNvPr id="22" name="Shape 19"/>
          <p:cNvSpPr/>
          <p:nvPr/>
        </p:nvSpPr>
        <p:spPr>
          <a:xfrm>
            <a:off x="7059168" y="1051560"/>
            <a:ext cx="1572768" cy="3017520"/>
          </a:xfrm>
          <a:prstGeom prst="rect">
            <a:avLst/>
          </a:prstGeom>
          <a:solidFill>
            <a:srgbClr val="EDE7F6"/>
          </a:solidFill>
          <a:ln/>
          <a:effectLst>
            <a:outerShdw blurRad="50800" dist="25400" dir="8100000" algn="bl" rotWithShape="0">
              <a:srgbClr val="000000">
                <a:alpha val="10000"/>
              </a:srgbClr>
            </a:outerShdw>
          </a:effectLst>
        </p:spPr>
        <p:txBody>
          <a:bodyPr/>
          <a:lstStyle/>
          <a:p>
            <a:endParaRPr lang="en-US"/>
          </a:p>
        </p:txBody>
      </p:sp>
      <p:sp>
        <p:nvSpPr>
          <p:cNvPr id="23" name="Text 20"/>
          <p:cNvSpPr/>
          <p:nvPr/>
        </p:nvSpPr>
        <p:spPr>
          <a:xfrm>
            <a:off x="7059168" y="1143000"/>
            <a:ext cx="1572768" cy="320040"/>
          </a:xfrm>
          <a:prstGeom prst="rect">
            <a:avLst/>
          </a:prstGeom>
          <a:noFill/>
          <a:ln/>
        </p:spPr>
        <p:txBody>
          <a:bodyPr wrap="square" lIns="0" tIns="0" rIns="0" bIns="0" rtlCol="0" anchor="ctr"/>
          <a:lstStyle/>
          <a:p>
            <a:pPr marL="0" indent="0" algn="ctr">
              <a:buNone/>
            </a:pPr>
            <a:r>
              <a:rPr lang="en-US" sz="900" b="1" dirty="0">
                <a:solidFill>
                  <a:srgbClr val="4527A0"/>
                </a:solidFill>
                <a:latin typeface="Georgia" pitchFamily="34" charset="0"/>
                <a:ea typeface="Georgia" pitchFamily="34" charset="-122"/>
                <a:cs typeface="Georgia" pitchFamily="34" charset="-120"/>
              </a:rPr>
              <a:t>CONSUMPTION</a:t>
            </a:r>
            <a:endParaRPr lang="en-US" sz="900" dirty="0"/>
          </a:p>
        </p:txBody>
      </p:sp>
      <p:sp>
        <p:nvSpPr>
          <p:cNvPr id="24" name="Text 21"/>
          <p:cNvSpPr/>
          <p:nvPr/>
        </p:nvSpPr>
        <p:spPr>
          <a:xfrm>
            <a:off x="7132320" y="1554480"/>
            <a:ext cx="1426464" cy="2286000"/>
          </a:xfrm>
          <a:prstGeom prst="rect">
            <a:avLst/>
          </a:prstGeom>
          <a:noFill/>
          <a:ln/>
        </p:spPr>
        <p:txBody>
          <a:bodyPr wrap="square" lIns="0" tIns="0" rIns="0" bIns="0" rtlCol="0" anchor="t"/>
          <a:lstStyle/>
          <a:p>
            <a:pPr marL="0" indent="0" algn="ctr">
              <a:buNone/>
            </a:pPr>
            <a:r>
              <a:rPr lang="en-US" sz="850" dirty="0">
                <a:solidFill>
                  <a:srgbClr val="444444"/>
                </a:solidFill>
                <a:latin typeface="Calibri" pitchFamily="34" charset="0"/>
                <a:ea typeface="Calibri" pitchFamily="34" charset="-122"/>
                <a:cs typeface="Calibri" pitchFamily="34" charset="-120"/>
              </a:rPr>
              <a:t>3 ML models</a:t>
            </a:r>
            <a:endParaRPr lang="en-US" sz="850" dirty="0"/>
          </a:p>
          <a:p>
            <a:pPr marL="0" indent="0" algn="ctr">
              <a:buNone/>
            </a:pPr>
            <a:r>
              <a:rPr lang="en-US" sz="850" dirty="0">
                <a:solidFill>
                  <a:srgbClr val="444444"/>
                </a:solidFill>
                <a:latin typeface="Calibri" pitchFamily="34" charset="0"/>
                <a:ea typeface="Calibri" pitchFamily="34" charset="-122"/>
                <a:cs typeface="Calibri" pitchFamily="34" charset="-120"/>
              </a:rPr>
              <a:t>4 AI agents</a:t>
            </a:r>
            <a:endParaRPr lang="en-US" sz="850" dirty="0"/>
          </a:p>
          <a:p>
            <a:pPr marL="0" indent="0" algn="ctr">
              <a:buNone/>
            </a:pPr>
            <a:r>
              <a:rPr lang="en-US" sz="850" dirty="0">
                <a:solidFill>
                  <a:srgbClr val="444444"/>
                </a:solidFill>
                <a:latin typeface="Calibri" pitchFamily="34" charset="0"/>
                <a:ea typeface="Calibri" pitchFamily="34" charset="-122"/>
                <a:cs typeface="Calibri" pitchFamily="34" charset="-120"/>
              </a:rPr>
              <a:t>Streamlit dashboard</a:t>
            </a:r>
            <a:endParaRPr lang="en-US" sz="850" dirty="0"/>
          </a:p>
          <a:p>
            <a:pPr marL="0" indent="0" algn="ctr">
              <a:buNone/>
            </a:pPr>
            <a:endParaRPr lang="en-US" sz="850" dirty="0"/>
          </a:p>
          <a:p>
            <a:pPr marL="0" indent="0" algn="ctr">
              <a:buNone/>
            </a:pPr>
            <a:r>
              <a:rPr lang="en-US" sz="850" dirty="0">
                <a:solidFill>
                  <a:srgbClr val="444444"/>
                </a:solidFill>
                <a:latin typeface="Calibri" pitchFamily="34" charset="0"/>
                <a:ea typeface="Calibri" pitchFamily="34" charset="-122"/>
                <a:cs typeface="Calibri" pitchFamily="34" charset="-120"/>
              </a:rPr>
              <a:t>77.8% winner</a:t>
            </a:r>
            <a:endParaRPr lang="en-US" sz="850" dirty="0"/>
          </a:p>
          <a:p>
            <a:pPr marL="0" indent="0" algn="ctr">
              <a:buNone/>
            </a:pPr>
            <a:r>
              <a:rPr lang="en-US" sz="850" dirty="0">
                <a:solidFill>
                  <a:srgbClr val="444444"/>
                </a:solidFill>
                <a:latin typeface="Calibri" pitchFamily="34" charset="0"/>
                <a:ea typeface="Calibri" pitchFamily="34" charset="-122"/>
                <a:cs typeface="Calibri" pitchFamily="34" charset="-120"/>
              </a:rPr>
              <a:t>100% top-3</a:t>
            </a:r>
            <a:endParaRPr lang="en-US" sz="850" dirty="0"/>
          </a:p>
        </p:txBody>
      </p:sp>
      <p:sp>
        <p:nvSpPr>
          <p:cNvPr id="25" name="Text 22"/>
          <p:cNvSpPr/>
          <p:nvPr/>
        </p:nvSpPr>
        <p:spPr>
          <a:xfrm>
            <a:off x="457200" y="4206240"/>
            <a:ext cx="8229600" cy="320040"/>
          </a:xfrm>
          <a:prstGeom prst="rect">
            <a:avLst/>
          </a:prstGeom>
          <a:noFill/>
          <a:ln/>
        </p:spPr>
        <p:txBody>
          <a:bodyPr wrap="square" lIns="0" tIns="0" rIns="0" bIns="0" rtlCol="0" anchor="ctr"/>
          <a:lstStyle/>
          <a:p>
            <a:pPr marL="0" indent="0">
              <a:buNone/>
            </a:pPr>
            <a:r>
              <a:rPr lang="en-US" sz="1000" i="1" dirty="0">
                <a:solidFill>
                  <a:srgbClr val="949594"/>
                </a:solidFill>
                <a:latin typeface="Calibri" pitchFamily="34" charset="0"/>
                <a:ea typeface="Calibri" pitchFamily="34" charset="-122"/>
                <a:cs typeface="Calibri" pitchFamily="34" charset="-120"/>
              </a:rPr>
              <a:t>Each layer adds trust, structure, and business value — 223K raw records → 3,524 × 85 = 300K feature values</a:t>
            </a:r>
            <a:endParaRPr lang="en-US" sz="1000" dirty="0"/>
          </a:p>
        </p:txBody>
      </p:sp>
      <p:sp>
        <p:nvSpPr>
          <p:cNvPr id="26" name="Text 23"/>
          <p:cNvSpPr/>
          <p:nvPr/>
        </p:nvSpPr>
        <p:spPr>
          <a:xfrm>
            <a:off x="457200" y="4709160"/>
            <a:ext cx="6400800" cy="365760"/>
          </a:xfrm>
          <a:prstGeom prst="rect">
            <a:avLst/>
          </a:prstGeom>
          <a:noFill/>
          <a:ln/>
        </p:spPr>
        <p:txBody>
          <a:bodyPr wrap="square" rtlCol="0" anchor="ctr"/>
          <a:lstStyle/>
          <a:p>
            <a:pPr marL="0" indent="0">
              <a:buNone/>
            </a:pPr>
            <a:r>
              <a:rPr lang="en-US" sz="900" dirty="0">
                <a:solidFill>
                  <a:srgbClr val="949594"/>
                </a:solidFill>
                <a:latin typeface="Calibri" pitchFamily="34" charset="0"/>
                <a:ea typeface="Calibri" pitchFamily="34" charset="-122"/>
                <a:cs typeface="Calibri" pitchFamily="34" charset="-120"/>
              </a:rPr>
              <a:t>Speaker 1 — Problem &amp; Architecture</a:t>
            </a:r>
            <a:endParaRPr lang="en-US" sz="900" dirty="0"/>
          </a:p>
        </p:txBody>
      </p:sp>
      <p:sp>
        <p:nvSpPr>
          <p:cNvPr id="27" name="Text 24"/>
          <p:cNvSpPr/>
          <p:nvPr/>
        </p:nvSpPr>
        <p:spPr>
          <a:xfrm>
            <a:off x="8412480" y="4709160"/>
            <a:ext cx="548640" cy="365760"/>
          </a:xfrm>
          <a:prstGeom prst="rect">
            <a:avLst/>
          </a:prstGeom>
          <a:noFill/>
          <a:ln/>
        </p:spPr>
        <p:txBody>
          <a:bodyPr wrap="square" rtlCol="0" anchor="ctr"/>
          <a:lstStyle/>
          <a:p>
            <a:pPr marL="0" indent="0" algn="r">
              <a:buNone/>
            </a:pPr>
            <a:r>
              <a:rPr lang="en-US" sz="900" dirty="0">
                <a:solidFill>
                  <a:srgbClr val="949594"/>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5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C41E1E"/>
          </a:solidFill>
          <a:ln/>
        </p:spPr>
        <p:txBody>
          <a:bodyPr/>
          <a:lstStyle/>
          <a:p>
            <a:endParaRPr lang="en-US"/>
          </a:p>
        </p:txBody>
      </p:sp>
      <p:sp>
        <p:nvSpPr>
          <p:cNvPr id="3" name="Shape 1"/>
          <p:cNvSpPr/>
          <p:nvPr/>
        </p:nvSpPr>
        <p:spPr>
          <a:xfrm>
            <a:off x="8778240" y="0"/>
            <a:ext cx="137160" cy="5143500"/>
          </a:xfrm>
          <a:prstGeom prst="rect">
            <a:avLst/>
          </a:prstGeom>
          <a:solidFill>
            <a:srgbClr val="C41E1E"/>
          </a:solidFill>
          <a:ln/>
        </p:spPr>
        <p:txBody>
          <a:bodyPr/>
          <a:lstStyle/>
          <a:p>
            <a:endParaRPr lang="en-US"/>
          </a:p>
        </p:txBody>
      </p:sp>
      <p:sp>
        <p:nvSpPr>
          <p:cNvPr id="4" name="Shape 2"/>
          <p:cNvSpPr/>
          <p:nvPr/>
        </p:nvSpPr>
        <p:spPr>
          <a:xfrm>
            <a:off x="8961120" y="0"/>
            <a:ext cx="73152" cy="5143500"/>
          </a:xfrm>
          <a:prstGeom prst="rect">
            <a:avLst/>
          </a:prstGeom>
          <a:solidFill>
            <a:srgbClr val="C41E1E">
              <a:alpha val="40000"/>
            </a:srgbClr>
          </a:solidFill>
          <a:ln/>
        </p:spPr>
        <p:txBody>
          <a:bodyPr/>
          <a:lstStyle/>
          <a:p>
            <a:endParaRPr lang="en-US"/>
          </a:p>
        </p:txBody>
      </p:sp>
      <p:sp>
        <p:nvSpPr>
          <p:cNvPr id="5" name="Text 3"/>
          <p:cNvSpPr/>
          <p:nvPr/>
        </p:nvSpPr>
        <p:spPr>
          <a:xfrm>
            <a:off x="731520" y="182880"/>
            <a:ext cx="7315200" cy="548640"/>
          </a:xfrm>
          <a:prstGeom prst="rect">
            <a:avLst/>
          </a:prstGeom>
          <a:noFill/>
          <a:ln/>
        </p:spPr>
        <p:txBody>
          <a:bodyPr wrap="square" lIns="0" tIns="0" rIns="0" bIns="0" rtlCol="0" anchor="ctr"/>
          <a:lstStyle/>
          <a:p>
            <a:pPr marL="0" indent="0">
              <a:buNone/>
            </a:pPr>
            <a:r>
              <a:rPr lang="en-US" sz="2600" b="1" dirty="0">
                <a:solidFill>
                  <a:srgbClr val="1A1A2E"/>
                </a:solidFill>
                <a:latin typeface="Georgia" pitchFamily="34" charset="0"/>
                <a:ea typeface="Georgia" pitchFamily="34" charset="-122"/>
                <a:cs typeface="Georgia" pitchFamily="34" charset="-120"/>
              </a:rPr>
              <a:t>Infrastructure — Docker &amp; Tech Stack</a:t>
            </a:r>
            <a:endParaRPr lang="en-US" sz="2600" dirty="0"/>
          </a:p>
        </p:txBody>
      </p:sp>
      <p:sp>
        <p:nvSpPr>
          <p:cNvPr id="6" name="Text 4"/>
          <p:cNvSpPr/>
          <p:nvPr/>
        </p:nvSpPr>
        <p:spPr>
          <a:xfrm>
            <a:off x="731520" y="685800"/>
            <a:ext cx="7315200" cy="228600"/>
          </a:xfrm>
          <a:prstGeom prst="rect">
            <a:avLst/>
          </a:prstGeom>
          <a:noFill/>
          <a:ln/>
        </p:spPr>
        <p:txBody>
          <a:bodyPr wrap="square" lIns="0" tIns="0" rIns="0" bIns="0" rtlCol="0" anchor="ctr"/>
          <a:lstStyle/>
          <a:p>
            <a:pPr marL="0" indent="0">
              <a:buNone/>
            </a:pPr>
            <a:r>
              <a:rPr lang="en-US" sz="1100" dirty="0">
                <a:solidFill>
                  <a:srgbClr val="949594"/>
                </a:solidFill>
                <a:latin typeface="Calibri" pitchFamily="34" charset="0"/>
                <a:ea typeface="Calibri" pitchFamily="34" charset="-122"/>
                <a:cs typeface="Calibri" pitchFamily="34" charset="-120"/>
              </a:rPr>
              <a:t>7 containers • one command: docker-compose up -d • fully reproducible</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05840"/>
          <a:ext cx="7863840" cy="2194560"/>
        </p:xfrm>
        <a:graphic>
          <a:graphicData uri="http://schemas.openxmlformats.org/drawingml/2006/table">
            <a:tbl>
              <a:tblPr/>
              <a:tblGrid>
                <a:gridCol w="164592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gridCol w="4114800">
                  <a:extLst>
                    <a:ext uri="{9D8B030D-6E8A-4147-A177-3AD203B41FA5}">
                      <a16:colId xmlns:a16="http://schemas.microsoft.com/office/drawing/2014/main" val="20003"/>
                    </a:ext>
                  </a:extLst>
                </a:gridCol>
              </a:tblGrid>
              <a:tr h="274320">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Container</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C41E1E"/>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Technology</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C41E1E"/>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Port</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C41E1E"/>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Role</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C41E1E"/>
                    </a:solidFill>
                  </a:tcPr>
                </a:tc>
                <a:extLst>
                  <a:ext uri="{0D108BD9-81ED-4DB2-BD59-A6C34878D82A}">
                    <a16:rowId xmlns:a16="http://schemas.microsoft.com/office/drawing/2014/main" val="10000"/>
                  </a:ext>
                </a:extLst>
              </a:tr>
              <a:tr h="274320">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Spark Master</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Spark 3.5.1</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8080</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Distributes computation across workers</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1"/>
                  </a:ext>
                </a:extLst>
              </a:tr>
              <a:tr h="274320">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Spark Worker 1</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Spark 3.5.1</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Worker node (2 cores, 2GB RAM)</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2"/>
                  </a:ext>
                </a:extLst>
              </a:tr>
              <a:tr h="274320">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Spark Worker 2</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Spark 3.5.1</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Second worker for parallel processing</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3"/>
                  </a:ext>
                </a:extLst>
              </a:tr>
              <a:tr h="274320">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PostgreSQL</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PostgreSQL 15</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5433</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Metadata database for Airflow</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4"/>
                  </a:ext>
                </a:extLst>
              </a:tr>
              <a:tr h="274320">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Airflow Web</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Airflow 2.8.1</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8081</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Pipeline monitoring UI</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5"/>
                  </a:ext>
                </a:extLst>
              </a:tr>
              <a:tr h="274320">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Airflow Scheduler</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Airflow 2.8.1</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Executes scheduled DAGs automatically</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6"/>
                  </a:ext>
                </a:extLst>
              </a:tr>
              <a:tr h="274320">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Jupyter</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PySpark</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8888</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Interactive exploration environment</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7" name="Shape 5"/>
          <p:cNvSpPr/>
          <p:nvPr/>
        </p:nvSpPr>
        <p:spPr>
          <a:xfrm>
            <a:off x="365760" y="3383280"/>
            <a:ext cx="2651760" cy="109728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US"/>
          </a:p>
        </p:txBody>
      </p:sp>
      <p:sp>
        <p:nvSpPr>
          <p:cNvPr id="9" name="Shape 6"/>
          <p:cNvSpPr/>
          <p:nvPr/>
        </p:nvSpPr>
        <p:spPr>
          <a:xfrm>
            <a:off x="365760" y="3383280"/>
            <a:ext cx="54864" cy="1097280"/>
          </a:xfrm>
          <a:prstGeom prst="rect">
            <a:avLst/>
          </a:prstGeom>
          <a:solidFill>
            <a:srgbClr val="2563EB"/>
          </a:solidFill>
          <a:ln/>
        </p:spPr>
        <p:txBody>
          <a:bodyPr/>
          <a:lstStyle/>
          <a:p>
            <a:endParaRPr lang="en-US"/>
          </a:p>
        </p:txBody>
      </p:sp>
      <p:pic>
        <p:nvPicPr>
          <p:cNvPr id="10" name="Image 0" descr="preencoded.png"/>
          <p:cNvPicPr>
            <a:picLocks noChangeAspect="1"/>
          </p:cNvPicPr>
          <p:nvPr/>
        </p:nvPicPr>
        <p:blipFill>
          <a:blip r:embed="rId3"/>
          <a:stretch>
            <a:fillRect/>
          </a:stretch>
        </p:blipFill>
        <p:spPr>
          <a:xfrm>
            <a:off x="502920" y="3493008"/>
            <a:ext cx="256032" cy="256032"/>
          </a:xfrm>
          <a:prstGeom prst="rect">
            <a:avLst/>
          </a:prstGeom>
        </p:spPr>
      </p:pic>
      <p:sp>
        <p:nvSpPr>
          <p:cNvPr id="11" name="Text 7"/>
          <p:cNvSpPr/>
          <p:nvPr/>
        </p:nvSpPr>
        <p:spPr>
          <a:xfrm>
            <a:off x="822960" y="3456432"/>
            <a:ext cx="2057400" cy="292608"/>
          </a:xfrm>
          <a:prstGeom prst="rect">
            <a:avLst/>
          </a:prstGeom>
          <a:noFill/>
          <a:ln/>
        </p:spPr>
        <p:txBody>
          <a:bodyPr wrap="square" lIns="0" tIns="0" rIns="0" bIns="0" rtlCol="0" anchor="ctr"/>
          <a:lstStyle/>
          <a:p>
            <a:pPr marL="0" indent="0">
              <a:buNone/>
            </a:pPr>
            <a:r>
              <a:rPr lang="en-US" sz="1200" b="1" dirty="0">
                <a:solidFill>
                  <a:srgbClr val="2563EB"/>
                </a:solidFill>
                <a:latin typeface="Georgia" pitchFamily="34" charset="0"/>
                <a:ea typeface="Georgia" pitchFamily="34" charset="-122"/>
                <a:cs typeface="Georgia" pitchFamily="34" charset="-120"/>
              </a:rPr>
              <a:t>Processing</a:t>
            </a:r>
            <a:endParaRPr lang="en-US" sz="1200" dirty="0"/>
          </a:p>
        </p:txBody>
      </p:sp>
      <p:sp>
        <p:nvSpPr>
          <p:cNvPr id="12" name="Text 8"/>
          <p:cNvSpPr/>
          <p:nvPr/>
        </p:nvSpPr>
        <p:spPr>
          <a:xfrm>
            <a:off x="502920" y="3794760"/>
            <a:ext cx="2377440" cy="594360"/>
          </a:xfrm>
          <a:prstGeom prst="rect">
            <a:avLst/>
          </a:prstGeom>
          <a:noFill/>
          <a:ln/>
        </p:spPr>
        <p:txBody>
          <a:bodyPr wrap="square" rtlCol="0" anchor="t"/>
          <a:lstStyle/>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Apache Spark 3.5.1 — 2 workers, 4 cores</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Parquet columnar storage</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Docker Compose orchestration</a:t>
            </a:r>
            <a:endParaRPr lang="en-US" sz="950" dirty="0"/>
          </a:p>
        </p:txBody>
      </p:sp>
      <p:sp>
        <p:nvSpPr>
          <p:cNvPr id="13" name="Shape 9"/>
          <p:cNvSpPr/>
          <p:nvPr/>
        </p:nvSpPr>
        <p:spPr>
          <a:xfrm>
            <a:off x="3200400" y="3383280"/>
            <a:ext cx="2651760" cy="109728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US"/>
          </a:p>
        </p:txBody>
      </p:sp>
      <p:sp>
        <p:nvSpPr>
          <p:cNvPr id="14" name="Shape 10"/>
          <p:cNvSpPr/>
          <p:nvPr/>
        </p:nvSpPr>
        <p:spPr>
          <a:xfrm>
            <a:off x="3200400" y="3383280"/>
            <a:ext cx="54864" cy="1097280"/>
          </a:xfrm>
          <a:prstGeom prst="rect">
            <a:avLst/>
          </a:prstGeom>
          <a:solidFill>
            <a:srgbClr val="059669"/>
          </a:solidFill>
          <a:ln/>
        </p:spPr>
        <p:txBody>
          <a:bodyPr/>
          <a:lstStyle/>
          <a:p>
            <a:endParaRPr lang="en-US"/>
          </a:p>
        </p:txBody>
      </p:sp>
      <p:pic>
        <p:nvPicPr>
          <p:cNvPr id="15" name="Image 1" descr="preencoded.png"/>
          <p:cNvPicPr>
            <a:picLocks noChangeAspect="1"/>
          </p:cNvPicPr>
          <p:nvPr/>
        </p:nvPicPr>
        <p:blipFill>
          <a:blip r:embed="rId4"/>
          <a:stretch>
            <a:fillRect/>
          </a:stretch>
        </p:blipFill>
        <p:spPr>
          <a:xfrm>
            <a:off x="3337560" y="3493008"/>
            <a:ext cx="256032" cy="256032"/>
          </a:xfrm>
          <a:prstGeom prst="rect">
            <a:avLst/>
          </a:prstGeom>
        </p:spPr>
      </p:pic>
      <p:sp>
        <p:nvSpPr>
          <p:cNvPr id="16" name="Text 11"/>
          <p:cNvSpPr/>
          <p:nvPr/>
        </p:nvSpPr>
        <p:spPr>
          <a:xfrm>
            <a:off x="3657600" y="3456432"/>
            <a:ext cx="2057400" cy="292608"/>
          </a:xfrm>
          <a:prstGeom prst="rect">
            <a:avLst/>
          </a:prstGeom>
          <a:noFill/>
          <a:ln/>
        </p:spPr>
        <p:txBody>
          <a:bodyPr wrap="square" lIns="0" tIns="0" rIns="0" bIns="0" rtlCol="0" anchor="ctr"/>
          <a:lstStyle/>
          <a:p>
            <a:pPr marL="0" indent="0">
              <a:buNone/>
            </a:pPr>
            <a:r>
              <a:rPr lang="en-US" sz="1200" b="1" dirty="0">
                <a:solidFill>
                  <a:srgbClr val="059669"/>
                </a:solidFill>
                <a:latin typeface="Georgia" pitchFamily="34" charset="0"/>
                <a:ea typeface="Georgia" pitchFamily="34" charset="-122"/>
                <a:cs typeface="Georgia" pitchFamily="34" charset="-120"/>
              </a:rPr>
              <a:t>Scheduling</a:t>
            </a:r>
            <a:endParaRPr lang="en-US" sz="1200" dirty="0"/>
          </a:p>
        </p:txBody>
      </p:sp>
      <p:sp>
        <p:nvSpPr>
          <p:cNvPr id="17" name="Text 12"/>
          <p:cNvSpPr/>
          <p:nvPr/>
        </p:nvSpPr>
        <p:spPr>
          <a:xfrm>
            <a:off x="3337560" y="3794760"/>
            <a:ext cx="2377440" cy="594360"/>
          </a:xfrm>
          <a:prstGeom prst="rect">
            <a:avLst/>
          </a:prstGeom>
          <a:noFill/>
          <a:ln/>
        </p:spPr>
        <p:txBody>
          <a:bodyPr wrap="square" rtlCol="0" anchor="t"/>
          <a:lstStyle/>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Apache Airflow — Monday 6AM</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5-task automated pipeline</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PostgreSQL metadata</a:t>
            </a:r>
            <a:endParaRPr lang="en-US" sz="950" dirty="0"/>
          </a:p>
        </p:txBody>
      </p:sp>
      <p:sp>
        <p:nvSpPr>
          <p:cNvPr id="18" name="Shape 13"/>
          <p:cNvSpPr/>
          <p:nvPr/>
        </p:nvSpPr>
        <p:spPr>
          <a:xfrm>
            <a:off x="6035040" y="3383280"/>
            <a:ext cx="2651760" cy="109728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US"/>
          </a:p>
        </p:txBody>
      </p:sp>
      <p:sp>
        <p:nvSpPr>
          <p:cNvPr id="19" name="Shape 14"/>
          <p:cNvSpPr/>
          <p:nvPr/>
        </p:nvSpPr>
        <p:spPr>
          <a:xfrm>
            <a:off x="6035040" y="3383280"/>
            <a:ext cx="54864" cy="1097280"/>
          </a:xfrm>
          <a:prstGeom prst="rect">
            <a:avLst/>
          </a:prstGeom>
          <a:solidFill>
            <a:srgbClr val="7C3AED"/>
          </a:solidFill>
          <a:ln/>
        </p:spPr>
        <p:txBody>
          <a:bodyPr/>
          <a:lstStyle/>
          <a:p>
            <a:endParaRPr lang="en-US"/>
          </a:p>
        </p:txBody>
      </p:sp>
      <p:pic>
        <p:nvPicPr>
          <p:cNvPr id="20" name="Image 2" descr="preencoded.png"/>
          <p:cNvPicPr>
            <a:picLocks noChangeAspect="1"/>
          </p:cNvPicPr>
          <p:nvPr/>
        </p:nvPicPr>
        <p:blipFill>
          <a:blip r:embed="rId5"/>
          <a:stretch>
            <a:fillRect/>
          </a:stretch>
        </p:blipFill>
        <p:spPr>
          <a:xfrm>
            <a:off x="6172200" y="3493008"/>
            <a:ext cx="256032" cy="256032"/>
          </a:xfrm>
          <a:prstGeom prst="rect">
            <a:avLst/>
          </a:prstGeom>
        </p:spPr>
      </p:pic>
      <p:sp>
        <p:nvSpPr>
          <p:cNvPr id="21" name="Text 15"/>
          <p:cNvSpPr/>
          <p:nvPr/>
        </p:nvSpPr>
        <p:spPr>
          <a:xfrm>
            <a:off x="6492240" y="3456432"/>
            <a:ext cx="2057400" cy="292608"/>
          </a:xfrm>
          <a:prstGeom prst="rect">
            <a:avLst/>
          </a:prstGeom>
          <a:noFill/>
          <a:ln/>
        </p:spPr>
        <p:txBody>
          <a:bodyPr wrap="square" lIns="0" tIns="0" rIns="0" bIns="0" rtlCol="0" anchor="ctr"/>
          <a:lstStyle/>
          <a:p>
            <a:pPr marL="0" indent="0">
              <a:buNone/>
            </a:pPr>
            <a:r>
              <a:rPr lang="en-US" sz="1200" b="1" dirty="0">
                <a:solidFill>
                  <a:srgbClr val="7C3AED"/>
                </a:solidFill>
                <a:latin typeface="Georgia" pitchFamily="34" charset="0"/>
                <a:ea typeface="Georgia" pitchFamily="34" charset="-122"/>
                <a:cs typeface="Georgia" pitchFamily="34" charset="-120"/>
              </a:rPr>
              <a:t>ML &amp; AI</a:t>
            </a:r>
            <a:endParaRPr lang="en-US" sz="1200" dirty="0"/>
          </a:p>
        </p:txBody>
      </p:sp>
      <p:sp>
        <p:nvSpPr>
          <p:cNvPr id="22" name="Text 16"/>
          <p:cNvSpPr/>
          <p:nvPr/>
        </p:nvSpPr>
        <p:spPr>
          <a:xfrm>
            <a:off x="6172200" y="3794760"/>
            <a:ext cx="2377440" cy="594360"/>
          </a:xfrm>
          <a:prstGeom prst="rect">
            <a:avLst/>
          </a:prstGeom>
          <a:noFill/>
          <a:ln/>
        </p:spPr>
        <p:txBody>
          <a:bodyPr wrap="square" rtlCol="0" anchor="t"/>
          <a:lstStyle/>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RF, GradientBoosting, XGBoost</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LangGraph — 4 AI agents</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Streamlit + Plotly dashboard</a:t>
            </a:r>
            <a:endParaRPr lang="en-US" sz="950" dirty="0"/>
          </a:p>
        </p:txBody>
      </p:sp>
      <p:sp>
        <p:nvSpPr>
          <p:cNvPr id="23" name="Text 17"/>
          <p:cNvSpPr/>
          <p:nvPr/>
        </p:nvSpPr>
        <p:spPr>
          <a:xfrm>
            <a:off x="457200" y="4709160"/>
            <a:ext cx="6400800" cy="365760"/>
          </a:xfrm>
          <a:prstGeom prst="rect">
            <a:avLst/>
          </a:prstGeom>
          <a:noFill/>
          <a:ln/>
        </p:spPr>
        <p:txBody>
          <a:bodyPr wrap="square" rtlCol="0" anchor="ctr"/>
          <a:lstStyle/>
          <a:p>
            <a:pPr marL="0" indent="0">
              <a:buNone/>
            </a:pPr>
            <a:r>
              <a:rPr lang="en-US" sz="900" dirty="0">
                <a:solidFill>
                  <a:srgbClr val="949594"/>
                </a:solidFill>
                <a:latin typeface="Calibri" pitchFamily="34" charset="0"/>
                <a:ea typeface="Calibri" pitchFamily="34" charset="-122"/>
                <a:cs typeface="Calibri" pitchFamily="34" charset="-120"/>
              </a:rPr>
              <a:t>Speaker 1 — Problem &amp; Architecture</a:t>
            </a:r>
            <a:endParaRPr lang="en-US" sz="900" dirty="0"/>
          </a:p>
        </p:txBody>
      </p:sp>
      <p:sp>
        <p:nvSpPr>
          <p:cNvPr id="24" name="Text 18"/>
          <p:cNvSpPr/>
          <p:nvPr/>
        </p:nvSpPr>
        <p:spPr>
          <a:xfrm>
            <a:off x="8412480" y="4709160"/>
            <a:ext cx="548640" cy="365760"/>
          </a:xfrm>
          <a:prstGeom prst="rect">
            <a:avLst/>
          </a:prstGeom>
          <a:noFill/>
          <a:ln/>
        </p:spPr>
        <p:txBody>
          <a:bodyPr wrap="square" rtlCol="0" anchor="ctr"/>
          <a:lstStyle/>
          <a:p>
            <a:pPr marL="0" indent="0" algn="r">
              <a:buNone/>
            </a:pPr>
            <a:r>
              <a:rPr lang="en-US" sz="900" dirty="0">
                <a:solidFill>
                  <a:srgbClr val="949594"/>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5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C41E1E"/>
          </a:solidFill>
          <a:ln/>
        </p:spPr>
        <p:txBody>
          <a:bodyPr/>
          <a:lstStyle/>
          <a:p>
            <a:endParaRPr lang="en-US"/>
          </a:p>
        </p:txBody>
      </p:sp>
      <p:sp>
        <p:nvSpPr>
          <p:cNvPr id="3" name="Shape 1"/>
          <p:cNvSpPr/>
          <p:nvPr/>
        </p:nvSpPr>
        <p:spPr>
          <a:xfrm>
            <a:off x="8778240" y="0"/>
            <a:ext cx="137160" cy="5143500"/>
          </a:xfrm>
          <a:prstGeom prst="rect">
            <a:avLst/>
          </a:prstGeom>
          <a:solidFill>
            <a:srgbClr val="C41E1E"/>
          </a:solidFill>
          <a:ln/>
        </p:spPr>
        <p:txBody>
          <a:bodyPr/>
          <a:lstStyle/>
          <a:p>
            <a:endParaRPr lang="en-US"/>
          </a:p>
        </p:txBody>
      </p:sp>
      <p:sp>
        <p:nvSpPr>
          <p:cNvPr id="4" name="Shape 2"/>
          <p:cNvSpPr/>
          <p:nvPr/>
        </p:nvSpPr>
        <p:spPr>
          <a:xfrm>
            <a:off x="8961120" y="0"/>
            <a:ext cx="73152" cy="5143500"/>
          </a:xfrm>
          <a:prstGeom prst="rect">
            <a:avLst/>
          </a:prstGeom>
          <a:solidFill>
            <a:srgbClr val="C41E1E">
              <a:alpha val="40000"/>
            </a:srgbClr>
          </a:solidFill>
          <a:ln/>
        </p:spPr>
        <p:txBody>
          <a:bodyPr/>
          <a:lstStyle/>
          <a:p>
            <a:endParaRPr lang="en-US"/>
          </a:p>
        </p:txBody>
      </p:sp>
      <p:pic>
        <p:nvPicPr>
          <p:cNvPr id="5" name="Image 0" descr="preencoded.png"/>
          <p:cNvPicPr>
            <a:picLocks noChangeAspect="1"/>
          </p:cNvPicPr>
          <p:nvPr/>
        </p:nvPicPr>
        <p:blipFill>
          <a:blip r:embed="rId3"/>
          <a:stretch>
            <a:fillRect/>
          </a:stretch>
        </p:blipFill>
        <p:spPr>
          <a:xfrm>
            <a:off x="365760" y="182880"/>
            <a:ext cx="320040" cy="320040"/>
          </a:xfrm>
          <a:prstGeom prst="rect">
            <a:avLst/>
          </a:prstGeom>
        </p:spPr>
      </p:pic>
      <p:sp>
        <p:nvSpPr>
          <p:cNvPr id="6" name="Text 3"/>
          <p:cNvSpPr/>
          <p:nvPr/>
        </p:nvSpPr>
        <p:spPr>
          <a:xfrm>
            <a:off x="777240" y="182880"/>
            <a:ext cx="7315200" cy="548640"/>
          </a:xfrm>
          <a:prstGeom prst="rect">
            <a:avLst/>
          </a:prstGeom>
          <a:noFill/>
          <a:ln/>
        </p:spPr>
        <p:txBody>
          <a:bodyPr wrap="square" lIns="0" tIns="0" rIns="0" bIns="0" rtlCol="0" anchor="ctr"/>
          <a:lstStyle/>
          <a:p>
            <a:pPr marL="0" indent="0">
              <a:buNone/>
            </a:pPr>
            <a:r>
              <a:rPr lang="en-US" sz="2600" b="1" dirty="0">
                <a:solidFill>
                  <a:srgbClr val="1A1A2E"/>
                </a:solidFill>
                <a:latin typeface="Georgia" pitchFamily="34" charset="0"/>
                <a:ea typeface="Georgia" pitchFamily="34" charset="-122"/>
                <a:cs typeface="Georgia" pitchFamily="34" charset="-120"/>
              </a:rPr>
              <a:t>Data Engineering — ETL Pipeline</a:t>
            </a:r>
            <a:endParaRPr lang="en-US" sz="2600" dirty="0"/>
          </a:p>
        </p:txBody>
      </p:sp>
      <p:sp>
        <p:nvSpPr>
          <p:cNvPr id="7" name="Text 4"/>
          <p:cNvSpPr/>
          <p:nvPr/>
        </p:nvSpPr>
        <p:spPr>
          <a:xfrm>
            <a:off x="777240" y="685800"/>
            <a:ext cx="7315200" cy="228600"/>
          </a:xfrm>
          <a:prstGeom prst="rect">
            <a:avLst/>
          </a:prstGeom>
          <a:noFill/>
          <a:ln/>
        </p:spPr>
        <p:txBody>
          <a:bodyPr wrap="square" lIns="0" tIns="0" rIns="0" bIns="0" rtlCol="0" anchor="ctr"/>
          <a:lstStyle/>
          <a:p>
            <a:pPr marL="0" indent="0">
              <a:buNone/>
            </a:pPr>
            <a:r>
              <a:rPr lang="en-US" sz="1100" dirty="0">
                <a:solidFill>
                  <a:srgbClr val="949594"/>
                </a:solidFill>
                <a:latin typeface="Calibri" pitchFamily="34" charset="0"/>
                <a:ea typeface="Calibri" pitchFamily="34" charset="-122"/>
                <a:cs typeface="Calibri" pitchFamily="34" charset="-120"/>
              </a:rPr>
              <a:t>From raw API calls to ML-ready features — fully automated</a:t>
            </a:r>
            <a:endParaRPr lang="en-US" sz="1100" dirty="0"/>
          </a:p>
        </p:txBody>
      </p:sp>
      <p:sp>
        <p:nvSpPr>
          <p:cNvPr id="8" name="Shape 5"/>
          <p:cNvSpPr/>
          <p:nvPr/>
        </p:nvSpPr>
        <p:spPr>
          <a:xfrm>
            <a:off x="182880" y="1051560"/>
            <a:ext cx="1572768" cy="128016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US"/>
          </a:p>
        </p:txBody>
      </p:sp>
      <p:sp>
        <p:nvSpPr>
          <p:cNvPr id="9" name="Shape 6"/>
          <p:cNvSpPr/>
          <p:nvPr/>
        </p:nvSpPr>
        <p:spPr>
          <a:xfrm>
            <a:off x="182880" y="1051560"/>
            <a:ext cx="1572768" cy="45720"/>
          </a:xfrm>
          <a:prstGeom prst="rect">
            <a:avLst/>
          </a:prstGeom>
          <a:solidFill>
            <a:srgbClr val="0891B2"/>
          </a:solidFill>
          <a:ln/>
        </p:spPr>
        <p:txBody>
          <a:bodyPr/>
          <a:lstStyle/>
          <a:p>
            <a:endParaRPr lang="en-US"/>
          </a:p>
        </p:txBody>
      </p:sp>
      <p:sp>
        <p:nvSpPr>
          <p:cNvPr id="10" name="Text 7"/>
          <p:cNvSpPr/>
          <p:nvPr/>
        </p:nvSpPr>
        <p:spPr>
          <a:xfrm>
            <a:off x="182880" y="1143000"/>
            <a:ext cx="1572768" cy="274320"/>
          </a:xfrm>
          <a:prstGeom prst="rect">
            <a:avLst/>
          </a:prstGeom>
          <a:noFill/>
          <a:ln/>
        </p:spPr>
        <p:txBody>
          <a:bodyPr wrap="square" lIns="0" tIns="0" rIns="0" bIns="0" rtlCol="0" anchor="ctr"/>
          <a:lstStyle/>
          <a:p>
            <a:pPr marL="0" indent="0" algn="ctr">
              <a:buNone/>
            </a:pPr>
            <a:r>
              <a:rPr lang="en-US" sz="1000" b="1" dirty="0">
                <a:solidFill>
                  <a:srgbClr val="0891B2"/>
                </a:solidFill>
                <a:latin typeface="Georgia" pitchFamily="34" charset="0"/>
                <a:ea typeface="Georgia" pitchFamily="34" charset="-122"/>
                <a:cs typeface="Georgia" pitchFamily="34" charset="-120"/>
              </a:rPr>
              <a:t>1. Ingest</a:t>
            </a:r>
            <a:endParaRPr lang="en-US" sz="1000" dirty="0"/>
          </a:p>
        </p:txBody>
      </p:sp>
      <p:sp>
        <p:nvSpPr>
          <p:cNvPr id="11" name="Text 8"/>
          <p:cNvSpPr/>
          <p:nvPr/>
        </p:nvSpPr>
        <p:spPr>
          <a:xfrm>
            <a:off x="182880" y="1463040"/>
            <a:ext cx="1572768" cy="731520"/>
          </a:xfrm>
          <a:prstGeom prst="rect">
            <a:avLst/>
          </a:prstGeom>
          <a:noFill/>
          <a:ln/>
        </p:spPr>
        <p:txBody>
          <a:bodyPr wrap="square" lIns="0" tIns="0" rIns="0" bIns="0" rtlCol="0" anchor="t"/>
          <a:lstStyle/>
          <a:p>
            <a:pPr marL="0" indent="0" algn="ctr">
              <a:buNone/>
            </a:pPr>
            <a:r>
              <a:rPr lang="en-US" sz="850" dirty="0">
                <a:solidFill>
                  <a:srgbClr val="444444"/>
                </a:solidFill>
                <a:latin typeface="Calibri" pitchFamily="34" charset="0"/>
                <a:ea typeface="Calibri" pitchFamily="34" charset="-122"/>
                <a:cs typeface="Calibri" pitchFamily="34" charset="-120"/>
              </a:rPr>
              <a:t>Python + APIs</a:t>
            </a:r>
            <a:endParaRPr lang="en-US" sz="850" dirty="0"/>
          </a:p>
          <a:p>
            <a:pPr marL="0" indent="0" algn="ctr">
              <a:buNone/>
            </a:pPr>
            <a:r>
              <a:rPr lang="en-US" sz="850" dirty="0">
                <a:solidFill>
                  <a:srgbClr val="444444"/>
                </a:solidFill>
                <a:latin typeface="Calibri" pitchFamily="34" charset="0"/>
                <a:ea typeface="Calibri" pitchFamily="34" charset="-122"/>
                <a:cs typeface="Calibri" pitchFamily="34" charset="-120"/>
              </a:rPr>
              <a:t>Retry logic</a:t>
            </a:r>
            <a:endParaRPr lang="en-US" sz="850" dirty="0"/>
          </a:p>
          <a:p>
            <a:pPr marL="0" indent="0" algn="ctr">
              <a:buNone/>
            </a:pPr>
            <a:r>
              <a:rPr lang="en-US" sz="850" dirty="0">
                <a:solidFill>
                  <a:srgbClr val="444444"/>
                </a:solidFill>
                <a:latin typeface="Calibri" pitchFamily="34" charset="0"/>
                <a:ea typeface="Calibri" pitchFamily="34" charset="-122"/>
                <a:cs typeface="Calibri" pitchFamily="34" charset="-120"/>
              </a:rPr>
              <a:t>429 handling</a:t>
            </a:r>
            <a:endParaRPr lang="en-US" sz="850" dirty="0"/>
          </a:p>
        </p:txBody>
      </p:sp>
      <p:sp>
        <p:nvSpPr>
          <p:cNvPr id="12" name="Text 9"/>
          <p:cNvSpPr/>
          <p:nvPr/>
        </p:nvSpPr>
        <p:spPr>
          <a:xfrm>
            <a:off x="1691640" y="1417320"/>
            <a:ext cx="274320" cy="365760"/>
          </a:xfrm>
          <a:prstGeom prst="rect">
            <a:avLst/>
          </a:prstGeom>
          <a:noFill/>
          <a:ln/>
        </p:spPr>
        <p:txBody>
          <a:bodyPr wrap="square" rtlCol="0" anchor="ctr"/>
          <a:lstStyle/>
          <a:p>
            <a:pPr marL="0" indent="0" algn="ctr">
              <a:buNone/>
            </a:pPr>
            <a:r>
              <a:rPr lang="en-US" sz="1400" dirty="0">
                <a:solidFill>
                  <a:srgbClr val="949594"/>
                </a:solidFill>
              </a:rPr>
              <a:t>→</a:t>
            </a:r>
            <a:endParaRPr lang="en-US" sz="1400" dirty="0"/>
          </a:p>
        </p:txBody>
      </p:sp>
      <p:sp>
        <p:nvSpPr>
          <p:cNvPr id="13" name="Shape 10"/>
          <p:cNvSpPr/>
          <p:nvPr/>
        </p:nvSpPr>
        <p:spPr>
          <a:xfrm>
            <a:off x="1901952" y="1051560"/>
            <a:ext cx="1572768" cy="128016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US"/>
          </a:p>
        </p:txBody>
      </p:sp>
      <p:sp>
        <p:nvSpPr>
          <p:cNvPr id="14" name="Shape 11"/>
          <p:cNvSpPr/>
          <p:nvPr/>
        </p:nvSpPr>
        <p:spPr>
          <a:xfrm>
            <a:off x="1901952" y="1051560"/>
            <a:ext cx="1572768" cy="45720"/>
          </a:xfrm>
          <a:prstGeom prst="rect">
            <a:avLst/>
          </a:prstGeom>
          <a:solidFill>
            <a:srgbClr val="CD7F32"/>
          </a:solidFill>
          <a:ln/>
        </p:spPr>
        <p:txBody>
          <a:bodyPr/>
          <a:lstStyle/>
          <a:p>
            <a:endParaRPr lang="en-US"/>
          </a:p>
        </p:txBody>
      </p:sp>
      <p:sp>
        <p:nvSpPr>
          <p:cNvPr id="15" name="Text 12"/>
          <p:cNvSpPr/>
          <p:nvPr/>
        </p:nvSpPr>
        <p:spPr>
          <a:xfrm>
            <a:off x="1901952" y="1143000"/>
            <a:ext cx="1572768" cy="274320"/>
          </a:xfrm>
          <a:prstGeom prst="rect">
            <a:avLst/>
          </a:prstGeom>
          <a:noFill/>
          <a:ln/>
        </p:spPr>
        <p:txBody>
          <a:bodyPr wrap="square" lIns="0" tIns="0" rIns="0" bIns="0" rtlCol="0" anchor="ctr"/>
          <a:lstStyle/>
          <a:p>
            <a:pPr marL="0" indent="0" algn="ctr">
              <a:buNone/>
            </a:pPr>
            <a:r>
              <a:rPr lang="en-US" sz="1000" b="1" dirty="0">
                <a:solidFill>
                  <a:srgbClr val="CD7F32"/>
                </a:solidFill>
                <a:latin typeface="Georgia" pitchFamily="34" charset="0"/>
                <a:ea typeface="Georgia" pitchFamily="34" charset="-122"/>
                <a:cs typeface="Georgia" pitchFamily="34" charset="-120"/>
              </a:rPr>
              <a:t>2. Silver</a:t>
            </a:r>
            <a:endParaRPr lang="en-US" sz="1000" dirty="0"/>
          </a:p>
        </p:txBody>
      </p:sp>
      <p:sp>
        <p:nvSpPr>
          <p:cNvPr id="16" name="Text 13"/>
          <p:cNvSpPr/>
          <p:nvPr/>
        </p:nvSpPr>
        <p:spPr>
          <a:xfrm>
            <a:off x="1901952" y="1463040"/>
            <a:ext cx="1572768" cy="731520"/>
          </a:xfrm>
          <a:prstGeom prst="rect">
            <a:avLst/>
          </a:prstGeom>
          <a:noFill/>
          <a:ln/>
        </p:spPr>
        <p:txBody>
          <a:bodyPr wrap="square" lIns="0" tIns="0" rIns="0" bIns="0" rtlCol="0" anchor="t"/>
          <a:lstStyle/>
          <a:p>
            <a:pPr marL="0" indent="0" algn="ctr">
              <a:buNone/>
            </a:pPr>
            <a:r>
              <a:rPr lang="en-US" sz="850" dirty="0">
                <a:solidFill>
                  <a:srgbClr val="444444"/>
                </a:solidFill>
                <a:latin typeface="Calibri" pitchFamily="34" charset="0"/>
                <a:ea typeface="Calibri" pitchFamily="34" charset="-122"/>
                <a:cs typeface="Calibri" pitchFamily="34" charset="-120"/>
              </a:rPr>
              <a:t>Spark cluster</a:t>
            </a:r>
            <a:endParaRPr lang="en-US" sz="850" dirty="0"/>
          </a:p>
          <a:p>
            <a:pPr marL="0" indent="0" algn="ctr">
              <a:buNone/>
            </a:pPr>
            <a:r>
              <a:rPr lang="en-US" sz="850" dirty="0">
                <a:solidFill>
                  <a:srgbClr val="444444"/>
                </a:solidFill>
                <a:latin typeface="Calibri" pitchFamily="34" charset="0"/>
                <a:ea typeface="Calibri" pitchFamily="34" charset="-122"/>
                <a:cs typeface="Calibri" pitchFamily="34" charset="-120"/>
              </a:rPr>
              <a:t>Clean + join</a:t>
            </a:r>
            <a:endParaRPr lang="en-US" sz="850" dirty="0"/>
          </a:p>
          <a:p>
            <a:pPr marL="0" indent="0" algn="ctr">
              <a:buNone/>
            </a:pPr>
            <a:r>
              <a:rPr lang="en-US" sz="850" dirty="0">
                <a:solidFill>
                  <a:srgbClr val="444444"/>
                </a:solidFill>
                <a:latin typeface="Calibri" pitchFamily="34" charset="0"/>
                <a:ea typeface="Calibri" pitchFamily="34" charset="-122"/>
                <a:cs typeface="Calibri" pitchFamily="34" charset="-120"/>
              </a:rPr>
              <a:t>Schema fix</a:t>
            </a:r>
            <a:endParaRPr lang="en-US" sz="850" dirty="0"/>
          </a:p>
        </p:txBody>
      </p:sp>
      <p:sp>
        <p:nvSpPr>
          <p:cNvPr id="17" name="Text 14"/>
          <p:cNvSpPr/>
          <p:nvPr/>
        </p:nvSpPr>
        <p:spPr>
          <a:xfrm>
            <a:off x="3410712" y="1417320"/>
            <a:ext cx="274320" cy="365760"/>
          </a:xfrm>
          <a:prstGeom prst="rect">
            <a:avLst/>
          </a:prstGeom>
          <a:noFill/>
          <a:ln/>
        </p:spPr>
        <p:txBody>
          <a:bodyPr wrap="square" rtlCol="0" anchor="ctr"/>
          <a:lstStyle/>
          <a:p>
            <a:pPr marL="0" indent="0" algn="ctr">
              <a:buNone/>
            </a:pPr>
            <a:r>
              <a:rPr lang="en-US" sz="1400" dirty="0">
                <a:solidFill>
                  <a:srgbClr val="949594"/>
                </a:solidFill>
              </a:rPr>
              <a:t>→</a:t>
            </a:r>
            <a:endParaRPr lang="en-US" sz="1400" dirty="0"/>
          </a:p>
        </p:txBody>
      </p:sp>
      <p:sp>
        <p:nvSpPr>
          <p:cNvPr id="18" name="Shape 15"/>
          <p:cNvSpPr/>
          <p:nvPr/>
        </p:nvSpPr>
        <p:spPr>
          <a:xfrm>
            <a:off x="3621024" y="1051560"/>
            <a:ext cx="1572768" cy="128016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US"/>
          </a:p>
        </p:txBody>
      </p:sp>
      <p:sp>
        <p:nvSpPr>
          <p:cNvPr id="19" name="Shape 16"/>
          <p:cNvSpPr/>
          <p:nvPr/>
        </p:nvSpPr>
        <p:spPr>
          <a:xfrm>
            <a:off x="3621024" y="1051560"/>
            <a:ext cx="1572768" cy="45720"/>
          </a:xfrm>
          <a:prstGeom prst="rect">
            <a:avLst/>
          </a:prstGeom>
          <a:solidFill>
            <a:srgbClr val="A8A8A8"/>
          </a:solidFill>
          <a:ln/>
        </p:spPr>
        <p:txBody>
          <a:bodyPr/>
          <a:lstStyle/>
          <a:p>
            <a:endParaRPr lang="en-US"/>
          </a:p>
        </p:txBody>
      </p:sp>
      <p:sp>
        <p:nvSpPr>
          <p:cNvPr id="20" name="Text 17"/>
          <p:cNvSpPr/>
          <p:nvPr/>
        </p:nvSpPr>
        <p:spPr>
          <a:xfrm>
            <a:off x="3621024" y="1143000"/>
            <a:ext cx="1572768" cy="274320"/>
          </a:xfrm>
          <a:prstGeom prst="rect">
            <a:avLst/>
          </a:prstGeom>
          <a:noFill/>
          <a:ln/>
        </p:spPr>
        <p:txBody>
          <a:bodyPr wrap="square" lIns="0" tIns="0" rIns="0" bIns="0" rtlCol="0" anchor="ctr"/>
          <a:lstStyle/>
          <a:p>
            <a:pPr marL="0" indent="0" algn="ctr">
              <a:buNone/>
            </a:pPr>
            <a:r>
              <a:rPr lang="en-US" sz="1000" b="1" dirty="0">
                <a:solidFill>
                  <a:srgbClr val="A8A8A8"/>
                </a:solidFill>
                <a:latin typeface="Georgia" pitchFamily="34" charset="0"/>
                <a:ea typeface="Georgia" pitchFamily="34" charset="-122"/>
                <a:cs typeface="Georgia" pitchFamily="34" charset="-120"/>
              </a:rPr>
              <a:t>3. Gold</a:t>
            </a:r>
            <a:endParaRPr lang="en-US" sz="1000" dirty="0"/>
          </a:p>
        </p:txBody>
      </p:sp>
      <p:sp>
        <p:nvSpPr>
          <p:cNvPr id="21" name="Text 18"/>
          <p:cNvSpPr/>
          <p:nvPr/>
        </p:nvSpPr>
        <p:spPr>
          <a:xfrm>
            <a:off x="3621024" y="1463040"/>
            <a:ext cx="1572768" cy="731520"/>
          </a:xfrm>
          <a:prstGeom prst="rect">
            <a:avLst/>
          </a:prstGeom>
          <a:noFill/>
          <a:ln/>
        </p:spPr>
        <p:txBody>
          <a:bodyPr wrap="square" lIns="0" tIns="0" rIns="0" bIns="0" rtlCol="0" anchor="t"/>
          <a:lstStyle/>
          <a:p>
            <a:pPr marL="0" indent="0" algn="ctr">
              <a:buNone/>
            </a:pPr>
            <a:r>
              <a:rPr lang="en-US" sz="850" dirty="0">
                <a:solidFill>
                  <a:srgbClr val="444444"/>
                </a:solidFill>
                <a:latin typeface="Calibri" pitchFamily="34" charset="0"/>
                <a:ea typeface="Calibri" pitchFamily="34" charset="-122"/>
                <a:cs typeface="Calibri" pitchFamily="34" charset="-120"/>
              </a:rPr>
              <a:t>Spark Windows</a:t>
            </a:r>
            <a:endParaRPr lang="en-US" sz="850" dirty="0"/>
          </a:p>
          <a:p>
            <a:pPr marL="0" indent="0" algn="ctr">
              <a:buNone/>
            </a:pPr>
            <a:r>
              <a:rPr lang="en-US" sz="850" dirty="0">
                <a:solidFill>
                  <a:srgbClr val="444444"/>
                </a:solidFill>
                <a:latin typeface="Calibri" pitchFamily="34" charset="0"/>
                <a:ea typeface="Calibri" pitchFamily="34" charset="-122"/>
                <a:cs typeface="Calibri" pitchFamily="34" charset="-120"/>
              </a:rPr>
              <a:t>85 features</a:t>
            </a:r>
            <a:endParaRPr lang="en-US" sz="850" dirty="0"/>
          </a:p>
          <a:p>
            <a:pPr marL="0" indent="0" algn="ctr">
              <a:buNone/>
            </a:pPr>
            <a:r>
              <a:rPr lang="en-US" sz="850" dirty="0">
                <a:solidFill>
                  <a:srgbClr val="444444"/>
                </a:solidFill>
                <a:latin typeface="Calibri" pitchFamily="34" charset="0"/>
                <a:ea typeface="Calibri" pitchFamily="34" charset="-122"/>
                <a:cs typeface="Calibri" pitchFamily="34" charset="-120"/>
              </a:rPr>
              <a:t>ELO + tire</a:t>
            </a:r>
            <a:endParaRPr lang="en-US" sz="850" dirty="0"/>
          </a:p>
        </p:txBody>
      </p:sp>
      <p:sp>
        <p:nvSpPr>
          <p:cNvPr id="22" name="Text 19"/>
          <p:cNvSpPr/>
          <p:nvPr/>
        </p:nvSpPr>
        <p:spPr>
          <a:xfrm>
            <a:off x="5129784" y="1417320"/>
            <a:ext cx="274320" cy="365760"/>
          </a:xfrm>
          <a:prstGeom prst="rect">
            <a:avLst/>
          </a:prstGeom>
          <a:noFill/>
          <a:ln/>
        </p:spPr>
        <p:txBody>
          <a:bodyPr wrap="square" rtlCol="0" anchor="ctr"/>
          <a:lstStyle/>
          <a:p>
            <a:pPr marL="0" indent="0" algn="ctr">
              <a:buNone/>
            </a:pPr>
            <a:r>
              <a:rPr lang="en-US" sz="1400" dirty="0">
                <a:solidFill>
                  <a:srgbClr val="949594"/>
                </a:solidFill>
              </a:rPr>
              <a:t>→</a:t>
            </a:r>
            <a:endParaRPr lang="en-US" sz="1400" dirty="0"/>
          </a:p>
        </p:txBody>
      </p:sp>
      <p:sp>
        <p:nvSpPr>
          <p:cNvPr id="23" name="Shape 20"/>
          <p:cNvSpPr/>
          <p:nvPr/>
        </p:nvSpPr>
        <p:spPr>
          <a:xfrm>
            <a:off x="5340096" y="1051560"/>
            <a:ext cx="1572768" cy="128016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US"/>
          </a:p>
        </p:txBody>
      </p:sp>
      <p:sp>
        <p:nvSpPr>
          <p:cNvPr id="24" name="Shape 21"/>
          <p:cNvSpPr/>
          <p:nvPr/>
        </p:nvSpPr>
        <p:spPr>
          <a:xfrm>
            <a:off x="5340096" y="1051560"/>
            <a:ext cx="1572768" cy="45720"/>
          </a:xfrm>
          <a:prstGeom prst="rect">
            <a:avLst/>
          </a:prstGeom>
          <a:solidFill>
            <a:srgbClr val="D97706"/>
          </a:solidFill>
          <a:ln/>
        </p:spPr>
        <p:txBody>
          <a:bodyPr/>
          <a:lstStyle/>
          <a:p>
            <a:endParaRPr lang="en-US"/>
          </a:p>
        </p:txBody>
      </p:sp>
      <p:sp>
        <p:nvSpPr>
          <p:cNvPr id="25" name="Text 22"/>
          <p:cNvSpPr/>
          <p:nvPr/>
        </p:nvSpPr>
        <p:spPr>
          <a:xfrm>
            <a:off x="5340096" y="1143000"/>
            <a:ext cx="1572768" cy="274320"/>
          </a:xfrm>
          <a:prstGeom prst="rect">
            <a:avLst/>
          </a:prstGeom>
          <a:noFill/>
          <a:ln/>
        </p:spPr>
        <p:txBody>
          <a:bodyPr wrap="square" lIns="0" tIns="0" rIns="0" bIns="0" rtlCol="0" anchor="ctr"/>
          <a:lstStyle/>
          <a:p>
            <a:pPr marL="0" indent="0" algn="ctr">
              <a:buNone/>
            </a:pPr>
            <a:r>
              <a:rPr lang="en-US" sz="1000" b="1" dirty="0">
                <a:solidFill>
                  <a:srgbClr val="D97706"/>
                </a:solidFill>
                <a:latin typeface="Georgia" pitchFamily="34" charset="0"/>
                <a:ea typeface="Georgia" pitchFamily="34" charset="-122"/>
                <a:cs typeface="Georgia" pitchFamily="34" charset="-120"/>
              </a:rPr>
              <a:t>4. Retrain</a:t>
            </a:r>
            <a:endParaRPr lang="en-US" sz="1000" dirty="0"/>
          </a:p>
        </p:txBody>
      </p:sp>
      <p:sp>
        <p:nvSpPr>
          <p:cNvPr id="26" name="Text 23"/>
          <p:cNvSpPr/>
          <p:nvPr/>
        </p:nvSpPr>
        <p:spPr>
          <a:xfrm>
            <a:off x="5340096" y="1463040"/>
            <a:ext cx="1572768" cy="731520"/>
          </a:xfrm>
          <a:prstGeom prst="rect">
            <a:avLst/>
          </a:prstGeom>
          <a:noFill/>
          <a:ln/>
        </p:spPr>
        <p:txBody>
          <a:bodyPr wrap="square" lIns="0" tIns="0" rIns="0" bIns="0" rtlCol="0" anchor="t"/>
          <a:lstStyle/>
          <a:p>
            <a:pPr marL="0" indent="0" algn="ctr">
              <a:buNone/>
            </a:pPr>
            <a:r>
              <a:rPr lang="en-US" sz="850" dirty="0">
                <a:solidFill>
                  <a:srgbClr val="444444"/>
                </a:solidFill>
                <a:latin typeface="Calibri" pitchFamily="34" charset="0"/>
                <a:ea typeface="Calibri" pitchFamily="34" charset="-122"/>
                <a:cs typeface="Calibri" pitchFamily="34" charset="-120"/>
              </a:rPr>
              <a:t>3 ML models</a:t>
            </a:r>
            <a:endParaRPr lang="en-US" sz="850" dirty="0"/>
          </a:p>
          <a:p>
            <a:pPr marL="0" indent="0" algn="ctr">
              <a:buNone/>
            </a:pPr>
            <a:r>
              <a:rPr lang="en-US" sz="850" dirty="0">
                <a:solidFill>
                  <a:srgbClr val="444444"/>
                </a:solidFill>
                <a:latin typeface="Calibri" pitchFamily="34" charset="0"/>
                <a:ea typeface="Calibri" pitchFamily="34" charset="-122"/>
                <a:cs typeface="Calibri" pitchFamily="34" charset="-120"/>
              </a:rPr>
              <a:t>Compare all</a:t>
            </a:r>
            <a:endParaRPr lang="en-US" sz="850" dirty="0"/>
          </a:p>
          <a:p>
            <a:pPr marL="0" indent="0" algn="ctr">
              <a:buNone/>
            </a:pPr>
            <a:r>
              <a:rPr lang="en-US" sz="850" dirty="0">
                <a:solidFill>
                  <a:srgbClr val="444444"/>
                </a:solidFill>
                <a:latin typeface="Calibri" pitchFamily="34" charset="0"/>
                <a:ea typeface="Calibri" pitchFamily="34" charset="-122"/>
                <a:cs typeface="Calibri" pitchFamily="34" charset="-120"/>
              </a:rPr>
              <a:t>Save best</a:t>
            </a:r>
            <a:endParaRPr lang="en-US" sz="850" dirty="0"/>
          </a:p>
        </p:txBody>
      </p:sp>
      <p:sp>
        <p:nvSpPr>
          <p:cNvPr id="27" name="Text 24"/>
          <p:cNvSpPr/>
          <p:nvPr/>
        </p:nvSpPr>
        <p:spPr>
          <a:xfrm>
            <a:off x="6848856" y="1417320"/>
            <a:ext cx="274320" cy="365760"/>
          </a:xfrm>
          <a:prstGeom prst="rect">
            <a:avLst/>
          </a:prstGeom>
          <a:noFill/>
          <a:ln/>
        </p:spPr>
        <p:txBody>
          <a:bodyPr wrap="square" rtlCol="0" anchor="ctr"/>
          <a:lstStyle/>
          <a:p>
            <a:pPr marL="0" indent="0" algn="ctr">
              <a:buNone/>
            </a:pPr>
            <a:r>
              <a:rPr lang="en-US" sz="1400" dirty="0">
                <a:solidFill>
                  <a:srgbClr val="949594"/>
                </a:solidFill>
              </a:rPr>
              <a:t>→</a:t>
            </a:r>
            <a:endParaRPr lang="en-US" sz="1400" dirty="0"/>
          </a:p>
        </p:txBody>
      </p:sp>
      <p:sp>
        <p:nvSpPr>
          <p:cNvPr id="28" name="Shape 25"/>
          <p:cNvSpPr/>
          <p:nvPr/>
        </p:nvSpPr>
        <p:spPr>
          <a:xfrm>
            <a:off x="7059168" y="1051560"/>
            <a:ext cx="1572768" cy="128016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US"/>
          </a:p>
        </p:txBody>
      </p:sp>
      <p:sp>
        <p:nvSpPr>
          <p:cNvPr id="29" name="Shape 26"/>
          <p:cNvSpPr/>
          <p:nvPr/>
        </p:nvSpPr>
        <p:spPr>
          <a:xfrm>
            <a:off x="7059168" y="1051560"/>
            <a:ext cx="1572768" cy="45720"/>
          </a:xfrm>
          <a:prstGeom prst="rect">
            <a:avLst/>
          </a:prstGeom>
          <a:solidFill>
            <a:srgbClr val="7C3AED"/>
          </a:solidFill>
          <a:ln/>
        </p:spPr>
        <p:txBody>
          <a:bodyPr/>
          <a:lstStyle/>
          <a:p>
            <a:endParaRPr lang="en-US"/>
          </a:p>
        </p:txBody>
      </p:sp>
      <p:sp>
        <p:nvSpPr>
          <p:cNvPr id="30" name="Text 27"/>
          <p:cNvSpPr/>
          <p:nvPr/>
        </p:nvSpPr>
        <p:spPr>
          <a:xfrm>
            <a:off x="7059168" y="1143000"/>
            <a:ext cx="1572768" cy="274320"/>
          </a:xfrm>
          <a:prstGeom prst="rect">
            <a:avLst/>
          </a:prstGeom>
          <a:noFill/>
          <a:ln/>
        </p:spPr>
        <p:txBody>
          <a:bodyPr wrap="square" lIns="0" tIns="0" rIns="0" bIns="0" rtlCol="0" anchor="ctr"/>
          <a:lstStyle/>
          <a:p>
            <a:pPr marL="0" indent="0" algn="ctr">
              <a:buNone/>
            </a:pPr>
            <a:r>
              <a:rPr lang="en-US" sz="1000" b="1" dirty="0">
                <a:solidFill>
                  <a:srgbClr val="7C3AED"/>
                </a:solidFill>
                <a:latin typeface="Georgia" pitchFamily="34" charset="0"/>
                <a:ea typeface="Georgia" pitchFamily="34" charset="-122"/>
                <a:cs typeface="Georgia" pitchFamily="34" charset="-120"/>
              </a:rPr>
              <a:t>5. Agents</a:t>
            </a:r>
            <a:endParaRPr lang="en-US" sz="1000" dirty="0"/>
          </a:p>
        </p:txBody>
      </p:sp>
      <p:sp>
        <p:nvSpPr>
          <p:cNvPr id="31" name="Text 28"/>
          <p:cNvSpPr/>
          <p:nvPr/>
        </p:nvSpPr>
        <p:spPr>
          <a:xfrm>
            <a:off x="7059168" y="1463040"/>
            <a:ext cx="1572768" cy="731520"/>
          </a:xfrm>
          <a:prstGeom prst="rect">
            <a:avLst/>
          </a:prstGeom>
          <a:noFill/>
          <a:ln/>
        </p:spPr>
        <p:txBody>
          <a:bodyPr wrap="square" lIns="0" tIns="0" rIns="0" bIns="0" rtlCol="0" anchor="t"/>
          <a:lstStyle/>
          <a:p>
            <a:pPr marL="0" indent="0" algn="ctr">
              <a:buNone/>
            </a:pPr>
            <a:r>
              <a:rPr lang="en-US" sz="850" dirty="0">
                <a:solidFill>
                  <a:srgbClr val="444444"/>
                </a:solidFill>
                <a:latin typeface="Calibri" pitchFamily="34" charset="0"/>
                <a:ea typeface="Calibri" pitchFamily="34" charset="-122"/>
                <a:cs typeface="Calibri" pitchFamily="34" charset="-120"/>
              </a:rPr>
              <a:t>4 AI agents</a:t>
            </a:r>
            <a:endParaRPr lang="en-US" sz="850" dirty="0"/>
          </a:p>
          <a:p>
            <a:pPr marL="0" indent="0" algn="ctr">
              <a:buNone/>
            </a:pPr>
            <a:r>
              <a:rPr lang="en-US" sz="850" dirty="0">
                <a:solidFill>
                  <a:srgbClr val="444444"/>
                </a:solidFill>
                <a:latin typeface="Calibri" pitchFamily="34" charset="0"/>
                <a:ea typeface="Calibri" pitchFamily="34" charset="-122"/>
                <a:cs typeface="Calibri" pitchFamily="34" charset="-120"/>
              </a:rPr>
              <a:t>Quality check</a:t>
            </a:r>
            <a:endParaRPr lang="en-US" sz="850" dirty="0"/>
          </a:p>
          <a:p>
            <a:pPr marL="0" indent="0" algn="ctr">
              <a:buNone/>
            </a:pPr>
            <a:r>
              <a:rPr lang="en-US" sz="850" dirty="0">
                <a:solidFill>
                  <a:srgbClr val="444444"/>
                </a:solidFill>
                <a:latin typeface="Calibri" pitchFamily="34" charset="0"/>
                <a:ea typeface="Calibri" pitchFamily="34" charset="-122"/>
                <a:cs typeface="Calibri" pitchFamily="34" charset="-120"/>
              </a:rPr>
              <a:t>Briefing</a:t>
            </a:r>
            <a:endParaRPr lang="en-US" sz="850" dirty="0"/>
          </a:p>
        </p:txBody>
      </p:sp>
      <p:sp>
        <p:nvSpPr>
          <p:cNvPr id="32" name="Text 29"/>
          <p:cNvSpPr/>
          <p:nvPr/>
        </p:nvSpPr>
        <p:spPr>
          <a:xfrm>
            <a:off x="457200" y="2468880"/>
            <a:ext cx="8229600" cy="228600"/>
          </a:xfrm>
          <a:prstGeom prst="rect">
            <a:avLst/>
          </a:prstGeom>
          <a:noFill/>
          <a:ln/>
        </p:spPr>
        <p:txBody>
          <a:bodyPr wrap="square" lIns="0" tIns="0" rIns="0" bIns="0" rtlCol="0" anchor="ctr"/>
          <a:lstStyle/>
          <a:p>
            <a:pPr marL="0" indent="0">
              <a:buNone/>
            </a:pPr>
            <a:r>
              <a:rPr lang="en-US" sz="1000" b="1" i="1" dirty="0">
                <a:solidFill>
                  <a:srgbClr val="0891B2"/>
                </a:solidFill>
                <a:latin typeface="Calibri" pitchFamily="34" charset="0"/>
                <a:ea typeface="Calibri" pitchFamily="34" charset="-122"/>
                <a:cs typeface="Calibri" pitchFamily="34" charset="-120"/>
              </a:rPr>
              <a:t>Triggered by Apache Airflow every Monday at 6:00 AM — no human intervention</a:t>
            </a:r>
            <a:endParaRPr lang="en-US" sz="1000" dirty="0"/>
          </a:p>
        </p:txBody>
      </p:sp>
      <p:sp>
        <p:nvSpPr>
          <p:cNvPr id="33" name="Text 30"/>
          <p:cNvSpPr/>
          <p:nvPr/>
        </p:nvSpPr>
        <p:spPr>
          <a:xfrm>
            <a:off x="457200" y="2834640"/>
            <a:ext cx="8229600" cy="274320"/>
          </a:xfrm>
          <a:prstGeom prst="rect">
            <a:avLst/>
          </a:prstGeom>
          <a:noFill/>
          <a:ln/>
        </p:spPr>
        <p:txBody>
          <a:bodyPr wrap="square" lIns="0" tIns="0" rIns="0" bIns="0" rtlCol="0" anchor="ctr"/>
          <a:lstStyle/>
          <a:p>
            <a:pPr marL="0" indent="0">
              <a:buNone/>
            </a:pPr>
            <a:r>
              <a:rPr lang="en-US" sz="1100" b="1" dirty="0">
                <a:solidFill>
                  <a:srgbClr val="1A1A2E"/>
                </a:solidFill>
                <a:latin typeface="Georgia" pitchFamily="34" charset="0"/>
                <a:ea typeface="Georgia" pitchFamily="34" charset="-122"/>
                <a:cs typeface="Georgia" pitchFamily="34" charset="-120"/>
              </a:rPr>
              <a:t>Feature Engineering — Raw Data → Spark Transform → ML Feature</a:t>
            </a:r>
            <a:endParaRPr lang="en-US" sz="11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365760" y="3154680"/>
          <a:ext cx="8321040" cy="914400"/>
        </p:xfrm>
        <a:graphic>
          <a:graphicData uri="http://schemas.openxmlformats.org/drawingml/2006/table">
            <a:tbl>
              <a:tblPr/>
              <a:tblGrid>
                <a:gridCol w="164592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tblGrid>
              <a:tr h="228600">
                <a:tc>
                  <a:txBody>
                    <a:bodyPr/>
                    <a:lstStyle/>
                    <a:p>
                      <a:pPr marL="0" indent="0">
                        <a:buNone/>
                      </a:pPr>
                      <a:r>
                        <a:rPr lang="en-US" sz="850" b="1" dirty="0">
                          <a:solidFill>
                            <a:srgbClr val="FFFFFF"/>
                          </a:solidFill>
                          <a:latin typeface="Calibri" pitchFamily="34" charset="0"/>
                          <a:ea typeface="Calibri" pitchFamily="34" charset="-122"/>
                          <a:cs typeface="Calibri" pitchFamily="34" charset="-120"/>
                        </a:rPr>
                        <a:t>Raw Data</a:t>
                      </a:r>
                      <a:endParaRPr lang="en-US" sz="8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C41E1E"/>
                    </a:solidFill>
                  </a:tcPr>
                </a:tc>
                <a:tc>
                  <a:txBody>
                    <a:bodyPr/>
                    <a:lstStyle/>
                    <a:p>
                      <a:pPr marL="0" indent="0">
                        <a:buNone/>
                      </a:pPr>
                      <a:r>
                        <a:rPr lang="en-US" sz="850" b="1" dirty="0">
                          <a:solidFill>
                            <a:srgbClr val="FFFFFF"/>
                          </a:solidFill>
                          <a:latin typeface="Calibri" pitchFamily="34" charset="0"/>
                          <a:ea typeface="Calibri" pitchFamily="34" charset="-122"/>
                          <a:cs typeface="Calibri" pitchFamily="34" charset="-120"/>
                        </a:rPr>
                        <a:t>Spark Transform</a:t>
                      </a:r>
                      <a:endParaRPr lang="en-US" sz="8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C41E1E"/>
                    </a:solidFill>
                  </a:tcPr>
                </a:tc>
                <a:tc>
                  <a:txBody>
                    <a:bodyPr/>
                    <a:lstStyle/>
                    <a:p>
                      <a:pPr marL="0" indent="0">
                        <a:buNone/>
                      </a:pPr>
                      <a:r>
                        <a:rPr lang="en-US" sz="850" b="1" dirty="0">
                          <a:solidFill>
                            <a:srgbClr val="FFFFFF"/>
                          </a:solidFill>
                          <a:latin typeface="Calibri" pitchFamily="34" charset="0"/>
                          <a:ea typeface="Calibri" pitchFamily="34" charset="-122"/>
                          <a:cs typeface="Calibri" pitchFamily="34" charset="-120"/>
                        </a:rPr>
                        <a:t>Gold Feature</a:t>
                      </a:r>
                      <a:endParaRPr lang="en-US" sz="8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C41E1E"/>
                    </a:solidFill>
                  </a:tcPr>
                </a:tc>
                <a:tc>
                  <a:txBody>
                    <a:bodyPr/>
                    <a:lstStyle/>
                    <a:p>
                      <a:pPr marL="0" indent="0">
                        <a:buNone/>
                      </a:pPr>
                      <a:r>
                        <a:rPr lang="en-US" sz="850" b="1" dirty="0">
                          <a:solidFill>
                            <a:srgbClr val="FFFFFF"/>
                          </a:solidFill>
                          <a:latin typeface="Calibri" pitchFamily="34" charset="0"/>
                          <a:ea typeface="Calibri" pitchFamily="34" charset="-122"/>
                          <a:cs typeface="Calibri" pitchFamily="34" charset="-120"/>
                        </a:rPr>
                        <a:t>Importance</a:t>
                      </a:r>
                      <a:endParaRPr lang="en-US" sz="8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C41E1E"/>
                    </a:solidFill>
                  </a:tcPr>
                </a:tc>
                <a:extLst>
                  <a:ext uri="{0D108BD9-81ED-4DB2-BD59-A6C34878D82A}">
                    <a16:rowId xmlns:a16="http://schemas.microsoft.com/office/drawing/2014/main" val="10000"/>
                  </a:ext>
                </a:extLst>
              </a:tr>
              <a:tr h="228600">
                <a:tc>
                  <a:txBody>
                    <a:bodyPr/>
                    <a:lstStyle/>
                    <a:p>
                      <a:pPr marL="0" indent="0">
                        <a:buNone/>
                      </a:pPr>
                      <a:r>
                        <a:rPr lang="en-US" sz="850" dirty="0">
                          <a:solidFill>
                            <a:srgbClr val="000000"/>
                          </a:solidFill>
                          <a:latin typeface="Calibri" pitchFamily="34" charset="0"/>
                          <a:ea typeface="Calibri" pitchFamily="34" charset="-122"/>
                          <a:cs typeface="Calibri" pitchFamily="34" charset="-120"/>
                        </a:rPr>
                        <a:t>Finish positions</a:t>
                      </a:r>
                      <a:endParaRPr lang="en-US" sz="8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850" dirty="0">
                          <a:solidFill>
                            <a:srgbClr val="000000"/>
                          </a:solidFill>
                          <a:latin typeface="Calibri" pitchFamily="34" charset="0"/>
                          <a:ea typeface="Calibri" pitchFamily="34" charset="-122"/>
                          <a:cs typeface="Calibri" pitchFamily="34" charset="-120"/>
                        </a:rPr>
                        <a:t>Window AVG last 10 races/team</a:t>
                      </a:r>
                      <a:endParaRPr lang="en-US" sz="8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850" dirty="0">
                          <a:solidFill>
                            <a:srgbClr val="000000"/>
                          </a:solidFill>
                          <a:latin typeface="Calibri" pitchFamily="34" charset="0"/>
                          <a:ea typeface="Calibri" pitchFamily="34" charset="-122"/>
                          <a:cs typeface="Calibri" pitchFamily="34" charset="-120"/>
                        </a:rPr>
                        <a:t>constructor_rolling_points</a:t>
                      </a:r>
                      <a:endParaRPr lang="en-US" sz="8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850" dirty="0">
                          <a:solidFill>
                            <a:srgbClr val="000000"/>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1"/>
                  </a:ext>
                </a:extLst>
              </a:tr>
              <a:tr h="228600">
                <a:tc>
                  <a:txBody>
                    <a:bodyPr/>
                    <a:lstStyle/>
                    <a:p>
                      <a:pPr marL="0" indent="0">
                        <a:buNone/>
                      </a:pPr>
                      <a:r>
                        <a:rPr lang="en-US" sz="850" dirty="0">
                          <a:solidFill>
                            <a:srgbClr val="000000"/>
                          </a:solidFill>
                          <a:latin typeface="Calibri" pitchFamily="34" charset="0"/>
                          <a:ea typeface="Calibri" pitchFamily="34" charset="-122"/>
                          <a:cs typeface="Calibri" pitchFamily="34" charset="-120"/>
                        </a:rPr>
                        <a:t>Finish positions</a:t>
                      </a:r>
                      <a:endParaRPr lang="en-US" sz="8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850" dirty="0">
                          <a:solidFill>
                            <a:srgbClr val="000000"/>
                          </a:solidFill>
                          <a:latin typeface="Calibri" pitchFamily="34" charset="0"/>
                          <a:ea typeface="Calibri" pitchFamily="34" charset="-122"/>
                          <a:cs typeface="Calibri" pitchFamily="34" charset="-120"/>
                        </a:rPr>
                        <a:t>Window AVG last 5 races/driver</a:t>
                      </a:r>
                      <a:endParaRPr lang="en-US" sz="8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850" dirty="0">
                          <a:solidFill>
                            <a:srgbClr val="000000"/>
                          </a:solidFill>
                          <a:latin typeface="Calibri" pitchFamily="34" charset="0"/>
                          <a:ea typeface="Calibri" pitchFamily="34" charset="-122"/>
                          <a:cs typeface="Calibri" pitchFamily="34" charset="-120"/>
                        </a:rPr>
                        <a:t>rolling_avg_position_5</a:t>
                      </a:r>
                      <a:endParaRPr lang="en-US" sz="8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850" dirty="0">
                          <a:solidFill>
                            <a:srgbClr val="000000"/>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2"/>
                  </a:ext>
                </a:extLst>
              </a:tr>
              <a:tr h="228600">
                <a:tc>
                  <a:txBody>
                    <a:bodyPr/>
                    <a:lstStyle/>
                    <a:p>
                      <a:pPr marL="0" indent="0">
                        <a:buNone/>
                      </a:pPr>
                      <a:r>
                        <a:rPr lang="en-US" sz="850" dirty="0">
                          <a:solidFill>
                            <a:srgbClr val="000000"/>
                          </a:solidFill>
                          <a:latin typeface="Calibri" pitchFamily="34" charset="0"/>
                          <a:ea typeface="Calibri" pitchFamily="34" charset="-122"/>
                          <a:cs typeface="Calibri" pitchFamily="34" charset="-120"/>
                        </a:rPr>
                        <a:t>Qualifying times</a:t>
                      </a:r>
                      <a:endParaRPr lang="en-US" sz="8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850" dirty="0">
                          <a:solidFill>
                            <a:srgbClr val="000000"/>
                          </a:solidFill>
                          <a:latin typeface="Calibri" pitchFamily="34" charset="0"/>
                          <a:ea typeface="Calibri" pitchFamily="34" charset="-122"/>
                          <a:cs typeface="Calibri" pitchFamily="34" charset="-120"/>
                        </a:rPr>
                        <a:t>MIN(Q3) per race, gap calc</a:t>
                      </a:r>
                      <a:endParaRPr lang="en-US" sz="8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850" dirty="0">
                          <a:solidFill>
                            <a:srgbClr val="000000"/>
                          </a:solidFill>
                          <a:latin typeface="Calibri" pitchFamily="34" charset="0"/>
                          <a:ea typeface="Calibri" pitchFamily="34" charset="-122"/>
                          <a:cs typeface="Calibri" pitchFamily="34" charset="-120"/>
                        </a:rPr>
                        <a:t>quali_gap_to_pole</a:t>
                      </a:r>
                      <a:endParaRPr lang="en-US" sz="8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850" dirty="0">
                          <a:solidFill>
                            <a:srgbClr val="000000"/>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3"/>
                  </a:ext>
                </a:extLst>
              </a:tr>
              <a:tr h="228600">
                <a:tc>
                  <a:txBody>
                    <a:bodyPr/>
                    <a:lstStyle/>
                    <a:p>
                      <a:pPr marL="0" indent="0">
                        <a:buNone/>
                      </a:pPr>
                      <a:r>
                        <a:rPr lang="en-US" sz="850" dirty="0">
                          <a:solidFill>
                            <a:srgbClr val="000000"/>
                          </a:solidFill>
                          <a:latin typeface="Calibri" pitchFamily="34" charset="0"/>
                          <a:ea typeface="Calibri" pitchFamily="34" charset="-122"/>
                          <a:cs typeface="Calibri" pitchFamily="34" charset="-120"/>
                        </a:rPr>
                        <a:t>Race history</a:t>
                      </a:r>
                      <a:endParaRPr lang="en-US" sz="8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850" dirty="0">
                          <a:solidFill>
                            <a:srgbClr val="000000"/>
                          </a:solidFill>
                          <a:latin typeface="Calibri" pitchFamily="34" charset="0"/>
                          <a:ea typeface="Calibri" pitchFamily="34" charset="-122"/>
                          <a:cs typeface="Calibri" pitchFamily="34" charset="-120"/>
                        </a:rPr>
                        <a:t>Chess-style ELO algorithm</a:t>
                      </a:r>
                      <a:endParaRPr lang="en-US" sz="8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850" dirty="0">
                          <a:solidFill>
                            <a:srgbClr val="000000"/>
                          </a:solidFill>
                          <a:latin typeface="Calibri" pitchFamily="34" charset="0"/>
                          <a:ea typeface="Calibri" pitchFamily="34" charset="-122"/>
                          <a:cs typeface="Calibri" pitchFamily="34" charset="-120"/>
                        </a:rPr>
                        <a:t>driver_elo_rating</a:t>
                      </a:r>
                      <a:endParaRPr lang="en-US" sz="8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850" dirty="0">
                          <a:solidFill>
                            <a:srgbClr val="000000"/>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4"/>
                  </a:ext>
                </a:extLst>
              </a:tr>
              <a:tr h="228600">
                <a:tc>
                  <a:txBody>
                    <a:bodyPr/>
                    <a:lstStyle/>
                    <a:p>
                      <a:pPr marL="0" indent="0">
                        <a:buNone/>
                      </a:pPr>
                      <a:r>
                        <a:rPr lang="en-US" sz="850" dirty="0">
                          <a:solidFill>
                            <a:srgbClr val="000000"/>
                          </a:solidFill>
                          <a:latin typeface="Calibri" pitchFamily="34" charset="0"/>
                          <a:ea typeface="Calibri" pitchFamily="34" charset="-122"/>
                          <a:cs typeface="Calibri" pitchFamily="34" charset="-120"/>
                        </a:rPr>
                        <a:t>Lap times/tire</a:t>
                      </a:r>
                      <a:endParaRPr lang="en-US" sz="8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850" dirty="0">
                          <a:solidFill>
                            <a:srgbClr val="000000"/>
                          </a:solidFill>
                          <a:latin typeface="Calibri" pitchFamily="34" charset="0"/>
                          <a:ea typeface="Calibri" pitchFamily="34" charset="-122"/>
                          <a:cs typeface="Calibri" pitchFamily="34" charset="-120"/>
                        </a:rPr>
                        <a:t>Linear regression per stint</a:t>
                      </a:r>
                      <a:endParaRPr lang="en-US" sz="8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850" dirty="0">
                          <a:solidFill>
                            <a:srgbClr val="000000"/>
                          </a:solidFill>
                          <a:latin typeface="Calibri" pitchFamily="34" charset="0"/>
                          <a:ea typeface="Calibri" pitchFamily="34" charset="-122"/>
                          <a:cs typeface="Calibri" pitchFamily="34" charset="-120"/>
                        </a:rPr>
                        <a:t>avg_tire_deg_slope</a:t>
                      </a:r>
                      <a:endParaRPr lang="en-US" sz="8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850" dirty="0">
                          <a:solidFill>
                            <a:srgbClr val="000000"/>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5"/>
                  </a:ext>
                </a:extLst>
              </a:tr>
              <a:tr h="228600">
                <a:tc>
                  <a:txBody>
                    <a:bodyPr/>
                    <a:lstStyle/>
                    <a:p>
                      <a:pPr marL="0" indent="0">
                        <a:buNone/>
                      </a:pPr>
                      <a:r>
                        <a:rPr lang="en-US" sz="850" dirty="0">
                          <a:solidFill>
                            <a:srgbClr val="000000"/>
                          </a:solidFill>
                          <a:latin typeface="Calibri" pitchFamily="34" charset="0"/>
                          <a:ea typeface="Calibri" pitchFamily="34" charset="-122"/>
                          <a:cs typeface="Calibri" pitchFamily="34" charset="-120"/>
                        </a:rPr>
                        <a:t>Weather API</a:t>
                      </a:r>
                      <a:endParaRPr lang="en-US" sz="8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850" dirty="0">
                          <a:solidFill>
                            <a:srgbClr val="000000"/>
                          </a:solidFill>
                          <a:latin typeface="Calibri" pitchFamily="34" charset="0"/>
                          <a:ea typeface="Calibri" pitchFamily="34" charset="-122"/>
                          <a:cs typeface="Calibri" pitchFamily="34" charset="-120"/>
                        </a:rPr>
                        <a:t>AVG temp per session</a:t>
                      </a:r>
                      <a:endParaRPr lang="en-US" sz="8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850" dirty="0">
                          <a:solidFill>
                            <a:srgbClr val="000000"/>
                          </a:solidFill>
                          <a:latin typeface="Calibri" pitchFamily="34" charset="0"/>
                          <a:ea typeface="Calibri" pitchFamily="34" charset="-122"/>
                          <a:cs typeface="Calibri" pitchFamily="34" charset="-120"/>
                        </a:rPr>
                        <a:t>avg_track_temp</a:t>
                      </a:r>
                      <a:endParaRPr lang="en-US" sz="8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850" dirty="0">
                          <a:solidFill>
                            <a:srgbClr val="000000"/>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35" name="Text 31"/>
          <p:cNvSpPr/>
          <p:nvPr/>
        </p:nvSpPr>
        <p:spPr>
          <a:xfrm>
            <a:off x="457200" y="4709160"/>
            <a:ext cx="6400800" cy="365760"/>
          </a:xfrm>
          <a:prstGeom prst="rect">
            <a:avLst/>
          </a:prstGeom>
          <a:noFill/>
          <a:ln/>
        </p:spPr>
        <p:txBody>
          <a:bodyPr wrap="square" rtlCol="0" anchor="ctr"/>
          <a:lstStyle/>
          <a:p>
            <a:pPr marL="0" indent="0">
              <a:buNone/>
            </a:pPr>
            <a:r>
              <a:rPr lang="en-US" sz="900" dirty="0">
                <a:solidFill>
                  <a:srgbClr val="949594"/>
                </a:solidFill>
                <a:latin typeface="Calibri" pitchFamily="34" charset="0"/>
                <a:ea typeface="Calibri" pitchFamily="34" charset="-122"/>
                <a:cs typeface="Calibri" pitchFamily="34" charset="-120"/>
              </a:rPr>
              <a:t>Speaker 1 — Problem &amp; Architecture</a:t>
            </a:r>
            <a:endParaRPr lang="en-US" sz="900" dirty="0"/>
          </a:p>
        </p:txBody>
      </p:sp>
      <p:sp>
        <p:nvSpPr>
          <p:cNvPr id="36" name="Text 32"/>
          <p:cNvSpPr/>
          <p:nvPr/>
        </p:nvSpPr>
        <p:spPr>
          <a:xfrm>
            <a:off x="8412480" y="4709160"/>
            <a:ext cx="548640" cy="365760"/>
          </a:xfrm>
          <a:prstGeom prst="rect">
            <a:avLst/>
          </a:prstGeom>
          <a:noFill/>
          <a:ln/>
        </p:spPr>
        <p:txBody>
          <a:bodyPr wrap="square" rtlCol="0" anchor="ctr"/>
          <a:lstStyle/>
          <a:p>
            <a:pPr marL="0" indent="0" algn="r">
              <a:buNone/>
            </a:pPr>
            <a:r>
              <a:rPr lang="en-US" sz="900" dirty="0">
                <a:solidFill>
                  <a:srgbClr val="949594"/>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1A2E"/>
        </a:solidFill>
        <a:effectLst/>
      </p:bgPr>
    </p:bg>
    <p:spTree>
      <p:nvGrpSpPr>
        <p:cNvPr id="1" name=""/>
        <p:cNvGrpSpPr/>
        <p:nvPr/>
      </p:nvGrpSpPr>
      <p:grpSpPr>
        <a:xfrm>
          <a:off x="0" y="0"/>
          <a:ext cx="0" cy="0"/>
          <a:chOff x="0" y="0"/>
          <a:chExt cx="0" cy="0"/>
        </a:xfrm>
      </p:grpSpPr>
      <p:sp>
        <p:nvSpPr>
          <p:cNvPr id="2" name="Shape 0"/>
          <p:cNvSpPr/>
          <p:nvPr/>
        </p:nvSpPr>
        <p:spPr>
          <a:xfrm>
            <a:off x="0" y="2011680"/>
            <a:ext cx="9144000" cy="36576"/>
          </a:xfrm>
          <a:prstGeom prst="rect">
            <a:avLst/>
          </a:prstGeom>
          <a:solidFill>
            <a:srgbClr val="C41E1E"/>
          </a:solidFill>
          <a:ln/>
        </p:spPr>
        <p:txBody>
          <a:bodyPr/>
          <a:lstStyle/>
          <a:p>
            <a:endParaRPr lang="en-US"/>
          </a:p>
        </p:txBody>
      </p:sp>
      <p:sp>
        <p:nvSpPr>
          <p:cNvPr id="3" name="Text 1"/>
          <p:cNvSpPr/>
          <p:nvPr/>
        </p:nvSpPr>
        <p:spPr>
          <a:xfrm>
            <a:off x="731520" y="914400"/>
            <a:ext cx="7315200" cy="731520"/>
          </a:xfrm>
          <a:prstGeom prst="rect">
            <a:avLst/>
          </a:prstGeom>
          <a:noFill/>
          <a:ln/>
        </p:spPr>
        <p:txBody>
          <a:bodyPr wrap="square" lIns="0" tIns="0" rIns="0" bIns="0" rtlCol="0" anchor="ctr"/>
          <a:lstStyle/>
          <a:p>
            <a:pPr marL="0" indent="0">
              <a:buNone/>
            </a:pPr>
            <a:r>
              <a:rPr lang="en-US" sz="5600" b="1" dirty="0">
                <a:solidFill>
                  <a:srgbClr val="C41E1E"/>
                </a:solidFill>
                <a:latin typeface="Georgia" pitchFamily="34" charset="0"/>
                <a:ea typeface="Georgia" pitchFamily="34" charset="-122"/>
                <a:cs typeface="Georgia" pitchFamily="34" charset="-120"/>
              </a:rPr>
              <a:t>02</a:t>
            </a:r>
            <a:endParaRPr lang="en-US" sz="5600" dirty="0"/>
          </a:p>
        </p:txBody>
      </p:sp>
      <p:sp>
        <p:nvSpPr>
          <p:cNvPr id="4" name="Text 2"/>
          <p:cNvSpPr/>
          <p:nvPr/>
        </p:nvSpPr>
        <p:spPr>
          <a:xfrm>
            <a:off x="731520" y="2286000"/>
            <a:ext cx="7315200" cy="731520"/>
          </a:xfrm>
          <a:prstGeom prst="rect">
            <a:avLst/>
          </a:prstGeom>
          <a:noFill/>
          <a:ln/>
        </p:spPr>
        <p:txBody>
          <a:bodyPr wrap="square" lIns="0" tIns="0" rIns="0" bIns="0" rtlCol="0" anchor="ctr"/>
          <a:lstStyle/>
          <a:p>
            <a:pPr marL="0" indent="0">
              <a:buNone/>
            </a:pPr>
            <a:r>
              <a:rPr lang="en-US" sz="3000" b="1" dirty="0">
                <a:solidFill>
                  <a:srgbClr val="FFFFFF"/>
                </a:solidFill>
                <a:latin typeface="Georgia" pitchFamily="34" charset="0"/>
                <a:ea typeface="Georgia" pitchFamily="34" charset="-122"/>
                <a:cs typeface="Georgia" pitchFamily="34" charset="-120"/>
              </a:rPr>
              <a:t>Data &amp; ML Models</a:t>
            </a:r>
            <a:endParaRPr lang="en-US" sz="3000" dirty="0"/>
          </a:p>
        </p:txBody>
      </p:sp>
      <p:sp>
        <p:nvSpPr>
          <p:cNvPr id="5" name="Text 3"/>
          <p:cNvSpPr/>
          <p:nvPr/>
        </p:nvSpPr>
        <p:spPr>
          <a:xfrm>
            <a:off x="731520" y="3108960"/>
            <a:ext cx="7315200" cy="457200"/>
          </a:xfrm>
          <a:prstGeom prst="rect">
            <a:avLst/>
          </a:prstGeom>
          <a:noFill/>
          <a:ln/>
        </p:spPr>
        <p:txBody>
          <a:bodyPr wrap="square" lIns="0" tIns="0" rIns="0" bIns="0" rtlCol="0" anchor="ctr"/>
          <a:lstStyle/>
          <a:p>
            <a:pPr marL="0" indent="0">
              <a:buNone/>
            </a:pPr>
            <a:r>
              <a:rPr lang="en-US" sz="1300" dirty="0">
                <a:solidFill>
                  <a:srgbClr val="949594"/>
                </a:solidFill>
                <a:latin typeface="Calibri" pitchFamily="34" charset="0"/>
                <a:ea typeface="Calibri" pitchFamily="34" charset="-122"/>
                <a:cs typeface="Calibri" pitchFamily="34" charset="-120"/>
              </a:rPr>
              <a:t>Speaker 2 — Tire Impact, Weather Impact, 3 Models Compared</a:t>
            </a:r>
            <a:endParaRPr lang="en-US" sz="1300" dirty="0"/>
          </a:p>
        </p:txBody>
      </p:sp>
      <p:pic>
        <p:nvPicPr>
          <p:cNvPr id="6" name="Image 0" descr="preencoded.png"/>
          <p:cNvPicPr>
            <a:picLocks noChangeAspect="1"/>
          </p:cNvPicPr>
          <p:nvPr/>
        </p:nvPicPr>
        <p:blipFill>
          <a:blip r:embed="rId3"/>
          <a:stretch>
            <a:fillRect/>
          </a:stretch>
        </p:blipFill>
        <p:spPr>
          <a:xfrm>
            <a:off x="7772400" y="4114800"/>
            <a:ext cx="548640" cy="54864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5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C41E1E"/>
          </a:solidFill>
          <a:ln/>
        </p:spPr>
        <p:txBody>
          <a:bodyPr/>
          <a:lstStyle/>
          <a:p>
            <a:endParaRPr lang="en-US"/>
          </a:p>
        </p:txBody>
      </p:sp>
      <p:sp>
        <p:nvSpPr>
          <p:cNvPr id="3" name="Shape 1"/>
          <p:cNvSpPr/>
          <p:nvPr/>
        </p:nvSpPr>
        <p:spPr>
          <a:xfrm>
            <a:off x="8778240" y="0"/>
            <a:ext cx="137160" cy="5143500"/>
          </a:xfrm>
          <a:prstGeom prst="rect">
            <a:avLst/>
          </a:prstGeom>
          <a:solidFill>
            <a:srgbClr val="C41E1E"/>
          </a:solidFill>
          <a:ln/>
        </p:spPr>
        <p:txBody>
          <a:bodyPr/>
          <a:lstStyle/>
          <a:p>
            <a:endParaRPr lang="en-US"/>
          </a:p>
        </p:txBody>
      </p:sp>
      <p:sp>
        <p:nvSpPr>
          <p:cNvPr id="4" name="Shape 2"/>
          <p:cNvSpPr/>
          <p:nvPr/>
        </p:nvSpPr>
        <p:spPr>
          <a:xfrm>
            <a:off x="8961120" y="0"/>
            <a:ext cx="73152" cy="5143500"/>
          </a:xfrm>
          <a:prstGeom prst="rect">
            <a:avLst/>
          </a:prstGeom>
          <a:solidFill>
            <a:srgbClr val="C41E1E">
              <a:alpha val="40000"/>
            </a:srgbClr>
          </a:solidFill>
          <a:ln/>
        </p:spPr>
        <p:txBody>
          <a:bodyPr/>
          <a:lstStyle/>
          <a:p>
            <a:endParaRPr lang="en-US"/>
          </a:p>
        </p:txBody>
      </p:sp>
      <p:sp>
        <p:nvSpPr>
          <p:cNvPr id="5" name="Text 3"/>
          <p:cNvSpPr/>
          <p:nvPr/>
        </p:nvSpPr>
        <p:spPr>
          <a:xfrm>
            <a:off x="731520" y="182880"/>
            <a:ext cx="7315200" cy="548640"/>
          </a:xfrm>
          <a:prstGeom prst="rect">
            <a:avLst/>
          </a:prstGeom>
          <a:noFill/>
          <a:ln/>
        </p:spPr>
        <p:txBody>
          <a:bodyPr wrap="square" lIns="0" tIns="0" rIns="0" bIns="0" rtlCol="0" anchor="ctr"/>
          <a:lstStyle/>
          <a:p>
            <a:pPr marL="0" indent="0">
              <a:buNone/>
            </a:pPr>
            <a:r>
              <a:rPr lang="en-US" sz="2800" b="1" dirty="0">
                <a:solidFill>
                  <a:srgbClr val="1A1A2E"/>
                </a:solidFill>
                <a:latin typeface="Georgia" pitchFamily="34" charset="0"/>
                <a:ea typeface="Georgia" pitchFamily="34" charset="-122"/>
                <a:cs typeface="Georgia" pitchFamily="34" charset="-120"/>
              </a:rPr>
              <a:t>Data Sources &amp; Volume</a:t>
            </a:r>
            <a:endParaRPr lang="en-US" sz="2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914400"/>
          <a:ext cx="8321040" cy="914400"/>
        </p:xfrm>
        <a:graphic>
          <a:graphicData uri="http://schemas.openxmlformats.org/drawingml/2006/table">
            <a:tbl>
              <a:tblPr/>
              <a:tblGrid>
                <a:gridCol w="18288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320040">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Source</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C41E1E"/>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Data Types</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C41E1E"/>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Volume</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C41E1E"/>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Phase</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C41E1E"/>
                    </a:solidFill>
                  </a:tcPr>
                </a:tc>
                <a:extLst>
                  <a:ext uri="{0D108BD9-81ED-4DB2-BD59-A6C34878D82A}">
                    <a16:rowId xmlns:a16="http://schemas.microsoft.com/office/drawing/2014/main" val="10000"/>
                  </a:ext>
                </a:extLst>
              </a:tr>
              <a:tr h="502920">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Jolpica API</a:t>
                      </a:r>
                      <a:endParaRPr lang="en-US" sz="950" dirty="0">
                        <a:latin typeface="Calibri" charset="0"/>
                        <a:ea typeface="Calibri" charset="0"/>
                        <a:cs typeface="Calibri" charset="0"/>
                      </a:endParaRPr>
                    </a:p>
                    <a:p>
                      <a:pPr marL="0" indent="0">
                        <a:buNone/>
                      </a:pPr>
                      <a:r>
                        <a:rPr lang="en-US" sz="950" dirty="0">
                          <a:solidFill>
                            <a:srgbClr val="000000"/>
                          </a:solidFill>
                          <a:latin typeface="Calibri" pitchFamily="34" charset="0"/>
                          <a:ea typeface="Calibri" pitchFamily="34" charset="-122"/>
                          <a:cs typeface="Calibri" pitchFamily="34" charset="-120"/>
                        </a:rPr>
                        <a:t>(Ergast replacement)</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Race results, qualifying,</a:t>
                      </a:r>
                      <a:endParaRPr lang="en-US" sz="950" dirty="0">
                        <a:latin typeface="Calibri" charset="0"/>
                        <a:ea typeface="Calibri" charset="0"/>
                        <a:cs typeface="Calibri" charset="0"/>
                      </a:endParaRPr>
                    </a:p>
                    <a:p>
                      <a:pPr marL="0" indent="0">
                        <a:buNone/>
                      </a:pPr>
                      <a:r>
                        <a:rPr lang="en-US" sz="950" dirty="0">
                          <a:solidFill>
                            <a:srgbClr val="000000"/>
                          </a:solidFill>
                          <a:latin typeface="Calibri" pitchFamily="34" charset="0"/>
                          <a:ea typeface="Calibri" pitchFamily="34" charset="-122"/>
                          <a:cs typeface="Calibri" pitchFamily="34" charset="-120"/>
                        </a:rPr>
                        <a:t>pit stops, standings</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3,524 + 3,518 +</a:t>
                      </a:r>
                      <a:endParaRPr lang="en-US" sz="950" dirty="0">
                        <a:latin typeface="Calibri" charset="0"/>
                        <a:ea typeface="Calibri" charset="0"/>
                        <a:cs typeface="Calibri" charset="0"/>
                      </a:endParaRPr>
                    </a:p>
                    <a:p>
                      <a:pPr marL="0" indent="0">
                        <a:buNone/>
                      </a:pPr>
                      <a:r>
                        <a:rPr lang="en-US" sz="950" dirty="0">
                          <a:solidFill>
                            <a:srgbClr val="000000"/>
                          </a:solidFill>
                          <a:latin typeface="Calibri" pitchFamily="34" charset="0"/>
                          <a:ea typeface="Calibri" pitchFamily="34" charset="-122"/>
                          <a:cs typeface="Calibri" pitchFamily="34" charset="-120"/>
                        </a:rPr>
                        <a:t>5,674 + 195 records</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Phase 1</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1"/>
                  </a:ext>
                </a:extLst>
              </a:tr>
              <a:tr h="502920">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FastF1</a:t>
                      </a:r>
                      <a:endParaRPr lang="en-US" sz="950" dirty="0">
                        <a:latin typeface="Calibri" charset="0"/>
                        <a:ea typeface="Calibri" charset="0"/>
                        <a:cs typeface="Calibri" charset="0"/>
                      </a:endParaRPr>
                    </a:p>
                    <a:p>
                      <a:pPr marL="0" indent="0">
                        <a:buNone/>
                      </a:pPr>
                      <a:r>
                        <a:rPr lang="en-US" sz="950" dirty="0">
                          <a:solidFill>
                            <a:srgbClr val="000000"/>
                          </a:solidFill>
                          <a:latin typeface="Calibri" pitchFamily="34" charset="0"/>
                          <a:ea typeface="Calibri" pitchFamily="34" charset="-122"/>
                          <a:cs typeface="Calibri" pitchFamily="34" charset="-120"/>
                        </a:rPr>
                        <a:t>(Lap Telemetry)</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Individual lap times,</a:t>
                      </a:r>
                      <a:endParaRPr lang="en-US" sz="950" dirty="0">
                        <a:latin typeface="Calibri" charset="0"/>
                        <a:ea typeface="Calibri" charset="0"/>
                        <a:cs typeface="Calibri" charset="0"/>
                      </a:endParaRPr>
                    </a:p>
                    <a:p>
                      <a:pPr marL="0" indent="0">
                        <a:buNone/>
                      </a:pPr>
                      <a:r>
                        <a:rPr lang="en-US" sz="950" dirty="0">
                          <a:solidFill>
                            <a:srgbClr val="000000"/>
                          </a:solidFill>
                          <a:latin typeface="Calibri" pitchFamily="34" charset="0"/>
                          <a:ea typeface="Calibri" pitchFamily="34" charset="-122"/>
                          <a:cs typeface="Calibri" pitchFamily="34" charset="-120"/>
                        </a:rPr>
                        <a:t>tire compounds, stints</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181,721 laps +</a:t>
                      </a:r>
                      <a:endParaRPr lang="en-US" sz="950" dirty="0">
                        <a:latin typeface="Calibri" charset="0"/>
                        <a:ea typeface="Calibri" charset="0"/>
                        <a:cs typeface="Calibri" charset="0"/>
                      </a:endParaRPr>
                    </a:p>
                    <a:p>
                      <a:pPr marL="0" indent="0">
                        <a:buNone/>
                      </a:pPr>
                      <a:r>
                        <a:rPr lang="en-US" sz="950" dirty="0">
                          <a:solidFill>
                            <a:srgbClr val="000000"/>
                          </a:solidFill>
                          <a:latin typeface="Calibri" pitchFamily="34" charset="0"/>
                          <a:ea typeface="Calibri" pitchFamily="34" charset="-122"/>
                          <a:cs typeface="Calibri" pitchFamily="34" charset="-120"/>
                        </a:rPr>
                        <a:t>7,996 tire records</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Phase 2</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2"/>
                  </a:ext>
                </a:extLst>
              </a:tr>
              <a:tr h="502920">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FastF1</a:t>
                      </a:r>
                      <a:endParaRPr lang="en-US" sz="950" dirty="0">
                        <a:latin typeface="Calibri" charset="0"/>
                        <a:ea typeface="Calibri" charset="0"/>
                        <a:cs typeface="Calibri" charset="0"/>
                      </a:endParaRPr>
                    </a:p>
                    <a:p>
                      <a:pPr marL="0" indent="0">
                        <a:buNone/>
                      </a:pPr>
                      <a:r>
                        <a:rPr lang="en-US" sz="950" dirty="0">
                          <a:solidFill>
                            <a:srgbClr val="000000"/>
                          </a:solidFill>
                          <a:latin typeface="Calibri" pitchFamily="34" charset="0"/>
                          <a:ea typeface="Calibri" pitchFamily="34" charset="-122"/>
                          <a:cs typeface="Calibri" pitchFamily="34" charset="-120"/>
                        </a:rPr>
                        <a:t>(Weather)</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Track temp, air temp,</a:t>
                      </a:r>
                      <a:endParaRPr lang="en-US" sz="950" dirty="0">
                        <a:latin typeface="Calibri" charset="0"/>
                        <a:ea typeface="Calibri" charset="0"/>
                        <a:cs typeface="Calibri" charset="0"/>
                      </a:endParaRPr>
                    </a:p>
                    <a:p>
                      <a:pPr marL="0" indent="0">
                        <a:buNone/>
                      </a:pPr>
                      <a:r>
                        <a:rPr lang="en-US" sz="950" dirty="0">
                          <a:solidFill>
                            <a:srgbClr val="000000"/>
                          </a:solidFill>
                          <a:latin typeface="Calibri" pitchFamily="34" charset="0"/>
                          <a:ea typeface="Calibri" pitchFamily="34" charset="-122"/>
                          <a:cs typeface="Calibri" pitchFamily="34" charset="-120"/>
                        </a:rPr>
                        <a:t>humidity, rainfall</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24,435 measurements</a:t>
                      </a:r>
                      <a:endParaRPr lang="en-US" sz="950" dirty="0">
                        <a:latin typeface="Calibri" charset="0"/>
                        <a:ea typeface="Calibri" charset="0"/>
                        <a:cs typeface="Calibri" charset="0"/>
                      </a:endParaRPr>
                    </a:p>
                    <a:p>
                      <a:pPr marL="0" indent="0">
                        <a:buNone/>
                      </a:pPr>
                      <a:r>
                        <a:rPr lang="en-US" sz="950" dirty="0">
                          <a:solidFill>
                            <a:srgbClr val="000000"/>
                          </a:solidFill>
                          <a:latin typeface="Calibri" pitchFamily="34" charset="0"/>
                          <a:ea typeface="Calibri" pitchFamily="34" charset="-122"/>
                          <a:cs typeface="Calibri" pitchFamily="34" charset="-120"/>
                        </a:rPr>
                        <a:t>across 166 sessions</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Phase 3</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7" name="Shape 4"/>
          <p:cNvSpPr/>
          <p:nvPr/>
        </p:nvSpPr>
        <p:spPr>
          <a:xfrm>
            <a:off x="365760" y="2743200"/>
            <a:ext cx="1920240" cy="1005840"/>
          </a:xfrm>
          <a:prstGeom prst="rect">
            <a:avLst/>
          </a:prstGeom>
          <a:solidFill>
            <a:srgbClr val="FDF2F2"/>
          </a:solidFill>
          <a:ln/>
          <a:effectLst>
            <a:outerShdw blurRad="50800" dist="25400" dir="8100000" algn="bl" rotWithShape="0">
              <a:srgbClr val="000000">
                <a:alpha val="10000"/>
              </a:srgbClr>
            </a:outerShdw>
          </a:effectLst>
        </p:spPr>
        <p:txBody>
          <a:bodyPr/>
          <a:lstStyle/>
          <a:p>
            <a:endParaRPr lang="en-US"/>
          </a:p>
        </p:txBody>
      </p:sp>
      <p:sp>
        <p:nvSpPr>
          <p:cNvPr id="8" name="Text 5"/>
          <p:cNvSpPr/>
          <p:nvPr/>
        </p:nvSpPr>
        <p:spPr>
          <a:xfrm>
            <a:off x="365760" y="2834640"/>
            <a:ext cx="1920240" cy="502920"/>
          </a:xfrm>
          <a:prstGeom prst="rect">
            <a:avLst/>
          </a:prstGeom>
          <a:noFill/>
          <a:ln/>
        </p:spPr>
        <p:txBody>
          <a:bodyPr wrap="square" lIns="0" tIns="0" rIns="0" bIns="0" rtlCol="0" anchor="ctr"/>
          <a:lstStyle/>
          <a:p>
            <a:pPr marL="0" indent="0" algn="ctr">
              <a:buNone/>
            </a:pPr>
            <a:r>
              <a:rPr lang="en-US" sz="2800" b="1" dirty="0">
                <a:solidFill>
                  <a:srgbClr val="C41E1E"/>
                </a:solidFill>
                <a:latin typeface="Georgia" pitchFamily="34" charset="0"/>
                <a:ea typeface="Georgia" pitchFamily="34" charset="-122"/>
                <a:cs typeface="Georgia" pitchFamily="34" charset="-120"/>
              </a:rPr>
              <a:t>223K+</a:t>
            </a:r>
            <a:endParaRPr lang="en-US" sz="2800" dirty="0"/>
          </a:p>
        </p:txBody>
      </p:sp>
      <p:sp>
        <p:nvSpPr>
          <p:cNvPr id="9" name="Text 6"/>
          <p:cNvSpPr/>
          <p:nvPr/>
        </p:nvSpPr>
        <p:spPr>
          <a:xfrm>
            <a:off x="365760" y="3246120"/>
            <a:ext cx="1920240" cy="274320"/>
          </a:xfrm>
          <a:prstGeom prst="rect">
            <a:avLst/>
          </a:prstGeom>
          <a:noFill/>
          <a:ln/>
        </p:spPr>
        <p:txBody>
          <a:bodyPr wrap="square" lIns="0" tIns="0" rIns="0" bIns="0" rtlCol="0" anchor="ctr"/>
          <a:lstStyle/>
          <a:p>
            <a:pPr marL="0" indent="0" algn="ctr">
              <a:buNone/>
            </a:pPr>
            <a:r>
              <a:rPr lang="en-US" sz="1000" dirty="0">
                <a:solidFill>
                  <a:srgbClr val="C41E1E"/>
                </a:solidFill>
                <a:latin typeface="Calibri" pitchFamily="34" charset="0"/>
                <a:ea typeface="Calibri" pitchFamily="34" charset="-122"/>
                <a:cs typeface="Calibri" pitchFamily="34" charset="-120"/>
              </a:rPr>
              <a:t>Raw Records</a:t>
            </a:r>
            <a:endParaRPr lang="en-US" sz="1000" dirty="0"/>
          </a:p>
        </p:txBody>
      </p:sp>
      <p:sp>
        <p:nvSpPr>
          <p:cNvPr id="10" name="Text 7"/>
          <p:cNvSpPr/>
          <p:nvPr/>
        </p:nvSpPr>
        <p:spPr>
          <a:xfrm>
            <a:off x="365760" y="3520440"/>
            <a:ext cx="1920240" cy="274320"/>
          </a:xfrm>
          <a:prstGeom prst="rect">
            <a:avLst/>
          </a:prstGeom>
          <a:noFill/>
          <a:ln/>
        </p:spPr>
        <p:txBody>
          <a:bodyPr wrap="square" lIns="0" tIns="0" rIns="0" bIns="0" rtlCol="0" anchor="ctr"/>
          <a:lstStyle/>
          <a:p>
            <a:pPr marL="0" indent="0" algn="ctr">
              <a:buNone/>
            </a:pPr>
            <a:r>
              <a:rPr lang="en-US" sz="800" dirty="0">
                <a:solidFill>
                  <a:srgbClr val="949594"/>
                </a:solidFill>
                <a:latin typeface="Calibri" pitchFamily="34" charset="0"/>
                <a:ea typeface="Calibri" pitchFamily="34" charset="-122"/>
                <a:cs typeface="Calibri" pitchFamily="34" charset="-120"/>
              </a:rPr>
              <a:t>Bronze layer</a:t>
            </a:r>
            <a:endParaRPr lang="en-US" sz="800" dirty="0"/>
          </a:p>
        </p:txBody>
      </p:sp>
      <p:sp>
        <p:nvSpPr>
          <p:cNvPr id="6" name="Shape 8"/>
          <p:cNvSpPr/>
          <p:nvPr/>
        </p:nvSpPr>
        <p:spPr>
          <a:xfrm>
            <a:off x="2468880" y="2743200"/>
            <a:ext cx="1920240" cy="1005840"/>
          </a:xfrm>
          <a:prstGeom prst="rect">
            <a:avLst/>
          </a:prstGeom>
          <a:solidFill>
            <a:srgbClr val="E8F0FE"/>
          </a:solidFill>
          <a:ln/>
          <a:effectLst>
            <a:outerShdw blurRad="50800" dist="25400" dir="8100000" algn="bl" rotWithShape="0">
              <a:srgbClr val="000000">
                <a:alpha val="10000"/>
              </a:srgbClr>
            </a:outerShdw>
          </a:effectLst>
        </p:spPr>
        <p:txBody>
          <a:bodyPr/>
          <a:lstStyle/>
          <a:p>
            <a:endParaRPr lang="en-US"/>
          </a:p>
        </p:txBody>
      </p:sp>
      <p:sp>
        <p:nvSpPr>
          <p:cNvPr id="12" name="Text 9"/>
          <p:cNvSpPr/>
          <p:nvPr/>
        </p:nvSpPr>
        <p:spPr>
          <a:xfrm>
            <a:off x="2468880" y="2834640"/>
            <a:ext cx="1920240" cy="502920"/>
          </a:xfrm>
          <a:prstGeom prst="rect">
            <a:avLst/>
          </a:prstGeom>
          <a:noFill/>
          <a:ln/>
        </p:spPr>
        <p:txBody>
          <a:bodyPr wrap="square" lIns="0" tIns="0" rIns="0" bIns="0" rtlCol="0" anchor="ctr"/>
          <a:lstStyle/>
          <a:p>
            <a:pPr marL="0" indent="0" algn="ctr">
              <a:buNone/>
            </a:pPr>
            <a:r>
              <a:rPr lang="en-US" sz="2800" b="1" dirty="0">
                <a:solidFill>
                  <a:srgbClr val="2563EB"/>
                </a:solidFill>
                <a:latin typeface="Georgia" pitchFamily="34" charset="0"/>
                <a:ea typeface="Georgia" pitchFamily="34" charset="-122"/>
                <a:cs typeface="Georgia" pitchFamily="34" charset="-120"/>
              </a:rPr>
              <a:t>3,524</a:t>
            </a:r>
            <a:endParaRPr lang="en-US" sz="2800" dirty="0"/>
          </a:p>
        </p:txBody>
      </p:sp>
      <p:sp>
        <p:nvSpPr>
          <p:cNvPr id="13" name="Text 10"/>
          <p:cNvSpPr/>
          <p:nvPr/>
        </p:nvSpPr>
        <p:spPr>
          <a:xfrm>
            <a:off x="2468880" y="3246120"/>
            <a:ext cx="1920240" cy="274320"/>
          </a:xfrm>
          <a:prstGeom prst="rect">
            <a:avLst/>
          </a:prstGeom>
          <a:noFill/>
          <a:ln/>
        </p:spPr>
        <p:txBody>
          <a:bodyPr wrap="square" lIns="0" tIns="0" rIns="0" bIns="0" rtlCol="0" anchor="ctr"/>
          <a:lstStyle/>
          <a:p>
            <a:pPr marL="0" indent="0" algn="ctr">
              <a:buNone/>
            </a:pPr>
            <a:r>
              <a:rPr lang="en-US" sz="1000" dirty="0">
                <a:solidFill>
                  <a:srgbClr val="2563EB"/>
                </a:solidFill>
                <a:latin typeface="Calibri" pitchFamily="34" charset="0"/>
                <a:ea typeface="Calibri" pitchFamily="34" charset="-122"/>
                <a:cs typeface="Calibri" pitchFamily="34" charset="-120"/>
              </a:rPr>
              <a:t>Clean Rows</a:t>
            </a:r>
            <a:endParaRPr lang="en-US" sz="1000" dirty="0"/>
          </a:p>
        </p:txBody>
      </p:sp>
      <p:sp>
        <p:nvSpPr>
          <p:cNvPr id="14" name="Text 11"/>
          <p:cNvSpPr/>
          <p:nvPr/>
        </p:nvSpPr>
        <p:spPr>
          <a:xfrm>
            <a:off x="2468880" y="3520440"/>
            <a:ext cx="1920240" cy="274320"/>
          </a:xfrm>
          <a:prstGeom prst="rect">
            <a:avLst/>
          </a:prstGeom>
          <a:noFill/>
          <a:ln/>
        </p:spPr>
        <p:txBody>
          <a:bodyPr wrap="square" lIns="0" tIns="0" rIns="0" bIns="0" rtlCol="0" anchor="ctr"/>
          <a:lstStyle/>
          <a:p>
            <a:pPr marL="0" indent="0" algn="ctr">
              <a:buNone/>
            </a:pPr>
            <a:r>
              <a:rPr lang="en-US" sz="800" dirty="0">
                <a:solidFill>
                  <a:srgbClr val="949594"/>
                </a:solidFill>
                <a:latin typeface="Calibri" pitchFamily="34" charset="0"/>
                <a:ea typeface="Calibri" pitchFamily="34" charset="-122"/>
                <a:cs typeface="Calibri" pitchFamily="34" charset="-120"/>
              </a:rPr>
              <a:t>Silver layer</a:t>
            </a:r>
            <a:endParaRPr lang="en-US" sz="800" dirty="0"/>
          </a:p>
        </p:txBody>
      </p:sp>
      <p:sp>
        <p:nvSpPr>
          <p:cNvPr id="15" name="Shape 12"/>
          <p:cNvSpPr/>
          <p:nvPr/>
        </p:nvSpPr>
        <p:spPr>
          <a:xfrm>
            <a:off x="4572000" y="2743200"/>
            <a:ext cx="1920240" cy="1005840"/>
          </a:xfrm>
          <a:prstGeom prst="rect">
            <a:avLst/>
          </a:prstGeom>
          <a:solidFill>
            <a:srgbClr val="FEF9E7"/>
          </a:solidFill>
          <a:ln/>
          <a:effectLst>
            <a:outerShdw blurRad="50800" dist="25400" dir="8100000" algn="bl" rotWithShape="0">
              <a:srgbClr val="000000">
                <a:alpha val="10000"/>
              </a:srgbClr>
            </a:outerShdw>
          </a:effectLst>
        </p:spPr>
        <p:txBody>
          <a:bodyPr/>
          <a:lstStyle/>
          <a:p>
            <a:endParaRPr lang="en-US"/>
          </a:p>
        </p:txBody>
      </p:sp>
      <p:sp>
        <p:nvSpPr>
          <p:cNvPr id="16" name="Text 13"/>
          <p:cNvSpPr/>
          <p:nvPr/>
        </p:nvSpPr>
        <p:spPr>
          <a:xfrm>
            <a:off x="4572000" y="2834640"/>
            <a:ext cx="1920240" cy="502920"/>
          </a:xfrm>
          <a:prstGeom prst="rect">
            <a:avLst/>
          </a:prstGeom>
          <a:noFill/>
          <a:ln/>
        </p:spPr>
        <p:txBody>
          <a:bodyPr wrap="square" lIns="0" tIns="0" rIns="0" bIns="0" rtlCol="0" anchor="ctr"/>
          <a:lstStyle/>
          <a:p>
            <a:pPr marL="0" indent="0" algn="ctr">
              <a:buNone/>
            </a:pPr>
            <a:r>
              <a:rPr lang="en-US" sz="2800" b="1" dirty="0">
                <a:solidFill>
                  <a:srgbClr val="D97706"/>
                </a:solidFill>
                <a:latin typeface="Georgia" pitchFamily="34" charset="0"/>
                <a:ea typeface="Georgia" pitchFamily="34" charset="-122"/>
                <a:cs typeface="Georgia" pitchFamily="34" charset="-120"/>
              </a:rPr>
              <a:t>85</a:t>
            </a:r>
            <a:endParaRPr lang="en-US" sz="2800" dirty="0"/>
          </a:p>
        </p:txBody>
      </p:sp>
      <p:sp>
        <p:nvSpPr>
          <p:cNvPr id="17" name="Text 14"/>
          <p:cNvSpPr/>
          <p:nvPr/>
        </p:nvSpPr>
        <p:spPr>
          <a:xfrm>
            <a:off x="4572000" y="3246120"/>
            <a:ext cx="1920240" cy="274320"/>
          </a:xfrm>
          <a:prstGeom prst="rect">
            <a:avLst/>
          </a:prstGeom>
          <a:noFill/>
          <a:ln/>
        </p:spPr>
        <p:txBody>
          <a:bodyPr wrap="square" lIns="0" tIns="0" rIns="0" bIns="0" rtlCol="0" anchor="ctr"/>
          <a:lstStyle/>
          <a:p>
            <a:pPr marL="0" indent="0" algn="ctr">
              <a:buNone/>
            </a:pPr>
            <a:r>
              <a:rPr lang="en-US" sz="1000" dirty="0">
                <a:solidFill>
                  <a:srgbClr val="D97706"/>
                </a:solidFill>
                <a:latin typeface="Calibri" pitchFamily="34" charset="0"/>
                <a:ea typeface="Calibri" pitchFamily="34" charset="-122"/>
                <a:cs typeface="Calibri" pitchFamily="34" charset="-120"/>
              </a:rPr>
              <a:t>ML Features</a:t>
            </a:r>
            <a:endParaRPr lang="en-US" sz="1000" dirty="0"/>
          </a:p>
        </p:txBody>
      </p:sp>
      <p:sp>
        <p:nvSpPr>
          <p:cNvPr id="18" name="Text 15"/>
          <p:cNvSpPr/>
          <p:nvPr/>
        </p:nvSpPr>
        <p:spPr>
          <a:xfrm>
            <a:off x="4572000" y="3520440"/>
            <a:ext cx="1920240" cy="274320"/>
          </a:xfrm>
          <a:prstGeom prst="rect">
            <a:avLst/>
          </a:prstGeom>
          <a:noFill/>
          <a:ln/>
        </p:spPr>
        <p:txBody>
          <a:bodyPr wrap="square" lIns="0" tIns="0" rIns="0" bIns="0" rtlCol="0" anchor="ctr"/>
          <a:lstStyle/>
          <a:p>
            <a:pPr marL="0" indent="0" algn="ctr">
              <a:buNone/>
            </a:pPr>
            <a:r>
              <a:rPr lang="en-US" sz="800" dirty="0">
                <a:solidFill>
                  <a:srgbClr val="949594"/>
                </a:solidFill>
                <a:latin typeface="Calibri" pitchFamily="34" charset="0"/>
                <a:ea typeface="Calibri" pitchFamily="34" charset="-122"/>
                <a:cs typeface="Calibri" pitchFamily="34" charset="-120"/>
              </a:rPr>
              <a:t>Gold layer</a:t>
            </a:r>
            <a:endParaRPr lang="en-US" sz="800" dirty="0"/>
          </a:p>
        </p:txBody>
      </p:sp>
      <p:sp>
        <p:nvSpPr>
          <p:cNvPr id="19" name="Shape 16"/>
          <p:cNvSpPr/>
          <p:nvPr/>
        </p:nvSpPr>
        <p:spPr>
          <a:xfrm>
            <a:off x="6675120" y="2743200"/>
            <a:ext cx="1920240" cy="1005840"/>
          </a:xfrm>
          <a:prstGeom prst="rect">
            <a:avLst/>
          </a:prstGeom>
          <a:solidFill>
            <a:srgbClr val="E6F4EA"/>
          </a:solidFill>
          <a:ln/>
          <a:effectLst>
            <a:outerShdw blurRad="50800" dist="25400" dir="8100000" algn="bl" rotWithShape="0">
              <a:srgbClr val="000000">
                <a:alpha val="10000"/>
              </a:srgbClr>
            </a:outerShdw>
          </a:effectLst>
        </p:spPr>
        <p:txBody>
          <a:bodyPr/>
          <a:lstStyle/>
          <a:p>
            <a:endParaRPr lang="en-US"/>
          </a:p>
        </p:txBody>
      </p:sp>
      <p:sp>
        <p:nvSpPr>
          <p:cNvPr id="20" name="Text 17"/>
          <p:cNvSpPr/>
          <p:nvPr/>
        </p:nvSpPr>
        <p:spPr>
          <a:xfrm>
            <a:off x="6675120" y="2834640"/>
            <a:ext cx="1920240" cy="502920"/>
          </a:xfrm>
          <a:prstGeom prst="rect">
            <a:avLst/>
          </a:prstGeom>
          <a:noFill/>
          <a:ln/>
        </p:spPr>
        <p:txBody>
          <a:bodyPr wrap="square" lIns="0" tIns="0" rIns="0" bIns="0" rtlCol="0" anchor="ctr"/>
          <a:lstStyle/>
          <a:p>
            <a:pPr marL="0" indent="0" algn="ctr">
              <a:buNone/>
            </a:pPr>
            <a:r>
              <a:rPr lang="en-US" sz="2800" b="1" dirty="0">
                <a:solidFill>
                  <a:srgbClr val="059669"/>
                </a:solidFill>
                <a:latin typeface="Georgia" pitchFamily="34" charset="0"/>
                <a:ea typeface="Georgia" pitchFamily="34" charset="-122"/>
                <a:cs typeface="Georgia" pitchFamily="34" charset="-120"/>
              </a:rPr>
              <a:t>300K</a:t>
            </a:r>
            <a:endParaRPr lang="en-US" sz="2800" dirty="0"/>
          </a:p>
        </p:txBody>
      </p:sp>
      <p:sp>
        <p:nvSpPr>
          <p:cNvPr id="21" name="Text 18"/>
          <p:cNvSpPr/>
          <p:nvPr/>
        </p:nvSpPr>
        <p:spPr>
          <a:xfrm>
            <a:off x="6675120" y="3246120"/>
            <a:ext cx="1920240" cy="274320"/>
          </a:xfrm>
          <a:prstGeom prst="rect">
            <a:avLst/>
          </a:prstGeom>
          <a:noFill/>
          <a:ln/>
        </p:spPr>
        <p:txBody>
          <a:bodyPr wrap="square" lIns="0" tIns="0" rIns="0" bIns="0" rtlCol="0" anchor="ctr"/>
          <a:lstStyle/>
          <a:p>
            <a:pPr marL="0" indent="0" algn="ctr">
              <a:buNone/>
            </a:pPr>
            <a:r>
              <a:rPr lang="en-US" sz="1000" dirty="0">
                <a:solidFill>
                  <a:srgbClr val="059669"/>
                </a:solidFill>
                <a:latin typeface="Calibri" pitchFamily="34" charset="0"/>
                <a:ea typeface="Calibri" pitchFamily="34" charset="-122"/>
                <a:cs typeface="Calibri" pitchFamily="34" charset="-120"/>
              </a:rPr>
              <a:t>Feature Values</a:t>
            </a:r>
            <a:endParaRPr lang="en-US" sz="1000" dirty="0"/>
          </a:p>
        </p:txBody>
      </p:sp>
      <p:sp>
        <p:nvSpPr>
          <p:cNvPr id="22" name="Text 19"/>
          <p:cNvSpPr/>
          <p:nvPr/>
        </p:nvSpPr>
        <p:spPr>
          <a:xfrm>
            <a:off x="6675120" y="3520440"/>
            <a:ext cx="1920240" cy="274320"/>
          </a:xfrm>
          <a:prstGeom prst="rect">
            <a:avLst/>
          </a:prstGeom>
          <a:noFill/>
          <a:ln/>
        </p:spPr>
        <p:txBody>
          <a:bodyPr wrap="square" lIns="0" tIns="0" rIns="0" bIns="0" rtlCol="0" anchor="ctr"/>
          <a:lstStyle/>
          <a:p>
            <a:pPr marL="0" indent="0" algn="ctr">
              <a:buNone/>
            </a:pPr>
            <a:r>
              <a:rPr lang="en-US" sz="800" dirty="0">
                <a:solidFill>
                  <a:srgbClr val="949594"/>
                </a:solidFill>
                <a:latin typeface="Calibri" pitchFamily="34" charset="0"/>
                <a:ea typeface="Calibri" pitchFamily="34" charset="-122"/>
                <a:cs typeface="Calibri" pitchFamily="34" charset="-120"/>
              </a:rPr>
              <a:t>3,524 × 85</a:t>
            </a:r>
            <a:endParaRPr lang="en-US" sz="800" dirty="0"/>
          </a:p>
        </p:txBody>
      </p:sp>
      <p:sp>
        <p:nvSpPr>
          <p:cNvPr id="23" name="Shape 20"/>
          <p:cNvSpPr/>
          <p:nvPr/>
        </p:nvSpPr>
        <p:spPr>
          <a:xfrm>
            <a:off x="365760" y="3931920"/>
            <a:ext cx="8321040" cy="640080"/>
          </a:xfrm>
          <a:prstGeom prst="rect">
            <a:avLst/>
          </a:prstGeom>
          <a:solidFill>
            <a:srgbClr val="E8F0FE"/>
          </a:solidFill>
          <a:ln/>
          <a:effectLst>
            <a:outerShdw blurRad="50800" dist="25400" dir="8100000" algn="bl" rotWithShape="0">
              <a:srgbClr val="000000">
                <a:alpha val="10000"/>
              </a:srgbClr>
            </a:outerShdw>
          </a:effectLst>
        </p:spPr>
        <p:txBody>
          <a:bodyPr/>
          <a:lstStyle/>
          <a:p>
            <a:endParaRPr lang="en-US"/>
          </a:p>
        </p:txBody>
      </p:sp>
      <p:sp>
        <p:nvSpPr>
          <p:cNvPr id="24" name="Text 21"/>
          <p:cNvSpPr/>
          <p:nvPr/>
        </p:nvSpPr>
        <p:spPr>
          <a:xfrm>
            <a:off x="548640" y="3977640"/>
            <a:ext cx="8046720" cy="502920"/>
          </a:xfrm>
          <a:prstGeom prst="rect">
            <a:avLst/>
          </a:prstGeom>
          <a:noFill/>
          <a:ln/>
        </p:spPr>
        <p:txBody>
          <a:bodyPr wrap="square" lIns="0" tIns="0" rIns="0" bIns="0" rtlCol="0" anchor="ctr"/>
          <a:lstStyle/>
          <a:p>
            <a:pPr marL="0" indent="0">
              <a:buNone/>
            </a:pPr>
            <a:r>
              <a:rPr lang="en-US" sz="1000" dirty="0">
                <a:solidFill>
                  <a:srgbClr val="2563EB"/>
                </a:solidFill>
                <a:latin typeface="Calibri" pitchFamily="34" charset="0"/>
                <a:ea typeface="Calibri" pitchFamily="34" charset="-122"/>
                <a:cs typeface="Calibri" pitchFamily="34" charset="-120"/>
              </a:rPr>
              <a:t>ETL Pattern: Extract 223K raw records → Transform (join + deduplicate via Spark) → Load 3,524 rows × 85 features = ~300K feature values ready for ML training</a:t>
            </a:r>
            <a:endParaRPr lang="en-US" sz="1000" dirty="0"/>
          </a:p>
        </p:txBody>
      </p:sp>
      <p:sp>
        <p:nvSpPr>
          <p:cNvPr id="25" name="Text 22"/>
          <p:cNvSpPr/>
          <p:nvPr/>
        </p:nvSpPr>
        <p:spPr>
          <a:xfrm>
            <a:off x="457200" y="4709160"/>
            <a:ext cx="6400800" cy="365760"/>
          </a:xfrm>
          <a:prstGeom prst="rect">
            <a:avLst/>
          </a:prstGeom>
          <a:noFill/>
          <a:ln/>
        </p:spPr>
        <p:txBody>
          <a:bodyPr wrap="square" rtlCol="0" anchor="ctr"/>
          <a:lstStyle/>
          <a:p>
            <a:pPr marL="0" indent="0">
              <a:buNone/>
            </a:pPr>
            <a:r>
              <a:rPr lang="en-US" sz="900" dirty="0">
                <a:solidFill>
                  <a:srgbClr val="949594"/>
                </a:solidFill>
                <a:latin typeface="Calibri" pitchFamily="34" charset="0"/>
                <a:ea typeface="Calibri" pitchFamily="34" charset="-122"/>
                <a:cs typeface="Calibri" pitchFamily="34" charset="-120"/>
              </a:rPr>
              <a:t>Speaker 2 — Data &amp; ML Models</a:t>
            </a:r>
            <a:endParaRPr lang="en-US" sz="900" dirty="0"/>
          </a:p>
        </p:txBody>
      </p:sp>
      <p:sp>
        <p:nvSpPr>
          <p:cNvPr id="26" name="Text 23"/>
          <p:cNvSpPr/>
          <p:nvPr/>
        </p:nvSpPr>
        <p:spPr>
          <a:xfrm>
            <a:off x="8412480" y="4709160"/>
            <a:ext cx="548640" cy="365760"/>
          </a:xfrm>
          <a:prstGeom prst="rect">
            <a:avLst/>
          </a:prstGeom>
          <a:noFill/>
          <a:ln/>
        </p:spPr>
        <p:txBody>
          <a:bodyPr wrap="square" rtlCol="0" anchor="ctr"/>
          <a:lstStyle/>
          <a:p>
            <a:pPr marL="0" indent="0" algn="r">
              <a:buNone/>
            </a:pPr>
            <a:r>
              <a:rPr lang="en-US" sz="900" dirty="0">
                <a:solidFill>
                  <a:srgbClr val="949594"/>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5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C41E1E"/>
          </a:solidFill>
          <a:ln/>
        </p:spPr>
        <p:txBody>
          <a:bodyPr/>
          <a:lstStyle/>
          <a:p>
            <a:endParaRPr lang="en-US"/>
          </a:p>
        </p:txBody>
      </p:sp>
      <p:sp>
        <p:nvSpPr>
          <p:cNvPr id="3" name="Shape 1"/>
          <p:cNvSpPr/>
          <p:nvPr/>
        </p:nvSpPr>
        <p:spPr>
          <a:xfrm>
            <a:off x="8778240" y="0"/>
            <a:ext cx="137160" cy="5143500"/>
          </a:xfrm>
          <a:prstGeom prst="rect">
            <a:avLst/>
          </a:prstGeom>
          <a:solidFill>
            <a:srgbClr val="C41E1E"/>
          </a:solidFill>
          <a:ln/>
        </p:spPr>
        <p:txBody>
          <a:bodyPr/>
          <a:lstStyle/>
          <a:p>
            <a:endParaRPr lang="en-US"/>
          </a:p>
        </p:txBody>
      </p:sp>
      <p:sp>
        <p:nvSpPr>
          <p:cNvPr id="4" name="Shape 2"/>
          <p:cNvSpPr/>
          <p:nvPr/>
        </p:nvSpPr>
        <p:spPr>
          <a:xfrm>
            <a:off x="8961120" y="0"/>
            <a:ext cx="73152" cy="5143500"/>
          </a:xfrm>
          <a:prstGeom prst="rect">
            <a:avLst/>
          </a:prstGeom>
          <a:solidFill>
            <a:srgbClr val="C41E1E">
              <a:alpha val="40000"/>
            </a:srgbClr>
          </a:solidFill>
          <a:ln/>
        </p:spPr>
        <p:txBody>
          <a:bodyPr/>
          <a:lstStyle/>
          <a:p>
            <a:endParaRPr lang="en-US"/>
          </a:p>
        </p:txBody>
      </p:sp>
      <p:sp>
        <p:nvSpPr>
          <p:cNvPr id="5" name="Text 3"/>
          <p:cNvSpPr/>
          <p:nvPr/>
        </p:nvSpPr>
        <p:spPr>
          <a:xfrm>
            <a:off x="731520" y="182880"/>
            <a:ext cx="7315200" cy="548640"/>
          </a:xfrm>
          <a:prstGeom prst="rect">
            <a:avLst/>
          </a:prstGeom>
          <a:noFill/>
          <a:ln/>
        </p:spPr>
        <p:txBody>
          <a:bodyPr wrap="square" lIns="0" tIns="0" rIns="0" bIns="0" rtlCol="0" anchor="ctr"/>
          <a:lstStyle/>
          <a:p>
            <a:pPr marL="0" indent="0">
              <a:buNone/>
            </a:pPr>
            <a:r>
              <a:rPr lang="en-US" sz="2800" b="1" dirty="0">
                <a:solidFill>
                  <a:srgbClr val="1A1A2E"/>
                </a:solidFill>
                <a:latin typeface="Georgia" pitchFamily="34" charset="0"/>
                <a:ea typeface="Georgia" pitchFamily="34" charset="-122"/>
                <a:cs typeface="Georgia" pitchFamily="34" charset="-120"/>
              </a:rPr>
              <a:t>Spark &amp; Airflow in Action</a:t>
            </a:r>
            <a:endParaRPr lang="en-US" sz="2800" dirty="0"/>
          </a:p>
        </p:txBody>
      </p:sp>
      <p:sp>
        <p:nvSpPr>
          <p:cNvPr id="6" name="Shape 4"/>
          <p:cNvSpPr/>
          <p:nvPr/>
        </p:nvSpPr>
        <p:spPr>
          <a:xfrm>
            <a:off x="365760" y="914400"/>
            <a:ext cx="4023360" cy="201168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US"/>
          </a:p>
        </p:txBody>
      </p:sp>
      <p:sp>
        <p:nvSpPr>
          <p:cNvPr id="7" name="Shape 5"/>
          <p:cNvSpPr/>
          <p:nvPr/>
        </p:nvSpPr>
        <p:spPr>
          <a:xfrm>
            <a:off x="365760" y="914400"/>
            <a:ext cx="54864" cy="2011680"/>
          </a:xfrm>
          <a:prstGeom prst="rect">
            <a:avLst/>
          </a:prstGeom>
          <a:solidFill>
            <a:srgbClr val="2563EB"/>
          </a:solidFill>
          <a:ln/>
        </p:spPr>
        <p:txBody>
          <a:bodyPr/>
          <a:lstStyle/>
          <a:p>
            <a:endParaRPr lang="en-US"/>
          </a:p>
        </p:txBody>
      </p:sp>
      <p:pic>
        <p:nvPicPr>
          <p:cNvPr id="8" name="Image 0" descr="preencoded.png"/>
          <p:cNvPicPr>
            <a:picLocks noChangeAspect="1"/>
          </p:cNvPicPr>
          <p:nvPr/>
        </p:nvPicPr>
        <p:blipFill>
          <a:blip r:embed="rId3"/>
          <a:stretch>
            <a:fillRect/>
          </a:stretch>
        </p:blipFill>
        <p:spPr>
          <a:xfrm>
            <a:off x="502920" y="1024128"/>
            <a:ext cx="256032" cy="256032"/>
          </a:xfrm>
          <a:prstGeom prst="rect">
            <a:avLst/>
          </a:prstGeom>
        </p:spPr>
      </p:pic>
      <p:sp>
        <p:nvSpPr>
          <p:cNvPr id="9" name="Text 6"/>
          <p:cNvSpPr/>
          <p:nvPr/>
        </p:nvSpPr>
        <p:spPr>
          <a:xfrm>
            <a:off x="822960" y="987552"/>
            <a:ext cx="3429000" cy="292608"/>
          </a:xfrm>
          <a:prstGeom prst="rect">
            <a:avLst/>
          </a:prstGeom>
          <a:noFill/>
          <a:ln/>
        </p:spPr>
        <p:txBody>
          <a:bodyPr wrap="square" lIns="0" tIns="0" rIns="0" bIns="0" rtlCol="0" anchor="ctr"/>
          <a:lstStyle/>
          <a:p>
            <a:pPr marL="0" indent="0">
              <a:buNone/>
            </a:pPr>
            <a:r>
              <a:rPr lang="en-US" sz="1200" b="1" dirty="0">
                <a:solidFill>
                  <a:srgbClr val="2563EB"/>
                </a:solidFill>
                <a:latin typeface="Georgia" pitchFamily="34" charset="0"/>
                <a:ea typeface="Georgia" pitchFamily="34" charset="-122"/>
                <a:cs typeface="Georgia" pitchFamily="34" charset="-120"/>
              </a:rPr>
              <a:t>Apache Spark — Window Functions</a:t>
            </a:r>
            <a:endParaRPr lang="en-US" sz="1200" dirty="0"/>
          </a:p>
        </p:txBody>
      </p:sp>
      <p:sp>
        <p:nvSpPr>
          <p:cNvPr id="10" name="Text 7"/>
          <p:cNvSpPr/>
          <p:nvPr/>
        </p:nvSpPr>
        <p:spPr>
          <a:xfrm>
            <a:off x="502920" y="1325880"/>
            <a:ext cx="3749040" cy="1508760"/>
          </a:xfrm>
          <a:prstGeom prst="rect">
            <a:avLst/>
          </a:prstGeom>
          <a:noFill/>
          <a:ln/>
        </p:spPr>
        <p:txBody>
          <a:bodyPr wrap="square" rtlCol="0" anchor="t"/>
          <a:lstStyle/>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Computes values across related rows:</a:t>
            </a:r>
            <a:endParaRPr lang="en-US" sz="950" dirty="0"/>
          </a:p>
          <a:p>
            <a:pPr marL="0" indent="0">
              <a:lnSpc>
                <a:spcPct val="125000"/>
              </a:lnSpc>
              <a:buNone/>
            </a:pP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AVG(position) OVER (</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  PARTITION BY driver_id</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  ORDER BY season, round</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  ROWS BETWEEN 4 PRECEDING AND CURRENT ROW</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a:t>
            </a:r>
            <a:endParaRPr lang="en-US" sz="950" dirty="0"/>
          </a:p>
          <a:p>
            <a:pPr marL="0" indent="0">
              <a:lnSpc>
                <a:spcPct val="125000"/>
              </a:lnSpc>
              <a:buNone/>
            </a:pP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This computes each driver's last 5-race</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average — distributed across 2 workers.</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3,524 records × 30+ window features.</a:t>
            </a:r>
            <a:endParaRPr lang="en-US" sz="950" dirty="0"/>
          </a:p>
        </p:txBody>
      </p:sp>
      <p:sp>
        <p:nvSpPr>
          <p:cNvPr id="11" name="Shape 8"/>
          <p:cNvSpPr/>
          <p:nvPr/>
        </p:nvSpPr>
        <p:spPr>
          <a:xfrm>
            <a:off x="4572000" y="914400"/>
            <a:ext cx="4023360" cy="201168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US"/>
          </a:p>
        </p:txBody>
      </p:sp>
      <p:sp>
        <p:nvSpPr>
          <p:cNvPr id="12" name="Shape 9"/>
          <p:cNvSpPr/>
          <p:nvPr/>
        </p:nvSpPr>
        <p:spPr>
          <a:xfrm>
            <a:off x="4572000" y="914400"/>
            <a:ext cx="54864" cy="2011680"/>
          </a:xfrm>
          <a:prstGeom prst="rect">
            <a:avLst/>
          </a:prstGeom>
          <a:solidFill>
            <a:srgbClr val="059669"/>
          </a:solidFill>
          <a:ln/>
        </p:spPr>
        <p:txBody>
          <a:bodyPr/>
          <a:lstStyle/>
          <a:p>
            <a:endParaRPr lang="en-US"/>
          </a:p>
        </p:txBody>
      </p:sp>
      <p:pic>
        <p:nvPicPr>
          <p:cNvPr id="13" name="Image 1" descr="preencoded.png"/>
          <p:cNvPicPr>
            <a:picLocks noChangeAspect="1"/>
          </p:cNvPicPr>
          <p:nvPr/>
        </p:nvPicPr>
        <p:blipFill>
          <a:blip r:embed="rId4"/>
          <a:stretch>
            <a:fillRect/>
          </a:stretch>
        </p:blipFill>
        <p:spPr>
          <a:xfrm>
            <a:off x="4709160" y="1024128"/>
            <a:ext cx="256032" cy="256032"/>
          </a:xfrm>
          <a:prstGeom prst="rect">
            <a:avLst/>
          </a:prstGeom>
        </p:spPr>
      </p:pic>
      <p:sp>
        <p:nvSpPr>
          <p:cNvPr id="14" name="Text 10"/>
          <p:cNvSpPr/>
          <p:nvPr/>
        </p:nvSpPr>
        <p:spPr>
          <a:xfrm>
            <a:off x="5029200" y="987552"/>
            <a:ext cx="3429000" cy="292608"/>
          </a:xfrm>
          <a:prstGeom prst="rect">
            <a:avLst/>
          </a:prstGeom>
          <a:noFill/>
          <a:ln/>
        </p:spPr>
        <p:txBody>
          <a:bodyPr wrap="square" lIns="0" tIns="0" rIns="0" bIns="0" rtlCol="0" anchor="ctr"/>
          <a:lstStyle/>
          <a:p>
            <a:pPr marL="0" indent="0">
              <a:buNone/>
            </a:pPr>
            <a:r>
              <a:rPr lang="en-US" sz="1200" b="1" dirty="0">
                <a:solidFill>
                  <a:srgbClr val="059669"/>
                </a:solidFill>
                <a:latin typeface="Georgia" pitchFamily="34" charset="0"/>
                <a:ea typeface="Georgia" pitchFamily="34" charset="-122"/>
                <a:cs typeface="Georgia" pitchFamily="34" charset="-120"/>
              </a:rPr>
              <a:t>Apache Airflow — Monday Pipeline</a:t>
            </a:r>
            <a:endParaRPr lang="en-US" sz="1200" dirty="0"/>
          </a:p>
        </p:txBody>
      </p:sp>
      <p:sp>
        <p:nvSpPr>
          <p:cNvPr id="15" name="Text 11"/>
          <p:cNvSpPr/>
          <p:nvPr/>
        </p:nvSpPr>
        <p:spPr>
          <a:xfrm>
            <a:off x="4709160" y="1325880"/>
            <a:ext cx="3749040" cy="1508760"/>
          </a:xfrm>
          <a:prstGeom prst="rect">
            <a:avLst/>
          </a:prstGeom>
          <a:noFill/>
          <a:ln/>
        </p:spPr>
        <p:txBody>
          <a:bodyPr wrap="square" rtlCol="0" anchor="t"/>
          <a:lstStyle/>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5-task DAG runs every Monday 6 AM:</a:t>
            </a:r>
            <a:endParaRPr lang="en-US" sz="950" dirty="0"/>
          </a:p>
          <a:p>
            <a:pPr marL="0" indent="0">
              <a:lnSpc>
                <a:spcPct val="125000"/>
              </a:lnSpc>
              <a:buNone/>
            </a:pP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1. Ingest → pull latest from APIs</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2. Spark Silver → clean on cluster</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3. Spark Gold → features on cluster</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4. Retrain → compare 3 ML models</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5. Agents → 4 AI agents evaluate</a:t>
            </a:r>
            <a:endParaRPr lang="en-US" sz="950" dirty="0"/>
          </a:p>
          <a:p>
            <a:pPr marL="0" indent="0">
              <a:lnSpc>
                <a:spcPct val="125000"/>
              </a:lnSpc>
              <a:buNone/>
            </a:pP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Automatic retry on failure. The Spark</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OOM crash was caught and re-run.</a:t>
            </a:r>
            <a:endParaRPr lang="en-US" sz="950" dirty="0"/>
          </a:p>
        </p:txBody>
      </p:sp>
      <p:sp>
        <p:nvSpPr>
          <p:cNvPr id="16" name="Shape 12"/>
          <p:cNvSpPr/>
          <p:nvPr/>
        </p:nvSpPr>
        <p:spPr>
          <a:xfrm>
            <a:off x="365760" y="3108960"/>
            <a:ext cx="4023360" cy="13716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US"/>
          </a:p>
        </p:txBody>
      </p:sp>
      <p:sp>
        <p:nvSpPr>
          <p:cNvPr id="17" name="Shape 13"/>
          <p:cNvSpPr/>
          <p:nvPr/>
        </p:nvSpPr>
        <p:spPr>
          <a:xfrm>
            <a:off x="365760" y="3108960"/>
            <a:ext cx="54864" cy="1371600"/>
          </a:xfrm>
          <a:prstGeom prst="rect">
            <a:avLst/>
          </a:prstGeom>
          <a:solidFill>
            <a:srgbClr val="D97706"/>
          </a:solidFill>
          <a:ln/>
        </p:spPr>
        <p:txBody>
          <a:bodyPr/>
          <a:lstStyle/>
          <a:p>
            <a:endParaRPr lang="en-US"/>
          </a:p>
        </p:txBody>
      </p:sp>
      <p:pic>
        <p:nvPicPr>
          <p:cNvPr id="18" name="Image 2" descr="preencoded.png"/>
          <p:cNvPicPr>
            <a:picLocks noChangeAspect="1"/>
          </p:cNvPicPr>
          <p:nvPr/>
        </p:nvPicPr>
        <p:blipFill>
          <a:blip r:embed="rId5"/>
          <a:stretch>
            <a:fillRect/>
          </a:stretch>
        </p:blipFill>
        <p:spPr>
          <a:xfrm>
            <a:off x="502920" y="3218688"/>
            <a:ext cx="256032" cy="256032"/>
          </a:xfrm>
          <a:prstGeom prst="rect">
            <a:avLst/>
          </a:prstGeom>
        </p:spPr>
      </p:pic>
      <p:sp>
        <p:nvSpPr>
          <p:cNvPr id="19" name="Text 14"/>
          <p:cNvSpPr/>
          <p:nvPr/>
        </p:nvSpPr>
        <p:spPr>
          <a:xfrm>
            <a:off x="822960" y="3182112"/>
            <a:ext cx="3429000" cy="292608"/>
          </a:xfrm>
          <a:prstGeom prst="rect">
            <a:avLst/>
          </a:prstGeom>
          <a:noFill/>
          <a:ln/>
        </p:spPr>
        <p:txBody>
          <a:bodyPr wrap="square" lIns="0" tIns="0" rIns="0" bIns="0" rtlCol="0" anchor="ctr"/>
          <a:lstStyle/>
          <a:p>
            <a:pPr marL="0" indent="0">
              <a:buNone/>
            </a:pPr>
            <a:r>
              <a:rPr lang="en-US" sz="1200" b="1" dirty="0">
                <a:solidFill>
                  <a:srgbClr val="D97706"/>
                </a:solidFill>
                <a:latin typeface="Georgia" pitchFamily="34" charset="0"/>
                <a:ea typeface="Georgia" pitchFamily="34" charset="-122"/>
                <a:cs typeface="Georgia" pitchFamily="34" charset="-120"/>
              </a:rPr>
              <a:t>Real Bug: Schema Evolution</a:t>
            </a:r>
            <a:endParaRPr lang="en-US" sz="1200" dirty="0"/>
          </a:p>
        </p:txBody>
      </p:sp>
      <p:sp>
        <p:nvSpPr>
          <p:cNvPr id="20" name="Text 15"/>
          <p:cNvSpPr/>
          <p:nvPr/>
        </p:nvSpPr>
        <p:spPr>
          <a:xfrm>
            <a:off x="502920" y="3520440"/>
            <a:ext cx="3749040" cy="868680"/>
          </a:xfrm>
          <a:prstGeom prst="rect">
            <a:avLst/>
          </a:prstGeom>
          <a:noFill/>
          <a:ln/>
        </p:spPr>
        <p:txBody>
          <a:bodyPr wrap="square" rtlCol="0" anchor="t"/>
          <a:lstStyle/>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2018-2024: avg_speed_kph = STRING ("210.5")</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2025: avg_speed_kph = INT (210)</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Spark refused to merge schemas!</a:t>
            </a:r>
            <a:endParaRPr lang="en-US" sz="950" dirty="0"/>
          </a:p>
          <a:p>
            <a:pPr marL="0" indent="0">
              <a:lnSpc>
                <a:spcPct val="125000"/>
              </a:lnSpc>
              <a:buNone/>
            </a:pP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Solution: Cast all columns to StringType</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per file → unionByName → re-cast.</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Standard production pattern.</a:t>
            </a:r>
            <a:endParaRPr lang="en-US" sz="950" dirty="0"/>
          </a:p>
        </p:txBody>
      </p:sp>
      <p:sp>
        <p:nvSpPr>
          <p:cNvPr id="21" name="Shape 16"/>
          <p:cNvSpPr/>
          <p:nvPr/>
        </p:nvSpPr>
        <p:spPr>
          <a:xfrm>
            <a:off x="4572000" y="3108960"/>
            <a:ext cx="4023360" cy="13716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US"/>
          </a:p>
        </p:txBody>
      </p:sp>
      <p:sp>
        <p:nvSpPr>
          <p:cNvPr id="22" name="Shape 17"/>
          <p:cNvSpPr/>
          <p:nvPr/>
        </p:nvSpPr>
        <p:spPr>
          <a:xfrm>
            <a:off x="4572000" y="3108960"/>
            <a:ext cx="54864" cy="1371600"/>
          </a:xfrm>
          <a:prstGeom prst="rect">
            <a:avLst/>
          </a:prstGeom>
          <a:solidFill>
            <a:srgbClr val="7C3AED"/>
          </a:solidFill>
          <a:ln/>
        </p:spPr>
        <p:txBody>
          <a:bodyPr/>
          <a:lstStyle/>
          <a:p>
            <a:endParaRPr lang="en-US"/>
          </a:p>
        </p:txBody>
      </p:sp>
      <p:pic>
        <p:nvPicPr>
          <p:cNvPr id="23" name="Image 3" descr="preencoded.png"/>
          <p:cNvPicPr>
            <a:picLocks noChangeAspect="1"/>
          </p:cNvPicPr>
          <p:nvPr/>
        </p:nvPicPr>
        <p:blipFill>
          <a:blip r:embed="rId5"/>
          <a:stretch>
            <a:fillRect/>
          </a:stretch>
        </p:blipFill>
        <p:spPr>
          <a:xfrm>
            <a:off x="4709160" y="3218688"/>
            <a:ext cx="256032" cy="256032"/>
          </a:xfrm>
          <a:prstGeom prst="rect">
            <a:avLst/>
          </a:prstGeom>
        </p:spPr>
      </p:pic>
      <p:sp>
        <p:nvSpPr>
          <p:cNvPr id="24" name="Text 18"/>
          <p:cNvSpPr/>
          <p:nvPr/>
        </p:nvSpPr>
        <p:spPr>
          <a:xfrm>
            <a:off x="5029200" y="3182112"/>
            <a:ext cx="3429000" cy="292608"/>
          </a:xfrm>
          <a:prstGeom prst="rect">
            <a:avLst/>
          </a:prstGeom>
          <a:noFill/>
          <a:ln/>
        </p:spPr>
        <p:txBody>
          <a:bodyPr wrap="square" lIns="0" tIns="0" rIns="0" bIns="0" rtlCol="0" anchor="ctr"/>
          <a:lstStyle/>
          <a:p>
            <a:pPr marL="0" indent="0">
              <a:buNone/>
            </a:pPr>
            <a:r>
              <a:rPr lang="en-US" sz="1200" b="1" dirty="0">
                <a:solidFill>
                  <a:srgbClr val="7C3AED"/>
                </a:solidFill>
                <a:latin typeface="Georgia" pitchFamily="34" charset="0"/>
                <a:ea typeface="Georgia" pitchFamily="34" charset="-122"/>
                <a:cs typeface="Georgia" pitchFamily="34" charset="-120"/>
              </a:rPr>
              <a:t>Real Bug: Spark OOM (Code 137)</a:t>
            </a:r>
            <a:endParaRPr lang="en-US" sz="1200" dirty="0"/>
          </a:p>
        </p:txBody>
      </p:sp>
      <p:sp>
        <p:nvSpPr>
          <p:cNvPr id="25" name="Text 19"/>
          <p:cNvSpPr/>
          <p:nvPr/>
        </p:nvSpPr>
        <p:spPr>
          <a:xfrm>
            <a:off x="4709160" y="3520440"/>
            <a:ext cx="3749040" cy="868680"/>
          </a:xfrm>
          <a:prstGeom prst="rect">
            <a:avLst/>
          </a:prstGeom>
          <a:noFill/>
          <a:ln/>
        </p:spPr>
        <p:txBody>
          <a:bodyPr wrap="square" rtlCol="0" anchor="t"/>
          <a:lstStyle/>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Workers crashed on 181K laps with 2GB RAM.</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Airflow retry logic automatically re-ran.</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Succeeded on second attempt.</a:t>
            </a:r>
            <a:endParaRPr lang="en-US" sz="950" dirty="0"/>
          </a:p>
          <a:p>
            <a:pPr marL="0" indent="0">
              <a:lnSpc>
                <a:spcPct val="125000"/>
              </a:lnSpc>
              <a:buNone/>
            </a:pP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This is fault tolerance in action — the system</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recovered without human intervention.</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Exactly how production pipelines should work.</a:t>
            </a:r>
            <a:endParaRPr lang="en-US" sz="950" dirty="0"/>
          </a:p>
        </p:txBody>
      </p:sp>
      <p:sp>
        <p:nvSpPr>
          <p:cNvPr id="26" name="Text 20"/>
          <p:cNvSpPr/>
          <p:nvPr/>
        </p:nvSpPr>
        <p:spPr>
          <a:xfrm>
            <a:off x="457200" y="4709160"/>
            <a:ext cx="6400800" cy="365760"/>
          </a:xfrm>
          <a:prstGeom prst="rect">
            <a:avLst/>
          </a:prstGeom>
          <a:noFill/>
          <a:ln/>
        </p:spPr>
        <p:txBody>
          <a:bodyPr wrap="square" rtlCol="0" anchor="ctr"/>
          <a:lstStyle/>
          <a:p>
            <a:pPr marL="0" indent="0">
              <a:buNone/>
            </a:pPr>
            <a:r>
              <a:rPr lang="en-US" sz="900" dirty="0">
                <a:solidFill>
                  <a:srgbClr val="949594"/>
                </a:solidFill>
                <a:latin typeface="Calibri" pitchFamily="34" charset="0"/>
                <a:ea typeface="Calibri" pitchFamily="34" charset="-122"/>
                <a:cs typeface="Calibri" pitchFamily="34" charset="-120"/>
              </a:rPr>
              <a:t>Speaker 2 — Data &amp; ML Models</a:t>
            </a:r>
            <a:endParaRPr lang="en-US" sz="900" dirty="0"/>
          </a:p>
        </p:txBody>
      </p:sp>
      <p:sp>
        <p:nvSpPr>
          <p:cNvPr id="27" name="Text 21"/>
          <p:cNvSpPr/>
          <p:nvPr/>
        </p:nvSpPr>
        <p:spPr>
          <a:xfrm>
            <a:off x="8412480" y="4709160"/>
            <a:ext cx="548640" cy="365760"/>
          </a:xfrm>
          <a:prstGeom prst="rect">
            <a:avLst/>
          </a:prstGeom>
          <a:noFill/>
          <a:ln/>
        </p:spPr>
        <p:txBody>
          <a:bodyPr wrap="square" rtlCol="0" anchor="ctr"/>
          <a:lstStyle/>
          <a:p>
            <a:pPr marL="0" indent="0" algn="r">
              <a:buNone/>
            </a:pPr>
            <a:r>
              <a:rPr lang="en-US" sz="900" dirty="0">
                <a:solidFill>
                  <a:srgbClr val="949594"/>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5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C41E1E"/>
          </a:solidFill>
          <a:ln/>
        </p:spPr>
        <p:txBody>
          <a:bodyPr/>
          <a:lstStyle/>
          <a:p>
            <a:endParaRPr lang="en-US"/>
          </a:p>
        </p:txBody>
      </p:sp>
      <p:sp>
        <p:nvSpPr>
          <p:cNvPr id="3" name="Shape 1"/>
          <p:cNvSpPr/>
          <p:nvPr/>
        </p:nvSpPr>
        <p:spPr>
          <a:xfrm>
            <a:off x="8778240" y="0"/>
            <a:ext cx="137160" cy="5143500"/>
          </a:xfrm>
          <a:prstGeom prst="rect">
            <a:avLst/>
          </a:prstGeom>
          <a:solidFill>
            <a:srgbClr val="C41E1E"/>
          </a:solidFill>
          <a:ln/>
        </p:spPr>
        <p:txBody>
          <a:bodyPr/>
          <a:lstStyle/>
          <a:p>
            <a:endParaRPr lang="en-US"/>
          </a:p>
        </p:txBody>
      </p:sp>
      <p:sp>
        <p:nvSpPr>
          <p:cNvPr id="4" name="Shape 2"/>
          <p:cNvSpPr/>
          <p:nvPr/>
        </p:nvSpPr>
        <p:spPr>
          <a:xfrm>
            <a:off x="8961120" y="0"/>
            <a:ext cx="73152" cy="5143500"/>
          </a:xfrm>
          <a:prstGeom prst="rect">
            <a:avLst/>
          </a:prstGeom>
          <a:solidFill>
            <a:srgbClr val="C41E1E">
              <a:alpha val="40000"/>
            </a:srgbClr>
          </a:solidFill>
          <a:ln/>
        </p:spPr>
        <p:txBody>
          <a:bodyPr/>
          <a:lstStyle/>
          <a:p>
            <a:endParaRPr lang="en-US"/>
          </a:p>
        </p:txBody>
      </p:sp>
      <p:pic>
        <p:nvPicPr>
          <p:cNvPr id="5" name="Image 0" descr="preencoded.png"/>
          <p:cNvPicPr>
            <a:picLocks noChangeAspect="1"/>
          </p:cNvPicPr>
          <p:nvPr/>
        </p:nvPicPr>
        <p:blipFill>
          <a:blip r:embed="rId3"/>
          <a:stretch>
            <a:fillRect/>
          </a:stretch>
        </p:blipFill>
        <p:spPr>
          <a:xfrm>
            <a:off x="365760" y="182880"/>
            <a:ext cx="320040" cy="320040"/>
          </a:xfrm>
          <a:prstGeom prst="rect">
            <a:avLst/>
          </a:prstGeom>
        </p:spPr>
      </p:pic>
      <p:sp>
        <p:nvSpPr>
          <p:cNvPr id="6" name="Text 3"/>
          <p:cNvSpPr/>
          <p:nvPr/>
        </p:nvSpPr>
        <p:spPr>
          <a:xfrm>
            <a:off x="777240" y="182880"/>
            <a:ext cx="7315200" cy="548640"/>
          </a:xfrm>
          <a:prstGeom prst="rect">
            <a:avLst/>
          </a:prstGeom>
          <a:noFill/>
          <a:ln/>
        </p:spPr>
        <p:txBody>
          <a:bodyPr wrap="square" lIns="0" tIns="0" rIns="0" bIns="0" rtlCol="0" anchor="ctr"/>
          <a:lstStyle/>
          <a:p>
            <a:pPr marL="0" indent="0">
              <a:buNone/>
            </a:pPr>
            <a:r>
              <a:rPr lang="en-US" sz="2600" b="1" dirty="0">
                <a:solidFill>
                  <a:srgbClr val="1A1A2E"/>
                </a:solidFill>
                <a:latin typeface="Georgia" pitchFamily="34" charset="0"/>
                <a:ea typeface="Georgia" pitchFamily="34" charset="-122"/>
                <a:cs typeface="Georgia" pitchFamily="34" charset="-120"/>
              </a:rPr>
              <a:t>Phase 2 — Tire &amp; Lap Data Impact</a:t>
            </a:r>
            <a:endParaRPr lang="en-US" sz="2600" dirty="0"/>
          </a:p>
        </p:txBody>
      </p:sp>
      <p:sp>
        <p:nvSpPr>
          <p:cNvPr id="7" name="Shape 4"/>
          <p:cNvSpPr/>
          <p:nvPr/>
        </p:nvSpPr>
        <p:spPr>
          <a:xfrm>
            <a:off x="365760" y="914400"/>
            <a:ext cx="1691640" cy="118872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US"/>
          </a:p>
        </p:txBody>
      </p:sp>
      <p:sp>
        <p:nvSpPr>
          <p:cNvPr id="8" name="Shape 5"/>
          <p:cNvSpPr/>
          <p:nvPr/>
        </p:nvSpPr>
        <p:spPr>
          <a:xfrm>
            <a:off x="365760" y="914400"/>
            <a:ext cx="1691640" cy="54864"/>
          </a:xfrm>
          <a:prstGeom prst="rect">
            <a:avLst/>
          </a:prstGeom>
          <a:solidFill>
            <a:srgbClr val="C41E1E"/>
          </a:solidFill>
          <a:ln/>
        </p:spPr>
        <p:txBody>
          <a:bodyPr/>
          <a:lstStyle/>
          <a:p>
            <a:endParaRPr lang="en-US"/>
          </a:p>
        </p:txBody>
      </p:sp>
      <p:sp>
        <p:nvSpPr>
          <p:cNvPr id="9" name="Text 6"/>
          <p:cNvSpPr/>
          <p:nvPr/>
        </p:nvSpPr>
        <p:spPr>
          <a:xfrm>
            <a:off x="365760" y="1051560"/>
            <a:ext cx="1691640" cy="274320"/>
          </a:xfrm>
          <a:prstGeom prst="rect">
            <a:avLst/>
          </a:prstGeom>
          <a:noFill/>
          <a:ln/>
        </p:spPr>
        <p:txBody>
          <a:bodyPr wrap="square" lIns="0" tIns="0" rIns="0" bIns="0" rtlCol="0" anchor="ctr"/>
          <a:lstStyle/>
          <a:p>
            <a:pPr marL="0" indent="0" algn="ctr">
              <a:buNone/>
            </a:pPr>
            <a:r>
              <a:rPr lang="en-US" sz="1200" b="1" dirty="0">
                <a:solidFill>
                  <a:srgbClr val="C41E1E"/>
                </a:solidFill>
                <a:latin typeface="Georgia" pitchFamily="34" charset="0"/>
                <a:ea typeface="Georgia" pitchFamily="34" charset="-122"/>
                <a:cs typeface="Georgia" pitchFamily="34" charset="-120"/>
              </a:rPr>
              <a:t>SOFT</a:t>
            </a:r>
            <a:endParaRPr lang="en-US" sz="1200" dirty="0"/>
          </a:p>
        </p:txBody>
      </p:sp>
      <p:sp>
        <p:nvSpPr>
          <p:cNvPr id="10" name="Text 7"/>
          <p:cNvSpPr/>
          <p:nvPr/>
        </p:nvSpPr>
        <p:spPr>
          <a:xfrm>
            <a:off x="365760" y="1371600"/>
            <a:ext cx="1691640" cy="594360"/>
          </a:xfrm>
          <a:prstGeom prst="rect">
            <a:avLst/>
          </a:prstGeom>
          <a:noFill/>
          <a:ln/>
        </p:spPr>
        <p:txBody>
          <a:bodyPr wrap="square" lIns="0" tIns="0" rIns="0" bIns="0" rtlCol="0" anchor="ctr"/>
          <a:lstStyle/>
          <a:p>
            <a:pPr marL="0" indent="0" algn="ctr">
              <a:buNone/>
            </a:pPr>
            <a:r>
              <a:rPr lang="en-US" sz="900" dirty="0">
                <a:solidFill>
                  <a:srgbClr val="444444"/>
                </a:solidFill>
                <a:latin typeface="Calibri" pitchFamily="34" charset="0"/>
                <a:ea typeface="Calibri" pitchFamily="34" charset="-122"/>
                <a:cs typeface="Calibri" pitchFamily="34" charset="-120"/>
              </a:rPr>
              <a:t>🔴 Fastest</a:t>
            </a:r>
            <a:endParaRPr lang="en-US" sz="900" dirty="0"/>
          </a:p>
          <a:p>
            <a:pPr marL="0" indent="0" algn="ctr">
              <a:buNone/>
            </a:pPr>
            <a:r>
              <a:rPr lang="en-US" sz="900" dirty="0">
                <a:solidFill>
                  <a:srgbClr val="444444"/>
                </a:solidFill>
                <a:latin typeface="Calibri" pitchFamily="34" charset="0"/>
                <a:ea typeface="Calibri" pitchFamily="34" charset="-122"/>
                <a:cs typeface="Calibri" pitchFamily="34" charset="-120"/>
              </a:rPr>
              <a:t>10-15 laps</a:t>
            </a:r>
            <a:endParaRPr lang="en-US" sz="900" dirty="0"/>
          </a:p>
          <a:p>
            <a:pPr marL="0" indent="0" algn="ctr">
              <a:buNone/>
            </a:pPr>
            <a:r>
              <a:rPr lang="en-US" sz="900" dirty="0">
                <a:solidFill>
                  <a:srgbClr val="444444"/>
                </a:solidFill>
                <a:latin typeface="Calibri" pitchFamily="34" charset="0"/>
                <a:ea typeface="Calibri" pitchFamily="34" charset="-122"/>
                <a:cs typeface="Calibri" pitchFamily="34" charset="-120"/>
              </a:rPr>
              <a:t>High risk</a:t>
            </a:r>
            <a:endParaRPr lang="en-US" sz="900" dirty="0"/>
          </a:p>
        </p:txBody>
      </p:sp>
      <p:sp>
        <p:nvSpPr>
          <p:cNvPr id="11" name="Shape 8"/>
          <p:cNvSpPr/>
          <p:nvPr/>
        </p:nvSpPr>
        <p:spPr>
          <a:xfrm>
            <a:off x="2240280" y="914400"/>
            <a:ext cx="1691640" cy="118872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US"/>
          </a:p>
        </p:txBody>
      </p:sp>
      <p:sp>
        <p:nvSpPr>
          <p:cNvPr id="12" name="Shape 9"/>
          <p:cNvSpPr/>
          <p:nvPr/>
        </p:nvSpPr>
        <p:spPr>
          <a:xfrm>
            <a:off x="2240280" y="914400"/>
            <a:ext cx="1691640" cy="54864"/>
          </a:xfrm>
          <a:prstGeom prst="rect">
            <a:avLst/>
          </a:prstGeom>
          <a:solidFill>
            <a:srgbClr val="D97706"/>
          </a:solidFill>
          <a:ln/>
        </p:spPr>
        <p:txBody>
          <a:bodyPr/>
          <a:lstStyle/>
          <a:p>
            <a:endParaRPr lang="en-US"/>
          </a:p>
        </p:txBody>
      </p:sp>
      <p:sp>
        <p:nvSpPr>
          <p:cNvPr id="13" name="Text 10"/>
          <p:cNvSpPr/>
          <p:nvPr/>
        </p:nvSpPr>
        <p:spPr>
          <a:xfrm>
            <a:off x="2240280" y="1051560"/>
            <a:ext cx="1691640" cy="274320"/>
          </a:xfrm>
          <a:prstGeom prst="rect">
            <a:avLst/>
          </a:prstGeom>
          <a:noFill/>
          <a:ln/>
        </p:spPr>
        <p:txBody>
          <a:bodyPr wrap="square" lIns="0" tIns="0" rIns="0" bIns="0" rtlCol="0" anchor="ctr"/>
          <a:lstStyle/>
          <a:p>
            <a:pPr marL="0" indent="0" algn="ctr">
              <a:buNone/>
            </a:pPr>
            <a:r>
              <a:rPr lang="en-US" sz="1200" b="1" dirty="0">
                <a:solidFill>
                  <a:srgbClr val="D97706"/>
                </a:solidFill>
                <a:latin typeface="Georgia" pitchFamily="34" charset="0"/>
                <a:ea typeface="Georgia" pitchFamily="34" charset="-122"/>
                <a:cs typeface="Georgia" pitchFamily="34" charset="-120"/>
              </a:rPr>
              <a:t>MEDIUM</a:t>
            </a:r>
            <a:endParaRPr lang="en-US" sz="1200" dirty="0"/>
          </a:p>
        </p:txBody>
      </p:sp>
      <p:sp>
        <p:nvSpPr>
          <p:cNvPr id="14" name="Text 11"/>
          <p:cNvSpPr/>
          <p:nvPr/>
        </p:nvSpPr>
        <p:spPr>
          <a:xfrm>
            <a:off x="2240280" y="1371600"/>
            <a:ext cx="1691640" cy="594360"/>
          </a:xfrm>
          <a:prstGeom prst="rect">
            <a:avLst/>
          </a:prstGeom>
          <a:noFill/>
          <a:ln/>
        </p:spPr>
        <p:txBody>
          <a:bodyPr wrap="square" lIns="0" tIns="0" rIns="0" bIns="0" rtlCol="0" anchor="ctr"/>
          <a:lstStyle/>
          <a:p>
            <a:pPr marL="0" indent="0" algn="ctr">
              <a:buNone/>
            </a:pPr>
            <a:r>
              <a:rPr lang="en-US" sz="900" dirty="0">
                <a:solidFill>
                  <a:srgbClr val="444444"/>
                </a:solidFill>
                <a:latin typeface="Calibri" pitchFamily="34" charset="0"/>
                <a:ea typeface="Calibri" pitchFamily="34" charset="-122"/>
                <a:cs typeface="Calibri" pitchFamily="34" charset="-120"/>
              </a:rPr>
              <a:t>🟡 Balanced</a:t>
            </a:r>
            <a:endParaRPr lang="en-US" sz="900" dirty="0"/>
          </a:p>
          <a:p>
            <a:pPr marL="0" indent="0" algn="ctr">
              <a:buNone/>
            </a:pPr>
            <a:r>
              <a:rPr lang="en-US" sz="900" dirty="0">
                <a:solidFill>
                  <a:srgbClr val="444444"/>
                </a:solidFill>
                <a:latin typeface="Calibri" pitchFamily="34" charset="0"/>
                <a:ea typeface="Calibri" pitchFamily="34" charset="-122"/>
                <a:cs typeface="Calibri" pitchFamily="34" charset="-120"/>
              </a:rPr>
              <a:t>20-30 laps</a:t>
            </a:r>
            <a:endParaRPr lang="en-US" sz="900" dirty="0"/>
          </a:p>
          <a:p>
            <a:pPr marL="0" indent="0" algn="ctr">
              <a:buNone/>
            </a:pPr>
            <a:r>
              <a:rPr lang="en-US" sz="900" dirty="0">
                <a:solidFill>
                  <a:srgbClr val="444444"/>
                </a:solidFill>
                <a:latin typeface="Calibri" pitchFamily="34" charset="0"/>
                <a:ea typeface="Calibri" pitchFamily="34" charset="-122"/>
                <a:cs typeface="Calibri" pitchFamily="34" charset="-120"/>
              </a:rPr>
              <a:t>Safe choice</a:t>
            </a:r>
            <a:endParaRPr lang="en-US" sz="900" dirty="0"/>
          </a:p>
        </p:txBody>
      </p:sp>
      <p:sp>
        <p:nvSpPr>
          <p:cNvPr id="15" name="Shape 12"/>
          <p:cNvSpPr/>
          <p:nvPr/>
        </p:nvSpPr>
        <p:spPr>
          <a:xfrm>
            <a:off x="4114800" y="914400"/>
            <a:ext cx="1691640" cy="118872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US"/>
          </a:p>
        </p:txBody>
      </p:sp>
      <p:sp>
        <p:nvSpPr>
          <p:cNvPr id="16" name="Shape 13"/>
          <p:cNvSpPr/>
          <p:nvPr/>
        </p:nvSpPr>
        <p:spPr>
          <a:xfrm>
            <a:off x="4114800" y="914400"/>
            <a:ext cx="1691640" cy="54864"/>
          </a:xfrm>
          <a:prstGeom prst="rect">
            <a:avLst/>
          </a:prstGeom>
          <a:solidFill>
            <a:srgbClr val="888888"/>
          </a:solidFill>
          <a:ln/>
        </p:spPr>
        <p:txBody>
          <a:bodyPr/>
          <a:lstStyle/>
          <a:p>
            <a:endParaRPr lang="en-US"/>
          </a:p>
        </p:txBody>
      </p:sp>
      <p:sp>
        <p:nvSpPr>
          <p:cNvPr id="17" name="Text 14"/>
          <p:cNvSpPr/>
          <p:nvPr/>
        </p:nvSpPr>
        <p:spPr>
          <a:xfrm>
            <a:off x="4114800" y="1051560"/>
            <a:ext cx="1691640" cy="274320"/>
          </a:xfrm>
          <a:prstGeom prst="rect">
            <a:avLst/>
          </a:prstGeom>
          <a:noFill/>
          <a:ln/>
        </p:spPr>
        <p:txBody>
          <a:bodyPr wrap="square" lIns="0" tIns="0" rIns="0" bIns="0" rtlCol="0" anchor="ctr"/>
          <a:lstStyle/>
          <a:p>
            <a:pPr marL="0" indent="0" algn="ctr">
              <a:buNone/>
            </a:pPr>
            <a:r>
              <a:rPr lang="en-US" sz="1200" b="1" dirty="0">
                <a:solidFill>
                  <a:srgbClr val="888888"/>
                </a:solidFill>
                <a:latin typeface="Georgia" pitchFamily="34" charset="0"/>
                <a:ea typeface="Georgia" pitchFamily="34" charset="-122"/>
                <a:cs typeface="Georgia" pitchFamily="34" charset="-120"/>
              </a:rPr>
              <a:t>HARD</a:t>
            </a:r>
            <a:endParaRPr lang="en-US" sz="1200" dirty="0"/>
          </a:p>
        </p:txBody>
      </p:sp>
      <p:sp>
        <p:nvSpPr>
          <p:cNvPr id="18" name="Text 15"/>
          <p:cNvSpPr/>
          <p:nvPr/>
        </p:nvSpPr>
        <p:spPr>
          <a:xfrm>
            <a:off x="4114800" y="1371600"/>
            <a:ext cx="1691640" cy="594360"/>
          </a:xfrm>
          <a:prstGeom prst="rect">
            <a:avLst/>
          </a:prstGeom>
          <a:noFill/>
          <a:ln/>
        </p:spPr>
        <p:txBody>
          <a:bodyPr wrap="square" lIns="0" tIns="0" rIns="0" bIns="0" rtlCol="0" anchor="ctr"/>
          <a:lstStyle/>
          <a:p>
            <a:pPr marL="0" indent="0" algn="ctr">
              <a:buNone/>
            </a:pPr>
            <a:r>
              <a:rPr lang="en-US" sz="900" dirty="0">
                <a:solidFill>
                  <a:srgbClr val="444444"/>
                </a:solidFill>
                <a:latin typeface="Calibri" pitchFamily="34" charset="0"/>
                <a:ea typeface="Calibri" pitchFamily="34" charset="-122"/>
                <a:cs typeface="Calibri" pitchFamily="34" charset="-120"/>
              </a:rPr>
              <a:t>⚪ Durable</a:t>
            </a:r>
            <a:endParaRPr lang="en-US" sz="900" dirty="0"/>
          </a:p>
          <a:p>
            <a:pPr marL="0" indent="0" algn="ctr">
              <a:buNone/>
            </a:pPr>
            <a:r>
              <a:rPr lang="en-US" sz="900" dirty="0">
                <a:solidFill>
                  <a:srgbClr val="444444"/>
                </a:solidFill>
                <a:latin typeface="Calibri" pitchFamily="34" charset="0"/>
                <a:ea typeface="Calibri" pitchFamily="34" charset="-122"/>
                <a:cs typeface="Calibri" pitchFamily="34" charset="-120"/>
              </a:rPr>
              <a:t>30-40 laps</a:t>
            </a:r>
            <a:endParaRPr lang="en-US" sz="900" dirty="0"/>
          </a:p>
          <a:p>
            <a:pPr marL="0" indent="0" algn="ctr">
              <a:buNone/>
            </a:pPr>
            <a:r>
              <a:rPr lang="en-US" sz="900" dirty="0">
                <a:solidFill>
                  <a:srgbClr val="444444"/>
                </a:solidFill>
                <a:latin typeface="Calibri" pitchFamily="34" charset="0"/>
                <a:ea typeface="Calibri" pitchFamily="34" charset="-122"/>
                <a:cs typeface="Calibri" pitchFamily="34" charset="-120"/>
              </a:rPr>
              <a:t>Fewest stops</a:t>
            </a:r>
            <a:endParaRPr lang="en-US" sz="900" dirty="0"/>
          </a:p>
        </p:txBody>
      </p:sp>
      <p:sp>
        <p:nvSpPr>
          <p:cNvPr id="19" name="Shape 16"/>
          <p:cNvSpPr/>
          <p:nvPr/>
        </p:nvSpPr>
        <p:spPr>
          <a:xfrm>
            <a:off x="6035040" y="914400"/>
            <a:ext cx="2651760" cy="1188720"/>
          </a:xfrm>
          <a:prstGeom prst="rect">
            <a:avLst/>
          </a:prstGeom>
          <a:solidFill>
            <a:srgbClr val="FEF9E7"/>
          </a:solidFill>
          <a:ln/>
          <a:effectLst>
            <a:outerShdw blurRad="50800" dist="25400" dir="8100000" algn="bl" rotWithShape="0">
              <a:srgbClr val="000000">
                <a:alpha val="10000"/>
              </a:srgbClr>
            </a:outerShdw>
          </a:effectLst>
        </p:spPr>
        <p:txBody>
          <a:bodyPr/>
          <a:lstStyle/>
          <a:p>
            <a:endParaRPr lang="en-US"/>
          </a:p>
        </p:txBody>
      </p:sp>
      <p:sp>
        <p:nvSpPr>
          <p:cNvPr id="20" name="Text 17"/>
          <p:cNvSpPr/>
          <p:nvPr/>
        </p:nvSpPr>
        <p:spPr>
          <a:xfrm>
            <a:off x="6035040" y="1005840"/>
            <a:ext cx="2651760" cy="457200"/>
          </a:xfrm>
          <a:prstGeom prst="rect">
            <a:avLst/>
          </a:prstGeom>
          <a:noFill/>
          <a:ln/>
        </p:spPr>
        <p:txBody>
          <a:bodyPr wrap="square" lIns="0" tIns="0" rIns="0" bIns="0" rtlCol="0" anchor="ctr"/>
          <a:lstStyle/>
          <a:p>
            <a:pPr marL="0" indent="0" algn="ctr">
              <a:buNone/>
            </a:pPr>
            <a:r>
              <a:rPr lang="en-US" sz="1800" b="1" dirty="0">
                <a:solidFill>
                  <a:srgbClr val="D97706"/>
                </a:solidFill>
                <a:latin typeface="Georgia" pitchFamily="34" charset="0"/>
                <a:ea typeface="Georgia" pitchFamily="34" charset="-122"/>
                <a:cs typeface="Georgia" pitchFamily="34" charset="-120"/>
              </a:rPr>
              <a:t>MAE: 2.74 → 2.10</a:t>
            </a:r>
            <a:endParaRPr lang="en-US" sz="1800" dirty="0"/>
          </a:p>
        </p:txBody>
      </p:sp>
      <p:sp>
        <p:nvSpPr>
          <p:cNvPr id="21" name="Text 18"/>
          <p:cNvSpPr/>
          <p:nvPr/>
        </p:nvSpPr>
        <p:spPr>
          <a:xfrm>
            <a:off x="6035040" y="1463040"/>
            <a:ext cx="2651760" cy="457200"/>
          </a:xfrm>
          <a:prstGeom prst="rect">
            <a:avLst/>
          </a:prstGeom>
          <a:noFill/>
          <a:ln/>
        </p:spPr>
        <p:txBody>
          <a:bodyPr wrap="square" lIns="0" tIns="0" rIns="0" bIns="0" rtlCol="0" anchor="ctr"/>
          <a:lstStyle/>
          <a:p>
            <a:pPr marL="0" indent="0" algn="ctr">
              <a:buNone/>
            </a:pPr>
            <a:r>
              <a:rPr lang="en-US" sz="1000" dirty="0">
                <a:solidFill>
                  <a:srgbClr val="D97706"/>
                </a:solidFill>
                <a:latin typeface="Calibri" pitchFamily="34" charset="0"/>
                <a:ea typeface="Calibri" pitchFamily="34" charset="-122"/>
                <a:cs typeface="Calibri" pitchFamily="34" charset="-120"/>
              </a:rPr>
              <a:t>23% improvement</a:t>
            </a:r>
            <a:endParaRPr lang="en-US" sz="1000" dirty="0"/>
          </a:p>
          <a:p>
            <a:pPr marL="0" indent="0" algn="ctr">
              <a:buNone/>
            </a:pPr>
            <a:r>
              <a:rPr lang="en-US" sz="1000" dirty="0">
                <a:solidFill>
                  <a:srgbClr val="D97706"/>
                </a:solidFill>
                <a:latin typeface="Calibri" pitchFamily="34" charset="0"/>
                <a:ea typeface="Calibri" pitchFamily="34" charset="-122"/>
                <a:cs typeface="Calibri" pitchFamily="34" charset="-120"/>
              </a:rPr>
              <a:t>Positions off: ~3 → ~2</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2331720"/>
          <a:ext cx="8321040" cy="914400"/>
        </p:xfrm>
        <a:graphic>
          <a:graphicData uri="http://schemas.openxmlformats.org/drawingml/2006/table">
            <a:tbl>
              <a:tblPr/>
              <a:tblGrid>
                <a:gridCol w="22860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tblGrid>
              <a:tr h="256032">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Feature</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D97706"/>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What It Measures</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D97706"/>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Source</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D97706"/>
                    </a:solidFill>
                  </a:tcPr>
                </a:tc>
                <a:extLst>
                  <a:ext uri="{0D108BD9-81ED-4DB2-BD59-A6C34878D82A}">
                    <a16:rowId xmlns:a16="http://schemas.microsoft.com/office/drawing/2014/main" val="10000"/>
                  </a:ext>
                </a:extLst>
              </a:tr>
              <a:tr h="256032">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avg_tire_deg_slope</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Seconds lost per lap as tires wear</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7,996 tire models</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1"/>
                  </a:ext>
                </a:extLst>
              </a:tr>
              <a:tr h="256032">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soft_deg_slope</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Degradation specifically on soft compound</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Soft tire stints</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2"/>
                  </a:ext>
                </a:extLst>
              </a:tr>
              <a:tr h="256032">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driver_avg_deg_5</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Rolling avg degradation over 5 races</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Spark Window</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3"/>
                  </a:ext>
                </a:extLst>
              </a:tr>
              <a:tr h="256032">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lap_consistency</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Std deviation of lap times per race</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181K individual laps</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4"/>
                  </a:ext>
                </a:extLst>
              </a:tr>
              <a:tr h="256032">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num_stints</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Number of tire changes during race</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Pit stop + compound data</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23" name="Shape 19"/>
          <p:cNvSpPr/>
          <p:nvPr/>
        </p:nvSpPr>
        <p:spPr>
          <a:xfrm>
            <a:off x="365760" y="4023360"/>
            <a:ext cx="8321040" cy="594360"/>
          </a:xfrm>
          <a:prstGeom prst="rect">
            <a:avLst/>
          </a:prstGeom>
          <a:solidFill>
            <a:srgbClr val="FEF9E7"/>
          </a:solidFill>
          <a:ln/>
          <a:effectLst>
            <a:outerShdw blurRad="50800" dist="25400" dir="8100000" algn="bl" rotWithShape="0">
              <a:srgbClr val="000000">
                <a:alpha val="10000"/>
              </a:srgbClr>
            </a:outerShdw>
          </a:effectLst>
        </p:spPr>
        <p:txBody>
          <a:bodyPr/>
          <a:lstStyle/>
          <a:p>
            <a:endParaRPr lang="en-US"/>
          </a:p>
        </p:txBody>
      </p:sp>
      <p:sp>
        <p:nvSpPr>
          <p:cNvPr id="24" name="Text 20"/>
          <p:cNvSpPr/>
          <p:nvPr/>
        </p:nvSpPr>
        <p:spPr>
          <a:xfrm>
            <a:off x="548640" y="4069080"/>
            <a:ext cx="8046720" cy="457200"/>
          </a:xfrm>
          <a:prstGeom prst="rect">
            <a:avLst/>
          </a:prstGeom>
          <a:noFill/>
          <a:ln/>
        </p:spPr>
        <p:txBody>
          <a:bodyPr wrap="square" lIns="0" tIns="0" rIns="0" bIns="0" rtlCol="0" anchor="ctr"/>
          <a:lstStyle/>
          <a:p>
            <a:pPr marL="0" indent="0">
              <a:buNone/>
            </a:pPr>
            <a:r>
              <a:rPr lang="en-US" sz="1000" dirty="0">
                <a:solidFill>
                  <a:srgbClr val="D97706"/>
                </a:solidFill>
                <a:latin typeface="Calibri" pitchFamily="34" charset="0"/>
                <a:ea typeface="Calibri" pitchFamily="34" charset="-122"/>
                <a:cs typeface="Calibri" pitchFamily="34" charset="-120"/>
              </a:rPr>
              <a:t>Key Insight: Knowing how a driver manages their tires tells us more about where they'll finish than qualifying time alone. Tire management is the hidden skill that separates good drivers from great ones.</a:t>
            </a:r>
            <a:endParaRPr lang="en-US" sz="1000" dirty="0"/>
          </a:p>
        </p:txBody>
      </p:sp>
      <p:sp>
        <p:nvSpPr>
          <p:cNvPr id="25" name="Text 21"/>
          <p:cNvSpPr/>
          <p:nvPr/>
        </p:nvSpPr>
        <p:spPr>
          <a:xfrm>
            <a:off x="457200" y="4709160"/>
            <a:ext cx="6400800" cy="365760"/>
          </a:xfrm>
          <a:prstGeom prst="rect">
            <a:avLst/>
          </a:prstGeom>
          <a:noFill/>
          <a:ln/>
        </p:spPr>
        <p:txBody>
          <a:bodyPr wrap="square" rtlCol="0" anchor="ctr"/>
          <a:lstStyle/>
          <a:p>
            <a:pPr marL="0" indent="0">
              <a:buNone/>
            </a:pPr>
            <a:r>
              <a:rPr lang="en-US" sz="900" dirty="0">
                <a:solidFill>
                  <a:srgbClr val="949594"/>
                </a:solidFill>
                <a:latin typeface="Calibri" pitchFamily="34" charset="0"/>
                <a:ea typeface="Calibri" pitchFamily="34" charset="-122"/>
                <a:cs typeface="Calibri" pitchFamily="34" charset="-120"/>
              </a:rPr>
              <a:t>Speaker 2 — Data &amp; ML Models</a:t>
            </a:r>
            <a:endParaRPr lang="en-US" sz="900" dirty="0"/>
          </a:p>
        </p:txBody>
      </p:sp>
      <p:sp>
        <p:nvSpPr>
          <p:cNvPr id="26" name="Text 22"/>
          <p:cNvSpPr/>
          <p:nvPr/>
        </p:nvSpPr>
        <p:spPr>
          <a:xfrm>
            <a:off x="8412480" y="4709160"/>
            <a:ext cx="548640" cy="365760"/>
          </a:xfrm>
          <a:prstGeom prst="rect">
            <a:avLst/>
          </a:prstGeom>
          <a:noFill/>
          <a:ln/>
        </p:spPr>
        <p:txBody>
          <a:bodyPr wrap="square" rtlCol="0" anchor="ctr"/>
          <a:lstStyle/>
          <a:p>
            <a:pPr marL="0" indent="0" algn="r">
              <a:buNone/>
            </a:pPr>
            <a:r>
              <a:rPr lang="en-US" sz="900" dirty="0">
                <a:solidFill>
                  <a:srgbClr val="949594"/>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5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C41E1E"/>
          </a:solidFill>
          <a:ln/>
        </p:spPr>
        <p:txBody>
          <a:bodyPr/>
          <a:lstStyle/>
          <a:p>
            <a:endParaRPr lang="en-US"/>
          </a:p>
        </p:txBody>
      </p:sp>
      <p:sp>
        <p:nvSpPr>
          <p:cNvPr id="3" name="Shape 1"/>
          <p:cNvSpPr/>
          <p:nvPr/>
        </p:nvSpPr>
        <p:spPr>
          <a:xfrm>
            <a:off x="8778240" y="0"/>
            <a:ext cx="137160" cy="5143500"/>
          </a:xfrm>
          <a:prstGeom prst="rect">
            <a:avLst/>
          </a:prstGeom>
          <a:solidFill>
            <a:srgbClr val="C41E1E"/>
          </a:solidFill>
          <a:ln/>
        </p:spPr>
        <p:txBody>
          <a:bodyPr/>
          <a:lstStyle/>
          <a:p>
            <a:endParaRPr lang="en-US"/>
          </a:p>
        </p:txBody>
      </p:sp>
      <p:sp>
        <p:nvSpPr>
          <p:cNvPr id="4" name="Shape 2"/>
          <p:cNvSpPr/>
          <p:nvPr/>
        </p:nvSpPr>
        <p:spPr>
          <a:xfrm>
            <a:off x="8961120" y="0"/>
            <a:ext cx="73152" cy="5143500"/>
          </a:xfrm>
          <a:prstGeom prst="rect">
            <a:avLst/>
          </a:prstGeom>
          <a:solidFill>
            <a:srgbClr val="C41E1E">
              <a:alpha val="40000"/>
            </a:srgbClr>
          </a:solidFill>
          <a:ln/>
        </p:spPr>
        <p:txBody>
          <a:bodyPr/>
          <a:lstStyle/>
          <a:p>
            <a:endParaRPr lang="en-US"/>
          </a:p>
        </p:txBody>
      </p:sp>
      <p:pic>
        <p:nvPicPr>
          <p:cNvPr id="5" name="Image 0" descr="preencoded.png"/>
          <p:cNvPicPr>
            <a:picLocks noChangeAspect="1"/>
          </p:cNvPicPr>
          <p:nvPr/>
        </p:nvPicPr>
        <p:blipFill>
          <a:blip r:embed="rId3"/>
          <a:stretch>
            <a:fillRect/>
          </a:stretch>
        </p:blipFill>
        <p:spPr>
          <a:xfrm>
            <a:off x="365760" y="182880"/>
            <a:ext cx="320040" cy="320040"/>
          </a:xfrm>
          <a:prstGeom prst="rect">
            <a:avLst/>
          </a:prstGeom>
        </p:spPr>
      </p:pic>
      <p:sp>
        <p:nvSpPr>
          <p:cNvPr id="6" name="Text 3"/>
          <p:cNvSpPr/>
          <p:nvPr/>
        </p:nvSpPr>
        <p:spPr>
          <a:xfrm>
            <a:off x="777240" y="182880"/>
            <a:ext cx="7315200" cy="548640"/>
          </a:xfrm>
          <a:prstGeom prst="rect">
            <a:avLst/>
          </a:prstGeom>
          <a:noFill/>
          <a:ln/>
        </p:spPr>
        <p:txBody>
          <a:bodyPr wrap="square" lIns="0" tIns="0" rIns="0" bIns="0" rtlCol="0" anchor="ctr"/>
          <a:lstStyle/>
          <a:p>
            <a:pPr marL="0" indent="0">
              <a:buNone/>
            </a:pPr>
            <a:r>
              <a:rPr lang="en-US" sz="2800" b="1" dirty="0">
                <a:solidFill>
                  <a:srgbClr val="1A1A2E"/>
                </a:solidFill>
                <a:latin typeface="Georgia" pitchFamily="34" charset="0"/>
                <a:ea typeface="Georgia" pitchFamily="34" charset="-122"/>
                <a:cs typeface="Georgia" pitchFamily="34" charset="-120"/>
              </a:rPr>
              <a:t>Phase 3 — Weather Impact</a:t>
            </a:r>
            <a:endParaRPr lang="en-US" sz="2800" dirty="0"/>
          </a:p>
        </p:txBody>
      </p:sp>
      <p:sp>
        <p:nvSpPr>
          <p:cNvPr id="7" name="Text 4"/>
          <p:cNvSpPr/>
          <p:nvPr/>
        </p:nvSpPr>
        <p:spPr>
          <a:xfrm>
            <a:off x="777240" y="685800"/>
            <a:ext cx="7315200" cy="228600"/>
          </a:xfrm>
          <a:prstGeom prst="rect">
            <a:avLst/>
          </a:prstGeom>
          <a:noFill/>
          <a:ln/>
        </p:spPr>
        <p:txBody>
          <a:bodyPr wrap="square" lIns="0" tIns="0" rIns="0" bIns="0" rtlCol="0" anchor="ctr"/>
          <a:lstStyle/>
          <a:p>
            <a:pPr marL="0" indent="0">
              <a:buNone/>
            </a:pPr>
            <a:r>
              <a:rPr lang="en-US" sz="1100" i="1" dirty="0">
                <a:solidFill>
                  <a:srgbClr val="2563EB"/>
                </a:solidFill>
                <a:latin typeface="Calibri" pitchFamily="34" charset="0"/>
                <a:ea typeface="Calibri" pitchFamily="34" charset="-122"/>
                <a:cs typeface="Calibri" pitchFamily="34" charset="-120"/>
              </a:rPr>
              <a:t>Rain is the great equalizer — the one factor that makes F1 truly unpredictable</a:t>
            </a:r>
            <a:endParaRPr lang="en-US" sz="1100" dirty="0"/>
          </a:p>
        </p:txBody>
      </p:sp>
      <p:sp>
        <p:nvSpPr>
          <p:cNvPr id="8" name="Shape 5"/>
          <p:cNvSpPr/>
          <p:nvPr/>
        </p:nvSpPr>
        <p:spPr>
          <a:xfrm>
            <a:off x="365760" y="1051560"/>
            <a:ext cx="1920240" cy="914400"/>
          </a:xfrm>
          <a:prstGeom prst="rect">
            <a:avLst/>
          </a:prstGeom>
          <a:solidFill>
            <a:srgbClr val="E8F0FE"/>
          </a:solidFill>
          <a:ln/>
          <a:effectLst>
            <a:outerShdw blurRad="50800" dist="25400" dir="8100000" algn="bl" rotWithShape="0">
              <a:srgbClr val="000000">
                <a:alpha val="10000"/>
              </a:srgbClr>
            </a:outerShdw>
          </a:effectLst>
        </p:spPr>
        <p:txBody>
          <a:bodyPr/>
          <a:lstStyle/>
          <a:p>
            <a:endParaRPr lang="en-US"/>
          </a:p>
        </p:txBody>
      </p:sp>
      <p:sp>
        <p:nvSpPr>
          <p:cNvPr id="9" name="Text 6"/>
          <p:cNvSpPr/>
          <p:nvPr/>
        </p:nvSpPr>
        <p:spPr>
          <a:xfrm>
            <a:off x="365760" y="1143000"/>
            <a:ext cx="1920240" cy="457200"/>
          </a:xfrm>
          <a:prstGeom prst="rect">
            <a:avLst/>
          </a:prstGeom>
          <a:noFill/>
          <a:ln/>
        </p:spPr>
        <p:txBody>
          <a:bodyPr wrap="square" lIns="0" tIns="0" rIns="0" bIns="0" rtlCol="0" anchor="ctr"/>
          <a:lstStyle/>
          <a:p>
            <a:pPr marL="0" indent="0" algn="ctr">
              <a:buNone/>
            </a:pPr>
            <a:r>
              <a:rPr lang="en-US" sz="2800" b="1" dirty="0">
                <a:solidFill>
                  <a:srgbClr val="2563EB"/>
                </a:solidFill>
                <a:latin typeface="Georgia" pitchFamily="34" charset="0"/>
                <a:ea typeface="Georgia" pitchFamily="34" charset="-122"/>
                <a:cs typeface="Georgia" pitchFamily="34" charset="-120"/>
              </a:rPr>
              <a:t>24,435</a:t>
            </a:r>
            <a:endParaRPr lang="en-US" sz="2800" dirty="0"/>
          </a:p>
        </p:txBody>
      </p:sp>
      <p:sp>
        <p:nvSpPr>
          <p:cNvPr id="10" name="Text 7"/>
          <p:cNvSpPr/>
          <p:nvPr/>
        </p:nvSpPr>
        <p:spPr>
          <a:xfrm>
            <a:off x="365760" y="1508760"/>
            <a:ext cx="1920240" cy="274320"/>
          </a:xfrm>
          <a:prstGeom prst="rect">
            <a:avLst/>
          </a:prstGeom>
          <a:noFill/>
          <a:ln/>
        </p:spPr>
        <p:txBody>
          <a:bodyPr wrap="square" lIns="0" tIns="0" rIns="0" bIns="0" rtlCol="0" anchor="ctr"/>
          <a:lstStyle/>
          <a:p>
            <a:pPr marL="0" indent="0" algn="ctr">
              <a:buNone/>
            </a:pPr>
            <a:r>
              <a:rPr lang="en-US" sz="1000" dirty="0">
                <a:solidFill>
                  <a:srgbClr val="2563EB"/>
                </a:solidFill>
                <a:latin typeface="Calibri" pitchFamily="34" charset="0"/>
                <a:ea typeface="Calibri" pitchFamily="34" charset="-122"/>
                <a:cs typeface="Calibri" pitchFamily="34" charset="-120"/>
              </a:rPr>
              <a:t>Weather Records</a:t>
            </a:r>
            <a:endParaRPr lang="en-US" sz="1000" dirty="0"/>
          </a:p>
        </p:txBody>
      </p:sp>
      <p:sp>
        <p:nvSpPr>
          <p:cNvPr id="11" name="Text 8"/>
          <p:cNvSpPr/>
          <p:nvPr/>
        </p:nvSpPr>
        <p:spPr>
          <a:xfrm>
            <a:off x="365760" y="1783080"/>
            <a:ext cx="1920240" cy="274320"/>
          </a:xfrm>
          <a:prstGeom prst="rect">
            <a:avLst/>
          </a:prstGeom>
          <a:noFill/>
          <a:ln/>
        </p:spPr>
        <p:txBody>
          <a:bodyPr wrap="square" lIns="0" tIns="0" rIns="0" bIns="0" rtlCol="0" anchor="ctr"/>
          <a:lstStyle/>
          <a:p>
            <a:pPr marL="0" indent="0" algn="ctr">
              <a:buNone/>
            </a:pPr>
            <a:r>
              <a:rPr lang="en-US" sz="800" dirty="0">
                <a:solidFill>
                  <a:srgbClr val="949594"/>
                </a:solidFill>
                <a:latin typeface="Calibri" pitchFamily="34" charset="0"/>
                <a:ea typeface="Calibri" pitchFamily="34" charset="-122"/>
                <a:cs typeface="Calibri" pitchFamily="34" charset="-120"/>
              </a:rPr>
              <a:t>166 sessions</a:t>
            </a:r>
            <a:endParaRPr lang="en-US" sz="800" dirty="0"/>
          </a:p>
        </p:txBody>
      </p:sp>
      <p:sp>
        <p:nvSpPr>
          <p:cNvPr id="12" name="Shape 9"/>
          <p:cNvSpPr/>
          <p:nvPr/>
        </p:nvSpPr>
        <p:spPr>
          <a:xfrm>
            <a:off x="2468880" y="1051560"/>
            <a:ext cx="1920240" cy="914400"/>
          </a:xfrm>
          <a:prstGeom prst="rect">
            <a:avLst/>
          </a:prstGeom>
          <a:solidFill>
            <a:srgbClr val="E6F4EA"/>
          </a:solidFill>
          <a:ln/>
          <a:effectLst>
            <a:outerShdw blurRad="50800" dist="25400" dir="8100000" algn="bl" rotWithShape="0">
              <a:srgbClr val="000000">
                <a:alpha val="10000"/>
              </a:srgbClr>
            </a:outerShdw>
          </a:effectLst>
        </p:spPr>
        <p:txBody>
          <a:bodyPr/>
          <a:lstStyle/>
          <a:p>
            <a:endParaRPr lang="en-US"/>
          </a:p>
        </p:txBody>
      </p:sp>
      <p:sp>
        <p:nvSpPr>
          <p:cNvPr id="13" name="Text 10"/>
          <p:cNvSpPr/>
          <p:nvPr/>
        </p:nvSpPr>
        <p:spPr>
          <a:xfrm>
            <a:off x="2468880" y="1143000"/>
            <a:ext cx="1920240" cy="457200"/>
          </a:xfrm>
          <a:prstGeom prst="rect">
            <a:avLst/>
          </a:prstGeom>
          <a:noFill/>
          <a:ln/>
        </p:spPr>
        <p:txBody>
          <a:bodyPr wrap="square" lIns="0" tIns="0" rIns="0" bIns="0" rtlCol="0" anchor="ctr"/>
          <a:lstStyle/>
          <a:p>
            <a:pPr marL="0" indent="0" algn="ctr">
              <a:buNone/>
            </a:pPr>
            <a:r>
              <a:rPr lang="en-US" sz="2800" b="1" dirty="0">
                <a:solidFill>
                  <a:srgbClr val="059669"/>
                </a:solidFill>
                <a:latin typeface="Georgia" pitchFamily="34" charset="0"/>
                <a:ea typeface="Georgia" pitchFamily="34" charset="-122"/>
                <a:cs typeface="Georgia" pitchFamily="34" charset="-120"/>
              </a:rPr>
              <a:t>94%</a:t>
            </a:r>
            <a:endParaRPr lang="en-US" sz="2800" dirty="0"/>
          </a:p>
        </p:txBody>
      </p:sp>
      <p:sp>
        <p:nvSpPr>
          <p:cNvPr id="14" name="Text 11"/>
          <p:cNvSpPr/>
          <p:nvPr/>
        </p:nvSpPr>
        <p:spPr>
          <a:xfrm>
            <a:off x="2468880" y="1508760"/>
            <a:ext cx="1920240" cy="274320"/>
          </a:xfrm>
          <a:prstGeom prst="rect">
            <a:avLst/>
          </a:prstGeom>
          <a:noFill/>
          <a:ln/>
        </p:spPr>
        <p:txBody>
          <a:bodyPr wrap="square" lIns="0" tIns="0" rIns="0" bIns="0" rtlCol="0" anchor="ctr"/>
          <a:lstStyle/>
          <a:p>
            <a:pPr marL="0" indent="0" algn="ctr">
              <a:buNone/>
            </a:pPr>
            <a:r>
              <a:rPr lang="en-US" sz="1000" dirty="0">
                <a:solidFill>
                  <a:srgbClr val="059669"/>
                </a:solidFill>
                <a:latin typeface="Calibri" pitchFamily="34" charset="0"/>
                <a:ea typeface="Calibri" pitchFamily="34" charset="-122"/>
                <a:cs typeface="Calibri" pitchFamily="34" charset="-120"/>
              </a:rPr>
              <a:t>Race Coverage</a:t>
            </a:r>
            <a:endParaRPr lang="en-US" sz="1000" dirty="0"/>
          </a:p>
        </p:txBody>
      </p:sp>
      <p:sp>
        <p:nvSpPr>
          <p:cNvPr id="15" name="Text 12"/>
          <p:cNvSpPr/>
          <p:nvPr/>
        </p:nvSpPr>
        <p:spPr>
          <a:xfrm>
            <a:off x="2468880" y="1783080"/>
            <a:ext cx="1920240" cy="274320"/>
          </a:xfrm>
          <a:prstGeom prst="rect">
            <a:avLst/>
          </a:prstGeom>
          <a:noFill/>
          <a:ln/>
        </p:spPr>
        <p:txBody>
          <a:bodyPr wrap="square" lIns="0" tIns="0" rIns="0" bIns="0" rtlCol="0" anchor="ctr"/>
          <a:lstStyle/>
          <a:p>
            <a:pPr marL="0" indent="0" algn="ctr">
              <a:buNone/>
            </a:pPr>
            <a:r>
              <a:rPr lang="en-US" sz="800" dirty="0">
                <a:solidFill>
                  <a:srgbClr val="949594"/>
                </a:solidFill>
                <a:latin typeface="Calibri" pitchFamily="34" charset="0"/>
                <a:ea typeface="Calibri" pitchFamily="34" charset="-122"/>
                <a:cs typeface="Calibri" pitchFamily="34" charset="-120"/>
              </a:rPr>
              <a:t>of all races</a:t>
            </a:r>
            <a:endParaRPr lang="en-US" sz="800" dirty="0"/>
          </a:p>
        </p:txBody>
      </p:sp>
      <p:sp>
        <p:nvSpPr>
          <p:cNvPr id="16" name="Shape 13"/>
          <p:cNvSpPr/>
          <p:nvPr/>
        </p:nvSpPr>
        <p:spPr>
          <a:xfrm>
            <a:off x="4572000" y="1051560"/>
            <a:ext cx="1920240" cy="914400"/>
          </a:xfrm>
          <a:prstGeom prst="rect">
            <a:avLst/>
          </a:prstGeom>
          <a:solidFill>
            <a:srgbClr val="FEF9E7"/>
          </a:solidFill>
          <a:ln/>
          <a:effectLst>
            <a:outerShdw blurRad="50800" dist="25400" dir="8100000" algn="bl" rotWithShape="0">
              <a:srgbClr val="000000">
                <a:alpha val="10000"/>
              </a:srgbClr>
            </a:outerShdw>
          </a:effectLst>
        </p:spPr>
        <p:txBody>
          <a:bodyPr/>
          <a:lstStyle/>
          <a:p>
            <a:endParaRPr lang="en-US"/>
          </a:p>
        </p:txBody>
      </p:sp>
      <p:sp>
        <p:nvSpPr>
          <p:cNvPr id="17" name="Text 14"/>
          <p:cNvSpPr/>
          <p:nvPr/>
        </p:nvSpPr>
        <p:spPr>
          <a:xfrm>
            <a:off x="4572000" y="1143000"/>
            <a:ext cx="1920240" cy="457200"/>
          </a:xfrm>
          <a:prstGeom prst="rect">
            <a:avLst/>
          </a:prstGeom>
          <a:noFill/>
          <a:ln/>
        </p:spPr>
        <p:txBody>
          <a:bodyPr wrap="square" lIns="0" tIns="0" rIns="0" bIns="0" rtlCol="0" anchor="ctr"/>
          <a:lstStyle/>
          <a:p>
            <a:pPr marL="0" indent="0" algn="ctr">
              <a:buNone/>
            </a:pPr>
            <a:r>
              <a:rPr lang="en-US" sz="2800" b="1" dirty="0">
                <a:solidFill>
                  <a:srgbClr val="D97706"/>
                </a:solidFill>
                <a:latin typeface="Georgia" pitchFamily="34" charset="0"/>
                <a:ea typeface="Georgia" pitchFamily="34" charset="-122"/>
                <a:cs typeface="Georgia" pitchFamily="34" charset="-120"/>
              </a:rPr>
              <a:t>~8%</a:t>
            </a:r>
            <a:endParaRPr lang="en-US" sz="2800" dirty="0"/>
          </a:p>
        </p:txBody>
      </p:sp>
      <p:sp>
        <p:nvSpPr>
          <p:cNvPr id="18" name="Text 15"/>
          <p:cNvSpPr/>
          <p:nvPr/>
        </p:nvSpPr>
        <p:spPr>
          <a:xfrm>
            <a:off x="4572000" y="1508760"/>
            <a:ext cx="1920240" cy="274320"/>
          </a:xfrm>
          <a:prstGeom prst="rect">
            <a:avLst/>
          </a:prstGeom>
          <a:noFill/>
          <a:ln/>
        </p:spPr>
        <p:txBody>
          <a:bodyPr wrap="square" lIns="0" tIns="0" rIns="0" bIns="0" rtlCol="0" anchor="ctr"/>
          <a:lstStyle/>
          <a:p>
            <a:pPr marL="0" indent="0" algn="ctr">
              <a:buNone/>
            </a:pPr>
            <a:r>
              <a:rPr lang="en-US" sz="1000" dirty="0">
                <a:solidFill>
                  <a:srgbClr val="D97706"/>
                </a:solidFill>
                <a:latin typeface="Calibri" pitchFamily="34" charset="0"/>
                <a:ea typeface="Calibri" pitchFamily="34" charset="-122"/>
                <a:cs typeface="Calibri" pitchFamily="34" charset="-120"/>
              </a:rPr>
              <a:t>Races With Rain</a:t>
            </a:r>
            <a:endParaRPr lang="en-US" sz="1000" dirty="0"/>
          </a:p>
        </p:txBody>
      </p:sp>
      <p:sp>
        <p:nvSpPr>
          <p:cNvPr id="19" name="Text 16"/>
          <p:cNvSpPr/>
          <p:nvPr/>
        </p:nvSpPr>
        <p:spPr>
          <a:xfrm>
            <a:off x="4572000" y="1783080"/>
            <a:ext cx="1920240" cy="274320"/>
          </a:xfrm>
          <a:prstGeom prst="rect">
            <a:avLst/>
          </a:prstGeom>
          <a:noFill/>
          <a:ln/>
        </p:spPr>
        <p:txBody>
          <a:bodyPr wrap="square" lIns="0" tIns="0" rIns="0" bIns="0" rtlCol="0" anchor="ctr"/>
          <a:lstStyle/>
          <a:p>
            <a:pPr marL="0" indent="0" algn="ctr">
              <a:buNone/>
            </a:pPr>
            <a:r>
              <a:rPr lang="en-US" sz="800" dirty="0">
                <a:solidFill>
                  <a:srgbClr val="949594"/>
                </a:solidFill>
                <a:latin typeface="Calibri" pitchFamily="34" charset="0"/>
                <a:ea typeface="Calibri" pitchFamily="34" charset="-122"/>
                <a:cs typeface="Calibri" pitchFamily="34" charset="-120"/>
              </a:rPr>
              <a:t>rare but impactful</a:t>
            </a:r>
            <a:endParaRPr lang="en-US" sz="800" dirty="0"/>
          </a:p>
        </p:txBody>
      </p:sp>
      <p:sp>
        <p:nvSpPr>
          <p:cNvPr id="20" name="Shape 17"/>
          <p:cNvSpPr/>
          <p:nvPr/>
        </p:nvSpPr>
        <p:spPr>
          <a:xfrm>
            <a:off x="6675120" y="1051560"/>
            <a:ext cx="1920240" cy="914400"/>
          </a:xfrm>
          <a:prstGeom prst="rect">
            <a:avLst/>
          </a:prstGeom>
          <a:solidFill>
            <a:srgbClr val="FDF2F2"/>
          </a:solidFill>
          <a:ln/>
          <a:effectLst>
            <a:outerShdw blurRad="50800" dist="25400" dir="8100000" algn="bl" rotWithShape="0">
              <a:srgbClr val="000000">
                <a:alpha val="10000"/>
              </a:srgbClr>
            </a:outerShdw>
          </a:effectLst>
        </p:spPr>
        <p:txBody>
          <a:bodyPr/>
          <a:lstStyle/>
          <a:p>
            <a:endParaRPr lang="en-US"/>
          </a:p>
        </p:txBody>
      </p:sp>
      <p:sp>
        <p:nvSpPr>
          <p:cNvPr id="21" name="Text 18"/>
          <p:cNvSpPr/>
          <p:nvPr/>
        </p:nvSpPr>
        <p:spPr>
          <a:xfrm>
            <a:off x="6675120" y="1143000"/>
            <a:ext cx="1920240" cy="457200"/>
          </a:xfrm>
          <a:prstGeom prst="rect">
            <a:avLst/>
          </a:prstGeom>
          <a:noFill/>
          <a:ln/>
        </p:spPr>
        <p:txBody>
          <a:bodyPr wrap="square" lIns="0" tIns="0" rIns="0" bIns="0" rtlCol="0" anchor="ctr"/>
          <a:lstStyle/>
          <a:p>
            <a:pPr marL="0" indent="0" algn="ctr">
              <a:buNone/>
            </a:pPr>
            <a:r>
              <a:rPr lang="en-US" sz="2800" b="1" dirty="0">
                <a:solidFill>
                  <a:srgbClr val="C41E1E"/>
                </a:solidFill>
                <a:latin typeface="Georgia" pitchFamily="34" charset="0"/>
                <a:ea typeface="Georgia" pitchFamily="34" charset="-122"/>
                <a:cs typeface="Georgia" pitchFamily="34" charset="-120"/>
              </a:rPr>
              <a:t>+20.4%</a:t>
            </a:r>
            <a:endParaRPr lang="en-US" sz="2800" dirty="0"/>
          </a:p>
        </p:txBody>
      </p:sp>
      <p:sp>
        <p:nvSpPr>
          <p:cNvPr id="22" name="Text 19"/>
          <p:cNvSpPr/>
          <p:nvPr/>
        </p:nvSpPr>
        <p:spPr>
          <a:xfrm>
            <a:off x="6675120" y="1508760"/>
            <a:ext cx="1920240" cy="274320"/>
          </a:xfrm>
          <a:prstGeom prst="rect">
            <a:avLst/>
          </a:prstGeom>
          <a:noFill/>
          <a:ln/>
        </p:spPr>
        <p:txBody>
          <a:bodyPr wrap="square" lIns="0" tIns="0" rIns="0" bIns="0" rtlCol="0" anchor="ctr"/>
          <a:lstStyle/>
          <a:p>
            <a:pPr marL="0" indent="0" algn="ctr">
              <a:buNone/>
            </a:pPr>
            <a:r>
              <a:rPr lang="en-US" sz="1000" dirty="0">
                <a:solidFill>
                  <a:srgbClr val="C41E1E"/>
                </a:solidFill>
                <a:latin typeface="Calibri" pitchFamily="34" charset="0"/>
                <a:ea typeface="Calibri" pitchFamily="34" charset="-122"/>
                <a:cs typeface="Calibri" pitchFamily="34" charset="-120"/>
              </a:rPr>
              <a:t>Winner Gain</a:t>
            </a:r>
            <a:endParaRPr lang="en-US" sz="1000" dirty="0"/>
          </a:p>
        </p:txBody>
      </p:sp>
      <p:sp>
        <p:nvSpPr>
          <p:cNvPr id="23" name="Text 20"/>
          <p:cNvSpPr/>
          <p:nvPr/>
        </p:nvSpPr>
        <p:spPr>
          <a:xfrm>
            <a:off x="6675120" y="1783080"/>
            <a:ext cx="1920240" cy="274320"/>
          </a:xfrm>
          <a:prstGeom prst="rect">
            <a:avLst/>
          </a:prstGeom>
          <a:noFill/>
          <a:ln/>
        </p:spPr>
        <p:txBody>
          <a:bodyPr wrap="square" lIns="0" tIns="0" rIns="0" bIns="0" rtlCol="0" anchor="ctr"/>
          <a:lstStyle/>
          <a:p>
            <a:pPr marL="0" indent="0" algn="ctr">
              <a:buNone/>
            </a:pPr>
            <a:r>
              <a:rPr lang="en-US" sz="800" dirty="0">
                <a:solidFill>
                  <a:srgbClr val="949594"/>
                </a:solidFill>
                <a:latin typeface="Calibri" pitchFamily="34" charset="0"/>
                <a:ea typeface="Calibri" pitchFamily="34" charset="-122"/>
                <a:cs typeface="Calibri" pitchFamily="34" charset="-120"/>
              </a:rPr>
              <a:t>50% → 70.4%</a:t>
            </a:r>
            <a:endParaRPr lang="en-US" sz="8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2194560"/>
          <a:ext cx="7863840" cy="2048256"/>
        </p:xfrm>
        <a:graphic>
          <a:graphicData uri="http://schemas.openxmlformats.org/drawingml/2006/table">
            <a:tbl>
              <a:tblPr/>
              <a:tblGrid>
                <a:gridCol w="201168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tblGrid>
              <a:tr h="256032">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Feature</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2563EB"/>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Description</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2563EB"/>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Why It Matters</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2563EB"/>
                    </a:solidFill>
                  </a:tcPr>
                </a:tc>
                <a:extLst>
                  <a:ext uri="{0D108BD9-81ED-4DB2-BD59-A6C34878D82A}">
                    <a16:rowId xmlns:a16="http://schemas.microsoft.com/office/drawing/2014/main" val="10000"/>
                  </a:ext>
                </a:extLst>
              </a:tr>
              <a:tr h="256032">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 avg_track_temp</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Track surface temperature (°C)</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Hot tracks destroy soft tires 30-50% faster</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1"/>
                  </a:ext>
                </a:extLst>
              </a:tr>
              <a:tr h="256032">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 avg_air_temp</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Ambient air temperature</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Affects engine cooling and aero efficiency</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2"/>
                  </a:ext>
                </a:extLst>
              </a:tr>
              <a:tr h="256032">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 is_hot_race</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Track temp &gt; 40°C (yes/no)</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Signals extreme degradation conditions</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3"/>
                  </a:ext>
                </a:extLst>
              </a:tr>
              <a:tr h="256032">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 is_cold_race</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Track temp &lt; 25°C (yes/no)</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Tires struggle to reach operating temp</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4"/>
                  </a:ext>
                </a:extLst>
              </a:tr>
              <a:tr h="256032">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 had_rain</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Did it rain? (yes/no)</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Rain completely changes race outcomes</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5"/>
                  </a:ext>
                </a:extLst>
              </a:tr>
              <a:tr h="256032">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 max_humidity</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Peak humidity during race</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Leading indicator of incoming rain</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6"/>
                  </a:ext>
                </a:extLst>
              </a:tr>
              <a:tr h="256032">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 temp_variation</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Max minus min temp range</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00" dirty="0">
                          <a:solidFill>
                            <a:srgbClr val="000000"/>
                          </a:solidFill>
                          <a:latin typeface="Calibri" pitchFamily="34" charset="0"/>
                          <a:ea typeface="Calibri" pitchFamily="34" charset="-122"/>
                          <a:cs typeface="Calibri" pitchFamily="34" charset="-120"/>
                        </a:rPr>
                        <a:t>High variation = unpredictable conditions</a:t>
                      </a:r>
                      <a:endParaRPr lang="en-US" sz="90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5" name="Shape 21"/>
          <p:cNvSpPr/>
          <p:nvPr/>
        </p:nvSpPr>
        <p:spPr>
          <a:xfrm>
            <a:off x="365760" y="4251960"/>
            <a:ext cx="8321040" cy="457200"/>
          </a:xfrm>
          <a:prstGeom prst="rect">
            <a:avLst/>
          </a:prstGeom>
          <a:solidFill>
            <a:srgbClr val="E8F0FE"/>
          </a:solidFill>
          <a:ln/>
          <a:effectLst>
            <a:outerShdw blurRad="50800" dist="25400" dir="8100000" algn="bl" rotWithShape="0">
              <a:srgbClr val="000000">
                <a:alpha val="10000"/>
              </a:srgbClr>
            </a:outerShdw>
          </a:effectLst>
        </p:spPr>
        <p:txBody>
          <a:bodyPr/>
          <a:lstStyle/>
          <a:p>
            <a:endParaRPr lang="en-US"/>
          </a:p>
        </p:txBody>
      </p:sp>
      <p:sp>
        <p:nvSpPr>
          <p:cNvPr id="26" name="Text 22"/>
          <p:cNvSpPr/>
          <p:nvPr/>
        </p:nvSpPr>
        <p:spPr>
          <a:xfrm>
            <a:off x="548640" y="4297680"/>
            <a:ext cx="8046720" cy="320040"/>
          </a:xfrm>
          <a:prstGeom prst="rect">
            <a:avLst/>
          </a:prstGeom>
          <a:noFill/>
          <a:ln/>
        </p:spPr>
        <p:txBody>
          <a:bodyPr wrap="square" lIns="0" tIns="0" rIns="0" bIns="0" rtlCol="0" anchor="ctr"/>
          <a:lstStyle/>
          <a:p>
            <a:pPr marL="0" indent="0">
              <a:buNone/>
            </a:pPr>
            <a:r>
              <a:rPr lang="en-US" sz="1100" b="1" dirty="0">
                <a:solidFill>
                  <a:srgbClr val="2563EB"/>
                </a:solidFill>
                <a:latin typeface="Calibri" pitchFamily="34" charset="0"/>
                <a:ea typeface="Calibri" pitchFamily="34" charset="-122"/>
                <a:cs typeface="Calibri" pitchFamily="34" charset="-120"/>
              </a:rPr>
              <a:t>Weather was the SINGLE BIGGEST accuracy improvement — +20.4% in one step. Switching algorithms only added +7.4%.</a:t>
            </a:r>
            <a:endParaRPr lang="en-US" sz="1100" dirty="0"/>
          </a:p>
        </p:txBody>
      </p:sp>
      <p:sp>
        <p:nvSpPr>
          <p:cNvPr id="27" name="Text 23"/>
          <p:cNvSpPr/>
          <p:nvPr/>
        </p:nvSpPr>
        <p:spPr>
          <a:xfrm>
            <a:off x="457200" y="4709160"/>
            <a:ext cx="6400800" cy="365760"/>
          </a:xfrm>
          <a:prstGeom prst="rect">
            <a:avLst/>
          </a:prstGeom>
          <a:noFill/>
          <a:ln/>
        </p:spPr>
        <p:txBody>
          <a:bodyPr wrap="square" rtlCol="0" anchor="ctr"/>
          <a:lstStyle/>
          <a:p>
            <a:pPr marL="0" indent="0">
              <a:buNone/>
            </a:pPr>
            <a:r>
              <a:rPr lang="en-US" sz="900" dirty="0">
                <a:solidFill>
                  <a:srgbClr val="949594"/>
                </a:solidFill>
                <a:latin typeface="Calibri" pitchFamily="34" charset="0"/>
                <a:ea typeface="Calibri" pitchFamily="34" charset="-122"/>
                <a:cs typeface="Calibri" pitchFamily="34" charset="-120"/>
              </a:rPr>
              <a:t>Speaker 2 — Data &amp; ML Models</a:t>
            </a:r>
            <a:endParaRPr lang="en-US" sz="900" dirty="0"/>
          </a:p>
        </p:txBody>
      </p:sp>
      <p:sp>
        <p:nvSpPr>
          <p:cNvPr id="28" name="Text 24"/>
          <p:cNvSpPr/>
          <p:nvPr/>
        </p:nvSpPr>
        <p:spPr>
          <a:xfrm>
            <a:off x="8412480" y="4709160"/>
            <a:ext cx="548640" cy="365760"/>
          </a:xfrm>
          <a:prstGeom prst="rect">
            <a:avLst/>
          </a:prstGeom>
          <a:noFill/>
          <a:ln/>
        </p:spPr>
        <p:txBody>
          <a:bodyPr wrap="square" rtlCol="0" anchor="ctr"/>
          <a:lstStyle/>
          <a:p>
            <a:pPr marL="0" indent="0" algn="r">
              <a:buNone/>
            </a:pPr>
            <a:r>
              <a:rPr lang="en-US" sz="900" dirty="0">
                <a:solidFill>
                  <a:srgbClr val="949594"/>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5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C41E1E"/>
          </a:solidFill>
          <a:ln/>
        </p:spPr>
        <p:txBody>
          <a:bodyPr/>
          <a:lstStyle/>
          <a:p>
            <a:endParaRPr lang="en-US"/>
          </a:p>
        </p:txBody>
      </p:sp>
      <p:sp>
        <p:nvSpPr>
          <p:cNvPr id="3" name="Shape 1"/>
          <p:cNvSpPr/>
          <p:nvPr/>
        </p:nvSpPr>
        <p:spPr>
          <a:xfrm>
            <a:off x="8778240" y="0"/>
            <a:ext cx="137160" cy="5143500"/>
          </a:xfrm>
          <a:prstGeom prst="rect">
            <a:avLst/>
          </a:prstGeom>
          <a:solidFill>
            <a:srgbClr val="C41E1E"/>
          </a:solidFill>
          <a:ln/>
        </p:spPr>
        <p:txBody>
          <a:bodyPr/>
          <a:lstStyle/>
          <a:p>
            <a:endParaRPr lang="en-US"/>
          </a:p>
        </p:txBody>
      </p:sp>
      <p:sp>
        <p:nvSpPr>
          <p:cNvPr id="4" name="Shape 2"/>
          <p:cNvSpPr/>
          <p:nvPr/>
        </p:nvSpPr>
        <p:spPr>
          <a:xfrm>
            <a:off x="8961120" y="0"/>
            <a:ext cx="73152" cy="5143500"/>
          </a:xfrm>
          <a:prstGeom prst="rect">
            <a:avLst/>
          </a:prstGeom>
          <a:solidFill>
            <a:srgbClr val="C41E1E">
              <a:alpha val="40000"/>
            </a:srgbClr>
          </a:solidFill>
          <a:ln/>
        </p:spPr>
        <p:txBody>
          <a:bodyPr/>
          <a:lstStyle/>
          <a:p>
            <a:endParaRPr lang="en-US"/>
          </a:p>
        </p:txBody>
      </p:sp>
      <p:sp>
        <p:nvSpPr>
          <p:cNvPr id="5" name="Text 3"/>
          <p:cNvSpPr/>
          <p:nvPr/>
        </p:nvSpPr>
        <p:spPr>
          <a:xfrm>
            <a:off x="731520" y="182880"/>
            <a:ext cx="7315200" cy="548640"/>
          </a:xfrm>
          <a:prstGeom prst="rect">
            <a:avLst/>
          </a:prstGeom>
          <a:noFill/>
          <a:ln/>
        </p:spPr>
        <p:txBody>
          <a:bodyPr wrap="square" lIns="0" tIns="0" rIns="0" bIns="0" rtlCol="0" anchor="ctr"/>
          <a:lstStyle/>
          <a:p>
            <a:pPr marL="0" indent="0">
              <a:buNone/>
            </a:pPr>
            <a:r>
              <a:rPr lang="en-US" sz="2800" b="1" dirty="0">
                <a:solidFill>
                  <a:srgbClr val="1A1A2E"/>
                </a:solidFill>
                <a:latin typeface="Georgia" pitchFamily="34" charset="0"/>
                <a:ea typeface="Georgia" pitchFamily="34" charset="-122"/>
                <a:cs typeface="Georgia" pitchFamily="34" charset="-120"/>
              </a:rPr>
              <a:t>3 ML Models — How They Work</a:t>
            </a:r>
            <a:endParaRPr lang="en-US" sz="2800" dirty="0"/>
          </a:p>
        </p:txBody>
      </p:sp>
      <p:sp>
        <p:nvSpPr>
          <p:cNvPr id="6" name="Text 4"/>
          <p:cNvSpPr/>
          <p:nvPr/>
        </p:nvSpPr>
        <p:spPr>
          <a:xfrm>
            <a:off x="731520" y="685800"/>
            <a:ext cx="7315200" cy="228600"/>
          </a:xfrm>
          <a:prstGeom prst="rect">
            <a:avLst/>
          </a:prstGeom>
          <a:noFill/>
          <a:ln/>
        </p:spPr>
        <p:txBody>
          <a:bodyPr wrap="square" lIns="0" tIns="0" rIns="0" bIns="0" rtlCol="0" anchor="ctr"/>
          <a:lstStyle/>
          <a:p>
            <a:pPr marL="0" indent="0">
              <a:buNone/>
            </a:pPr>
            <a:r>
              <a:rPr lang="en-US" sz="1100" dirty="0">
                <a:solidFill>
                  <a:srgbClr val="949594"/>
                </a:solidFill>
                <a:latin typeface="Calibri" pitchFamily="34" charset="0"/>
                <a:ea typeface="Calibri" pitchFamily="34" charset="-122"/>
                <a:cs typeface="Calibri" pitchFamily="34" charset="-120"/>
              </a:rPr>
              <a:t>Three strategies for combining decision trees — each with different strengths</a:t>
            </a:r>
            <a:endParaRPr lang="en-US" sz="1100" dirty="0"/>
          </a:p>
        </p:txBody>
      </p:sp>
      <p:sp>
        <p:nvSpPr>
          <p:cNvPr id="7" name="Shape 5"/>
          <p:cNvSpPr/>
          <p:nvPr/>
        </p:nvSpPr>
        <p:spPr>
          <a:xfrm>
            <a:off x="365760" y="1005840"/>
            <a:ext cx="2606040" cy="3474720"/>
          </a:xfrm>
          <a:prstGeom prst="rect">
            <a:avLst/>
          </a:prstGeom>
          <a:solidFill>
            <a:srgbClr val="E8F0FE"/>
          </a:solidFill>
          <a:ln/>
          <a:effectLst>
            <a:outerShdw blurRad="50800" dist="25400" dir="8100000" algn="bl" rotWithShape="0">
              <a:srgbClr val="000000">
                <a:alpha val="10000"/>
              </a:srgbClr>
            </a:outerShdw>
          </a:effectLst>
        </p:spPr>
        <p:txBody>
          <a:bodyPr/>
          <a:lstStyle/>
          <a:p>
            <a:endParaRPr lang="en-US"/>
          </a:p>
        </p:txBody>
      </p:sp>
      <p:sp>
        <p:nvSpPr>
          <p:cNvPr id="8" name="Shape 6"/>
          <p:cNvSpPr/>
          <p:nvPr/>
        </p:nvSpPr>
        <p:spPr>
          <a:xfrm>
            <a:off x="365760" y="1005840"/>
            <a:ext cx="2606040" cy="54864"/>
          </a:xfrm>
          <a:prstGeom prst="rect">
            <a:avLst/>
          </a:prstGeom>
          <a:solidFill>
            <a:srgbClr val="2563EB"/>
          </a:solidFill>
          <a:ln/>
        </p:spPr>
        <p:txBody>
          <a:bodyPr/>
          <a:lstStyle/>
          <a:p>
            <a:endParaRPr lang="en-US"/>
          </a:p>
        </p:txBody>
      </p:sp>
      <p:sp>
        <p:nvSpPr>
          <p:cNvPr id="9" name="Text 7"/>
          <p:cNvSpPr/>
          <p:nvPr/>
        </p:nvSpPr>
        <p:spPr>
          <a:xfrm>
            <a:off x="365760" y="1143000"/>
            <a:ext cx="2606040" cy="320040"/>
          </a:xfrm>
          <a:prstGeom prst="rect">
            <a:avLst/>
          </a:prstGeom>
          <a:noFill/>
          <a:ln/>
        </p:spPr>
        <p:txBody>
          <a:bodyPr wrap="square" lIns="0" tIns="0" rIns="0" bIns="0" rtlCol="0" anchor="ctr"/>
          <a:lstStyle/>
          <a:p>
            <a:pPr marL="0" indent="0" algn="ctr">
              <a:buNone/>
            </a:pPr>
            <a:r>
              <a:rPr lang="en-US" sz="1300" b="1" dirty="0">
                <a:solidFill>
                  <a:srgbClr val="2563EB"/>
                </a:solidFill>
                <a:latin typeface="Georgia" pitchFamily="34" charset="0"/>
                <a:ea typeface="Georgia" pitchFamily="34" charset="-122"/>
                <a:cs typeface="Georgia" pitchFamily="34" charset="-120"/>
              </a:rPr>
              <a:t>🌲 Random Forest</a:t>
            </a:r>
            <a:endParaRPr lang="en-US" sz="1300" dirty="0"/>
          </a:p>
        </p:txBody>
      </p:sp>
      <p:sp>
        <p:nvSpPr>
          <p:cNvPr id="10" name="Text 8"/>
          <p:cNvSpPr/>
          <p:nvPr/>
        </p:nvSpPr>
        <p:spPr>
          <a:xfrm>
            <a:off x="365760" y="1463040"/>
            <a:ext cx="2606040" cy="182880"/>
          </a:xfrm>
          <a:prstGeom prst="rect">
            <a:avLst/>
          </a:prstGeom>
          <a:noFill/>
          <a:ln/>
        </p:spPr>
        <p:txBody>
          <a:bodyPr wrap="square" lIns="0" tIns="0" rIns="0" bIns="0" rtlCol="0" anchor="ctr"/>
          <a:lstStyle/>
          <a:p>
            <a:pPr marL="0" indent="0" algn="ctr">
              <a:buNone/>
            </a:pPr>
            <a:r>
              <a:rPr lang="en-US" sz="750" dirty="0">
                <a:solidFill>
                  <a:srgbClr val="949594"/>
                </a:solidFill>
                <a:latin typeface="Calibri" pitchFamily="34" charset="0"/>
                <a:ea typeface="Calibri" pitchFamily="34" charset="-122"/>
                <a:cs typeface="Calibri" pitchFamily="34" charset="-120"/>
              </a:rPr>
              <a:t>BAGGING — PARALLEL</a:t>
            </a:r>
            <a:endParaRPr lang="en-US" sz="750" dirty="0"/>
          </a:p>
        </p:txBody>
      </p:sp>
      <p:sp>
        <p:nvSpPr>
          <p:cNvPr id="11" name="Text 9"/>
          <p:cNvSpPr/>
          <p:nvPr/>
        </p:nvSpPr>
        <p:spPr>
          <a:xfrm>
            <a:off x="475488" y="1737360"/>
            <a:ext cx="2377440" cy="868680"/>
          </a:xfrm>
          <a:prstGeom prst="rect">
            <a:avLst/>
          </a:prstGeom>
          <a:noFill/>
          <a:ln/>
        </p:spPr>
        <p:txBody>
          <a:bodyPr wrap="square" lIns="0" tIns="0" rIns="0" bIns="0" rtlCol="0" anchor="t"/>
          <a:lstStyle/>
          <a:p>
            <a:pPr marL="0" indent="0">
              <a:buNone/>
            </a:pPr>
            <a:r>
              <a:rPr lang="en-US" sz="850" dirty="0">
                <a:solidFill>
                  <a:srgbClr val="444444"/>
                </a:solidFill>
                <a:latin typeface="Calibri" pitchFamily="34" charset="0"/>
                <a:ea typeface="Calibri" pitchFamily="34" charset="-122"/>
                <a:cs typeface="Calibri" pitchFamily="34" charset="-120"/>
              </a:rPr>
              <a:t>Builds 200 trees independently.</a:t>
            </a:r>
            <a:endParaRPr lang="en-US" sz="850" dirty="0"/>
          </a:p>
          <a:p>
            <a:pPr marL="0" indent="0">
              <a:buNone/>
            </a:pPr>
            <a:r>
              <a:rPr lang="en-US" sz="850" dirty="0">
                <a:solidFill>
                  <a:srgbClr val="444444"/>
                </a:solidFill>
                <a:latin typeface="Calibri" pitchFamily="34" charset="0"/>
                <a:ea typeface="Calibri" pitchFamily="34" charset="-122"/>
                <a:cs typeface="Calibri" pitchFamily="34" charset="-120"/>
              </a:rPr>
              <a:t>Each sees random subset of data</a:t>
            </a:r>
            <a:endParaRPr lang="en-US" sz="850" dirty="0"/>
          </a:p>
          <a:p>
            <a:pPr marL="0" indent="0">
              <a:buNone/>
            </a:pPr>
            <a:r>
              <a:rPr lang="en-US" sz="850" dirty="0">
                <a:solidFill>
                  <a:srgbClr val="444444"/>
                </a:solidFill>
                <a:latin typeface="Calibri" pitchFamily="34" charset="0"/>
                <a:ea typeface="Calibri" pitchFamily="34" charset="-122"/>
                <a:cs typeface="Calibri" pitchFamily="34" charset="-120"/>
              </a:rPr>
              <a:t>and random features. Final answer</a:t>
            </a:r>
            <a:endParaRPr lang="en-US" sz="850" dirty="0"/>
          </a:p>
          <a:p>
            <a:pPr marL="0" indent="0">
              <a:buNone/>
            </a:pPr>
            <a:r>
              <a:rPr lang="en-US" sz="850" dirty="0">
                <a:solidFill>
                  <a:srgbClr val="444444"/>
                </a:solidFill>
                <a:latin typeface="Calibri" pitchFamily="34" charset="0"/>
                <a:ea typeface="Calibri" pitchFamily="34" charset="-122"/>
                <a:cs typeface="Calibri" pitchFamily="34" charset="-120"/>
              </a:rPr>
              <a:t>= average of all 200 trees.</a:t>
            </a:r>
            <a:endParaRPr lang="en-US" sz="850" dirty="0"/>
          </a:p>
        </p:txBody>
      </p:sp>
      <p:sp>
        <p:nvSpPr>
          <p:cNvPr id="12" name="Text 10"/>
          <p:cNvSpPr/>
          <p:nvPr/>
        </p:nvSpPr>
        <p:spPr>
          <a:xfrm>
            <a:off x="475488" y="2651760"/>
            <a:ext cx="2377440" cy="164592"/>
          </a:xfrm>
          <a:prstGeom prst="rect">
            <a:avLst/>
          </a:prstGeom>
          <a:noFill/>
          <a:ln/>
        </p:spPr>
        <p:txBody>
          <a:bodyPr wrap="square" lIns="0" tIns="0" rIns="0" bIns="0" rtlCol="0" anchor="ctr"/>
          <a:lstStyle/>
          <a:p>
            <a:pPr marL="0" indent="0">
              <a:buNone/>
            </a:pPr>
            <a:r>
              <a:rPr lang="en-US" sz="850" b="1" i="1" dirty="0">
                <a:solidFill>
                  <a:srgbClr val="2563EB"/>
                </a:solidFill>
                <a:latin typeface="Calibri" pitchFamily="34" charset="0"/>
                <a:ea typeface="Calibri" pitchFamily="34" charset="-122"/>
                <a:cs typeface="Calibri" pitchFamily="34" charset="-120"/>
              </a:rPr>
              <a:t>F1 Analogy:</a:t>
            </a:r>
            <a:endParaRPr lang="en-US" sz="850" dirty="0"/>
          </a:p>
        </p:txBody>
      </p:sp>
      <p:sp>
        <p:nvSpPr>
          <p:cNvPr id="13" name="Text 11"/>
          <p:cNvSpPr/>
          <p:nvPr/>
        </p:nvSpPr>
        <p:spPr>
          <a:xfrm>
            <a:off x="475488" y="2834640"/>
            <a:ext cx="2377440" cy="640080"/>
          </a:xfrm>
          <a:prstGeom prst="rect">
            <a:avLst/>
          </a:prstGeom>
          <a:noFill/>
          <a:ln/>
        </p:spPr>
        <p:txBody>
          <a:bodyPr wrap="square" lIns="0" tIns="0" rIns="0" bIns="0" rtlCol="0" anchor="t"/>
          <a:lstStyle/>
          <a:p>
            <a:pPr marL="0" indent="0">
              <a:buNone/>
            </a:pPr>
            <a:r>
              <a:rPr lang="en-US" sz="850" i="1" dirty="0">
                <a:solidFill>
                  <a:srgbClr val="666666"/>
                </a:solidFill>
                <a:latin typeface="Calibri" pitchFamily="34" charset="0"/>
                <a:ea typeface="Calibri" pitchFamily="34" charset="-122"/>
                <a:cs typeface="Calibri" pitchFamily="34" charset="-120"/>
              </a:rPr>
              <a:t>Like asking 200 separate F1 analysts</a:t>
            </a:r>
            <a:endParaRPr lang="en-US" sz="850" dirty="0"/>
          </a:p>
          <a:p>
            <a:pPr marL="0" indent="0">
              <a:buNone/>
            </a:pPr>
            <a:r>
              <a:rPr lang="en-US" sz="850" i="1" dirty="0">
                <a:solidFill>
                  <a:srgbClr val="666666"/>
                </a:solidFill>
                <a:latin typeface="Calibri" pitchFamily="34" charset="0"/>
                <a:ea typeface="Calibri" pitchFamily="34" charset="-122"/>
                <a:cs typeface="Calibri" pitchFamily="34" charset="-120"/>
              </a:rPr>
              <a:t>to predict independently, then</a:t>
            </a:r>
            <a:endParaRPr lang="en-US" sz="850" dirty="0"/>
          </a:p>
          <a:p>
            <a:pPr marL="0" indent="0">
              <a:buNone/>
            </a:pPr>
            <a:r>
              <a:rPr lang="en-US" sz="850" i="1" dirty="0">
                <a:solidFill>
                  <a:srgbClr val="666666"/>
                </a:solidFill>
                <a:latin typeface="Calibri" pitchFamily="34" charset="0"/>
                <a:ea typeface="Calibri" pitchFamily="34" charset="-122"/>
                <a:cs typeface="Calibri" pitchFamily="34" charset="-120"/>
              </a:rPr>
              <a:t>averaging. Mistakes cancel out.</a:t>
            </a:r>
            <a:endParaRPr lang="en-US" sz="850" dirty="0"/>
          </a:p>
        </p:txBody>
      </p:sp>
      <p:sp>
        <p:nvSpPr>
          <p:cNvPr id="14" name="Shape 12"/>
          <p:cNvSpPr/>
          <p:nvPr/>
        </p:nvSpPr>
        <p:spPr>
          <a:xfrm>
            <a:off x="475488" y="3566160"/>
            <a:ext cx="2377440" cy="36576"/>
          </a:xfrm>
          <a:prstGeom prst="rect">
            <a:avLst/>
          </a:prstGeom>
          <a:solidFill>
            <a:srgbClr val="2563EB">
              <a:alpha val="50000"/>
            </a:srgbClr>
          </a:solidFill>
          <a:ln/>
        </p:spPr>
        <p:txBody>
          <a:bodyPr/>
          <a:lstStyle/>
          <a:p>
            <a:endParaRPr lang="en-US"/>
          </a:p>
        </p:txBody>
      </p:sp>
      <p:sp>
        <p:nvSpPr>
          <p:cNvPr id="15" name="Text 13"/>
          <p:cNvSpPr/>
          <p:nvPr/>
        </p:nvSpPr>
        <p:spPr>
          <a:xfrm>
            <a:off x="475488" y="3611880"/>
            <a:ext cx="2377440" cy="365760"/>
          </a:xfrm>
          <a:prstGeom prst="rect">
            <a:avLst/>
          </a:prstGeom>
          <a:noFill/>
          <a:ln/>
        </p:spPr>
        <p:txBody>
          <a:bodyPr wrap="square" lIns="0" tIns="0" rIns="0" bIns="0" rtlCol="0" anchor="ctr"/>
          <a:lstStyle/>
          <a:p>
            <a:pPr marL="0" indent="0">
              <a:buNone/>
            </a:pPr>
            <a:r>
              <a:rPr lang="en-US" sz="900" b="1" dirty="0">
                <a:solidFill>
                  <a:srgbClr val="2563EB"/>
                </a:solidFill>
                <a:latin typeface="Calibri" pitchFamily="34" charset="0"/>
                <a:ea typeface="Calibri" pitchFamily="34" charset="-122"/>
                <a:cs typeface="Calibri" pitchFamily="34" charset="-120"/>
              </a:rPr>
              <a:t>Best at: Most consistent,</a:t>
            </a:r>
            <a:endParaRPr lang="en-US" sz="900" dirty="0"/>
          </a:p>
          <a:p>
            <a:pPr marL="0" indent="0">
              <a:buNone/>
            </a:pPr>
            <a:r>
              <a:rPr lang="en-US" sz="900" b="1" dirty="0">
                <a:solidFill>
                  <a:srgbClr val="2563EB"/>
                </a:solidFill>
                <a:latin typeface="Calibri" pitchFamily="34" charset="0"/>
                <a:ea typeface="Calibri" pitchFamily="34" charset="-122"/>
                <a:cs typeface="Calibri" pitchFamily="34" charset="-120"/>
              </a:rPr>
              <a:t>rarely terrible</a:t>
            </a:r>
            <a:endParaRPr lang="en-US" sz="900" dirty="0"/>
          </a:p>
        </p:txBody>
      </p:sp>
      <p:sp>
        <p:nvSpPr>
          <p:cNvPr id="16" name="Shape 14"/>
          <p:cNvSpPr/>
          <p:nvPr/>
        </p:nvSpPr>
        <p:spPr>
          <a:xfrm>
            <a:off x="3154680" y="1005840"/>
            <a:ext cx="2606040" cy="3474720"/>
          </a:xfrm>
          <a:prstGeom prst="rect">
            <a:avLst/>
          </a:prstGeom>
          <a:solidFill>
            <a:srgbClr val="E6F4EA"/>
          </a:solidFill>
          <a:ln/>
          <a:effectLst>
            <a:outerShdw blurRad="50800" dist="25400" dir="8100000" algn="bl" rotWithShape="0">
              <a:srgbClr val="000000">
                <a:alpha val="10000"/>
              </a:srgbClr>
            </a:outerShdw>
          </a:effectLst>
        </p:spPr>
        <p:txBody>
          <a:bodyPr/>
          <a:lstStyle/>
          <a:p>
            <a:endParaRPr lang="en-US"/>
          </a:p>
        </p:txBody>
      </p:sp>
      <p:sp>
        <p:nvSpPr>
          <p:cNvPr id="17" name="Shape 15"/>
          <p:cNvSpPr/>
          <p:nvPr/>
        </p:nvSpPr>
        <p:spPr>
          <a:xfrm>
            <a:off x="3154680" y="1005840"/>
            <a:ext cx="2606040" cy="54864"/>
          </a:xfrm>
          <a:prstGeom prst="rect">
            <a:avLst/>
          </a:prstGeom>
          <a:solidFill>
            <a:srgbClr val="059669"/>
          </a:solidFill>
          <a:ln/>
        </p:spPr>
        <p:txBody>
          <a:bodyPr/>
          <a:lstStyle/>
          <a:p>
            <a:endParaRPr lang="en-US"/>
          </a:p>
        </p:txBody>
      </p:sp>
      <p:sp>
        <p:nvSpPr>
          <p:cNvPr id="18" name="Text 16"/>
          <p:cNvSpPr/>
          <p:nvPr/>
        </p:nvSpPr>
        <p:spPr>
          <a:xfrm>
            <a:off x="3154680" y="1143000"/>
            <a:ext cx="2606040" cy="320040"/>
          </a:xfrm>
          <a:prstGeom prst="rect">
            <a:avLst/>
          </a:prstGeom>
          <a:noFill/>
          <a:ln/>
        </p:spPr>
        <p:txBody>
          <a:bodyPr wrap="square" lIns="0" tIns="0" rIns="0" bIns="0" rtlCol="0" anchor="ctr"/>
          <a:lstStyle/>
          <a:p>
            <a:pPr marL="0" indent="0" algn="ctr">
              <a:buNone/>
            </a:pPr>
            <a:r>
              <a:rPr lang="en-US" sz="1300" b="1" dirty="0">
                <a:solidFill>
                  <a:srgbClr val="059669"/>
                </a:solidFill>
                <a:latin typeface="Georgia" pitchFamily="34" charset="0"/>
                <a:ea typeface="Georgia" pitchFamily="34" charset="-122"/>
                <a:cs typeface="Georgia" pitchFamily="34" charset="-120"/>
              </a:rPr>
              <a:t>🎯 Gradient Boosting</a:t>
            </a:r>
            <a:endParaRPr lang="en-US" sz="1300" dirty="0"/>
          </a:p>
        </p:txBody>
      </p:sp>
      <p:sp>
        <p:nvSpPr>
          <p:cNvPr id="19" name="Text 17"/>
          <p:cNvSpPr/>
          <p:nvPr/>
        </p:nvSpPr>
        <p:spPr>
          <a:xfrm>
            <a:off x="3154680" y="1463040"/>
            <a:ext cx="2606040" cy="182880"/>
          </a:xfrm>
          <a:prstGeom prst="rect">
            <a:avLst/>
          </a:prstGeom>
          <a:noFill/>
          <a:ln/>
        </p:spPr>
        <p:txBody>
          <a:bodyPr wrap="square" lIns="0" tIns="0" rIns="0" bIns="0" rtlCol="0" anchor="ctr"/>
          <a:lstStyle/>
          <a:p>
            <a:pPr marL="0" indent="0" algn="ctr">
              <a:buNone/>
            </a:pPr>
            <a:r>
              <a:rPr lang="en-US" sz="750" dirty="0">
                <a:solidFill>
                  <a:srgbClr val="949594"/>
                </a:solidFill>
                <a:latin typeface="Calibri" pitchFamily="34" charset="0"/>
                <a:ea typeface="Calibri" pitchFamily="34" charset="-122"/>
                <a:cs typeface="Calibri" pitchFamily="34" charset="-120"/>
              </a:rPr>
              <a:t>BOOSTING — SEQUENTIAL</a:t>
            </a:r>
            <a:endParaRPr lang="en-US" sz="750" dirty="0"/>
          </a:p>
        </p:txBody>
      </p:sp>
      <p:sp>
        <p:nvSpPr>
          <p:cNvPr id="20" name="Text 18"/>
          <p:cNvSpPr/>
          <p:nvPr/>
        </p:nvSpPr>
        <p:spPr>
          <a:xfrm>
            <a:off x="3264408" y="1737360"/>
            <a:ext cx="2377440" cy="868680"/>
          </a:xfrm>
          <a:prstGeom prst="rect">
            <a:avLst/>
          </a:prstGeom>
          <a:noFill/>
          <a:ln/>
        </p:spPr>
        <p:txBody>
          <a:bodyPr wrap="square" lIns="0" tIns="0" rIns="0" bIns="0" rtlCol="0" anchor="t"/>
          <a:lstStyle/>
          <a:p>
            <a:pPr marL="0" indent="0">
              <a:buNone/>
            </a:pPr>
            <a:r>
              <a:rPr lang="en-US" sz="850" dirty="0">
                <a:solidFill>
                  <a:srgbClr val="444444"/>
                </a:solidFill>
                <a:latin typeface="Calibri" pitchFamily="34" charset="0"/>
                <a:ea typeface="Calibri" pitchFamily="34" charset="-122"/>
                <a:cs typeface="Calibri" pitchFamily="34" charset="-120"/>
              </a:rPr>
              <a:t>Builds 300 trees one after another.</a:t>
            </a:r>
            <a:endParaRPr lang="en-US" sz="850" dirty="0"/>
          </a:p>
          <a:p>
            <a:pPr marL="0" indent="0">
              <a:buNone/>
            </a:pPr>
            <a:r>
              <a:rPr lang="en-US" sz="850" dirty="0">
                <a:solidFill>
                  <a:srgbClr val="444444"/>
                </a:solidFill>
                <a:latin typeface="Calibri" pitchFamily="34" charset="0"/>
                <a:ea typeface="Calibri" pitchFamily="34" charset="-122"/>
                <a:cs typeface="Calibri" pitchFamily="34" charset="-120"/>
              </a:rPr>
              <a:t>Each new tree targets the specific</a:t>
            </a:r>
            <a:endParaRPr lang="en-US" sz="850" dirty="0"/>
          </a:p>
          <a:p>
            <a:pPr marL="0" indent="0">
              <a:buNone/>
            </a:pPr>
            <a:r>
              <a:rPr lang="en-US" sz="850" dirty="0">
                <a:solidFill>
                  <a:srgbClr val="444444"/>
                </a:solidFill>
                <a:latin typeface="Calibri" pitchFamily="34" charset="0"/>
                <a:ea typeface="Calibri" pitchFamily="34" charset="-122"/>
                <a:cs typeface="Calibri" pitchFamily="34" charset="-120"/>
              </a:rPr>
              <a:t>mistakes of all previous trees.</a:t>
            </a:r>
            <a:endParaRPr lang="en-US" sz="850" dirty="0"/>
          </a:p>
          <a:p>
            <a:pPr marL="0" indent="0">
              <a:buNone/>
            </a:pPr>
            <a:r>
              <a:rPr lang="en-US" sz="850" dirty="0">
                <a:solidFill>
                  <a:srgbClr val="444444"/>
                </a:solidFill>
                <a:latin typeface="Calibri" pitchFamily="34" charset="0"/>
                <a:ea typeface="Calibri" pitchFamily="34" charset="-122"/>
                <a:cs typeface="Calibri" pitchFamily="34" charset="-120"/>
              </a:rPr>
              <a:t>Learning rate = 0.03-0.05.</a:t>
            </a:r>
            <a:endParaRPr lang="en-US" sz="850" dirty="0"/>
          </a:p>
        </p:txBody>
      </p:sp>
      <p:sp>
        <p:nvSpPr>
          <p:cNvPr id="21" name="Text 19"/>
          <p:cNvSpPr/>
          <p:nvPr/>
        </p:nvSpPr>
        <p:spPr>
          <a:xfrm>
            <a:off x="3264408" y="2651760"/>
            <a:ext cx="2377440" cy="164592"/>
          </a:xfrm>
          <a:prstGeom prst="rect">
            <a:avLst/>
          </a:prstGeom>
          <a:noFill/>
          <a:ln/>
        </p:spPr>
        <p:txBody>
          <a:bodyPr wrap="square" lIns="0" tIns="0" rIns="0" bIns="0" rtlCol="0" anchor="ctr"/>
          <a:lstStyle/>
          <a:p>
            <a:pPr marL="0" indent="0">
              <a:buNone/>
            </a:pPr>
            <a:r>
              <a:rPr lang="en-US" sz="850" b="1" i="1" dirty="0">
                <a:solidFill>
                  <a:srgbClr val="059669"/>
                </a:solidFill>
                <a:latin typeface="Calibri" pitchFamily="34" charset="0"/>
                <a:ea typeface="Calibri" pitchFamily="34" charset="-122"/>
                <a:cs typeface="Calibri" pitchFamily="34" charset="-120"/>
              </a:rPr>
              <a:t>F1 Analogy:</a:t>
            </a:r>
            <a:endParaRPr lang="en-US" sz="850" dirty="0"/>
          </a:p>
        </p:txBody>
      </p:sp>
      <p:sp>
        <p:nvSpPr>
          <p:cNvPr id="22" name="Text 20"/>
          <p:cNvSpPr/>
          <p:nvPr/>
        </p:nvSpPr>
        <p:spPr>
          <a:xfrm>
            <a:off x="3264408" y="2834640"/>
            <a:ext cx="2377440" cy="640080"/>
          </a:xfrm>
          <a:prstGeom prst="rect">
            <a:avLst/>
          </a:prstGeom>
          <a:noFill/>
          <a:ln/>
        </p:spPr>
        <p:txBody>
          <a:bodyPr wrap="square" lIns="0" tIns="0" rIns="0" bIns="0" rtlCol="0" anchor="t"/>
          <a:lstStyle/>
          <a:p>
            <a:pPr marL="0" indent="0">
              <a:buNone/>
            </a:pPr>
            <a:r>
              <a:rPr lang="en-US" sz="850" i="1" dirty="0">
                <a:solidFill>
                  <a:srgbClr val="666666"/>
                </a:solidFill>
                <a:latin typeface="Calibri" pitchFamily="34" charset="0"/>
                <a:ea typeface="Calibri" pitchFamily="34" charset="-122"/>
                <a:cs typeface="Calibri" pitchFamily="34" charset="-120"/>
              </a:rPr>
              <a:t>Like F1 post-race debriefs — after</a:t>
            </a:r>
            <a:endParaRPr lang="en-US" sz="850" dirty="0"/>
          </a:p>
          <a:p>
            <a:pPr marL="0" indent="0">
              <a:buNone/>
            </a:pPr>
            <a:r>
              <a:rPr lang="en-US" sz="850" i="1" dirty="0">
                <a:solidFill>
                  <a:srgbClr val="666666"/>
                </a:solidFill>
                <a:latin typeface="Calibri" pitchFamily="34" charset="0"/>
                <a:ea typeface="Calibri" pitchFamily="34" charset="-122"/>
                <a:cs typeface="Calibri" pitchFamily="34" charset="-120"/>
              </a:rPr>
              <a:t>each race, engineers analyze exactly</a:t>
            </a:r>
            <a:endParaRPr lang="en-US" sz="850" dirty="0"/>
          </a:p>
          <a:p>
            <a:pPr marL="0" indent="0">
              <a:buNone/>
            </a:pPr>
            <a:r>
              <a:rPr lang="en-US" sz="850" i="1" dirty="0">
                <a:solidFill>
                  <a:srgbClr val="666666"/>
                </a:solidFill>
                <a:latin typeface="Calibri" pitchFamily="34" charset="0"/>
                <a:ea typeface="Calibri" pitchFamily="34" charset="-122"/>
                <a:cs typeface="Calibri" pitchFamily="34" charset="-120"/>
              </a:rPr>
              <a:t>what went wrong and fix it.</a:t>
            </a:r>
            <a:endParaRPr lang="en-US" sz="850" dirty="0"/>
          </a:p>
        </p:txBody>
      </p:sp>
      <p:sp>
        <p:nvSpPr>
          <p:cNvPr id="23" name="Shape 21"/>
          <p:cNvSpPr/>
          <p:nvPr/>
        </p:nvSpPr>
        <p:spPr>
          <a:xfrm>
            <a:off x="3264408" y="3566160"/>
            <a:ext cx="2377440" cy="36576"/>
          </a:xfrm>
          <a:prstGeom prst="rect">
            <a:avLst/>
          </a:prstGeom>
          <a:solidFill>
            <a:srgbClr val="059669">
              <a:alpha val="50000"/>
            </a:srgbClr>
          </a:solidFill>
          <a:ln/>
        </p:spPr>
        <p:txBody>
          <a:bodyPr/>
          <a:lstStyle/>
          <a:p>
            <a:endParaRPr lang="en-US"/>
          </a:p>
        </p:txBody>
      </p:sp>
      <p:sp>
        <p:nvSpPr>
          <p:cNvPr id="24" name="Text 22"/>
          <p:cNvSpPr/>
          <p:nvPr/>
        </p:nvSpPr>
        <p:spPr>
          <a:xfrm>
            <a:off x="3264408" y="3611880"/>
            <a:ext cx="2377440" cy="365760"/>
          </a:xfrm>
          <a:prstGeom prst="rect">
            <a:avLst/>
          </a:prstGeom>
          <a:noFill/>
          <a:ln/>
        </p:spPr>
        <p:txBody>
          <a:bodyPr wrap="square" lIns="0" tIns="0" rIns="0" bIns="0" rtlCol="0" anchor="ctr"/>
          <a:lstStyle/>
          <a:p>
            <a:pPr marL="0" indent="0">
              <a:buNone/>
            </a:pPr>
            <a:r>
              <a:rPr lang="en-US" sz="900" b="1" dirty="0">
                <a:solidFill>
                  <a:srgbClr val="059669"/>
                </a:solidFill>
                <a:latin typeface="Calibri" pitchFamily="34" charset="0"/>
                <a:ea typeface="Calibri" pitchFamily="34" charset="-122"/>
                <a:cs typeface="Calibri" pitchFamily="34" charset="-120"/>
              </a:rPr>
              <a:t>Best at: Winner: 77.8%</a:t>
            </a:r>
            <a:endParaRPr lang="en-US" sz="900" dirty="0"/>
          </a:p>
          <a:p>
            <a:pPr marL="0" indent="0">
              <a:buNone/>
            </a:pPr>
            <a:r>
              <a:rPr lang="en-US" sz="900" b="1" dirty="0">
                <a:solidFill>
                  <a:srgbClr val="059669"/>
                </a:solidFill>
                <a:latin typeface="Calibri" pitchFamily="34" charset="0"/>
                <a:ea typeface="Calibri" pitchFamily="34" charset="-122"/>
                <a:cs typeface="Calibri" pitchFamily="34" charset="-120"/>
              </a:rPr>
              <a:t>Podium F1: 0.780</a:t>
            </a:r>
            <a:endParaRPr lang="en-US" sz="900" dirty="0"/>
          </a:p>
        </p:txBody>
      </p:sp>
      <p:sp>
        <p:nvSpPr>
          <p:cNvPr id="25" name="Shape 23"/>
          <p:cNvSpPr/>
          <p:nvPr/>
        </p:nvSpPr>
        <p:spPr>
          <a:xfrm>
            <a:off x="5943600" y="1005840"/>
            <a:ext cx="2606040" cy="3474720"/>
          </a:xfrm>
          <a:prstGeom prst="rect">
            <a:avLst/>
          </a:prstGeom>
          <a:solidFill>
            <a:srgbClr val="F3E8FF"/>
          </a:solidFill>
          <a:ln/>
          <a:effectLst>
            <a:outerShdw blurRad="50800" dist="25400" dir="8100000" algn="bl" rotWithShape="0">
              <a:srgbClr val="000000">
                <a:alpha val="10000"/>
              </a:srgbClr>
            </a:outerShdw>
          </a:effectLst>
        </p:spPr>
        <p:txBody>
          <a:bodyPr/>
          <a:lstStyle/>
          <a:p>
            <a:endParaRPr lang="en-US"/>
          </a:p>
        </p:txBody>
      </p:sp>
      <p:sp>
        <p:nvSpPr>
          <p:cNvPr id="26" name="Shape 24"/>
          <p:cNvSpPr/>
          <p:nvPr/>
        </p:nvSpPr>
        <p:spPr>
          <a:xfrm>
            <a:off x="5943600" y="1005840"/>
            <a:ext cx="2606040" cy="54864"/>
          </a:xfrm>
          <a:prstGeom prst="rect">
            <a:avLst/>
          </a:prstGeom>
          <a:solidFill>
            <a:srgbClr val="7C3AED"/>
          </a:solidFill>
          <a:ln/>
        </p:spPr>
        <p:txBody>
          <a:bodyPr/>
          <a:lstStyle/>
          <a:p>
            <a:endParaRPr lang="en-US"/>
          </a:p>
        </p:txBody>
      </p:sp>
      <p:sp>
        <p:nvSpPr>
          <p:cNvPr id="27" name="Text 25"/>
          <p:cNvSpPr/>
          <p:nvPr/>
        </p:nvSpPr>
        <p:spPr>
          <a:xfrm>
            <a:off x="5943600" y="1143000"/>
            <a:ext cx="2606040" cy="320040"/>
          </a:xfrm>
          <a:prstGeom prst="rect">
            <a:avLst/>
          </a:prstGeom>
          <a:noFill/>
          <a:ln/>
        </p:spPr>
        <p:txBody>
          <a:bodyPr wrap="square" lIns="0" tIns="0" rIns="0" bIns="0" rtlCol="0" anchor="ctr"/>
          <a:lstStyle/>
          <a:p>
            <a:pPr marL="0" indent="0" algn="ctr">
              <a:buNone/>
            </a:pPr>
            <a:r>
              <a:rPr lang="en-US" sz="1300" b="1" dirty="0">
                <a:solidFill>
                  <a:srgbClr val="7C3AED"/>
                </a:solidFill>
                <a:latin typeface="Georgia" pitchFamily="34" charset="0"/>
                <a:ea typeface="Georgia" pitchFamily="34" charset="-122"/>
                <a:cs typeface="Georgia" pitchFamily="34" charset="-120"/>
              </a:rPr>
              <a:t>⚡ XGBoost</a:t>
            </a:r>
            <a:endParaRPr lang="en-US" sz="1300" dirty="0"/>
          </a:p>
        </p:txBody>
      </p:sp>
      <p:sp>
        <p:nvSpPr>
          <p:cNvPr id="28" name="Text 26"/>
          <p:cNvSpPr/>
          <p:nvPr/>
        </p:nvSpPr>
        <p:spPr>
          <a:xfrm>
            <a:off x="5943600" y="1463040"/>
            <a:ext cx="2606040" cy="182880"/>
          </a:xfrm>
          <a:prstGeom prst="rect">
            <a:avLst/>
          </a:prstGeom>
          <a:noFill/>
          <a:ln/>
        </p:spPr>
        <p:txBody>
          <a:bodyPr wrap="square" lIns="0" tIns="0" rIns="0" bIns="0" rtlCol="0" anchor="ctr"/>
          <a:lstStyle/>
          <a:p>
            <a:pPr marL="0" indent="0" algn="ctr">
              <a:buNone/>
            </a:pPr>
            <a:r>
              <a:rPr lang="en-US" sz="750" dirty="0">
                <a:solidFill>
                  <a:srgbClr val="949594"/>
                </a:solidFill>
                <a:latin typeface="Calibri" pitchFamily="34" charset="0"/>
                <a:ea typeface="Calibri" pitchFamily="34" charset="-122"/>
                <a:cs typeface="Calibri" pitchFamily="34" charset="-120"/>
              </a:rPr>
              <a:t>ADVANCED BOOSTING</a:t>
            </a:r>
            <a:endParaRPr lang="en-US" sz="750" dirty="0"/>
          </a:p>
        </p:txBody>
      </p:sp>
      <p:sp>
        <p:nvSpPr>
          <p:cNvPr id="29" name="Text 27"/>
          <p:cNvSpPr/>
          <p:nvPr/>
        </p:nvSpPr>
        <p:spPr>
          <a:xfrm>
            <a:off x="6053328" y="1737360"/>
            <a:ext cx="2377440" cy="868680"/>
          </a:xfrm>
          <a:prstGeom prst="rect">
            <a:avLst/>
          </a:prstGeom>
          <a:noFill/>
          <a:ln/>
        </p:spPr>
        <p:txBody>
          <a:bodyPr wrap="square" lIns="0" tIns="0" rIns="0" bIns="0" rtlCol="0" anchor="t"/>
          <a:lstStyle/>
          <a:p>
            <a:pPr marL="0" indent="0">
              <a:buNone/>
            </a:pPr>
            <a:r>
              <a:rPr lang="en-US" sz="850" dirty="0">
                <a:solidFill>
                  <a:srgbClr val="444444"/>
                </a:solidFill>
                <a:latin typeface="Calibri" pitchFamily="34" charset="0"/>
                <a:ea typeface="Calibri" pitchFamily="34" charset="-122"/>
                <a:cs typeface="Calibri" pitchFamily="34" charset="-120"/>
              </a:rPr>
              <a:t>Same sequential approach + L1/L2</a:t>
            </a:r>
            <a:endParaRPr lang="en-US" sz="850" dirty="0"/>
          </a:p>
          <a:p>
            <a:pPr marL="0" indent="0">
              <a:buNone/>
            </a:pPr>
            <a:r>
              <a:rPr lang="en-US" sz="850" dirty="0">
                <a:solidFill>
                  <a:srgbClr val="444444"/>
                </a:solidFill>
                <a:latin typeface="Calibri" pitchFamily="34" charset="0"/>
                <a:ea typeface="Calibri" pitchFamily="34" charset="-122"/>
                <a:cs typeface="Calibri" pitchFamily="34" charset="-120"/>
              </a:rPr>
              <a:t>regularization (penalty for</a:t>
            </a:r>
            <a:endParaRPr lang="en-US" sz="850" dirty="0"/>
          </a:p>
          <a:p>
            <a:pPr marL="0" indent="0">
              <a:buNone/>
            </a:pPr>
            <a:r>
              <a:rPr lang="en-US" sz="850" dirty="0">
                <a:solidFill>
                  <a:srgbClr val="444444"/>
                </a:solidFill>
                <a:latin typeface="Calibri" pitchFamily="34" charset="0"/>
                <a:ea typeface="Calibri" pitchFamily="34" charset="-122"/>
                <a:cs typeface="Calibri" pitchFamily="34" charset="-120"/>
              </a:rPr>
              <a:t>complexity), column subsampling,</a:t>
            </a:r>
            <a:endParaRPr lang="en-US" sz="850" dirty="0"/>
          </a:p>
          <a:p>
            <a:pPr marL="0" indent="0">
              <a:buNone/>
            </a:pPr>
            <a:r>
              <a:rPr lang="en-US" sz="850" dirty="0">
                <a:solidFill>
                  <a:srgbClr val="444444"/>
                </a:solidFill>
                <a:latin typeface="Calibri" pitchFamily="34" charset="0"/>
                <a:ea typeface="Calibri" pitchFamily="34" charset="-122"/>
                <a:cs typeface="Calibri" pitchFamily="34" charset="-120"/>
              </a:rPr>
              <a:t>native missing value handling.</a:t>
            </a:r>
            <a:endParaRPr lang="en-US" sz="850" dirty="0"/>
          </a:p>
        </p:txBody>
      </p:sp>
      <p:sp>
        <p:nvSpPr>
          <p:cNvPr id="30" name="Text 28"/>
          <p:cNvSpPr/>
          <p:nvPr/>
        </p:nvSpPr>
        <p:spPr>
          <a:xfrm>
            <a:off x="6053328" y="2651760"/>
            <a:ext cx="2377440" cy="164592"/>
          </a:xfrm>
          <a:prstGeom prst="rect">
            <a:avLst/>
          </a:prstGeom>
          <a:noFill/>
          <a:ln/>
        </p:spPr>
        <p:txBody>
          <a:bodyPr wrap="square" lIns="0" tIns="0" rIns="0" bIns="0" rtlCol="0" anchor="ctr"/>
          <a:lstStyle/>
          <a:p>
            <a:pPr marL="0" indent="0">
              <a:buNone/>
            </a:pPr>
            <a:r>
              <a:rPr lang="en-US" sz="850" b="1" i="1" dirty="0">
                <a:solidFill>
                  <a:srgbClr val="7C3AED"/>
                </a:solidFill>
                <a:latin typeface="Calibri" pitchFamily="34" charset="0"/>
                <a:ea typeface="Calibri" pitchFamily="34" charset="-122"/>
                <a:cs typeface="Calibri" pitchFamily="34" charset="-120"/>
              </a:rPr>
              <a:t>F1 Analogy:</a:t>
            </a:r>
            <a:endParaRPr lang="en-US" sz="850" dirty="0"/>
          </a:p>
        </p:txBody>
      </p:sp>
      <p:sp>
        <p:nvSpPr>
          <p:cNvPr id="31" name="Text 29"/>
          <p:cNvSpPr/>
          <p:nvPr/>
        </p:nvSpPr>
        <p:spPr>
          <a:xfrm>
            <a:off x="6053328" y="2834640"/>
            <a:ext cx="2377440" cy="640080"/>
          </a:xfrm>
          <a:prstGeom prst="rect">
            <a:avLst/>
          </a:prstGeom>
          <a:noFill/>
          <a:ln/>
        </p:spPr>
        <p:txBody>
          <a:bodyPr wrap="square" lIns="0" tIns="0" rIns="0" bIns="0" rtlCol="0" anchor="t"/>
          <a:lstStyle/>
          <a:p>
            <a:pPr marL="0" indent="0">
              <a:buNone/>
            </a:pPr>
            <a:r>
              <a:rPr lang="en-US" sz="850" i="1" dirty="0">
                <a:solidFill>
                  <a:srgbClr val="666666"/>
                </a:solidFill>
                <a:latin typeface="Calibri" pitchFamily="34" charset="0"/>
                <a:ea typeface="Calibri" pitchFamily="34" charset="-122"/>
                <a:cs typeface="Calibri" pitchFamily="34" charset="-120"/>
              </a:rPr>
              <a:t>Like GB + a risk manager asking</a:t>
            </a:r>
            <a:endParaRPr lang="en-US" sz="850" dirty="0"/>
          </a:p>
          <a:p>
            <a:pPr marL="0" indent="0">
              <a:buNone/>
            </a:pPr>
            <a:r>
              <a:rPr lang="en-US" sz="850" i="1" dirty="0">
                <a:solidFill>
                  <a:srgbClr val="666666"/>
                </a:solidFill>
                <a:latin typeface="Calibri" pitchFamily="34" charset="0"/>
                <a:ea typeface="Calibri" pitchFamily="34" charset="-122"/>
                <a:cs typeface="Calibri" pitchFamily="34" charset="-120"/>
              </a:rPr>
              <a:t>'what if our analysis is wrong?'</a:t>
            </a:r>
            <a:endParaRPr lang="en-US" sz="850" dirty="0"/>
          </a:p>
          <a:p>
            <a:pPr marL="0" indent="0">
              <a:buNone/>
            </a:pPr>
            <a:r>
              <a:rPr lang="en-US" sz="850" i="1" dirty="0">
                <a:solidFill>
                  <a:srgbClr val="666666"/>
                </a:solidFill>
                <a:latin typeface="Calibri" pitchFamily="34" charset="0"/>
                <a:ea typeface="Calibri" pitchFamily="34" charset="-122"/>
                <a:cs typeface="Calibri" pitchFamily="34" charset="-120"/>
              </a:rPr>
              <a:t>Builds in safety margins.</a:t>
            </a:r>
            <a:endParaRPr lang="en-US" sz="850" dirty="0"/>
          </a:p>
        </p:txBody>
      </p:sp>
      <p:sp>
        <p:nvSpPr>
          <p:cNvPr id="32" name="Shape 30"/>
          <p:cNvSpPr/>
          <p:nvPr/>
        </p:nvSpPr>
        <p:spPr>
          <a:xfrm>
            <a:off x="6053328" y="3566160"/>
            <a:ext cx="2377440" cy="36576"/>
          </a:xfrm>
          <a:prstGeom prst="rect">
            <a:avLst/>
          </a:prstGeom>
          <a:solidFill>
            <a:srgbClr val="7C3AED">
              <a:alpha val="50000"/>
            </a:srgbClr>
          </a:solidFill>
          <a:ln/>
        </p:spPr>
        <p:txBody>
          <a:bodyPr/>
          <a:lstStyle/>
          <a:p>
            <a:endParaRPr lang="en-US"/>
          </a:p>
        </p:txBody>
      </p:sp>
      <p:sp>
        <p:nvSpPr>
          <p:cNvPr id="33" name="Text 31"/>
          <p:cNvSpPr/>
          <p:nvPr/>
        </p:nvSpPr>
        <p:spPr>
          <a:xfrm>
            <a:off x="6053328" y="3611880"/>
            <a:ext cx="2377440" cy="365760"/>
          </a:xfrm>
          <a:prstGeom prst="rect">
            <a:avLst/>
          </a:prstGeom>
          <a:noFill/>
          <a:ln/>
        </p:spPr>
        <p:txBody>
          <a:bodyPr wrap="square" lIns="0" tIns="0" rIns="0" bIns="0" rtlCol="0" anchor="ctr"/>
          <a:lstStyle/>
          <a:p>
            <a:pPr marL="0" indent="0">
              <a:buNone/>
            </a:pPr>
            <a:r>
              <a:rPr lang="en-US" sz="900" b="1" dirty="0">
                <a:solidFill>
                  <a:srgbClr val="7C3AED"/>
                </a:solidFill>
                <a:latin typeface="Calibri" pitchFamily="34" charset="0"/>
                <a:ea typeface="Calibri" pitchFamily="34" charset="-122"/>
                <a:cs typeface="Calibri" pitchFamily="34" charset="-120"/>
              </a:rPr>
              <a:t>Best at: Position MAE:</a:t>
            </a:r>
            <a:endParaRPr lang="en-US" sz="900" dirty="0"/>
          </a:p>
          <a:p>
            <a:pPr marL="0" indent="0">
              <a:buNone/>
            </a:pPr>
            <a:r>
              <a:rPr lang="en-US" sz="900" b="1" dirty="0">
                <a:solidFill>
                  <a:srgbClr val="7C3AED"/>
                </a:solidFill>
                <a:latin typeface="Calibri" pitchFamily="34" charset="0"/>
                <a:ea typeface="Calibri" pitchFamily="34" charset="-122"/>
                <a:cs typeface="Calibri" pitchFamily="34" charset="-120"/>
              </a:rPr>
              <a:t>2.096 (best)</a:t>
            </a:r>
            <a:endParaRPr lang="en-US" sz="900" dirty="0"/>
          </a:p>
        </p:txBody>
      </p:sp>
      <p:sp>
        <p:nvSpPr>
          <p:cNvPr id="34" name="Text 32"/>
          <p:cNvSpPr/>
          <p:nvPr/>
        </p:nvSpPr>
        <p:spPr>
          <a:xfrm>
            <a:off x="457200" y="4709160"/>
            <a:ext cx="6400800" cy="365760"/>
          </a:xfrm>
          <a:prstGeom prst="rect">
            <a:avLst/>
          </a:prstGeom>
          <a:noFill/>
          <a:ln/>
        </p:spPr>
        <p:txBody>
          <a:bodyPr wrap="square" rtlCol="0" anchor="ctr"/>
          <a:lstStyle/>
          <a:p>
            <a:pPr marL="0" indent="0">
              <a:buNone/>
            </a:pPr>
            <a:r>
              <a:rPr lang="en-US" sz="900" dirty="0">
                <a:solidFill>
                  <a:srgbClr val="949594"/>
                </a:solidFill>
                <a:latin typeface="Calibri" pitchFamily="34" charset="0"/>
                <a:ea typeface="Calibri" pitchFamily="34" charset="-122"/>
                <a:cs typeface="Calibri" pitchFamily="34" charset="-120"/>
              </a:rPr>
              <a:t>Speaker 2 — Data &amp; ML Models</a:t>
            </a:r>
            <a:endParaRPr lang="en-US" sz="900" dirty="0"/>
          </a:p>
        </p:txBody>
      </p:sp>
      <p:sp>
        <p:nvSpPr>
          <p:cNvPr id="35" name="Text 33"/>
          <p:cNvSpPr/>
          <p:nvPr/>
        </p:nvSpPr>
        <p:spPr>
          <a:xfrm>
            <a:off x="8412480" y="4709160"/>
            <a:ext cx="548640" cy="365760"/>
          </a:xfrm>
          <a:prstGeom prst="rect">
            <a:avLst/>
          </a:prstGeom>
          <a:noFill/>
          <a:ln/>
        </p:spPr>
        <p:txBody>
          <a:bodyPr wrap="square" rtlCol="0" anchor="ctr"/>
          <a:lstStyle/>
          <a:p>
            <a:pPr marL="0" indent="0" algn="r">
              <a:buNone/>
            </a:pPr>
            <a:r>
              <a:rPr lang="en-US" sz="900" dirty="0">
                <a:solidFill>
                  <a:srgbClr val="949594"/>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5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C41E1E"/>
          </a:solidFill>
          <a:ln/>
        </p:spPr>
        <p:txBody>
          <a:bodyPr/>
          <a:lstStyle/>
          <a:p>
            <a:endParaRPr lang="en-US"/>
          </a:p>
        </p:txBody>
      </p:sp>
      <p:sp>
        <p:nvSpPr>
          <p:cNvPr id="3" name="Shape 1"/>
          <p:cNvSpPr/>
          <p:nvPr/>
        </p:nvSpPr>
        <p:spPr>
          <a:xfrm>
            <a:off x="8778240" y="0"/>
            <a:ext cx="137160" cy="5143500"/>
          </a:xfrm>
          <a:prstGeom prst="rect">
            <a:avLst/>
          </a:prstGeom>
          <a:solidFill>
            <a:srgbClr val="C41E1E"/>
          </a:solidFill>
          <a:ln/>
        </p:spPr>
        <p:txBody>
          <a:bodyPr/>
          <a:lstStyle/>
          <a:p>
            <a:endParaRPr lang="en-US"/>
          </a:p>
        </p:txBody>
      </p:sp>
      <p:sp>
        <p:nvSpPr>
          <p:cNvPr id="4" name="Shape 2"/>
          <p:cNvSpPr/>
          <p:nvPr/>
        </p:nvSpPr>
        <p:spPr>
          <a:xfrm>
            <a:off x="8961120" y="0"/>
            <a:ext cx="73152" cy="5143500"/>
          </a:xfrm>
          <a:prstGeom prst="rect">
            <a:avLst/>
          </a:prstGeom>
          <a:solidFill>
            <a:srgbClr val="C41E1E">
              <a:alpha val="40000"/>
            </a:srgbClr>
          </a:solidFill>
          <a:ln/>
        </p:spPr>
        <p:txBody>
          <a:bodyPr/>
          <a:lstStyle/>
          <a:p>
            <a:endParaRPr lang="en-US"/>
          </a:p>
        </p:txBody>
      </p:sp>
      <p:sp>
        <p:nvSpPr>
          <p:cNvPr id="5" name="Text 3"/>
          <p:cNvSpPr/>
          <p:nvPr/>
        </p:nvSpPr>
        <p:spPr>
          <a:xfrm>
            <a:off x="731520" y="182880"/>
            <a:ext cx="7315200" cy="548640"/>
          </a:xfrm>
          <a:prstGeom prst="rect">
            <a:avLst/>
          </a:prstGeom>
          <a:noFill/>
          <a:ln/>
        </p:spPr>
        <p:txBody>
          <a:bodyPr wrap="square" lIns="0" tIns="0" rIns="0" bIns="0" rtlCol="0" anchor="ctr"/>
          <a:lstStyle/>
          <a:p>
            <a:pPr marL="0" indent="0">
              <a:buNone/>
            </a:pPr>
            <a:r>
              <a:rPr lang="en-US" sz="2600" b="1" dirty="0">
                <a:solidFill>
                  <a:srgbClr val="1A1A2E"/>
                </a:solidFill>
                <a:latin typeface="Georgia" pitchFamily="34" charset="0"/>
                <a:ea typeface="Georgia" pitchFamily="34" charset="-122"/>
                <a:cs typeface="Georgia" pitchFamily="34" charset="-120"/>
              </a:rPr>
              <a:t>We Tested 7 Algorithms — Selected 3</a:t>
            </a:r>
            <a:endParaRPr lang="en-US" sz="2600" dirty="0"/>
          </a:p>
        </p:txBody>
      </p:sp>
      <p:sp>
        <p:nvSpPr>
          <p:cNvPr id="6" name="Shape 4"/>
          <p:cNvSpPr/>
          <p:nvPr/>
        </p:nvSpPr>
        <p:spPr>
          <a:xfrm>
            <a:off x="365760" y="914400"/>
            <a:ext cx="4023360" cy="192024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US"/>
          </a:p>
        </p:txBody>
      </p:sp>
      <p:sp>
        <p:nvSpPr>
          <p:cNvPr id="7" name="Shape 5"/>
          <p:cNvSpPr/>
          <p:nvPr/>
        </p:nvSpPr>
        <p:spPr>
          <a:xfrm>
            <a:off x="365760" y="914400"/>
            <a:ext cx="54864" cy="1920240"/>
          </a:xfrm>
          <a:prstGeom prst="rect">
            <a:avLst/>
          </a:prstGeom>
          <a:solidFill>
            <a:srgbClr val="059669"/>
          </a:solidFill>
          <a:ln/>
        </p:spPr>
        <p:txBody>
          <a:bodyPr/>
          <a:lstStyle/>
          <a:p>
            <a:endParaRPr lang="en-US"/>
          </a:p>
        </p:txBody>
      </p:sp>
      <p:pic>
        <p:nvPicPr>
          <p:cNvPr id="8" name="Image 0" descr="preencoded.png"/>
          <p:cNvPicPr>
            <a:picLocks noChangeAspect="1"/>
          </p:cNvPicPr>
          <p:nvPr/>
        </p:nvPicPr>
        <p:blipFill>
          <a:blip r:embed="rId3"/>
          <a:stretch>
            <a:fillRect/>
          </a:stretch>
        </p:blipFill>
        <p:spPr>
          <a:xfrm>
            <a:off x="502920" y="1024128"/>
            <a:ext cx="256032" cy="256032"/>
          </a:xfrm>
          <a:prstGeom prst="rect">
            <a:avLst/>
          </a:prstGeom>
        </p:spPr>
      </p:pic>
      <p:sp>
        <p:nvSpPr>
          <p:cNvPr id="9" name="Text 6"/>
          <p:cNvSpPr/>
          <p:nvPr/>
        </p:nvSpPr>
        <p:spPr>
          <a:xfrm>
            <a:off x="822960" y="987552"/>
            <a:ext cx="3429000" cy="292608"/>
          </a:xfrm>
          <a:prstGeom prst="rect">
            <a:avLst/>
          </a:prstGeom>
          <a:noFill/>
          <a:ln/>
        </p:spPr>
        <p:txBody>
          <a:bodyPr wrap="square" lIns="0" tIns="0" rIns="0" bIns="0" rtlCol="0" anchor="ctr"/>
          <a:lstStyle/>
          <a:p>
            <a:pPr marL="0" indent="0">
              <a:buNone/>
            </a:pPr>
            <a:r>
              <a:rPr lang="en-US" sz="1200" b="1" dirty="0">
                <a:solidFill>
                  <a:srgbClr val="059669"/>
                </a:solidFill>
                <a:latin typeface="Georgia" pitchFamily="34" charset="0"/>
                <a:ea typeface="Georgia" pitchFamily="34" charset="-122"/>
                <a:cs typeface="Georgia" pitchFamily="34" charset="-120"/>
              </a:rPr>
              <a:t>✅ Selected — Tree Ensembles</a:t>
            </a:r>
            <a:endParaRPr lang="en-US" sz="1200" dirty="0"/>
          </a:p>
        </p:txBody>
      </p:sp>
      <p:sp>
        <p:nvSpPr>
          <p:cNvPr id="10" name="Text 7"/>
          <p:cNvSpPr/>
          <p:nvPr/>
        </p:nvSpPr>
        <p:spPr>
          <a:xfrm>
            <a:off x="502920" y="1325880"/>
            <a:ext cx="3749040" cy="1417320"/>
          </a:xfrm>
          <a:prstGeom prst="rect">
            <a:avLst/>
          </a:prstGeom>
          <a:noFill/>
          <a:ln/>
        </p:spPr>
        <p:txBody>
          <a:bodyPr wrap="square" rtlCol="0" anchor="t"/>
          <a:lstStyle/>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Random Forest — 74.1% winner accuracy</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Gradient Boosting — 77.8% (BEST)</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XGBoost — 74.1% winner accuracy</a:t>
            </a:r>
            <a:endParaRPr lang="en-US" sz="950" dirty="0"/>
          </a:p>
          <a:p>
            <a:pPr marL="0" indent="0">
              <a:lnSpc>
                <a:spcPct val="125000"/>
              </a:lnSpc>
              <a:buNone/>
            </a:pP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Why trees win: Automatically discover</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non-linear patterns and feature interactions.</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E.g., 'grid position matters MORE when</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the car is fast.' Dominate Kaggle &amp; benchmarks.</a:t>
            </a:r>
            <a:endParaRPr lang="en-US" sz="950" dirty="0"/>
          </a:p>
        </p:txBody>
      </p:sp>
      <p:sp>
        <p:nvSpPr>
          <p:cNvPr id="11" name="Shape 8"/>
          <p:cNvSpPr/>
          <p:nvPr/>
        </p:nvSpPr>
        <p:spPr>
          <a:xfrm>
            <a:off x="4572000" y="914400"/>
            <a:ext cx="4023360" cy="192024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US"/>
          </a:p>
        </p:txBody>
      </p:sp>
      <p:sp>
        <p:nvSpPr>
          <p:cNvPr id="12" name="Shape 9"/>
          <p:cNvSpPr/>
          <p:nvPr/>
        </p:nvSpPr>
        <p:spPr>
          <a:xfrm>
            <a:off x="4572000" y="914400"/>
            <a:ext cx="54864" cy="1920240"/>
          </a:xfrm>
          <a:prstGeom prst="rect">
            <a:avLst/>
          </a:prstGeom>
          <a:solidFill>
            <a:srgbClr val="C41E1E"/>
          </a:solidFill>
          <a:ln/>
        </p:spPr>
        <p:txBody>
          <a:bodyPr/>
          <a:lstStyle/>
          <a:p>
            <a:endParaRPr lang="en-US"/>
          </a:p>
        </p:txBody>
      </p:sp>
      <p:pic>
        <p:nvPicPr>
          <p:cNvPr id="13" name="Image 1" descr="preencoded.png"/>
          <p:cNvPicPr>
            <a:picLocks noChangeAspect="1"/>
          </p:cNvPicPr>
          <p:nvPr/>
        </p:nvPicPr>
        <p:blipFill>
          <a:blip r:embed="rId4"/>
          <a:stretch>
            <a:fillRect/>
          </a:stretch>
        </p:blipFill>
        <p:spPr>
          <a:xfrm>
            <a:off x="4709160" y="1024128"/>
            <a:ext cx="256032" cy="256032"/>
          </a:xfrm>
          <a:prstGeom prst="rect">
            <a:avLst/>
          </a:prstGeom>
        </p:spPr>
      </p:pic>
      <p:sp>
        <p:nvSpPr>
          <p:cNvPr id="14" name="Text 10"/>
          <p:cNvSpPr/>
          <p:nvPr/>
        </p:nvSpPr>
        <p:spPr>
          <a:xfrm>
            <a:off x="5029200" y="987552"/>
            <a:ext cx="3429000" cy="292608"/>
          </a:xfrm>
          <a:prstGeom prst="rect">
            <a:avLst/>
          </a:prstGeom>
          <a:noFill/>
          <a:ln/>
        </p:spPr>
        <p:txBody>
          <a:bodyPr wrap="square" lIns="0" tIns="0" rIns="0" bIns="0" rtlCol="0" anchor="ctr"/>
          <a:lstStyle/>
          <a:p>
            <a:pPr marL="0" indent="0">
              <a:buNone/>
            </a:pPr>
            <a:r>
              <a:rPr lang="en-US" sz="1200" b="1" dirty="0">
                <a:solidFill>
                  <a:srgbClr val="C41E1E"/>
                </a:solidFill>
                <a:latin typeface="Georgia" pitchFamily="34" charset="0"/>
                <a:ea typeface="Georgia" pitchFamily="34" charset="-122"/>
                <a:cs typeface="Georgia" pitchFamily="34" charset="-120"/>
              </a:rPr>
              <a:t>❌ Rejected — With Evidence</a:t>
            </a:r>
            <a:endParaRPr lang="en-US" sz="1200" dirty="0"/>
          </a:p>
        </p:txBody>
      </p:sp>
      <p:sp>
        <p:nvSpPr>
          <p:cNvPr id="15" name="Text 11"/>
          <p:cNvSpPr/>
          <p:nvPr/>
        </p:nvSpPr>
        <p:spPr>
          <a:xfrm>
            <a:off x="4709160" y="1325880"/>
            <a:ext cx="3749040" cy="1417320"/>
          </a:xfrm>
          <a:prstGeom prst="rect">
            <a:avLst/>
          </a:prstGeom>
          <a:noFill/>
          <a:ln/>
        </p:spPr>
        <p:txBody>
          <a:bodyPr wrap="square" rtlCol="0" anchor="t"/>
          <a:lstStyle/>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Logistic/Ridge Regression — 40-44%</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 Assumes linear relationships. F1 depends on</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  complex interactions (grid × car × weather).</a:t>
            </a:r>
            <a:endParaRPr lang="en-US" sz="950" dirty="0"/>
          </a:p>
          <a:p>
            <a:pPr marL="0" indent="0">
              <a:lnSpc>
                <a:spcPct val="125000"/>
              </a:lnSpc>
              <a:buNone/>
            </a:pP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Neural Network (MLP) — 29.6% (WORST)</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 Only 3,524 rows. Deep learning needs 50K+.</a:t>
            </a:r>
            <a:endParaRPr lang="en-US" sz="950" dirty="0"/>
          </a:p>
          <a:p>
            <a:pPr marL="0" indent="0">
              <a:lnSpc>
                <a:spcPct val="125000"/>
              </a:lnSpc>
              <a:buNone/>
            </a:pP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Stacking Ensemble — no improvement</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 Added complexity, zero accuracy gain.</a:t>
            </a:r>
            <a:endParaRPr lang="en-US" sz="950" dirty="0"/>
          </a:p>
        </p:txBody>
      </p:sp>
      <p:sp>
        <p:nvSpPr>
          <p:cNvPr id="16" name="Shape 12"/>
          <p:cNvSpPr/>
          <p:nvPr/>
        </p:nvSpPr>
        <p:spPr>
          <a:xfrm>
            <a:off x="365760" y="3017520"/>
            <a:ext cx="8321040" cy="146304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US"/>
          </a:p>
        </p:txBody>
      </p:sp>
      <p:sp>
        <p:nvSpPr>
          <p:cNvPr id="17" name="Shape 13"/>
          <p:cNvSpPr/>
          <p:nvPr/>
        </p:nvSpPr>
        <p:spPr>
          <a:xfrm>
            <a:off x="365760" y="3017520"/>
            <a:ext cx="8321040" cy="45720"/>
          </a:xfrm>
          <a:prstGeom prst="rect">
            <a:avLst/>
          </a:prstGeom>
          <a:solidFill>
            <a:srgbClr val="7C3AED"/>
          </a:solidFill>
          <a:ln/>
        </p:spPr>
        <p:txBody>
          <a:bodyPr/>
          <a:lstStyle/>
          <a:p>
            <a:endParaRPr lang="en-US"/>
          </a:p>
        </p:txBody>
      </p:sp>
      <p:sp>
        <p:nvSpPr>
          <p:cNvPr id="18" name="Text 14"/>
          <p:cNvSpPr/>
          <p:nvPr/>
        </p:nvSpPr>
        <p:spPr>
          <a:xfrm>
            <a:off x="548640" y="3108960"/>
            <a:ext cx="8046720" cy="274320"/>
          </a:xfrm>
          <a:prstGeom prst="rect">
            <a:avLst/>
          </a:prstGeom>
          <a:noFill/>
          <a:ln/>
        </p:spPr>
        <p:txBody>
          <a:bodyPr wrap="square" lIns="0" tIns="0" rIns="0" bIns="0" rtlCol="0" anchor="ctr"/>
          <a:lstStyle/>
          <a:p>
            <a:pPr marL="0" indent="0">
              <a:buNone/>
            </a:pPr>
            <a:r>
              <a:rPr lang="en-US" sz="1200" b="1" dirty="0">
                <a:solidFill>
                  <a:srgbClr val="7C3AED"/>
                </a:solidFill>
                <a:latin typeface="Georgia" pitchFamily="34" charset="0"/>
                <a:ea typeface="Georgia" pitchFamily="34" charset="-122"/>
                <a:cs typeface="Georgia" pitchFamily="34" charset="-120"/>
              </a:rPr>
              <a:t>Why Neural Networks Failed (29.6% — Worst of All)</a:t>
            </a:r>
            <a:endParaRPr lang="en-US" sz="1200" dirty="0"/>
          </a:p>
        </p:txBody>
      </p:sp>
      <p:sp>
        <p:nvSpPr>
          <p:cNvPr id="19" name="Text 15"/>
          <p:cNvSpPr/>
          <p:nvPr/>
        </p:nvSpPr>
        <p:spPr>
          <a:xfrm>
            <a:off x="548640" y="3429000"/>
            <a:ext cx="8046720" cy="914400"/>
          </a:xfrm>
          <a:prstGeom prst="rect">
            <a:avLst/>
          </a:prstGeom>
          <a:noFill/>
          <a:ln/>
        </p:spPr>
        <p:txBody>
          <a:bodyPr wrap="square" lIns="0" tIns="0" rIns="0" bIns="0" rtlCol="0" anchor="ctr"/>
          <a:lstStyle/>
          <a:p>
            <a:pPr marL="0" indent="0">
              <a:lnSpc>
                <a:spcPct val="130000"/>
              </a:lnSpc>
              <a:buNone/>
            </a:pPr>
            <a:r>
              <a:rPr lang="en-US" sz="950" dirty="0">
                <a:solidFill>
                  <a:srgbClr val="444444"/>
                </a:solidFill>
                <a:latin typeface="Calibri" pitchFamily="34" charset="0"/>
                <a:ea typeface="Calibri" pitchFamily="34" charset="-122"/>
                <a:cs typeface="Calibri" pitchFamily="34" charset="-120"/>
              </a:rPr>
              <a:t>With only 3,524 training rows, deep learning cannot learn effective representations. Neural networks typically need 50,000+ rows to compete with tree-based methods on structured tabular data. This is a well-established finding in ML research (Grinsztajn et al., 2022). Our 3-layer MLP with 128/64/32 neurons achieved the worst accuracy of any model tested — confirming that for our data volume, tree ensembles are the correct choice.</a:t>
            </a:r>
            <a:endParaRPr lang="en-US" sz="950" dirty="0"/>
          </a:p>
        </p:txBody>
      </p:sp>
      <p:sp>
        <p:nvSpPr>
          <p:cNvPr id="20" name="Text 16"/>
          <p:cNvSpPr/>
          <p:nvPr/>
        </p:nvSpPr>
        <p:spPr>
          <a:xfrm>
            <a:off x="457200" y="4709160"/>
            <a:ext cx="6400800" cy="365760"/>
          </a:xfrm>
          <a:prstGeom prst="rect">
            <a:avLst/>
          </a:prstGeom>
          <a:noFill/>
          <a:ln/>
        </p:spPr>
        <p:txBody>
          <a:bodyPr wrap="square" rtlCol="0" anchor="ctr"/>
          <a:lstStyle/>
          <a:p>
            <a:pPr marL="0" indent="0">
              <a:buNone/>
            </a:pPr>
            <a:r>
              <a:rPr lang="en-US" sz="900" dirty="0">
                <a:solidFill>
                  <a:srgbClr val="949594"/>
                </a:solidFill>
                <a:latin typeface="Calibri" pitchFamily="34" charset="0"/>
                <a:ea typeface="Calibri" pitchFamily="34" charset="-122"/>
                <a:cs typeface="Calibri" pitchFamily="34" charset="-120"/>
              </a:rPr>
              <a:t>Speaker 2 — Data &amp; ML Models</a:t>
            </a:r>
            <a:endParaRPr lang="en-US" sz="900" dirty="0"/>
          </a:p>
        </p:txBody>
      </p:sp>
      <p:sp>
        <p:nvSpPr>
          <p:cNvPr id="21" name="Text 17"/>
          <p:cNvSpPr/>
          <p:nvPr/>
        </p:nvSpPr>
        <p:spPr>
          <a:xfrm>
            <a:off x="8412480" y="4709160"/>
            <a:ext cx="548640" cy="365760"/>
          </a:xfrm>
          <a:prstGeom prst="rect">
            <a:avLst/>
          </a:prstGeom>
          <a:noFill/>
          <a:ln/>
        </p:spPr>
        <p:txBody>
          <a:bodyPr wrap="square" rtlCol="0" anchor="ctr"/>
          <a:lstStyle/>
          <a:p>
            <a:pPr marL="0" indent="0" algn="r">
              <a:buNone/>
            </a:pPr>
            <a:r>
              <a:rPr lang="en-US" sz="900" dirty="0">
                <a:solidFill>
                  <a:srgbClr val="949594"/>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5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C41E1E"/>
          </a:solidFill>
          <a:ln/>
        </p:spPr>
        <p:txBody>
          <a:bodyPr/>
          <a:lstStyle/>
          <a:p>
            <a:endParaRPr lang="en-US"/>
          </a:p>
        </p:txBody>
      </p:sp>
      <p:sp>
        <p:nvSpPr>
          <p:cNvPr id="3" name="Shape 1"/>
          <p:cNvSpPr/>
          <p:nvPr/>
        </p:nvSpPr>
        <p:spPr>
          <a:xfrm>
            <a:off x="8778240" y="0"/>
            <a:ext cx="137160" cy="5143500"/>
          </a:xfrm>
          <a:prstGeom prst="rect">
            <a:avLst/>
          </a:prstGeom>
          <a:solidFill>
            <a:srgbClr val="C41E1E"/>
          </a:solidFill>
          <a:ln/>
        </p:spPr>
        <p:txBody>
          <a:bodyPr/>
          <a:lstStyle/>
          <a:p>
            <a:endParaRPr lang="en-US"/>
          </a:p>
        </p:txBody>
      </p:sp>
      <p:sp>
        <p:nvSpPr>
          <p:cNvPr id="4" name="Shape 2"/>
          <p:cNvSpPr/>
          <p:nvPr/>
        </p:nvSpPr>
        <p:spPr>
          <a:xfrm>
            <a:off x="8961120" y="0"/>
            <a:ext cx="73152" cy="5143500"/>
          </a:xfrm>
          <a:prstGeom prst="rect">
            <a:avLst/>
          </a:prstGeom>
          <a:solidFill>
            <a:srgbClr val="C41E1E">
              <a:alpha val="40000"/>
            </a:srgbClr>
          </a:solidFill>
          <a:ln/>
        </p:spPr>
        <p:txBody>
          <a:bodyPr/>
          <a:lstStyle/>
          <a:p>
            <a:endParaRPr lang="en-US"/>
          </a:p>
        </p:txBody>
      </p:sp>
      <p:sp>
        <p:nvSpPr>
          <p:cNvPr id="5" name="Text 3"/>
          <p:cNvSpPr/>
          <p:nvPr/>
        </p:nvSpPr>
        <p:spPr>
          <a:xfrm>
            <a:off x="731520" y="182880"/>
            <a:ext cx="7315200" cy="548640"/>
          </a:xfrm>
          <a:prstGeom prst="rect">
            <a:avLst/>
          </a:prstGeom>
          <a:noFill/>
          <a:ln/>
        </p:spPr>
        <p:txBody>
          <a:bodyPr wrap="square" lIns="0" tIns="0" rIns="0" bIns="0" rtlCol="0" anchor="ctr"/>
          <a:lstStyle/>
          <a:p>
            <a:pPr marL="0" indent="0">
              <a:buNone/>
            </a:pPr>
            <a:r>
              <a:rPr lang="en-US" sz="2800" b="1" dirty="0">
                <a:solidFill>
                  <a:srgbClr val="1A1A2E"/>
                </a:solidFill>
                <a:latin typeface="Georgia" pitchFamily="34" charset="0"/>
                <a:ea typeface="Georgia" pitchFamily="34" charset="-122"/>
                <a:cs typeface="Georgia" pitchFamily="34" charset="-120"/>
              </a:rPr>
              <a:t>Head-to-Head Comparison</a:t>
            </a:r>
            <a:endParaRPr lang="en-US" sz="2800" dirty="0"/>
          </a:p>
        </p:txBody>
      </p:sp>
      <p:sp>
        <p:nvSpPr>
          <p:cNvPr id="6" name="Text 4"/>
          <p:cNvSpPr/>
          <p:nvPr/>
        </p:nvSpPr>
        <p:spPr>
          <a:xfrm>
            <a:off x="731520" y="685800"/>
            <a:ext cx="7315200" cy="228600"/>
          </a:xfrm>
          <a:prstGeom prst="rect">
            <a:avLst/>
          </a:prstGeom>
          <a:noFill/>
          <a:ln/>
        </p:spPr>
        <p:txBody>
          <a:bodyPr wrap="square" lIns="0" tIns="0" rIns="0" bIns="0" rtlCol="0" anchor="ctr"/>
          <a:lstStyle/>
          <a:p>
            <a:pPr marL="0" indent="0">
              <a:buNone/>
            </a:pPr>
            <a:r>
              <a:rPr lang="en-US" sz="1000" dirty="0">
                <a:solidFill>
                  <a:srgbClr val="949594"/>
                </a:solidFill>
                <a:latin typeface="Calibri" pitchFamily="34" charset="0"/>
                <a:ea typeface="Calibri" pitchFamily="34" charset="-122"/>
                <a:cs typeface="Calibri" pitchFamily="34" charset="-120"/>
              </a:rPr>
              <a:t>Trained: 2018-2024 (2,979 records) • Tested: 2025-2026 (545 records) • Time-based split, no leakage</a:t>
            </a:r>
            <a:endParaRPr lang="en-US" sz="1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274320" y="1005840"/>
          <a:ext cx="8503920" cy="914400"/>
        </p:xfrm>
        <a:graphic>
          <a:graphicData uri="http://schemas.openxmlformats.org/drawingml/2006/table">
            <a:tbl>
              <a:tblPr/>
              <a:tblGrid>
                <a:gridCol w="18288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tblGrid>
              <a:tr h="292608">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Metric</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C41E1E"/>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Random Forest</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2563EB"/>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Gradient Boosting</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059669"/>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XGBoost</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7C3AED"/>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Winner</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C41E1E"/>
                    </a:solidFill>
                  </a:tcPr>
                </a:tc>
                <a:extLst>
                  <a:ext uri="{0D108BD9-81ED-4DB2-BD59-A6C34878D82A}">
                    <a16:rowId xmlns:a16="http://schemas.microsoft.com/office/drawing/2014/main" val="10000"/>
                  </a:ext>
                </a:extLst>
              </a:tr>
              <a:tr h="292608">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Position MAE ↓</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2.187</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2.148</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b="1" dirty="0">
                          <a:solidFill>
                            <a:srgbClr val="7C3AED"/>
                          </a:solidFill>
                          <a:latin typeface="Calibri" pitchFamily="34" charset="0"/>
                          <a:ea typeface="Calibri" pitchFamily="34" charset="-122"/>
                          <a:cs typeface="Calibri" pitchFamily="34" charset="-120"/>
                        </a:rPr>
                        <a:t>2.096 ✓</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XGBoost</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1"/>
                  </a:ext>
                </a:extLst>
              </a:tr>
              <a:tr h="292608">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Position RMSE ↓</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3.149</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3.051</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b="1" dirty="0">
                          <a:solidFill>
                            <a:srgbClr val="7C3AED"/>
                          </a:solidFill>
                          <a:latin typeface="Calibri" pitchFamily="34" charset="0"/>
                          <a:ea typeface="Calibri" pitchFamily="34" charset="-122"/>
                          <a:cs typeface="Calibri" pitchFamily="34" charset="-120"/>
                        </a:rPr>
                        <a:t>2.980 ✓</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XGBoost</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2"/>
                  </a:ext>
                </a:extLst>
              </a:tr>
              <a:tr h="292608">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Position R²</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0.709</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0.727</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b="1" dirty="0">
                          <a:solidFill>
                            <a:srgbClr val="7C3AED"/>
                          </a:solidFill>
                          <a:latin typeface="Calibri" pitchFamily="34" charset="0"/>
                          <a:ea typeface="Calibri" pitchFamily="34" charset="-122"/>
                          <a:cs typeface="Calibri" pitchFamily="34" charset="-120"/>
                        </a:rPr>
                        <a:t>0.740 ✓</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XGBoost</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3"/>
                  </a:ext>
                </a:extLst>
              </a:tr>
              <a:tr h="292608">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Podium Accuracy</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92.8%</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b="1" dirty="0">
                          <a:solidFill>
                            <a:srgbClr val="059669"/>
                          </a:solidFill>
                          <a:latin typeface="Calibri" pitchFamily="34" charset="0"/>
                          <a:ea typeface="Calibri" pitchFamily="34" charset="-122"/>
                          <a:cs typeface="Calibri" pitchFamily="34" charset="-120"/>
                        </a:rPr>
                        <a:t>93.4% ✓</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93.0%</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Grad Boost</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4"/>
                  </a:ext>
                </a:extLst>
              </a:tr>
              <a:tr h="292608">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Podium F1 Score ↑</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0.766</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b="1" dirty="0">
                          <a:solidFill>
                            <a:srgbClr val="059669"/>
                          </a:solidFill>
                          <a:latin typeface="Calibri" pitchFamily="34" charset="0"/>
                          <a:ea typeface="Calibri" pitchFamily="34" charset="-122"/>
                          <a:cs typeface="Calibri" pitchFamily="34" charset="-120"/>
                        </a:rPr>
                        <a:t>0.780 ✓</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0.771</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Grad Boost</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5"/>
                  </a:ext>
                </a:extLst>
              </a:tr>
              <a:tr h="292608">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Winner Accuracy ↑</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74.1%</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b="1" dirty="0">
                          <a:solidFill>
                            <a:srgbClr val="059669"/>
                          </a:solidFill>
                          <a:latin typeface="Calibri" pitchFamily="34" charset="0"/>
                          <a:ea typeface="Calibri" pitchFamily="34" charset="-122"/>
                          <a:cs typeface="Calibri" pitchFamily="34" charset="-120"/>
                        </a:rPr>
                        <a:t>77.8% ✓</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74.1%</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Grad Boost</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6"/>
                  </a:ext>
                </a:extLst>
              </a:tr>
              <a:tr h="292608">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Top-3 Accuracy</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100%</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100%</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100%</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ALL tied</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8" name="Shape 5"/>
          <p:cNvSpPr/>
          <p:nvPr/>
        </p:nvSpPr>
        <p:spPr>
          <a:xfrm>
            <a:off x="365760" y="3474720"/>
            <a:ext cx="8321040" cy="1005840"/>
          </a:xfrm>
          <a:prstGeom prst="rect">
            <a:avLst/>
          </a:prstGeom>
          <a:solidFill>
            <a:srgbClr val="E6F4EA"/>
          </a:solidFill>
          <a:ln/>
          <a:effectLst>
            <a:outerShdw blurRad="50800" dist="25400" dir="8100000" algn="bl" rotWithShape="0">
              <a:srgbClr val="000000">
                <a:alpha val="10000"/>
              </a:srgbClr>
            </a:outerShdw>
          </a:effectLst>
        </p:spPr>
        <p:txBody>
          <a:bodyPr/>
          <a:lstStyle/>
          <a:p>
            <a:endParaRPr lang="en-US"/>
          </a:p>
        </p:txBody>
      </p:sp>
      <p:sp>
        <p:nvSpPr>
          <p:cNvPr id="9" name="Text 6"/>
          <p:cNvSpPr/>
          <p:nvPr/>
        </p:nvSpPr>
        <p:spPr>
          <a:xfrm>
            <a:off x="548640" y="3520440"/>
            <a:ext cx="8046720" cy="228600"/>
          </a:xfrm>
          <a:prstGeom prst="rect">
            <a:avLst/>
          </a:prstGeom>
          <a:noFill/>
          <a:ln/>
        </p:spPr>
        <p:txBody>
          <a:bodyPr wrap="square" lIns="0" tIns="0" rIns="0" bIns="0" rtlCol="0" anchor="ctr"/>
          <a:lstStyle/>
          <a:p>
            <a:pPr marL="0" indent="0">
              <a:buNone/>
            </a:pPr>
            <a:r>
              <a:rPr lang="en-US" sz="1100" b="1" dirty="0">
                <a:solidFill>
                  <a:srgbClr val="059669"/>
                </a:solidFill>
                <a:latin typeface="Georgia" pitchFamily="34" charset="0"/>
                <a:ea typeface="Georgia" pitchFamily="34" charset="-122"/>
                <a:cs typeface="Georgia" pitchFamily="34" charset="-120"/>
              </a:rPr>
              <a:t>Key Findings:</a:t>
            </a:r>
            <a:endParaRPr lang="en-US" sz="1100" dirty="0"/>
          </a:p>
        </p:txBody>
      </p:sp>
      <p:sp>
        <p:nvSpPr>
          <p:cNvPr id="10" name="Text 7"/>
          <p:cNvSpPr/>
          <p:nvPr/>
        </p:nvSpPr>
        <p:spPr>
          <a:xfrm>
            <a:off x="548640" y="3749040"/>
            <a:ext cx="8046720" cy="685800"/>
          </a:xfrm>
          <a:prstGeom prst="rect">
            <a:avLst/>
          </a:prstGeom>
          <a:noFill/>
          <a:ln/>
        </p:spPr>
        <p:txBody>
          <a:bodyPr wrap="square" lIns="0" tIns="0" rIns="0" bIns="0" rtlCol="0" anchor="ctr"/>
          <a:lstStyle/>
          <a:p>
            <a:pPr marL="0" indent="0">
              <a:buNone/>
            </a:pPr>
            <a:r>
              <a:rPr lang="en-US" sz="950" dirty="0">
                <a:solidFill>
                  <a:srgbClr val="444444"/>
                </a:solidFill>
                <a:latin typeface="Calibri" pitchFamily="34" charset="0"/>
                <a:ea typeface="Calibri" pitchFamily="34" charset="-122"/>
                <a:cs typeface="Calibri" pitchFamily="34" charset="-120"/>
              </a:rPr>
              <a:t>• No single model wins everything — XGBoost for position, Gradient Boosting for winner/podium</a:t>
            </a:r>
            <a:endParaRPr lang="en-US" sz="950" dirty="0"/>
          </a:p>
          <a:p>
            <a:pPr marL="0" indent="0">
              <a:buNone/>
            </a:pPr>
            <a:r>
              <a:rPr lang="en-US" sz="950" dirty="0">
                <a:solidFill>
                  <a:srgbClr val="444444"/>
                </a:solidFill>
                <a:latin typeface="Calibri" pitchFamily="34" charset="0"/>
                <a:ea typeface="Calibri" pitchFamily="34" charset="-122"/>
                <a:cs typeface="Calibri" pitchFamily="34" charset="-120"/>
              </a:rPr>
              <a:t>• ALL 3 models achieve 100% top-3 accuracy — the actual winner is ALWAYS in the top 3 predictions</a:t>
            </a:r>
            <a:endParaRPr lang="en-US" sz="950" dirty="0"/>
          </a:p>
          <a:p>
            <a:pPr marL="0" indent="0">
              <a:buNone/>
            </a:pPr>
            <a:r>
              <a:rPr lang="en-US" sz="950" dirty="0">
                <a:solidFill>
                  <a:srgbClr val="444444"/>
                </a:solidFill>
                <a:latin typeface="Calibri" pitchFamily="34" charset="0"/>
                <a:ea typeface="Calibri" pitchFamily="34" charset="-122"/>
                <a:cs typeface="Calibri" pitchFamily="34" charset="-120"/>
              </a:rPr>
              <a:t>• Gradient Boosting correctly predicted 21 out of 27 race winners (77.8%)</a:t>
            </a:r>
            <a:endParaRPr lang="en-US" sz="950" dirty="0"/>
          </a:p>
          <a:p>
            <a:pPr marL="0" indent="0">
              <a:buNone/>
            </a:pPr>
            <a:r>
              <a:rPr lang="en-US" sz="950" dirty="0">
                <a:solidFill>
                  <a:srgbClr val="444444"/>
                </a:solidFill>
                <a:latin typeface="Calibri" pitchFamily="34" charset="0"/>
                <a:ea typeface="Calibri" pitchFamily="34" charset="-122"/>
                <a:cs typeface="Calibri" pitchFamily="34" charset="-120"/>
              </a:rPr>
              <a:t>• R² of 0.740 means the model explains 74% of variance in finishing positions</a:t>
            </a:r>
            <a:endParaRPr lang="en-US" sz="950" dirty="0"/>
          </a:p>
        </p:txBody>
      </p:sp>
      <p:sp>
        <p:nvSpPr>
          <p:cNvPr id="11" name="Text 8"/>
          <p:cNvSpPr/>
          <p:nvPr/>
        </p:nvSpPr>
        <p:spPr>
          <a:xfrm>
            <a:off x="457200" y="4709160"/>
            <a:ext cx="6400800" cy="365760"/>
          </a:xfrm>
          <a:prstGeom prst="rect">
            <a:avLst/>
          </a:prstGeom>
          <a:noFill/>
          <a:ln/>
        </p:spPr>
        <p:txBody>
          <a:bodyPr wrap="square" rtlCol="0" anchor="ctr"/>
          <a:lstStyle/>
          <a:p>
            <a:pPr marL="0" indent="0">
              <a:buNone/>
            </a:pPr>
            <a:r>
              <a:rPr lang="en-US" sz="900" dirty="0">
                <a:solidFill>
                  <a:srgbClr val="949594"/>
                </a:solidFill>
                <a:latin typeface="Calibri" pitchFamily="34" charset="0"/>
                <a:ea typeface="Calibri" pitchFamily="34" charset="-122"/>
                <a:cs typeface="Calibri" pitchFamily="34" charset="-120"/>
              </a:rPr>
              <a:t>Speaker 2 — Data &amp; ML Models</a:t>
            </a:r>
            <a:endParaRPr lang="en-US" sz="900" dirty="0"/>
          </a:p>
        </p:txBody>
      </p:sp>
      <p:sp>
        <p:nvSpPr>
          <p:cNvPr id="12" name="Text 9"/>
          <p:cNvSpPr/>
          <p:nvPr/>
        </p:nvSpPr>
        <p:spPr>
          <a:xfrm>
            <a:off x="8412480" y="4709160"/>
            <a:ext cx="548640" cy="365760"/>
          </a:xfrm>
          <a:prstGeom prst="rect">
            <a:avLst/>
          </a:prstGeom>
          <a:noFill/>
          <a:ln/>
        </p:spPr>
        <p:txBody>
          <a:bodyPr wrap="square" rtlCol="0" anchor="ctr"/>
          <a:lstStyle/>
          <a:p>
            <a:pPr marL="0" indent="0" algn="r">
              <a:buNone/>
            </a:pPr>
            <a:r>
              <a:rPr lang="en-US" sz="900" dirty="0">
                <a:solidFill>
                  <a:srgbClr val="949594"/>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5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C41E1E"/>
          </a:solidFill>
          <a:ln/>
        </p:spPr>
        <p:txBody>
          <a:bodyPr/>
          <a:lstStyle/>
          <a:p>
            <a:endParaRPr lang="en-US"/>
          </a:p>
        </p:txBody>
      </p:sp>
      <p:sp>
        <p:nvSpPr>
          <p:cNvPr id="3" name="Shape 1"/>
          <p:cNvSpPr/>
          <p:nvPr/>
        </p:nvSpPr>
        <p:spPr>
          <a:xfrm>
            <a:off x="8778240" y="0"/>
            <a:ext cx="137160" cy="5143500"/>
          </a:xfrm>
          <a:prstGeom prst="rect">
            <a:avLst/>
          </a:prstGeom>
          <a:solidFill>
            <a:srgbClr val="C41E1E"/>
          </a:solidFill>
          <a:ln/>
        </p:spPr>
        <p:txBody>
          <a:bodyPr/>
          <a:lstStyle/>
          <a:p>
            <a:endParaRPr lang="en-US"/>
          </a:p>
        </p:txBody>
      </p:sp>
      <p:sp>
        <p:nvSpPr>
          <p:cNvPr id="4" name="Shape 2"/>
          <p:cNvSpPr/>
          <p:nvPr/>
        </p:nvSpPr>
        <p:spPr>
          <a:xfrm>
            <a:off x="8961120" y="0"/>
            <a:ext cx="73152" cy="5143500"/>
          </a:xfrm>
          <a:prstGeom prst="rect">
            <a:avLst/>
          </a:prstGeom>
          <a:solidFill>
            <a:srgbClr val="C41E1E">
              <a:alpha val="40000"/>
            </a:srgbClr>
          </a:solidFill>
          <a:ln/>
        </p:spPr>
        <p:txBody>
          <a:bodyPr/>
          <a:lstStyle/>
          <a:p>
            <a:endParaRPr lang="en-US"/>
          </a:p>
        </p:txBody>
      </p:sp>
      <p:sp>
        <p:nvSpPr>
          <p:cNvPr id="5" name="Text 3"/>
          <p:cNvSpPr/>
          <p:nvPr/>
        </p:nvSpPr>
        <p:spPr>
          <a:xfrm>
            <a:off x="731520" y="182880"/>
            <a:ext cx="7315200" cy="548640"/>
          </a:xfrm>
          <a:prstGeom prst="rect">
            <a:avLst/>
          </a:prstGeom>
          <a:noFill/>
          <a:ln/>
        </p:spPr>
        <p:txBody>
          <a:bodyPr wrap="square" lIns="0" tIns="0" rIns="0" bIns="0" rtlCol="0" anchor="ctr"/>
          <a:lstStyle/>
          <a:p>
            <a:pPr marL="0" indent="0">
              <a:buNone/>
            </a:pPr>
            <a:r>
              <a:rPr lang="en-US" sz="2600" b="1" dirty="0">
                <a:solidFill>
                  <a:srgbClr val="1A1A2E"/>
                </a:solidFill>
                <a:latin typeface="Georgia" pitchFamily="34" charset="0"/>
                <a:ea typeface="Georgia" pitchFamily="34" charset="-122"/>
                <a:cs typeface="Georgia" pitchFamily="34" charset="-120"/>
              </a:rPr>
              <a:t>Top 10 Features — What Drives Predictions</a:t>
            </a:r>
            <a:endParaRPr lang="en-US" sz="2600" dirty="0"/>
          </a:p>
        </p:txBody>
      </p:sp>
      <p:graphicFrame>
        <p:nvGraphicFramePr>
          <p:cNvPr id="6" name="Chart 0"/>
          <p:cNvGraphicFramePr/>
          <p:nvPr/>
        </p:nvGraphicFramePr>
        <p:xfrm>
          <a:off x="274320" y="914400"/>
          <a:ext cx="5029200" cy="3200400"/>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5486400" y="914400"/>
            <a:ext cx="3200400" cy="32004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US"/>
          </a:p>
        </p:txBody>
      </p:sp>
      <p:sp>
        <p:nvSpPr>
          <p:cNvPr id="8" name="Shape 5"/>
          <p:cNvSpPr/>
          <p:nvPr/>
        </p:nvSpPr>
        <p:spPr>
          <a:xfrm>
            <a:off x="5486400" y="914400"/>
            <a:ext cx="54864" cy="3200400"/>
          </a:xfrm>
          <a:prstGeom prst="rect">
            <a:avLst/>
          </a:prstGeom>
          <a:solidFill>
            <a:srgbClr val="C41E1E"/>
          </a:solidFill>
          <a:ln/>
        </p:spPr>
        <p:txBody>
          <a:bodyPr/>
          <a:lstStyle/>
          <a:p>
            <a:endParaRPr lang="en-US"/>
          </a:p>
        </p:txBody>
      </p:sp>
      <p:pic>
        <p:nvPicPr>
          <p:cNvPr id="9" name="Image 0" descr="preencoded.png"/>
          <p:cNvPicPr>
            <a:picLocks noChangeAspect="1"/>
          </p:cNvPicPr>
          <p:nvPr/>
        </p:nvPicPr>
        <p:blipFill>
          <a:blip r:embed="rId4"/>
          <a:stretch>
            <a:fillRect/>
          </a:stretch>
        </p:blipFill>
        <p:spPr>
          <a:xfrm>
            <a:off x="5623560" y="1024128"/>
            <a:ext cx="256032" cy="256032"/>
          </a:xfrm>
          <a:prstGeom prst="rect">
            <a:avLst/>
          </a:prstGeom>
        </p:spPr>
      </p:pic>
      <p:sp>
        <p:nvSpPr>
          <p:cNvPr id="10" name="Text 6"/>
          <p:cNvSpPr/>
          <p:nvPr/>
        </p:nvSpPr>
        <p:spPr>
          <a:xfrm>
            <a:off x="5943600" y="987552"/>
            <a:ext cx="2606040" cy="292608"/>
          </a:xfrm>
          <a:prstGeom prst="rect">
            <a:avLst/>
          </a:prstGeom>
          <a:noFill/>
          <a:ln/>
        </p:spPr>
        <p:txBody>
          <a:bodyPr wrap="square" lIns="0" tIns="0" rIns="0" bIns="0" rtlCol="0" anchor="ctr"/>
          <a:lstStyle/>
          <a:p>
            <a:pPr marL="0" indent="0">
              <a:buNone/>
            </a:pPr>
            <a:r>
              <a:rPr lang="en-US" sz="1200" b="1" dirty="0">
                <a:solidFill>
                  <a:srgbClr val="C41E1E"/>
                </a:solidFill>
                <a:latin typeface="Georgia" pitchFamily="34" charset="0"/>
                <a:ea typeface="Georgia" pitchFamily="34" charset="-122"/>
                <a:cs typeface="Georgia" pitchFamily="34" charset="-120"/>
              </a:rPr>
              <a:t>The Car Matters Most</a:t>
            </a:r>
            <a:endParaRPr lang="en-US" sz="1200" dirty="0"/>
          </a:p>
        </p:txBody>
      </p:sp>
      <p:sp>
        <p:nvSpPr>
          <p:cNvPr id="11" name="Text 7"/>
          <p:cNvSpPr/>
          <p:nvPr/>
        </p:nvSpPr>
        <p:spPr>
          <a:xfrm>
            <a:off x="5623560" y="1325880"/>
            <a:ext cx="2926080" cy="2697480"/>
          </a:xfrm>
          <a:prstGeom prst="rect">
            <a:avLst/>
          </a:prstGeom>
          <a:noFill/>
          <a:ln/>
        </p:spPr>
        <p:txBody>
          <a:bodyPr wrap="square" rtlCol="0" anchor="t"/>
          <a:lstStyle/>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#1: constructor_rolling_points</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 team's avg points over last 10 races</a:t>
            </a:r>
            <a:endParaRPr lang="en-US" sz="950" dirty="0"/>
          </a:p>
          <a:p>
            <a:pPr marL="0" indent="0">
              <a:lnSpc>
                <a:spcPct val="125000"/>
              </a:lnSpc>
              <a:buNone/>
            </a:pP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Confirms F1 domain knowledge:</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Car ≈ 80% of performance</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Driver ≈ 20% of performance</a:t>
            </a:r>
            <a:endParaRPr lang="en-US" sz="950" dirty="0"/>
          </a:p>
          <a:p>
            <a:pPr marL="0" indent="0">
              <a:lnSpc>
                <a:spcPct val="125000"/>
              </a:lnSpc>
              <a:buNone/>
            </a:pP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Even the best driver in a slow car</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finishes behind an average driver</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in the fastest car.</a:t>
            </a:r>
            <a:endParaRPr lang="en-US" sz="950" dirty="0"/>
          </a:p>
          <a:p>
            <a:pPr marL="0" indent="0">
              <a:lnSpc>
                <a:spcPct val="125000"/>
              </a:lnSpc>
              <a:buNone/>
            </a:pP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Our model QUANTIFIES this</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with data from 9 seasons,</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3,524 races, and 85 features.</a:t>
            </a:r>
            <a:endParaRPr lang="en-US" sz="950" dirty="0"/>
          </a:p>
        </p:txBody>
      </p:sp>
      <p:sp>
        <p:nvSpPr>
          <p:cNvPr id="12" name="Shape 8"/>
          <p:cNvSpPr/>
          <p:nvPr/>
        </p:nvSpPr>
        <p:spPr>
          <a:xfrm>
            <a:off x="365760" y="4251960"/>
            <a:ext cx="8321040" cy="457200"/>
          </a:xfrm>
          <a:prstGeom prst="rect">
            <a:avLst/>
          </a:prstGeom>
          <a:solidFill>
            <a:srgbClr val="FEF9E7"/>
          </a:solidFill>
          <a:ln/>
          <a:effectLst>
            <a:outerShdw blurRad="50800" dist="25400" dir="8100000" algn="bl" rotWithShape="0">
              <a:srgbClr val="000000">
                <a:alpha val="10000"/>
              </a:srgbClr>
            </a:outerShdw>
          </a:effectLst>
        </p:spPr>
        <p:txBody>
          <a:bodyPr/>
          <a:lstStyle/>
          <a:p>
            <a:endParaRPr lang="en-US"/>
          </a:p>
        </p:txBody>
      </p:sp>
      <p:sp>
        <p:nvSpPr>
          <p:cNvPr id="13" name="Text 9"/>
          <p:cNvSpPr/>
          <p:nvPr/>
        </p:nvSpPr>
        <p:spPr>
          <a:xfrm>
            <a:off x="548640" y="4297680"/>
            <a:ext cx="8046720" cy="320040"/>
          </a:xfrm>
          <a:prstGeom prst="rect">
            <a:avLst/>
          </a:prstGeom>
          <a:noFill/>
          <a:ln/>
        </p:spPr>
        <p:txBody>
          <a:bodyPr wrap="square" lIns="0" tIns="0" rIns="0" bIns="0" rtlCol="0" anchor="ctr"/>
          <a:lstStyle/>
          <a:p>
            <a:pPr marL="0" indent="0">
              <a:buNone/>
            </a:pPr>
            <a:r>
              <a:rPr lang="en-US" sz="1000" dirty="0">
                <a:solidFill>
                  <a:srgbClr val="D97706"/>
                </a:solidFill>
                <a:latin typeface="Calibri" pitchFamily="34" charset="0"/>
                <a:ea typeface="Calibri" pitchFamily="34" charset="-122"/>
                <a:cs typeface="Calibri" pitchFamily="34" charset="-120"/>
              </a:rPr>
              <a:t>Phase 2 features (#7 tire_deg, #8 circuit) and Phase 3 features (#10 weather) appear in top 10 — validating our 3-phase approach</a:t>
            </a:r>
            <a:endParaRPr lang="en-US" sz="1000" dirty="0"/>
          </a:p>
        </p:txBody>
      </p:sp>
      <p:sp>
        <p:nvSpPr>
          <p:cNvPr id="14" name="Text 10"/>
          <p:cNvSpPr/>
          <p:nvPr/>
        </p:nvSpPr>
        <p:spPr>
          <a:xfrm>
            <a:off x="457200" y="4709160"/>
            <a:ext cx="6400800" cy="365760"/>
          </a:xfrm>
          <a:prstGeom prst="rect">
            <a:avLst/>
          </a:prstGeom>
          <a:noFill/>
          <a:ln/>
        </p:spPr>
        <p:txBody>
          <a:bodyPr wrap="square" rtlCol="0" anchor="ctr"/>
          <a:lstStyle/>
          <a:p>
            <a:pPr marL="0" indent="0">
              <a:buNone/>
            </a:pPr>
            <a:r>
              <a:rPr lang="en-US" sz="900" dirty="0">
                <a:solidFill>
                  <a:srgbClr val="949594"/>
                </a:solidFill>
                <a:latin typeface="Calibri" pitchFamily="34" charset="0"/>
                <a:ea typeface="Calibri" pitchFamily="34" charset="-122"/>
                <a:cs typeface="Calibri" pitchFamily="34" charset="-120"/>
              </a:rPr>
              <a:t>Speaker 2 — Data &amp; ML Models</a:t>
            </a:r>
            <a:endParaRPr lang="en-US" sz="900" dirty="0"/>
          </a:p>
        </p:txBody>
      </p:sp>
      <p:sp>
        <p:nvSpPr>
          <p:cNvPr id="15" name="Text 11"/>
          <p:cNvSpPr/>
          <p:nvPr/>
        </p:nvSpPr>
        <p:spPr>
          <a:xfrm>
            <a:off x="8412480" y="4709160"/>
            <a:ext cx="548640" cy="365760"/>
          </a:xfrm>
          <a:prstGeom prst="rect">
            <a:avLst/>
          </a:prstGeom>
          <a:noFill/>
          <a:ln/>
        </p:spPr>
        <p:txBody>
          <a:bodyPr wrap="square" rtlCol="0" anchor="ctr"/>
          <a:lstStyle/>
          <a:p>
            <a:pPr marL="0" indent="0" algn="r">
              <a:buNone/>
            </a:pPr>
            <a:r>
              <a:rPr lang="en-US" sz="900" dirty="0">
                <a:solidFill>
                  <a:srgbClr val="949594"/>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A1A2E"/>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C41E1E"/>
          </a:solidFill>
          <a:ln/>
        </p:spPr>
        <p:txBody>
          <a:bodyPr/>
          <a:lstStyle/>
          <a:p>
            <a:endParaRPr lang="en-US"/>
          </a:p>
        </p:txBody>
      </p:sp>
      <p:sp>
        <p:nvSpPr>
          <p:cNvPr id="3" name="Shape 1"/>
          <p:cNvSpPr/>
          <p:nvPr/>
        </p:nvSpPr>
        <p:spPr>
          <a:xfrm>
            <a:off x="8778240" y="0"/>
            <a:ext cx="137160" cy="5143500"/>
          </a:xfrm>
          <a:prstGeom prst="rect">
            <a:avLst/>
          </a:prstGeom>
          <a:solidFill>
            <a:srgbClr val="C41E1E"/>
          </a:solidFill>
          <a:ln/>
        </p:spPr>
        <p:txBody>
          <a:bodyPr/>
          <a:lstStyle/>
          <a:p>
            <a:endParaRPr lang="en-US"/>
          </a:p>
        </p:txBody>
      </p:sp>
      <p:sp>
        <p:nvSpPr>
          <p:cNvPr id="4" name="Shape 2"/>
          <p:cNvSpPr/>
          <p:nvPr/>
        </p:nvSpPr>
        <p:spPr>
          <a:xfrm>
            <a:off x="8961120" y="0"/>
            <a:ext cx="73152" cy="5143500"/>
          </a:xfrm>
          <a:prstGeom prst="rect">
            <a:avLst/>
          </a:prstGeom>
          <a:solidFill>
            <a:srgbClr val="C41E1E">
              <a:alpha val="40000"/>
            </a:srgbClr>
          </a:solidFill>
          <a:ln/>
        </p:spPr>
        <p:txBody>
          <a:bodyPr/>
          <a:lstStyle/>
          <a:p>
            <a:endParaRPr lang="en-US"/>
          </a:p>
        </p:txBody>
      </p:sp>
      <p:sp>
        <p:nvSpPr>
          <p:cNvPr id="5" name="Text 3"/>
          <p:cNvSpPr/>
          <p:nvPr/>
        </p:nvSpPr>
        <p:spPr>
          <a:xfrm>
            <a:off x="731520" y="731520"/>
            <a:ext cx="7315200" cy="822960"/>
          </a:xfrm>
          <a:prstGeom prst="rect">
            <a:avLst/>
          </a:prstGeom>
          <a:noFill/>
          <a:ln/>
        </p:spPr>
        <p:txBody>
          <a:bodyPr wrap="square" lIns="0" tIns="0" rIns="0" bIns="0" rtlCol="0" anchor="ctr"/>
          <a:lstStyle/>
          <a:p>
            <a:pPr marL="0" indent="0">
              <a:buNone/>
            </a:pPr>
            <a:r>
              <a:rPr lang="en-US" sz="4000" b="1" dirty="0">
                <a:solidFill>
                  <a:srgbClr val="FFFFFF"/>
                </a:solidFill>
                <a:latin typeface="Georgia" pitchFamily="34" charset="0"/>
                <a:ea typeface="Georgia" pitchFamily="34" charset="-122"/>
                <a:cs typeface="Georgia" pitchFamily="34" charset="-120"/>
              </a:rPr>
              <a:t>Features &gt; Algorithms</a:t>
            </a:r>
            <a:endParaRPr lang="en-US" sz="4000" dirty="0"/>
          </a:p>
        </p:txBody>
      </p:sp>
      <p:sp>
        <p:nvSpPr>
          <p:cNvPr id="6" name="Shape 4"/>
          <p:cNvSpPr/>
          <p:nvPr/>
        </p:nvSpPr>
        <p:spPr>
          <a:xfrm>
            <a:off x="731520" y="1645920"/>
            <a:ext cx="2743200" cy="36576"/>
          </a:xfrm>
          <a:prstGeom prst="rect">
            <a:avLst/>
          </a:prstGeom>
          <a:solidFill>
            <a:srgbClr val="C41E1E"/>
          </a:solidFill>
          <a:ln/>
        </p:spPr>
        <p:txBody>
          <a:bodyPr/>
          <a:lstStyle/>
          <a:p>
            <a:endParaRPr lang="en-US"/>
          </a:p>
        </p:txBody>
      </p:sp>
      <p:sp>
        <p:nvSpPr>
          <p:cNvPr id="7" name="Text 5"/>
          <p:cNvSpPr/>
          <p:nvPr/>
        </p:nvSpPr>
        <p:spPr>
          <a:xfrm>
            <a:off x="731520" y="2103120"/>
            <a:ext cx="7315200" cy="457200"/>
          </a:xfrm>
          <a:prstGeom prst="rect">
            <a:avLst/>
          </a:prstGeom>
          <a:noFill/>
          <a:ln/>
        </p:spPr>
        <p:txBody>
          <a:bodyPr wrap="square" lIns="0" tIns="0" rIns="0" bIns="0" rtlCol="0" anchor="ctr"/>
          <a:lstStyle/>
          <a:p>
            <a:pPr marL="0" indent="0">
              <a:buNone/>
            </a:pPr>
            <a:r>
              <a:rPr lang="en-US" sz="2000" b="1" dirty="0">
                <a:solidFill>
                  <a:srgbClr val="2563EB"/>
                </a:solidFill>
                <a:latin typeface="Calibri" pitchFamily="34" charset="0"/>
                <a:ea typeface="Calibri" pitchFamily="34" charset="-122"/>
                <a:cs typeface="Calibri" pitchFamily="34" charset="-120"/>
              </a:rPr>
              <a:t>Weather features added:  +20.4% winner accuracy</a:t>
            </a:r>
            <a:endParaRPr lang="en-US" sz="2000" dirty="0"/>
          </a:p>
        </p:txBody>
      </p:sp>
      <p:sp>
        <p:nvSpPr>
          <p:cNvPr id="8" name="Text 6"/>
          <p:cNvSpPr/>
          <p:nvPr/>
        </p:nvSpPr>
        <p:spPr>
          <a:xfrm>
            <a:off x="731520" y="2651760"/>
            <a:ext cx="7315200" cy="457200"/>
          </a:xfrm>
          <a:prstGeom prst="rect">
            <a:avLst/>
          </a:prstGeom>
          <a:noFill/>
          <a:ln/>
        </p:spPr>
        <p:txBody>
          <a:bodyPr wrap="square" lIns="0" tIns="0" rIns="0" bIns="0" rtlCol="0" anchor="ctr"/>
          <a:lstStyle/>
          <a:p>
            <a:pPr marL="0" indent="0">
              <a:buNone/>
            </a:pPr>
            <a:r>
              <a:rPr lang="en-US" sz="2000" b="1" dirty="0">
                <a:solidFill>
                  <a:srgbClr val="D97706"/>
                </a:solidFill>
                <a:latin typeface="Calibri" pitchFamily="34" charset="0"/>
                <a:ea typeface="Calibri" pitchFamily="34" charset="-122"/>
                <a:cs typeface="Calibri" pitchFamily="34" charset="-120"/>
              </a:rPr>
              <a:t>Tire/lap features added:  -23% position error</a:t>
            </a:r>
            <a:endParaRPr lang="en-US" sz="2000" dirty="0"/>
          </a:p>
        </p:txBody>
      </p:sp>
      <p:sp>
        <p:nvSpPr>
          <p:cNvPr id="9" name="Text 7"/>
          <p:cNvSpPr/>
          <p:nvPr/>
        </p:nvSpPr>
        <p:spPr>
          <a:xfrm>
            <a:off x="731520" y="3200400"/>
            <a:ext cx="7315200" cy="457200"/>
          </a:xfrm>
          <a:prstGeom prst="rect">
            <a:avLst/>
          </a:prstGeom>
          <a:noFill/>
          <a:ln/>
        </p:spPr>
        <p:txBody>
          <a:bodyPr wrap="square" lIns="0" tIns="0" rIns="0" bIns="0" rtlCol="0" anchor="ctr"/>
          <a:lstStyle/>
          <a:p>
            <a:pPr marL="0" indent="0">
              <a:buNone/>
            </a:pPr>
            <a:r>
              <a:rPr lang="en-US" sz="2000" dirty="0">
                <a:solidFill>
                  <a:srgbClr val="949594"/>
                </a:solidFill>
                <a:latin typeface="Calibri" pitchFamily="34" charset="0"/>
                <a:ea typeface="Calibri" pitchFamily="34" charset="-122"/>
                <a:cs typeface="Calibri" pitchFamily="34" charset="-120"/>
              </a:rPr>
              <a:t>Algorithm switch (GB→XGBoost):  -2.4% error</a:t>
            </a:r>
            <a:endParaRPr lang="en-US" sz="2000" dirty="0"/>
          </a:p>
        </p:txBody>
      </p:sp>
      <p:sp>
        <p:nvSpPr>
          <p:cNvPr id="10" name="Text 8"/>
          <p:cNvSpPr/>
          <p:nvPr/>
        </p:nvSpPr>
        <p:spPr>
          <a:xfrm>
            <a:off x="731520" y="3840480"/>
            <a:ext cx="7315200" cy="822960"/>
          </a:xfrm>
          <a:prstGeom prst="rect">
            <a:avLst/>
          </a:prstGeom>
          <a:noFill/>
          <a:ln/>
        </p:spPr>
        <p:txBody>
          <a:bodyPr wrap="square" lIns="0" tIns="0" rIns="0" bIns="0" rtlCol="0" anchor="ctr"/>
          <a:lstStyle/>
          <a:p>
            <a:pPr marL="0" indent="0">
              <a:lnSpc>
                <a:spcPct val="140000"/>
              </a:lnSpc>
              <a:buNone/>
            </a:pPr>
            <a:r>
              <a:rPr lang="en-US" sz="1300" i="1" dirty="0">
                <a:solidFill>
                  <a:srgbClr val="949594"/>
                </a:solidFill>
                <a:latin typeface="Calibri" pitchFamily="34" charset="0"/>
                <a:ea typeface="Calibri" pitchFamily="34" charset="-122"/>
                <a:cs typeface="Calibri" pitchFamily="34" charset="-120"/>
              </a:rPr>
              <a:t>On tabular data, the quality of features matters</a:t>
            </a:r>
            <a:endParaRPr lang="en-US" sz="1300" dirty="0"/>
          </a:p>
          <a:p>
            <a:pPr marL="0" indent="0">
              <a:lnSpc>
                <a:spcPct val="140000"/>
              </a:lnSpc>
              <a:buNone/>
            </a:pPr>
            <a:r>
              <a:rPr lang="en-US" sz="1300" i="1" dirty="0">
                <a:solidFill>
                  <a:srgbClr val="949594"/>
                </a:solidFill>
                <a:latin typeface="Calibri" pitchFamily="34" charset="0"/>
                <a:ea typeface="Calibri" pitchFamily="34" charset="-122"/>
                <a:cs typeface="Calibri" pitchFamily="34" charset="-120"/>
              </a:rPr>
              <a:t>far more than the choice of model.</a:t>
            </a:r>
            <a:endParaRPr lang="en-US" sz="1300" dirty="0"/>
          </a:p>
          <a:p>
            <a:pPr marL="0" indent="0">
              <a:lnSpc>
                <a:spcPct val="140000"/>
              </a:lnSpc>
              <a:buNone/>
            </a:pPr>
            <a:r>
              <a:rPr lang="en-US" sz="1300" i="1" dirty="0">
                <a:solidFill>
                  <a:srgbClr val="949594"/>
                </a:solidFill>
                <a:latin typeface="Calibri" pitchFamily="34" charset="0"/>
                <a:ea typeface="Calibri" pitchFamily="34" charset="-122"/>
                <a:cs typeface="Calibri" pitchFamily="34" charset="-120"/>
              </a:rPr>
              <a:t>Invest 80% in feature engineering, 20% in model selection.</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A1A2E"/>
        </a:solidFill>
        <a:effectLst/>
      </p:bgPr>
    </p:bg>
    <p:spTree>
      <p:nvGrpSpPr>
        <p:cNvPr id="1" name=""/>
        <p:cNvGrpSpPr/>
        <p:nvPr/>
      </p:nvGrpSpPr>
      <p:grpSpPr>
        <a:xfrm>
          <a:off x="0" y="0"/>
          <a:ext cx="0" cy="0"/>
          <a:chOff x="0" y="0"/>
          <a:chExt cx="0" cy="0"/>
        </a:xfrm>
      </p:grpSpPr>
      <p:sp>
        <p:nvSpPr>
          <p:cNvPr id="2" name="Shape 0"/>
          <p:cNvSpPr/>
          <p:nvPr/>
        </p:nvSpPr>
        <p:spPr>
          <a:xfrm>
            <a:off x="0" y="2011680"/>
            <a:ext cx="9144000" cy="36576"/>
          </a:xfrm>
          <a:prstGeom prst="rect">
            <a:avLst/>
          </a:prstGeom>
          <a:solidFill>
            <a:srgbClr val="C41E1E"/>
          </a:solidFill>
          <a:ln/>
        </p:spPr>
        <p:txBody>
          <a:bodyPr/>
          <a:lstStyle/>
          <a:p>
            <a:endParaRPr lang="en-US"/>
          </a:p>
        </p:txBody>
      </p:sp>
      <p:sp>
        <p:nvSpPr>
          <p:cNvPr id="3" name="Text 1"/>
          <p:cNvSpPr/>
          <p:nvPr/>
        </p:nvSpPr>
        <p:spPr>
          <a:xfrm>
            <a:off x="731520" y="914400"/>
            <a:ext cx="7315200" cy="731520"/>
          </a:xfrm>
          <a:prstGeom prst="rect">
            <a:avLst/>
          </a:prstGeom>
          <a:noFill/>
          <a:ln/>
        </p:spPr>
        <p:txBody>
          <a:bodyPr wrap="square" lIns="0" tIns="0" rIns="0" bIns="0" rtlCol="0" anchor="ctr"/>
          <a:lstStyle/>
          <a:p>
            <a:pPr marL="0" indent="0">
              <a:buNone/>
            </a:pPr>
            <a:r>
              <a:rPr lang="en-US" sz="5600" b="1" dirty="0">
                <a:solidFill>
                  <a:srgbClr val="C41E1E"/>
                </a:solidFill>
                <a:latin typeface="Georgia" pitchFamily="34" charset="0"/>
                <a:ea typeface="Georgia" pitchFamily="34" charset="-122"/>
                <a:cs typeface="Georgia" pitchFamily="34" charset="-120"/>
              </a:rPr>
              <a:t>03</a:t>
            </a:r>
            <a:endParaRPr lang="en-US" sz="5600" dirty="0"/>
          </a:p>
        </p:txBody>
      </p:sp>
      <p:sp>
        <p:nvSpPr>
          <p:cNvPr id="4" name="Text 2"/>
          <p:cNvSpPr/>
          <p:nvPr/>
        </p:nvSpPr>
        <p:spPr>
          <a:xfrm>
            <a:off x="731520" y="2286000"/>
            <a:ext cx="7315200" cy="731520"/>
          </a:xfrm>
          <a:prstGeom prst="rect">
            <a:avLst/>
          </a:prstGeom>
          <a:noFill/>
          <a:ln/>
        </p:spPr>
        <p:txBody>
          <a:bodyPr wrap="square" lIns="0" tIns="0" rIns="0" bIns="0" rtlCol="0" anchor="ctr"/>
          <a:lstStyle/>
          <a:p>
            <a:pPr marL="0" indent="0">
              <a:buNone/>
            </a:pPr>
            <a:r>
              <a:rPr lang="en-US" sz="3000" b="1" dirty="0">
                <a:solidFill>
                  <a:srgbClr val="FFFFFF"/>
                </a:solidFill>
                <a:latin typeface="Georgia" pitchFamily="34" charset="0"/>
                <a:ea typeface="Georgia" pitchFamily="34" charset="-122"/>
                <a:cs typeface="Georgia" pitchFamily="34" charset="-120"/>
              </a:rPr>
              <a:t>Predictions &amp; Agentic AI</a:t>
            </a:r>
            <a:endParaRPr lang="en-US" sz="3000" dirty="0"/>
          </a:p>
        </p:txBody>
      </p:sp>
      <p:sp>
        <p:nvSpPr>
          <p:cNvPr id="5" name="Text 3"/>
          <p:cNvSpPr/>
          <p:nvPr/>
        </p:nvSpPr>
        <p:spPr>
          <a:xfrm>
            <a:off x="731520" y="3108960"/>
            <a:ext cx="7315200" cy="457200"/>
          </a:xfrm>
          <a:prstGeom prst="rect">
            <a:avLst/>
          </a:prstGeom>
          <a:noFill/>
          <a:ln/>
        </p:spPr>
        <p:txBody>
          <a:bodyPr wrap="square" lIns="0" tIns="0" rIns="0" bIns="0" rtlCol="0" anchor="ctr"/>
          <a:lstStyle/>
          <a:p>
            <a:pPr marL="0" indent="0">
              <a:buNone/>
            </a:pPr>
            <a:r>
              <a:rPr lang="en-US" sz="1300" dirty="0">
                <a:solidFill>
                  <a:srgbClr val="949594"/>
                </a:solidFill>
                <a:latin typeface="Calibri" pitchFamily="34" charset="0"/>
                <a:ea typeface="Calibri" pitchFamily="34" charset="-122"/>
                <a:cs typeface="Calibri" pitchFamily="34" charset="-120"/>
              </a:rPr>
              <a:t>Speaker 3 — Live Results, 4 Autonomous Agents, Lessons Learned</a:t>
            </a:r>
            <a:endParaRPr lang="en-US" sz="1300" dirty="0"/>
          </a:p>
        </p:txBody>
      </p:sp>
      <p:pic>
        <p:nvPicPr>
          <p:cNvPr id="6" name="Image 0" descr="preencoded.png"/>
          <p:cNvPicPr>
            <a:picLocks noChangeAspect="1"/>
          </p:cNvPicPr>
          <p:nvPr/>
        </p:nvPicPr>
        <p:blipFill>
          <a:blip r:embed="rId3"/>
          <a:stretch>
            <a:fillRect/>
          </a:stretch>
        </p:blipFill>
        <p:spPr>
          <a:xfrm>
            <a:off x="7772400" y="4114800"/>
            <a:ext cx="548640" cy="54864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5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C41E1E"/>
          </a:solidFill>
          <a:ln/>
        </p:spPr>
        <p:txBody>
          <a:bodyPr/>
          <a:lstStyle/>
          <a:p>
            <a:endParaRPr lang="en-US"/>
          </a:p>
        </p:txBody>
      </p:sp>
      <p:sp>
        <p:nvSpPr>
          <p:cNvPr id="3" name="Shape 1"/>
          <p:cNvSpPr/>
          <p:nvPr/>
        </p:nvSpPr>
        <p:spPr>
          <a:xfrm>
            <a:off x="8778240" y="0"/>
            <a:ext cx="137160" cy="5143500"/>
          </a:xfrm>
          <a:prstGeom prst="rect">
            <a:avLst/>
          </a:prstGeom>
          <a:solidFill>
            <a:srgbClr val="C41E1E"/>
          </a:solidFill>
          <a:ln/>
        </p:spPr>
        <p:txBody>
          <a:bodyPr/>
          <a:lstStyle/>
          <a:p>
            <a:endParaRPr lang="en-US"/>
          </a:p>
        </p:txBody>
      </p:sp>
      <p:sp>
        <p:nvSpPr>
          <p:cNvPr id="4" name="Shape 2"/>
          <p:cNvSpPr/>
          <p:nvPr/>
        </p:nvSpPr>
        <p:spPr>
          <a:xfrm>
            <a:off x="8961120" y="0"/>
            <a:ext cx="73152" cy="5143500"/>
          </a:xfrm>
          <a:prstGeom prst="rect">
            <a:avLst/>
          </a:prstGeom>
          <a:solidFill>
            <a:srgbClr val="C41E1E">
              <a:alpha val="40000"/>
            </a:srgbClr>
          </a:solidFill>
          <a:ln/>
        </p:spPr>
        <p:txBody>
          <a:bodyPr/>
          <a:lstStyle/>
          <a:p>
            <a:endParaRPr lang="en-US"/>
          </a:p>
        </p:txBody>
      </p:sp>
      <p:pic>
        <p:nvPicPr>
          <p:cNvPr id="5" name="Image 0" descr="preencoded.png"/>
          <p:cNvPicPr>
            <a:picLocks noChangeAspect="1"/>
          </p:cNvPicPr>
          <p:nvPr/>
        </p:nvPicPr>
        <p:blipFill>
          <a:blip r:embed="rId3"/>
          <a:stretch>
            <a:fillRect/>
          </a:stretch>
        </p:blipFill>
        <p:spPr>
          <a:xfrm>
            <a:off x="365760" y="182880"/>
            <a:ext cx="320040" cy="320040"/>
          </a:xfrm>
          <a:prstGeom prst="rect">
            <a:avLst/>
          </a:prstGeom>
        </p:spPr>
      </p:pic>
      <p:sp>
        <p:nvSpPr>
          <p:cNvPr id="6" name="Text 3"/>
          <p:cNvSpPr/>
          <p:nvPr/>
        </p:nvSpPr>
        <p:spPr>
          <a:xfrm>
            <a:off x="777240" y="182880"/>
            <a:ext cx="7315200" cy="548640"/>
          </a:xfrm>
          <a:prstGeom prst="rect">
            <a:avLst/>
          </a:prstGeom>
          <a:noFill/>
          <a:ln/>
        </p:spPr>
        <p:txBody>
          <a:bodyPr wrap="square" lIns="0" tIns="0" rIns="0" bIns="0" rtlCol="0" anchor="ctr"/>
          <a:lstStyle/>
          <a:p>
            <a:pPr marL="0" indent="0">
              <a:buNone/>
            </a:pPr>
            <a:r>
              <a:rPr lang="en-US" sz="2600" b="1" dirty="0">
                <a:solidFill>
                  <a:srgbClr val="1A1A2E"/>
                </a:solidFill>
                <a:latin typeface="Georgia" pitchFamily="34" charset="0"/>
                <a:ea typeface="Georgia" pitchFamily="34" charset="-122"/>
                <a:cs typeface="Georgia" pitchFamily="34" charset="-120"/>
              </a:rPr>
              <a:t>Race Predictions — Model vs Reality</a:t>
            </a:r>
            <a:endParaRPr lang="en-US" sz="2600" dirty="0"/>
          </a:p>
        </p:txBody>
      </p:sp>
      <p:sp>
        <p:nvSpPr>
          <p:cNvPr id="7" name="Text 4"/>
          <p:cNvSpPr/>
          <p:nvPr/>
        </p:nvSpPr>
        <p:spPr>
          <a:xfrm>
            <a:off x="777240" y="685800"/>
            <a:ext cx="7315200" cy="228600"/>
          </a:xfrm>
          <a:prstGeom prst="rect">
            <a:avLst/>
          </a:prstGeom>
          <a:noFill/>
          <a:ln/>
        </p:spPr>
        <p:txBody>
          <a:bodyPr wrap="square" lIns="0" tIns="0" rIns="0" bIns="0" rtlCol="0" anchor="ctr"/>
          <a:lstStyle/>
          <a:p>
            <a:pPr marL="0" indent="0">
              <a:buNone/>
            </a:pPr>
            <a:r>
              <a:rPr lang="en-US" sz="1100" dirty="0">
                <a:solidFill>
                  <a:srgbClr val="949594"/>
                </a:solidFill>
                <a:latin typeface="Calibri" pitchFamily="34" charset="0"/>
                <a:ea typeface="Calibri" pitchFamily="34" charset="-122"/>
                <a:cs typeface="Calibri" pitchFamily="34" charset="-120"/>
              </a:rPr>
              <a:t>Sample predictions from Gradient Boosting model on 2025-2026 races</a:t>
            </a:r>
            <a:endParaRPr lang="en-US" sz="11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274320" y="1005840"/>
          <a:ext cx="8503920" cy="914400"/>
        </p:xfrm>
        <a:graphic>
          <a:graphicData uri="http://schemas.openxmlformats.org/drawingml/2006/table">
            <a:tbl>
              <a:tblPr/>
              <a:tblGrid>
                <a:gridCol w="164592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gridCol w="2011680">
                  <a:extLst>
                    <a:ext uri="{9D8B030D-6E8A-4147-A177-3AD203B41FA5}">
                      <a16:colId xmlns:a16="http://schemas.microsoft.com/office/drawing/2014/main" val="20004"/>
                    </a:ext>
                  </a:extLst>
                </a:gridCol>
              </a:tblGrid>
              <a:tr h="274320">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Race</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C41E1E"/>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Predicted Winner</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C41E1E"/>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Actual Winner</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C41E1E"/>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Result</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C41E1E"/>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Model Confidence</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C41E1E"/>
                    </a:solidFill>
                  </a:tcPr>
                </a:tc>
                <a:extLst>
                  <a:ext uri="{0D108BD9-81ED-4DB2-BD59-A6C34878D82A}">
                    <a16:rowId xmlns:a16="http://schemas.microsoft.com/office/drawing/2014/main" val="10000"/>
                  </a:ext>
                </a:extLst>
              </a:tr>
              <a:tr h="274320">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2025 R2 China</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Piastri</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Piastri</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 Correct</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50% probability</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1"/>
                  </a:ext>
                </a:extLst>
              </a:tr>
              <a:tr h="274320">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2025 R3 Japan</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Verstappen</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Verstappen</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 Correct</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37% probability</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2"/>
                  </a:ext>
                </a:extLst>
              </a:tr>
              <a:tr h="274320">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2025 R4 Bahrain</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Piastri</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Piastri</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 Correct</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78% probability</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3"/>
                  </a:ext>
                </a:extLst>
              </a:tr>
              <a:tr h="274320">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2025 R8 Monaco</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Norris</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Norris</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 Correct</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86% probability</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4"/>
                  </a:ext>
                </a:extLst>
              </a:tr>
              <a:tr h="274320">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2025 R10 Spain</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Russell</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Russell</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 Correct</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26% probability</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5"/>
                  </a:ext>
                </a:extLst>
              </a:tr>
              <a:tr h="274320">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2026 R3 Japan</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Antonelli</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Antonelli</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 Correct</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42% probability</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6"/>
                  </a:ext>
                </a:extLst>
              </a:tr>
              <a:tr h="274320">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2025 R1 Australia</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Verstappen</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Norris</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C41E1E"/>
                          </a:solidFill>
                          <a:latin typeface="Calibri" pitchFamily="34" charset="0"/>
                          <a:ea typeface="Calibri" pitchFamily="34" charset="-122"/>
                          <a:cs typeface="Calibri" pitchFamily="34" charset="-120"/>
                        </a:rPr>
                        <a:t>❌ Missed</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marL="0" indent="0">
                        <a:buNone/>
                      </a:pPr>
                      <a:r>
                        <a:rPr lang="en-US" sz="950" dirty="0">
                          <a:solidFill>
                            <a:srgbClr val="000000"/>
                          </a:solidFill>
                          <a:latin typeface="Calibri" pitchFamily="34" charset="0"/>
                          <a:ea typeface="Calibri" pitchFamily="34" charset="-122"/>
                          <a:cs typeface="Calibri" pitchFamily="34" charset="-120"/>
                        </a:rPr>
                        <a:t>Norris was #2 pick</a:t>
                      </a:r>
                      <a:endParaRPr lang="en-US" sz="950" dirty="0">
                        <a:latin typeface="Calibri" charset="0"/>
                        <a:ea typeface="Calibri" charset="0"/>
                        <a:cs typeface="Calibri" charset="0"/>
                      </a:endParaRPr>
                    </a:p>
                  </a:txBody>
                  <a:tcP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9" name="Shape 5"/>
          <p:cNvSpPr/>
          <p:nvPr/>
        </p:nvSpPr>
        <p:spPr>
          <a:xfrm>
            <a:off x="365760" y="3474720"/>
            <a:ext cx="2560320" cy="822960"/>
          </a:xfrm>
          <a:prstGeom prst="rect">
            <a:avLst/>
          </a:prstGeom>
          <a:solidFill>
            <a:srgbClr val="E6F4EA"/>
          </a:solidFill>
          <a:ln/>
          <a:effectLst>
            <a:outerShdw blurRad="50800" dist="25400" dir="8100000" algn="bl" rotWithShape="0">
              <a:srgbClr val="000000">
                <a:alpha val="10000"/>
              </a:srgbClr>
            </a:outerShdw>
          </a:effectLst>
        </p:spPr>
        <p:txBody>
          <a:bodyPr/>
          <a:lstStyle/>
          <a:p>
            <a:endParaRPr lang="en-US"/>
          </a:p>
        </p:txBody>
      </p:sp>
      <p:sp>
        <p:nvSpPr>
          <p:cNvPr id="10" name="Text 6"/>
          <p:cNvSpPr/>
          <p:nvPr/>
        </p:nvSpPr>
        <p:spPr>
          <a:xfrm>
            <a:off x="365760" y="3566160"/>
            <a:ext cx="2560320" cy="411480"/>
          </a:xfrm>
          <a:prstGeom prst="rect">
            <a:avLst/>
          </a:prstGeom>
          <a:noFill/>
          <a:ln/>
        </p:spPr>
        <p:txBody>
          <a:bodyPr wrap="square" lIns="0" tIns="0" rIns="0" bIns="0" rtlCol="0" anchor="ctr"/>
          <a:lstStyle/>
          <a:p>
            <a:pPr marL="0" indent="0" algn="ctr">
              <a:buNone/>
            </a:pPr>
            <a:r>
              <a:rPr lang="en-US" sz="2800" b="1" dirty="0">
                <a:solidFill>
                  <a:srgbClr val="059669"/>
                </a:solidFill>
                <a:latin typeface="Georgia" pitchFamily="34" charset="0"/>
                <a:ea typeface="Georgia" pitchFamily="34" charset="-122"/>
                <a:cs typeface="Georgia" pitchFamily="34" charset="-120"/>
              </a:rPr>
              <a:t>21/27</a:t>
            </a:r>
            <a:endParaRPr lang="en-US" sz="2800" dirty="0"/>
          </a:p>
        </p:txBody>
      </p:sp>
      <p:sp>
        <p:nvSpPr>
          <p:cNvPr id="11" name="Text 7"/>
          <p:cNvSpPr/>
          <p:nvPr/>
        </p:nvSpPr>
        <p:spPr>
          <a:xfrm>
            <a:off x="365760" y="3886200"/>
            <a:ext cx="2560320" cy="274320"/>
          </a:xfrm>
          <a:prstGeom prst="rect">
            <a:avLst/>
          </a:prstGeom>
          <a:noFill/>
          <a:ln/>
        </p:spPr>
        <p:txBody>
          <a:bodyPr wrap="square" lIns="0" tIns="0" rIns="0" bIns="0" rtlCol="0" anchor="ctr"/>
          <a:lstStyle/>
          <a:p>
            <a:pPr marL="0" indent="0" algn="ctr">
              <a:buNone/>
            </a:pPr>
            <a:r>
              <a:rPr lang="en-US" sz="1000" dirty="0">
                <a:solidFill>
                  <a:srgbClr val="059669"/>
                </a:solidFill>
                <a:latin typeface="Calibri" pitchFamily="34" charset="0"/>
                <a:ea typeface="Calibri" pitchFamily="34" charset="-122"/>
                <a:cs typeface="Calibri" pitchFamily="34" charset="-120"/>
              </a:rPr>
              <a:t>Winners Correct</a:t>
            </a:r>
            <a:endParaRPr lang="en-US" sz="1000" dirty="0"/>
          </a:p>
        </p:txBody>
      </p:sp>
      <p:sp>
        <p:nvSpPr>
          <p:cNvPr id="12" name="Text 8"/>
          <p:cNvSpPr/>
          <p:nvPr/>
        </p:nvSpPr>
        <p:spPr>
          <a:xfrm>
            <a:off x="365760" y="4160520"/>
            <a:ext cx="2560320" cy="274320"/>
          </a:xfrm>
          <a:prstGeom prst="rect">
            <a:avLst/>
          </a:prstGeom>
          <a:noFill/>
          <a:ln/>
        </p:spPr>
        <p:txBody>
          <a:bodyPr wrap="square" lIns="0" tIns="0" rIns="0" bIns="0" rtlCol="0" anchor="ctr"/>
          <a:lstStyle/>
          <a:p>
            <a:pPr marL="0" indent="0" algn="ctr">
              <a:buNone/>
            </a:pPr>
            <a:r>
              <a:rPr lang="en-US" sz="800" dirty="0">
                <a:solidFill>
                  <a:srgbClr val="949594"/>
                </a:solidFill>
                <a:latin typeface="Calibri" pitchFamily="34" charset="0"/>
                <a:ea typeface="Calibri" pitchFamily="34" charset="-122"/>
                <a:cs typeface="Calibri" pitchFamily="34" charset="-120"/>
              </a:rPr>
              <a:t>77.8%</a:t>
            </a:r>
            <a:endParaRPr lang="en-US" sz="800" dirty="0"/>
          </a:p>
        </p:txBody>
      </p:sp>
      <p:sp>
        <p:nvSpPr>
          <p:cNvPr id="13" name="Shape 9"/>
          <p:cNvSpPr/>
          <p:nvPr/>
        </p:nvSpPr>
        <p:spPr>
          <a:xfrm>
            <a:off x="3200400" y="3474720"/>
            <a:ext cx="2560320" cy="822960"/>
          </a:xfrm>
          <a:prstGeom prst="rect">
            <a:avLst/>
          </a:prstGeom>
          <a:solidFill>
            <a:srgbClr val="E6F4EA"/>
          </a:solidFill>
          <a:ln/>
          <a:effectLst>
            <a:outerShdw blurRad="50800" dist="25400" dir="8100000" algn="bl" rotWithShape="0">
              <a:srgbClr val="000000">
                <a:alpha val="10000"/>
              </a:srgbClr>
            </a:outerShdw>
          </a:effectLst>
        </p:spPr>
        <p:txBody>
          <a:bodyPr/>
          <a:lstStyle/>
          <a:p>
            <a:endParaRPr lang="en-US"/>
          </a:p>
        </p:txBody>
      </p:sp>
      <p:sp>
        <p:nvSpPr>
          <p:cNvPr id="14" name="Text 10"/>
          <p:cNvSpPr/>
          <p:nvPr/>
        </p:nvSpPr>
        <p:spPr>
          <a:xfrm>
            <a:off x="3200400" y="3566160"/>
            <a:ext cx="2560320" cy="411480"/>
          </a:xfrm>
          <a:prstGeom prst="rect">
            <a:avLst/>
          </a:prstGeom>
          <a:noFill/>
          <a:ln/>
        </p:spPr>
        <p:txBody>
          <a:bodyPr wrap="square" lIns="0" tIns="0" rIns="0" bIns="0" rtlCol="0" anchor="ctr"/>
          <a:lstStyle/>
          <a:p>
            <a:pPr marL="0" indent="0" algn="ctr">
              <a:buNone/>
            </a:pPr>
            <a:r>
              <a:rPr lang="en-US" sz="2800" b="1" dirty="0">
                <a:solidFill>
                  <a:srgbClr val="059669"/>
                </a:solidFill>
                <a:latin typeface="Georgia" pitchFamily="34" charset="0"/>
                <a:ea typeface="Georgia" pitchFamily="34" charset="-122"/>
                <a:cs typeface="Georgia" pitchFamily="34" charset="-120"/>
              </a:rPr>
              <a:t>27/27</a:t>
            </a:r>
            <a:endParaRPr lang="en-US" sz="2800" dirty="0"/>
          </a:p>
        </p:txBody>
      </p:sp>
      <p:sp>
        <p:nvSpPr>
          <p:cNvPr id="15" name="Text 11"/>
          <p:cNvSpPr/>
          <p:nvPr/>
        </p:nvSpPr>
        <p:spPr>
          <a:xfrm>
            <a:off x="3200400" y="3886200"/>
            <a:ext cx="2560320" cy="274320"/>
          </a:xfrm>
          <a:prstGeom prst="rect">
            <a:avLst/>
          </a:prstGeom>
          <a:noFill/>
          <a:ln/>
        </p:spPr>
        <p:txBody>
          <a:bodyPr wrap="square" lIns="0" tIns="0" rIns="0" bIns="0" rtlCol="0" anchor="ctr"/>
          <a:lstStyle/>
          <a:p>
            <a:pPr marL="0" indent="0" algn="ctr">
              <a:buNone/>
            </a:pPr>
            <a:r>
              <a:rPr lang="en-US" sz="1000" dirty="0">
                <a:solidFill>
                  <a:srgbClr val="059669"/>
                </a:solidFill>
                <a:latin typeface="Calibri" pitchFamily="34" charset="0"/>
                <a:ea typeface="Calibri" pitchFamily="34" charset="-122"/>
                <a:cs typeface="Calibri" pitchFamily="34" charset="-120"/>
              </a:rPr>
              <a:t>Winner in Top-3</a:t>
            </a:r>
            <a:endParaRPr lang="en-US" sz="1000" dirty="0"/>
          </a:p>
        </p:txBody>
      </p:sp>
      <p:sp>
        <p:nvSpPr>
          <p:cNvPr id="16" name="Text 12"/>
          <p:cNvSpPr/>
          <p:nvPr/>
        </p:nvSpPr>
        <p:spPr>
          <a:xfrm>
            <a:off x="3200400" y="4160520"/>
            <a:ext cx="2560320" cy="274320"/>
          </a:xfrm>
          <a:prstGeom prst="rect">
            <a:avLst/>
          </a:prstGeom>
          <a:noFill/>
          <a:ln/>
        </p:spPr>
        <p:txBody>
          <a:bodyPr wrap="square" lIns="0" tIns="0" rIns="0" bIns="0" rtlCol="0" anchor="ctr"/>
          <a:lstStyle/>
          <a:p>
            <a:pPr marL="0" indent="0" algn="ctr">
              <a:buNone/>
            </a:pPr>
            <a:r>
              <a:rPr lang="en-US" sz="800" dirty="0">
                <a:solidFill>
                  <a:srgbClr val="949594"/>
                </a:solidFill>
                <a:latin typeface="Calibri" pitchFamily="34" charset="0"/>
                <a:ea typeface="Calibri" pitchFamily="34" charset="-122"/>
                <a:cs typeface="Calibri" pitchFamily="34" charset="-120"/>
              </a:rPr>
              <a:t>100%</a:t>
            </a:r>
            <a:endParaRPr lang="en-US" sz="800" dirty="0"/>
          </a:p>
        </p:txBody>
      </p:sp>
      <p:sp>
        <p:nvSpPr>
          <p:cNvPr id="17" name="Shape 13"/>
          <p:cNvSpPr/>
          <p:nvPr/>
        </p:nvSpPr>
        <p:spPr>
          <a:xfrm>
            <a:off x="5943600" y="3474720"/>
            <a:ext cx="2560320" cy="822960"/>
          </a:xfrm>
          <a:prstGeom prst="rect">
            <a:avLst/>
          </a:prstGeom>
          <a:solidFill>
            <a:srgbClr val="E8F0FE"/>
          </a:solidFill>
          <a:ln/>
          <a:effectLst>
            <a:outerShdw blurRad="50800" dist="25400" dir="8100000" algn="bl" rotWithShape="0">
              <a:srgbClr val="000000">
                <a:alpha val="10000"/>
              </a:srgbClr>
            </a:outerShdw>
          </a:effectLst>
        </p:spPr>
        <p:txBody>
          <a:bodyPr/>
          <a:lstStyle/>
          <a:p>
            <a:endParaRPr lang="en-US"/>
          </a:p>
        </p:txBody>
      </p:sp>
      <p:sp>
        <p:nvSpPr>
          <p:cNvPr id="18" name="Text 14"/>
          <p:cNvSpPr/>
          <p:nvPr/>
        </p:nvSpPr>
        <p:spPr>
          <a:xfrm>
            <a:off x="5943600" y="3566160"/>
            <a:ext cx="2560320" cy="411480"/>
          </a:xfrm>
          <a:prstGeom prst="rect">
            <a:avLst/>
          </a:prstGeom>
          <a:noFill/>
          <a:ln/>
        </p:spPr>
        <p:txBody>
          <a:bodyPr wrap="square" lIns="0" tIns="0" rIns="0" bIns="0" rtlCol="0" anchor="ctr"/>
          <a:lstStyle/>
          <a:p>
            <a:pPr marL="0" indent="0" algn="ctr">
              <a:buNone/>
            </a:pPr>
            <a:r>
              <a:rPr lang="en-US" sz="2800" b="1" dirty="0">
                <a:solidFill>
                  <a:srgbClr val="2563EB"/>
                </a:solidFill>
                <a:latin typeface="Georgia" pitchFamily="34" charset="0"/>
                <a:ea typeface="Georgia" pitchFamily="34" charset="-122"/>
                <a:cs typeface="Georgia" pitchFamily="34" charset="-120"/>
              </a:rPr>
              <a:t>2.1</a:t>
            </a:r>
            <a:endParaRPr lang="en-US" sz="2800" dirty="0"/>
          </a:p>
        </p:txBody>
      </p:sp>
      <p:sp>
        <p:nvSpPr>
          <p:cNvPr id="19" name="Text 15"/>
          <p:cNvSpPr/>
          <p:nvPr/>
        </p:nvSpPr>
        <p:spPr>
          <a:xfrm>
            <a:off x="5943600" y="3886200"/>
            <a:ext cx="2560320" cy="274320"/>
          </a:xfrm>
          <a:prstGeom prst="rect">
            <a:avLst/>
          </a:prstGeom>
          <a:noFill/>
          <a:ln/>
        </p:spPr>
        <p:txBody>
          <a:bodyPr wrap="square" lIns="0" tIns="0" rIns="0" bIns="0" rtlCol="0" anchor="ctr"/>
          <a:lstStyle/>
          <a:p>
            <a:pPr marL="0" indent="0" algn="ctr">
              <a:buNone/>
            </a:pPr>
            <a:r>
              <a:rPr lang="en-US" sz="1000" dirty="0">
                <a:solidFill>
                  <a:srgbClr val="2563EB"/>
                </a:solidFill>
                <a:latin typeface="Calibri" pitchFamily="34" charset="0"/>
                <a:ea typeface="Calibri" pitchFamily="34" charset="-122"/>
                <a:cs typeface="Calibri" pitchFamily="34" charset="-120"/>
              </a:rPr>
              <a:t>Avg Positions Off</a:t>
            </a:r>
            <a:endParaRPr lang="en-US" sz="1000" dirty="0"/>
          </a:p>
        </p:txBody>
      </p:sp>
      <p:sp>
        <p:nvSpPr>
          <p:cNvPr id="20" name="Text 16"/>
          <p:cNvSpPr/>
          <p:nvPr/>
        </p:nvSpPr>
        <p:spPr>
          <a:xfrm>
            <a:off x="5943600" y="4160520"/>
            <a:ext cx="2560320" cy="274320"/>
          </a:xfrm>
          <a:prstGeom prst="rect">
            <a:avLst/>
          </a:prstGeom>
          <a:noFill/>
          <a:ln/>
        </p:spPr>
        <p:txBody>
          <a:bodyPr wrap="square" lIns="0" tIns="0" rIns="0" bIns="0" rtlCol="0" anchor="ctr"/>
          <a:lstStyle/>
          <a:p>
            <a:pPr marL="0" indent="0" algn="ctr">
              <a:buNone/>
            </a:pPr>
            <a:r>
              <a:rPr lang="en-US" sz="800" dirty="0">
                <a:solidFill>
                  <a:srgbClr val="949594"/>
                </a:solidFill>
                <a:latin typeface="Calibri" pitchFamily="34" charset="0"/>
                <a:ea typeface="Calibri" pitchFamily="34" charset="-122"/>
                <a:cs typeface="Calibri" pitchFamily="34" charset="-120"/>
              </a:rPr>
              <a:t>MAE on test set</a:t>
            </a:r>
            <a:endParaRPr lang="en-US" sz="800" dirty="0"/>
          </a:p>
        </p:txBody>
      </p:sp>
      <p:sp>
        <p:nvSpPr>
          <p:cNvPr id="8" name="Text 17"/>
          <p:cNvSpPr/>
          <p:nvPr/>
        </p:nvSpPr>
        <p:spPr>
          <a:xfrm>
            <a:off x="457200" y="4709160"/>
            <a:ext cx="6400800" cy="365760"/>
          </a:xfrm>
          <a:prstGeom prst="rect">
            <a:avLst/>
          </a:prstGeom>
          <a:noFill/>
          <a:ln/>
        </p:spPr>
        <p:txBody>
          <a:bodyPr wrap="square" rtlCol="0" anchor="ctr"/>
          <a:lstStyle/>
          <a:p>
            <a:pPr marL="0" indent="0">
              <a:buNone/>
            </a:pPr>
            <a:r>
              <a:rPr lang="en-US" sz="900" dirty="0">
                <a:solidFill>
                  <a:srgbClr val="949594"/>
                </a:solidFill>
                <a:latin typeface="Calibri" pitchFamily="34" charset="0"/>
                <a:ea typeface="Calibri" pitchFamily="34" charset="-122"/>
                <a:cs typeface="Calibri" pitchFamily="34" charset="-120"/>
              </a:rPr>
              <a:t>Speaker 3 — Predictions &amp; AI</a:t>
            </a:r>
            <a:endParaRPr lang="en-US" sz="900" dirty="0"/>
          </a:p>
        </p:txBody>
      </p:sp>
      <p:sp>
        <p:nvSpPr>
          <p:cNvPr id="22" name="Text 18"/>
          <p:cNvSpPr/>
          <p:nvPr/>
        </p:nvSpPr>
        <p:spPr>
          <a:xfrm>
            <a:off x="8412480" y="4709160"/>
            <a:ext cx="548640" cy="365760"/>
          </a:xfrm>
          <a:prstGeom prst="rect">
            <a:avLst/>
          </a:prstGeom>
          <a:noFill/>
          <a:ln/>
        </p:spPr>
        <p:txBody>
          <a:bodyPr wrap="square" rtlCol="0" anchor="ctr"/>
          <a:lstStyle/>
          <a:p>
            <a:pPr marL="0" indent="0" algn="r">
              <a:buNone/>
            </a:pPr>
            <a:r>
              <a:rPr lang="en-US" sz="900" dirty="0">
                <a:solidFill>
                  <a:srgbClr val="949594"/>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5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C41E1E"/>
          </a:solidFill>
          <a:ln/>
        </p:spPr>
        <p:txBody>
          <a:bodyPr/>
          <a:lstStyle/>
          <a:p>
            <a:endParaRPr lang="en-US"/>
          </a:p>
        </p:txBody>
      </p:sp>
      <p:sp>
        <p:nvSpPr>
          <p:cNvPr id="3" name="Shape 1"/>
          <p:cNvSpPr/>
          <p:nvPr/>
        </p:nvSpPr>
        <p:spPr>
          <a:xfrm>
            <a:off x="8778240" y="0"/>
            <a:ext cx="137160" cy="5143500"/>
          </a:xfrm>
          <a:prstGeom prst="rect">
            <a:avLst/>
          </a:prstGeom>
          <a:solidFill>
            <a:srgbClr val="C41E1E"/>
          </a:solidFill>
          <a:ln/>
        </p:spPr>
        <p:txBody>
          <a:bodyPr/>
          <a:lstStyle/>
          <a:p>
            <a:endParaRPr lang="en-US"/>
          </a:p>
        </p:txBody>
      </p:sp>
      <p:sp>
        <p:nvSpPr>
          <p:cNvPr id="4" name="Shape 2"/>
          <p:cNvSpPr/>
          <p:nvPr/>
        </p:nvSpPr>
        <p:spPr>
          <a:xfrm>
            <a:off x="8961120" y="0"/>
            <a:ext cx="73152" cy="5143500"/>
          </a:xfrm>
          <a:prstGeom prst="rect">
            <a:avLst/>
          </a:prstGeom>
          <a:solidFill>
            <a:srgbClr val="C41E1E">
              <a:alpha val="40000"/>
            </a:srgbClr>
          </a:solidFill>
          <a:ln/>
        </p:spPr>
        <p:txBody>
          <a:bodyPr/>
          <a:lstStyle/>
          <a:p>
            <a:endParaRPr lang="en-US"/>
          </a:p>
        </p:txBody>
      </p:sp>
      <p:pic>
        <p:nvPicPr>
          <p:cNvPr id="5" name="Image 0" descr="preencoded.png"/>
          <p:cNvPicPr>
            <a:picLocks noChangeAspect="1"/>
          </p:cNvPicPr>
          <p:nvPr/>
        </p:nvPicPr>
        <p:blipFill>
          <a:blip r:embed="rId3"/>
          <a:stretch>
            <a:fillRect/>
          </a:stretch>
        </p:blipFill>
        <p:spPr>
          <a:xfrm>
            <a:off x="365760" y="182880"/>
            <a:ext cx="320040" cy="320040"/>
          </a:xfrm>
          <a:prstGeom prst="rect">
            <a:avLst/>
          </a:prstGeom>
        </p:spPr>
      </p:pic>
      <p:sp>
        <p:nvSpPr>
          <p:cNvPr id="6" name="Text 3"/>
          <p:cNvSpPr/>
          <p:nvPr/>
        </p:nvSpPr>
        <p:spPr>
          <a:xfrm>
            <a:off x="777240" y="182880"/>
            <a:ext cx="7315200" cy="548640"/>
          </a:xfrm>
          <a:prstGeom prst="rect">
            <a:avLst/>
          </a:prstGeom>
          <a:noFill/>
          <a:ln/>
        </p:spPr>
        <p:txBody>
          <a:bodyPr wrap="square" lIns="0" tIns="0" rIns="0" bIns="0" rtlCol="0" anchor="ctr"/>
          <a:lstStyle/>
          <a:p>
            <a:pPr marL="0" indent="0">
              <a:buNone/>
            </a:pPr>
            <a:r>
              <a:rPr lang="en-US" sz="2800" b="1" dirty="0">
                <a:solidFill>
                  <a:srgbClr val="1A1A2E"/>
                </a:solidFill>
                <a:latin typeface="Georgia" pitchFamily="34" charset="0"/>
                <a:ea typeface="Georgia" pitchFamily="34" charset="-122"/>
                <a:cs typeface="Georgia" pitchFamily="34" charset="-120"/>
              </a:rPr>
              <a:t>Agentic AI — Why Agents?</a:t>
            </a:r>
            <a:endParaRPr lang="en-US" sz="2800" dirty="0"/>
          </a:p>
        </p:txBody>
      </p:sp>
      <p:sp>
        <p:nvSpPr>
          <p:cNvPr id="7" name="Text 4"/>
          <p:cNvSpPr/>
          <p:nvPr/>
        </p:nvSpPr>
        <p:spPr>
          <a:xfrm>
            <a:off x="777240" y="685800"/>
            <a:ext cx="7315200" cy="228600"/>
          </a:xfrm>
          <a:prstGeom prst="rect">
            <a:avLst/>
          </a:prstGeom>
          <a:noFill/>
          <a:ln/>
        </p:spPr>
        <p:txBody>
          <a:bodyPr wrap="square" lIns="0" tIns="0" rIns="0" bIns="0" rtlCol="0" anchor="ctr"/>
          <a:lstStyle/>
          <a:p>
            <a:pPr marL="0" indent="0">
              <a:buNone/>
            </a:pPr>
            <a:r>
              <a:rPr lang="en-US" sz="1100" dirty="0">
                <a:solidFill>
                  <a:srgbClr val="949594"/>
                </a:solidFill>
                <a:latin typeface="Calibri" pitchFamily="34" charset="0"/>
                <a:ea typeface="Calibri" pitchFamily="34" charset="-122"/>
                <a:cs typeface="Calibri" pitchFamily="34" charset="-120"/>
              </a:rPr>
              <a:t>Traditional ML is static. Our agents make it intelligent.</a:t>
            </a:r>
            <a:endParaRPr lang="en-US" sz="1100" dirty="0"/>
          </a:p>
        </p:txBody>
      </p:sp>
      <p:sp>
        <p:nvSpPr>
          <p:cNvPr id="8" name="Shape 5"/>
          <p:cNvSpPr/>
          <p:nvPr/>
        </p:nvSpPr>
        <p:spPr>
          <a:xfrm>
            <a:off x="365760" y="1005840"/>
            <a:ext cx="4023360" cy="18288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US"/>
          </a:p>
        </p:txBody>
      </p:sp>
      <p:sp>
        <p:nvSpPr>
          <p:cNvPr id="9" name="Shape 6"/>
          <p:cNvSpPr/>
          <p:nvPr/>
        </p:nvSpPr>
        <p:spPr>
          <a:xfrm>
            <a:off x="365760" y="1005840"/>
            <a:ext cx="54864" cy="1828800"/>
          </a:xfrm>
          <a:prstGeom prst="rect">
            <a:avLst/>
          </a:prstGeom>
          <a:solidFill>
            <a:srgbClr val="C41E1E"/>
          </a:solidFill>
          <a:ln/>
        </p:spPr>
        <p:txBody>
          <a:bodyPr/>
          <a:lstStyle/>
          <a:p>
            <a:endParaRPr lang="en-US"/>
          </a:p>
        </p:txBody>
      </p:sp>
      <p:pic>
        <p:nvPicPr>
          <p:cNvPr id="10" name="Image 1" descr="preencoded.png"/>
          <p:cNvPicPr>
            <a:picLocks noChangeAspect="1"/>
          </p:cNvPicPr>
          <p:nvPr/>
        </p:nvPicPr>
        <p:blipFill>
          <a:blip r:embed="rId4"/>
          <a:stretch>
            <a:fillRect/>
          </a:stretch>
        </p:blipFill>
        <p:spPr>
          <a:xfrm>
            <a:off x="502920" y="1115568"/>
            <a:ext cx="256032" cy="256032"/>
          </a:xfrm>
          <a:prstGeom prst="rect">
            <a:avLst/>
          </a:prstGeom>
        </p:spPr>
      </p:pic>
      <p:sp>
        <p:nvSpPr>
          <p:cNvPr id="11" name="Text 7"/>
          <p:cNvSpPr/>
          <p:nvPr/>
        </p:nvSpPr>
        <p:spPr>
          <a:xfrm>
            <a:off x="822960" y="1078992"/>
            <a:ext cx="3429000" cy="292608"/>
          </a:xfrm>
          <a:prstGeom prst="rect">
            <a:avLst/>
          </a:prstGeom>
          <a:noFill/>
          <a:ln/>
        </p:spPr>
        <p:txBody>
          <a:bodyPr wrap="square" lIns="0" tIns="0" rIns="0" bIns="0" rtlCol="0" anchor="ctr"/>
          <a:lstStyle/>
          <a:p>
            <a:pPr marL="0" indent="0">
              <a:buNone/>
            </a:pPr>
            <a:r>
              <a:rPr lang="en-US" sz="1200" b="1" dirty="0">
                <a:solidFill>
                  <a:srgbClr val="C41E1E"/>
                </a:solidFill>
                <a:latin typeface="Georgia" pitchFamily="34" charset="0"/>
                <a:ea typeface="Georgia" pitchFamily="34" charset="-122"/>
                <a:cs typeface="Georgia" pitchFamily="34" charset="-120"/>
              </a:rPr>
              <a:t>❌ Without Agents (Traditional)</a:t>
            </a:r>
            <a:endParaRPr lang="en-US" sz="1200" dirty="0"/>
          </a:p>
        </p:txBody>
      </p:sp>
      <p:sp>
        <p:nvSpPr>
          <p:cNvPr id="12" name="Text 8"/>
          <p:cNvSpPr/>
          <p:nvPr/>
        </p:nvSpPr>
        <p:spPr>
          <a:xfrm>
            <a:off x="502920" y="1417320"/>
            <a:ext cx="3749040" cy="1325880"/>
          </a:xfrm>
          <a:prstGeom prst="rect">
            <a:avLst/>
          </a:prstGeom>
          <a:noFill/>
          <a:ln/>
        </p:spPr>
        <p:txBody>
          <a:bodyPr wrap="square" rtlCol="0" anchor="t"/>
          <a:lstStyle/>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Train model → Deploy → Hope it works</a:t>
            </a:r>
            <a:endParaRPr lang="en-US" sz="950" dirty="0"/>
          </a:p>
          <a:p>
            <a:pPr marL="0" indent="0">
              <a:lnSpc>
                <a:spcPct val="125000"/>
              </a:lnSpc>
              <a:buNone/>
            </a:pP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 Data quality drops — nobody checks</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 New patterns appear — model ignores</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 Performance degrades silently</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 Analyst must manually investigate</a:t>
            </a:r>
            <a:endParaRPr lang="en-US" sz="950" dirty="0"/>
          </a:p>
          <a:p>
            <a:pPr marL="0" indent="0">
              <a:lnSpc>
                <a:spcPct val="125000"/>
              </a:lnSpc>
              <a:buNone/>
            </a:pP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Like an F1 team that never debriefs.</a:t>
            </a:r>
            <a:endParaRPr lang="en-US" sz="950" dirty="0"/>
          </a:p>
        </p:txBody>
      </p:sp>
      <p:sp>
        <p:nvSpPr>
          <p:cNvPr id="13" name="Shape 9"/>
          <p:cNvSpPr/>
          <p:nvPr/>
        </p:nvSpPr>
        <p:spPr>
          <a:xfrm>
            <a:off x="4572000" y="1005840"/>
            <a:ext cx="4023360" cy="18288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US"/>
          </a:p>
        </p:txBody>
      </p:sp>
      <p:sp>
        <p:nvSpPr>
          <p:cNvPr id="14" name="Shape 10"/>
          <p:cNvSpPr/>
          <p:nvPr/>
        </p:nvSpPr>
        <p:spPr>
          <a:xfrm>
            <a:off x="4572000" y="1005840"/>
            <a:ext cx="54864" cy="1828800"/>
          </a:xfrm>
          <a:prstGeom prst="rect">
            <a:avLst/>
          </a:prstGeom>
          <a:solidFill>
            <a:srgbClr val="059669"/>
          </a:solidFill>
          <a:ln/>
        </p:spPr>
        <p:txBody>
          <a:bodyPr/>
          <a:lstStyle/>
          <a:p>
            <a:endParaRPr lang="en-US"/>
          </a:p>
        </p:txBody>
      </p:sp>
      <p:pic>
        <p:nvPicPr>
          <p:cNvPr id="15" name="Image 2" descr="preencoded.png"/>
          <p:cNvPicPr>
            <a:picLocks noChangeAspect="1"/>
          </p:cNvPicPr>
          <p:nvPr/>
        </p:nvPicPr>
        <p:blipFill>
          <a:blip r:embed="rId5"/>
          <a:stretch>
            <a:fillRect/>
          </a:stretch>
        </p:blipFill>
        <p:spPr>
          <a:xfrm>
            <a:off x="4709160" y="1115568"/>
            <a:ext cx="256032" cy="256032"/>
          </a:xfrm>
          <a:prstGeom prst="rect">
            <a:avLst/>
          </a:prstGeom>
        </p:spPr>
      </p:pic>
      <p:sp>
        <p:nvSpPr>
          <p:cNvPr id="16" name="Text 11"/>
          <p:cNvSpPr/>
          <p:nvPr/>
        </p:nvSpPr>
        <p:spPr>
          <a:xfrm>
            <a:off x="5029200" y="1078992"/>
            <a:ext cx="3429000" cy="292608"/>
          </a:xfrm>
          <a:prstGeom prst="rect">
            <a:avLst/>
          </a:prstGeom>
          <a:noFill/>
          <a:ln/>
        </p:spPr>
        <p:txBody>
          <a:bodyPr wrap="square" lIns="0" tIns="0" rIns="0" bIns="0" rtlCol="0" anchor="ctr"/>
          <a:lstStyle/>
          <a:p>
            <a:pPr marL="0" indent="0">
              <a:buNone/>
            </a:pPr>
            <a:r>
              <a:rPr lang="en-US" sz="1200" b="1" dirty="0">
                <a:solidFill>
                  <a:srgbClr val="059669"/>
                </a:solidFill>
                <a:latin typeface="Georgia" pitchFamily="34" charset="0"/>
                <a:ea typeface="Georgia" pitchFamily="34" charset="-122"/>
                <a:cs typeface="Georgia" pitchFamily="34" charset="-120"/>
              </a:rPr>
              <a:t>✅ With Agents (Our System)</a:t>
            </a:r>
            <a:endParaRPr lang="en-US" sz="1200" dirty="0"/>
          </a:p>
        </p:txBody>
      </p:sp>
      <p:sp>
        <p:nvSpPr>
          <p:cNvPr id="17" name="Text 12"/>
          <p:cNvSpPr/>
          <p:nvPr/>
        </p:nvSpPr>
        <p:spPr>
          <a:xfrm>
            <a:off x="4709160" y="1417320"/>
            <a:ext cx="3749040" cy="1325880"/>
          </a:xfrm>
          <a:prstGeom prst="rect">
            <a:avLst/>
          </a:prstGeom>
          <a:noFill/>
          <a:ln/>
        </p:spPr>
        <p:txBody>
          <a:bodyPr wrap="square" rtlCol="0" anchor="t"/>
          <a:lstStyle/>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Train → Agents monitor every Monday</a:t>
            </a:r>
            <a:endParaRPr lang="en-US" sz="950" dirty="0"/>
          </a:p>
          <a:p>
            <a:pPr marL="0" indent="0">
              <a:lnSpc>
                <a:spcPct val="125000"/>
              </a:lnSpc>
              <a:buNone/>
            </a:pP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 Data Agent checks quality automatically</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 Feature Agent discovers new signals</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 Model Agent finds WHERE it fails</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 Insight Agent writes the briefing</a:t>
            </a:r>
            <a:endParaRPr lang="en-US" sz="950" dirty="0"/>
          </a:p>
          <a:p>
            <a:pPr marL="0" indent="0">
              <a:lnSpc>
                <a:spcPct val="125000"/>
              </a:lnSpc>
              <a:buNone/>
            </a:pP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Like an F1 team analyzing every lap.</a:t>
            </a:r>
            <a:endParaRPr lang="en-US" sz="950" dirty="0"/>
          </a:p>
        </p:txBody>
      </p:sp>
      <p:sp>
        <p:nvSpPr>
          <p:cNvPr id="18" name="Shape 13"/>
          <p:cNvSpPr/>
          <p:nvPr/>
        </p:nvSpPr>
        <p:spPr>
          <a:xfrm>
            <a:off x="365760" y="3017520"/>
            <a:ext cx="8321040" cy="731520"/>
          </a:xfrm>
          <a:prstGeom prst="rect">
            <a:avLst/>
          </a:prstGeom>
          <a:solidFill>
            <a:srgbClr val="F3E8FF"/>
          </a:solidFill>
          <a:ln/>
          <a:effectLst>
            <a:outerShdw blurRad="50800" dist="25400" dir="8100000" algn="bl" rotWithShape="0">
              <a:srgbClr val="000000">
                <a:alpha val="10000"/>
              </a:srgbClr>
            </a:outerShdw>
          </a:effectLst>
        </p:spPr>
        <p:txBody>
          <a:bodyPr/>
          <a:lstStyle/>
          <a:p>
            <a:endParaRPr lang="en-US"/>
          </a:p>
        </p:txBody>
      </p:sp>
      <p:sp>
        <p:nvSpPr>
          <p:cNvPr id="19" name="Text 14"/>
          <p:cNvSpPr/>
          <p:nvPr/>
        </p:nvSpPr>
        <p:spPr>
          <a:xfrm>
            <a:off x="548640" y="3063240"/>
            <a:ext cx="8046720" cy="274320"/>
          </a:xfrm>
          <a:prstGeom prst="rect">
            <a:avLst/>
          </a:prstGeom>
          <a:noFill/>
          <a:ln/>
        </p:spPr>
        <p:txBody>
          <a:bodyPr wrap="square" lIns="0" tIns="0" rIns="0" bIns="0" rtlCol="0" anchor="ctr"/>
          <a:lstStyle/>
          <a:p>
            <a:pPr marL="0" indent="0">
              <a:buNone/>
            </a:pPr>
            <a:r>
              <a:rPr lang="en-US" sz="1300" b="1" dirty="0">
                <a:solidFill>
                  <a:srgbClr val="7C3AED"/>
                </a:solidFill>
                <a:latin typeface="Georgia" pitchFamily="34" charset="0"/>
                <a:ea typeface="Georgia" pitchFamily="34" charset="-122"/>
                <a:cs typeface="Georgia" pitchFamily="34" charset="-120"/>
              </a:rPr>
              <a:t>Scripts follow rules. Agents make JUDGMENTS.</a:t>
            </a:r>
            <a:endParaRPr lang="en-US" sz="1300" dirty="0"/>
          </a:p>
        </p:txBody>
      </p:sp>
      <p:sp>
        <p:nvSpPr>
          <p:cNvPr id="20" name="Text 15"/>
          <p:cNvSpPr/>
          <p:nvPr/>
        </p:nvSpPr>
        <p:spPr>
          <a:xfrm>
            <a:off x="548640" y="3383280"/>
            <a:ext cx="8046720" cy="320040"/>
          </a:xfrm>
          <a:prstGeom prst="rect">
            <a:avLst/>
          </a:prstGeom>
          <a:noFill/>
          <a:ln/>
        </p:spPr>
        <p:txBody>
          <a:bodyPr wrap="square" lIns="0" tIns="0" rIns="0" bIns="0" rtlCol="0" anchor="ctr"/>
          <a:lstStyle/>
          <a:p>
            <a:pPr marL="0" indent="0">
              <a:buNone/>
            </a:pPr>
            <a:r>
              <a:rPr lang="en-US" sz="1000" dirty="0">
                <a:solidFill>
                  <a:srgbClr val="444444"/>
                </a:solidFill>
                <a:latin typeface="Calibri" pitchFamily="34" charset="0"/>
                <a:ea typeface="Calibri" pitchFamily="34" charset="-122"/>
                <a:cs typeface="Calibri" pitchFamily="34" charset="-120"/>
              </a:rPr>
              <a:t>A script says: if null_rate &gt; 50%: alert. An agent reasons: 'Q3 has 51.5% null — is this a problem? Q3 is only for top 10 drivers, so 50% null is EXPECTED. This is NOT a bug.'</a:t>
            </a:r>
            <a:endParaRPr lang="en-US" sz="1000" dirty="0"/>
          </a:p>
        </p:txBody>
      </p:sp>
      <p:sp>
        <p:nvSpPr>
          <p:cNvPr id="21" name="Text 16"/>
          <p:cNvSpPr/>
          <p:nvPr/>
        </p:nvSpPr>
        <p:spPr>
          <a:xfrm>
            <a:off x="457200" y="3931920"/>
            <a:ext cx="8229600" cy="274320"/>
          </a:xfrm>
          <a:prstGeom prst="rect">
            <a:avLst/>
          </a:prstGeom>
          <a:noFill/>
          <a:ln/>
        </p:spPr>
        <p:txBody>
          <a:bodyPr wrap="square" lIns="0" tIns="0" rIns="0" bIns="0" rtlCol="0" anchor="ctr"/>
          <a:lstStyle/>
          <a:p>
            <a:pPr marL="0" indent="0">
              <a:buNone/>
            </a:pPr>
            <a:r>
              <a:rPr lang="en-US" sz="1000" b="1" dirty="0">
                <a:solidFill>
                  <a:srgbClr val="7C3AED"/>
                </a:solidFill>
                <a:latin typeface="Calibri" pitchFamily="34" charset="0"/>
                <a:ea typeface="Calibri" pitchFamily="34" charset="-122"/>
                <a:cs typeface="Calibri" pitchFamily="34" charset="-120"/>
              </a:rPr>
              <a:t>Powered by LangGraph — orchestrates agents as a directed graph with conditional routing and shared state</a:t>
            </a:r>
            <a:endParaRPr lang="en-US" sz="1000" dirty="0"/>
          </a:p>
        </p:txBody>
      </p:sp>
      <p:sp>
        <p:nvSpPr>
          <p:cNvPr id="22" name="Shape 17"/>
          <p:cNvSpPr/>
          <p:nvPr/>
        </p:nvSpPr>
        <p:spPr>
          <a:xfrm>
            <a:off x="457200" y="4297680"/>
            <a:ext cx="1737360" cy="4572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US"/>
          </a:p>
        </p:txBody>
      </p:sp>
      <p:sp>
        <p:nvSpPr>
          <p:cNvPr id="23" name="Shape 18"/>
          <p:cNvSpPr/>
          <p:nvPr/>
        </p:nvSpPr>
        <p:spPr>
          <a:xfrm>
            <a:off x="457200" y="4297680"/>
            <a:ext cx="1737360" cy="36576"/>
          </a:xfrm>
          <a:prstGeom prst="rect">
            <a:avLst/>
          </a:prstGeom>
          <a:solidFill>
            <a:srgbClr val="2563EB"/>
          </a:solidFill>
          <a:ln/>
        </p:spPr>
        <p:txBody>
          <a:bodyPr/>
          <a:lstStyle/>
          <a:p>
            <a:endParaRPr lang="en-US"/>
          </a:p>
        </p:txBody>
      </p:sp>
      <p:sp>
        <p:nvSpPr>
          <p:cNvPr id="24" name="Text 19"/>
          <p:cNvSpPr/>
          <p:nvPr/>
        </p:nvSpPr>
        <p:spPr>
          <a:xfrm>
            <a:off x="457200" y="4370832"/>
            <a:ext cx="1737360" cy="320040"/>
          </a:xfrm>
          <a:prstGeom prst="rect">
            <a:avLst/>
          </a:prstGeom>
          <a:noFill/>
          <a:ln/>
        </p:spPr>
        <p:txBody>
          <a:bodyPr wrap="square" lIns="0" tIns="0" rIns="0" bIns="0" rtlCol="0" anchor="ctr"/>
          <a:lstStyle/>
          <a:p>
            <a:pPr marL="0" indent="0" algn="ctr">
              <a:buNone/>
            </a:pPr>
            <a:r>
              <a:rPr lang="en-US" sz="900" b="1" dirty="0">
                <a:solidFill>
                  <a:srgbClr val="2563EB"/>
                </a:solidFill>
                <a:latin typeface="Georgia" pitchFamily="34" charset="0"/>
                <a:ea typeface="Georgia" pitchFamily="34" charset="-122"/>
                <a:cs typeface="Georgia" pitchFamily="34" charset="-120"/>
              </a:rPr>
              <a:t>Data Agent</a:t>
            </a:r>
            <a:endParaRPr lang="en-US" sz="900" dirty="0"/>
          </a:p>
        </p:txBody>
      </p:sp>
      <p:sp>
        <p:nvSpPr>
          <p:cNvPr id="25" name="Text 20"/>
          <p:cNvSpPr/>
          <p:nvPr/>
        </p:nvSpPr>
        <p:spPr>
          <a:xfrm>
            <a:off x="2148840" y="4370832"/>
            <a:ext cx="365760" cy="320040"/>
          </a:xfrm>
          <a:prstGeom prst="rect">
            <a:avLst/>
          </a:prstGeom>
          <a:noFill/>
          <a:ln/>
        </p:spPr>
        <p:txBody>
          <a:bodyPr wrap="square" rtlCol="0" anchor="ctr"/>
          <a:lstStyle/>
          <a:p>
            <a:pPr marL="0" indent="0" algn="ctr">
              <a:buNone/>
            </a:pPr>
            <a:r>
              <a:rPr lang="en-US" sz="1400" dirty="0">
                <a:solidFill>
                  <a:srgbClr val="949594"/>
                </a:solidFill>
              </a:rPr>
              <a:t>→</a:t>
            </a:r>
            <a:endParaRPr lang="en-US" sz="1400" dirty="0"/>
          </a:p>
        </p:txBody>
      </p:sp>
      <p:sp>
        <p:nvSpPr>
          <p:cNvPr id="26" name="Shape 21"/>
          <p:cNvSpPr/>
          <p:nvPr/>
        </p:nvSpPr>
        <p:spPr>
          <a:xfrm>
            <a:off x="2514600" y="4297680"/>
            <a:ext cx="1737360" cy="4572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US"/>
          </a:p>
        </p:txBody>
      </p:sp>
      <p:sp>
        <p:nvSpPr>
          <p:cNvPr id="27" name="Shape 22"/>
          <p:cNvSpPr/>
          <p:nvPr/>
        </p:nvSpPr>
        <p:spPr>
          <a:xfrm>
            <a:off x="2514600" y="4297680"/>
            <a:ext cx="1737360" cy="36576"/>
          </a:xfrm>
          <a:prstGeom prst="rect">
            <a:avLst/>
          </a:prstGeom>
          <a:solidFill>
            <a:srgbClr val="059669"/>
          </a:solidFill>
          <a:ln/>
        </p:spPr>
        <p:txBody>
          <a:bodyPr/>
          <a:lstStyle/>
          <a:p>
            <a:endParaRPr lang="en-US"/>
          </a:p>
        </p:txBody>
      </p:sp>
      <p:sp>
        <p:nvSpPr>
          <p:cNvPr id="28" name="Text 23"/>
          <p:cNvSpPr/>
          <p:nvPr/>
        </p:nvSpPr>
        <p:spPr>
          <a:xfrm>
            <a:off x="2514600" y="4370832"/>
            <a:ext cx="1737360" cy="320040"/>
          </a:xfrm>
          <a:prstGeom prst="rect">
            <a:avLst/>
          </a:prstGeom>
          <a:noFill/>
          <a:ln/>
        </p:spPr>
        <p:txBody>
          <a:bodyPr wrap="square" lIns="0" tIns="0" rIns="0" bIns="0" rtlCol="0" anchor="ctr"/>
          <a:lstStyle/>
          <a:p>
            <a:pPr marL="0" indent="0" algn="ctr">
              <a:buNone/>
            </a:pPr>
            <a:r>
              <a:rPr lang="en-US" sz="900" b="1" dirty="0">
                <a:solidFill>
                  <a:srgbClr val="059669"/>
                </a:solidFill>
                <a:latin typeface="Georgia" pitchFamily="34" charset="0"/>
                <a:ea typeface="Georgia" pitchFamily="34" charset="-122"/>
                <a:cs typeface="Georgia" pitchFamily="34" charset="-120"/>
              </a:rPr>
              <a:t>Feature Agent</a:t>
            </a:r>
            <a:endParaRPr lang="en-US" sz="900" dirty="0"/>
          </a:p>
        </p:txBody>
      </p:sp>
      <p:sp>
        <p:nvSpPr>
          <p:cNvPr id="29" name="Text 24"/>
          <p:cNvSpPr/>
          <p:nvPr/>
        </p:nvSpPr>
        <p:spPr>
          <a:xfrm>
            <a:off x="4206240" y="4370832"/>
            <a:ext cx="365760" cy="320040"/>
          </a:xfrm>
          <a:prstGeom prst="rect">
            <a:avLst/>
          </a:prstGeom>
          <a:noFill/>
          <a:ln/>
        </p:spPr>
        <p:txBody>
          <a:bodyPr wrap="square" rtlCol="0" anchor="ctr"/>
          <a:lstStyle/>
          <a:p>
            <a:pPr marL="0" indent="0" algn="ctr">
              <a:buNone/>
            </a:pPr>
            <a:r>
              <a:rPr lang="en-US" sz="1400" dirty="0">
                <a:solidFill>
                  <a:srgbClr val="949594"/>
                </a:solidFill>
              </a:rPr>
              <a:t>→</a:t>
            </a:r>
            <a:endParaRPr lang="en-US" sz="1400" dirty="0"/>
          </a:p>
        </p:txBody>
      </p:sp>
      <p:sp>
        <p:nvSpPr>
          <p:cNvPr id="30" name="Shape 25"/>
          <p:cNvSpPr/>
          <p:nvPr/>
        </p:nvSpPr>
        <p:spPr>
          <a:xfrm>
            <a:off x="4572000" y="4297680"/>
            <a:ext cx="1737360" cy="4572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US"/>
          </a:p>
        </p:txBody>
      </p:sp>
      <p:sp>
        <p:nvSpPr>
          <p:cNvPr id="31" name="Shape 26"/>
          <p:cNvSpPr/>
          <p:nvPr/>
        </p:nvSpPr>
        <p:spPr>
          <a:xfrm>
            <a:off x="4572000" y="4297680"/>
            <a:ext cx="1737360" cy="36576"/>
          </a:xfrm>
          <a:prstGeom prst="rect">
            <a:avLst/>
          </a:prstGeom>
          <a:solidFill>
            <a:srgbClr val="D97706"/>
          </a:solidFill>
          <a:ln/>
        </p:spPr>
        <p:txBody>
          <a:bodyPr/>
          <a:lstStyle/>
          <a:p>
            <a:endParaRPr lang="en-US"/>
          </a:p>
        </p:txBody>
      </p:sp>
      <p:sp>
        <p:nvSpPr>
          <p:cNvPr id="32" name="Text 27"/>
          <p:cNvSpPr/>
          <p:nvPr/>
        </p:nvSpPr>
        <p:spPr>
          <a:xfrm>
            <a:off x="4572000" y="4370832"/>
            <a:ext cx="1737360" cy="320040"/>
          </a:xfrm>
          <a:prstGeom prst="rect">
            <a:avLst/>
          </a:prstGeom>
          <a:noFill/>
          <a:ln/>
        </p:spPr>
        <p:txBody>
          <a:bodyPr wrap="square" lIns="0" tIns="0" rIns="0" bIns="0" rtlCol="0" anchor="ctr"/>
          <a:lstStyle/>
          <a:p>
            <a:pPr marL="0" indent="0" algn="ctr">
              <a:buNone/>
            </a:pPr>
            <a:r>
              <a:rPr lang="en-US" sz="900" b="1" dirty="0">
                <a:solidFill>
                  <a:srgbClr val="D97706"/>
                </a:solidFill>
                <a:latin typeface="Georgia" pitchFamily="34" charset="0"/>
                <a:ea typeface="Georgia" pitchFamily="34" charset="-122"/>
                <a:cs typeface="Georgia" pitchFamily="34" charset="-120"/>
              </a:rPr>
              <a:t>Model Agent</a:t>
            </a:r>
            <a:endParaRPr lang="en-US" sz="900" dirty="0"/>
          </a:p>
        </p:txBody>
      </p:sp>
      <p:sp>
        <p:nvSpPr>
          <p:cNvPr id="33" name="Text 28"/>
          <p:cNvSpPr/>
          <p:nvPr/>
        </p:nvSpPr>
        <p:spPr>
          <a:xfrm>
            <a:off x="6263640" y="4370832"/>
            <a:ext cx="365760" cy="320040"/>
          </a:xfrm>
          <a:prstGeom prst="rect">
            <a:avLst/>
          </a:prstGeom>
          <a:noFill/>
          <a:ln/>
        </p:spPr>
        <p:txBody>
          <a:bodyPr wrap="square" rtlCol="0" anchor="ctr"/>
          <a:lstStyle/>
          <a:p>
            <a:pPr marL="0" indent="0" algn="ctr">
              <a:buNone/>
            </a:pPr>
            <a:r>
              <a:rPr lang="en-US" sz="1400" dirty="0">
                <a:solidFill>
                  <a:srgbClr val="949594"/>
                </a:solidFill>
              </a:rPr>
              <a:t>→</a:t>
            </a:r>
            <a:endParaRPr lang="en-US" sz="1400" dirty="0"/>
          </a:p>
        </p:txBody>
      </p:sp>
      <p:sp>
        <p:nvSpPr>
          <p:cNvPr id="34" name="Shape 29"/>
          <p:cNvSpPr/>
          <p:nvPr/>
        </p:nvSpPr>
        <p:spPr>
          <a:xfrm>
            <a:off x="6629400" y="4297680"/>
            <a:ext cx="1737360" cy="4572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US"/>
          </a:p>
        </p:txBody>
      </p:sp>
      <p:sp>
        <p:nvSpPr>
          <p:cNvPr id="35" name="Shape 30"/>
          <p:cNvSpPr/>
          <p:nvPr/>
        </p:nvSpPr>
        <p:spPr>
          <a:xfrm>
            <a:off x="6629400" y="4297680"/>
            <a:ext cx="1737360" cy="36576"/>
          </a:xfrm>
          <a:prstGeom prst="rect">
            <a:avLst/>
          </a:prstGeom>
          <a:solidFill>
            <a:srgbClr val="7C3AED"/>
          </a:solidFill>
          <a:ln/>
        </p:spPr>
        <p:txBody>
          <a:bodyPr/>
          <a:lstStyle/>
          <a:p>
            <a:endParaRPr lang="en-US"/>
          </a:p>
        </p:txBody>
      </p:sp>
      <p:sp>
        <p:nvSpPr>
          <p:cNvPr id="36" name="Text 31"/>
          <p:cNvSpPr/>
          <p:nvPr/>
        </p:nvSpPr>
        <p:spPr>
          <a:xfrm>
            <a:off x="6629400" y="4370832"/>
            <a:ext cx="1737360" cy="320040"/>
          </a:xfrm>
          <a:prstGeom prst="rect">
            <a:avLst/>
          </a:prstGeom>
          <a:noFill/>
          <a:ln/>
        </p:spPr>
        <p:txBody>
          <a:bodyPr wrap="square" lIns="0" tIns="0" rIns="0" bIns="0" rtlCol="0" anchor="ctr"/>
          <a:lstStyle/>
          <a:p>
            <a:pPr marL="0" indent="0" algn="ctr">
              <a:buNone/>
            </a:pPr>
            <a:r>
              <a:rPr lang="en-US" sz="900" b="1" dirty="0">
                <a:solidFill>
                  <a:srgbClr val="7C3AED"/>
                </a:solidFill>
                <a:latin typeface="Georgia" pitchFamily="34" charset="0"/>
                <a:ea typeface="Georgia" pitchFamily="34" charset="-122"/>
                <a:cs typeface="Georgia" pitchFamily="34" charset="-120"/>
              </a:rPr>
              <a:t>Insight Agent</a:t>
            </a:r>
            <a:endParaRPr lang="en-US" sz="900" dirty="0"/>
          </a:p>
        </p:txBody>
      </p:sp>
      <p:sp>
        <p:nvSpPr>
          <p:cNvPr id="37" name="Text 32"/>
          <p:cNvSpPr/>
          <p:nvPr/>
        </p:nvSpPr>
        <p:spPr>
          <a:xfrm>
            <a:off x="457200" y="4709160"/>
            <a:ext cx="6400800" cy="365760"/>
          </a:xfrm>
          <a:prstGeom prst="rect">
            <a:avLst/>
          </a:prstGeom>
          <a:noFill/>
          <a:ln/>
        </p:spPr>
        <p:txBody>
          <a:bodyPr wrap="square" rtlCol="0" anchor="ctr"/>
          <a:lstStyle/>
          <a:p>
            <a:pPr marL="0" indent="0">
              <a:buNone/>
            </a:pPr>
            <a:r>
              <a:rPr lang="en-US" sz="900" dirty="0">
                <a:solidFill>
                  <a:srgbClr val="949594"/>
                </a:solidFill>
                <a:latin typeface="Calibri" pitchFamily="34" charset="0"/>
                <a:ea typeface="Calibri" pitchFamily="34" charset="-122"/>
                <a:cs typeface="Calibri" pitchFamily="34" charset="-120"/>
              </a:rPr>
              <a:t>Speaker 3 — Predictions &amp; AI</a:t>
            </a:r>
            <a:endParaRPr lang="en-US" sz="900" dirty="0"/>
          </a:p>
        </p:txBody>
      </p:sp>
      <p:sp>
        <p:nvSpPr>
          <p:cNvPr id="38" name="Text 33"/>
          <p:cNvSpPr/>
          <p:nvPr/>
        </p:nvSpPr>
        <p:spPr>
          <a:xfrm>
            <a:off x="8412480" y="4709160"/>
            <a:ext cx="548640" cy="365760"/>
          </a:xfrm>
          <a:prstGeom prst="rect">
            <a:avLst/>
          </a:prstGeom>
          <a:noFill/>
          <a:ln/>
        </p:spPr>
        <p:txBody>
          <a:bodyPr wrap="square" rtlCol="0" anchor="ctr"/>
          <a:lstStyle/>
          <a:p>
            <a:pPr marL="0" indent="0" algn="r">
              <a:buNone/>
            </a:pPr>
            <a:r>
              <a:rPr lang="en-US" sz="900" dirty="0">
                <a:solidFill>
                  <a:srgbClr val="949594"/>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5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C41E1E"/>
          </a:solidFill>
          <a:ln/>
        </p:spPr>
        <p:txBody>
          <a:bodyPr/>
          <a:lstStyle/>
          <a:p>
            <a:endParaRPr lang="en-US"/>
          </a:p>
        </p:txBody>
      </p:sp>
      <p:sp>
        <p:nvSpPr>
          <p:cNvPr id="3" name="Shape 1"/>
          <p:cNvSpPr/>
          <p:nvPr/>
        </p:nvSpPr>
        <p:spPr>
          <a:xfrm>
            <a:off x="8778240" y="0"/>
            <a:ext cx="137160" cy="5143500"/>
          </a:xfrm>
          <a:prstGeom prst="rect">
            <a:avLst/>
          </a:prstGeom>
          <a:solidFill>
            <a:srgbClr val="C41E1E"/>
          </a:solidFill>
          <a:ln/>
        </p:spPr>
        <p:txBody>
          <a:bodyPr/>
          <a:lstStyle/>
          <a:p>
            <a:endParaRPr lang="en-US"/>
          </a:p>
        </p:txBody>
      </p:sp>
      <p:sp>
        <p:nvSpPr>
          <p:cNvPr id="4" name="Shape 2"/>
          <p:cNvSpPr/>
          <p:nvPr/>
        </p:nvSpPr>
        <p:spPr>
          <a:xfrm>
            <a:off x="8961120" y="0"/>
            <a:ext cx="73152" cy="5143500"/>
          </a:xfrm>
          <a:prstGeom prst="rect">
            <a:avLst/>
          </a:prstGeom>
          <a:solidFill>
            <a:srgbClr val="C41E1E">
              <a:alpha val="40000"/>
            </a:srgbClr>
          </a:solidFill>
          <a:ln/>
        </p:spPr>
        <p:txBody>
          <a:bodyPr/>
          <a:lstStyle/>
          <a:p>
            <a:endParaRPr lang="en-US"/>
          </a:p>
        </p:txBody>
      </p:sp>
      <p:sp>
        <p:nvSpPr>
          <p:cNvPr id="5" name="Text 3"/>
          <p:cNvSpPr/>
          <p:nvPr/>
        </p:nvSpPr>
        <p:spPr>
          <a:xfrm>
            <a:off x="731520" y="182880"/>
            <a:ext cx="7315200" cy="548640"/>
          </a:xfrm>
          <a:prstGeom prst="rect">
            <a:avLst/>
          </a:prstGeom>
          <a:noFill/>
          <a:ln/>
        </p:spPr>
        <p:txBody>
          <a:bodyPr wrap="square" lIns="0" tIns="0" rIns="0" bIns="0" rtlCol="0" anchor="ctr"/>
          <a:lstStyle/>
          <a:p>
            <a:pPr marL="0" indent="0">
              <a:buNone/>
            </a:pPr>
            <a:r>
              <a:rPr lang="en-US" sz="2800" b="1" dirty="0">
                <a:solidFill>
                  <a:srgbClr val="1A1A2E"/>
                </a:solidFill>
                <a:latin typeface="Georgia" pitchFamily="34" charset="0"/>
                <a:ea typeface="Georgia" pitchFamily="34" charset="-122"/>
                <a:cs typeface="Georgia" pitchFamily="34" charset="-120"/>
              </a:rPr>
              <a:t>What Each Agent Discovered</a:t>
            </a:r>
            <a:endParaRPr lang="en-US" sz="2800" dirty="0"/>
          </a:p>
        </p:txBody>
      </p:sp>
      <p:sp>
        <p:nvSpPr>
          <p:cNvPr id="6" name="Shape 4"/>
          <p:cNvSpPr/>
          <p:nvPr/>
        </p:nvSpPr>
        <p:spPr>
          <a:xfrm>
            <a:off x="365760" y="868680"/>
            <a:ext cx="4023360" cy="13716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US"/>
          </a:p>
        </p:txBody>
      </p:sp>
      <p:sp>
        <p:nvSpPr>
          <p:cNvPr id="7" name="Shape 5"/>
          <p:cNvSpPr/>
          <p:nvPr/>
        </p:nvSpPr>
        <p:spPr>
          <a:xfrm>
            <a:off x="365760" y="868680"/>
            <a:ext cx="54864" cy="1371600"/>
          </a:xfrm>
          <a:prstGeom prst="rect">
            <a:avLst/>
          </a:prstGeom>
          <a:solidFill>
            <a:srgbClr val="2563EB"/>
          </a:solidFill>
          <a:ln/>
        </p:spPr>
        <p:txBody>
          <a:bodyPr/>
          <a:lstStyle/>
          <a:p>
            <a:endParaRPr lang="en-US"/>
          </a:p>
        </p:txBody>
      </p:sp>
      <p:pic>
        <p:nvPicPr>
          <p:cNvPr id="8" name="Image 0" descr="preencoded.png"/>
          <p:cNvPicPr>
            <a:picLocks noChangeAspect="1"/>
          </p:cNvPicPr>
          <p:nvPr/>
        </p:nvPicPr>
        <p:blipFill>
          <a:blip r:embed="rId3"/>
          <a:stretch>
            <a:fillRect/>
          </a:stretch>
        </p:blipFill>
        <p:spPr>
          <a:xfrm>
            <a:off x="502920" y="978408"/>
            <a:ext cx="256032" cy="256032"/>
          </a:xfrm>
          <a:prstGeom prst="rect">
            <a:avLst/>
          </a:prstGeom>
        </p:spPr>
      </p:pic>
      <p:sp>
        <p:nvSpPr>
          <p:cNvPr id="9" name="Text 6"/>
          <p:cNvSpPr/>
          <p:nvPr/>
        </p:nvSpPr>
        <p:spPr>
          <a:xfrm>
            <a:off x="822960" y="941832"/>
            <a:ext cx="3429000" cy="292608"/>
          </a:xfrm>
          <a:prstGeom prst="rect">
            <a:avLst/>
          </a:prstGeom>
          <a:noFill/>
          <a:ln/>
        </p:spPr>
        <p:txBody>
          <a:bodyPr wrap="square" lIns="0" tIns="0" rIns="0" bIns="0" rtlCol="0" anchor="ctr"/>
          <a:lstStyle/>
          <a:p>
            <a:pPr marL="0" indent="0">
              <a:buNone/>
            </a:pPr>
            <a:r>
              <a:rPr lang="en-US" sz="1200" b="1" dirty="0">
                <a:solidFill>
                  <a:srgbClr val="2563EB"/>
                </a:solidFill>
                <a:latin typeface="Georgia" pitchFamily="34" charset="0"/>
                <a:ea typeface="Georgia" pitchFamily="34" charset="-122"/>
                <a:cs typeface="Georgia" pitchFamily="34" charset="-120"/>
              </a:rPr>
              <a:t>🔍 Data Agent</a:t>
            </a:r>
            <a:endParaRPr lang="en-US" sz="1200" dirty="0"/>
          </a:p>
        </p:txBody>
      </p:sp>
      <p:sp>
        <p:nvSpPr>
          <p:cNvPr id="10" name="Text 7"/>
          <p:cNvSpPr/>
          <p:nvPr/>
        </p:nvSpPr>
        <p:spPr>
          <a:xfrm>
            <a:off x="502920" y="1280160"/>
            <a:ext cx="3749040" cy="868680"/>
          </a:xfrm>
          <a:prstGeom prst="rect">
            <a:avLst/>
          </a:prstGeom>
          <a:noFill/>
          <a:ln/>
        </p:spPr>
        <p:txBody>
          <a:bodyPr wrap="square" rtlCol="0" anchor="t"/>
          <a:lstStyle/>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Checked null rates, row counts, freshness</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across all Bronze/Silver/Gold tables.</a:t>
            </a:r>
            <a:endParaRPr lang="en-US" sz="950" dirty="0"/>
          </a:p>
          <a:p>
            <a:pPr marL="0" indent="0">
              <a:lnSpc>
                <a:spcPct val="125000"/>
              </a:lnSpc>
              <a:buNone/>
            </a:pP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Found: 51.5% null in q3_seconds</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 EXPECTED (only top 10 reach Q3)</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This is judgment, not rule-following.</a:t>
            </a:r>
            <a:endParaRPr lang="en-US" sz="950" dirty="0"/>
          </a:p>
        </p:txBody>
      </p:sp>
      <p:sp>
        <p:nvSpPr>
          <p:cNvPr id="11" name="Shape 8"/>
          <p:cNvSpPr/>
          <p:nvPr/>
        </p:nvSpPr>
        <p:spPr>
          <a:xfrm>
            <a:off x="4572000" y="868680"/>
            <a:ext cx="4023360" cy="13716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US"/>
          </a:p>
        </p:txBody>
      </p:sp>
      <p:sp>
        <p:nvSpPr>
          <p:cNvPr id="12" name="Shape 9"/>
          <p:cNvSpPr/>
          <p:nvPr/>
        </p:nvSpPr>
        <p:spPr>
          <a:xfrm>
            <a:off x="4572000" y="868680"/>
            <a:ext cx="54864" cy="1371600"/>
          </a:xfrm>
          <a:prstGeom prst="rect">
            <a:avLst/>
          </a:prstGeom>
          <a:solidFill>
            <a:srgbClr val="059669"/>
          </a:solidFill>
          <a:ln/>
        </p:spPr>
        <p:txBody>
          <a:bodyPr/>
          <a:lstStyle/>
          <a:p>
            <a:endParaRPr lang="en-US"/>
          </a:p>
        </p:txBody>
      </p:sp>
      <p:pic>
        <p:nvPicPr>
          <p:cNvPr id="13" name="Image 1" descr="preencoded.png"/>
          <p:cNvPicPr>
            <a:picLocks noChangeAspect="1"/>
          </p:cNvPicPr>
          <p:nvPr/>
        </p:nvPicPr>
        <p:blipFill>
          <a:blip r:embed="rId4"/>
          <a:stretch>
            <a:fillRect/>
          </a:stretch>
        </p:blipFill>
        <p:spPr>
          <a:xfrm>
            <a:off x="4709160" y="978408"/>
            <a:ext cx="256032" cy="256032"/>
          </a:xfrm>
          <a:prstGeom prst="rect">
            <a:avLst/>
          </a:prstGeom>
        </p:spPr>
      </p:pic>
      <p:sp>
        <p:nvSpPr>
          <p:cNvPr id="14" name="Text 10"/>
          <p:cNvSpPr/>
          <p:nvPr/>
        </p:nvSpPr>
        <p:spPr>
          <a:xfrm>
            <a:off x="5029200" y="941832"/>
            <a:ext cx="3429000" cy="292608"/>
          </a:xfrm>
          <a:prstGeom prst="rect">
            <a:avLst/>
          </a:prstGeom>
          <a:noFill/>
          <a:ln/>
        </p:spPr>
        <p:txBody>
          <a:bodyPr wrap="square" lIns="0" tIns="0" rIns="0" bIns="0" rtlCol="0" anchor="ctr"/>
          <a:lstStyle/>
          <a:p>
            <a:pPr marL="0" indent="0">
              <a:buNone/>
            </a:pPr>
            <a:r>
              <a:rPr lang="en-US" sz="1200" b="1" dirty="0">
                <a:solidFill>
                  <a:srgbClr val="059669"/>
                </a:solidFill>
                <a:latin typeface="Georgia" pitchFamily="34" charset="0"/>
                <a:ea typeface="Georgia" pitchFamily="34" charset="-122"/>
                <a:cs typeface="Georgia" pitchFamily="34" charset="-120"/>
              </a:rPr>
              <a:t>🧪 Feature Agent</a:t>
            </a:r>
            <a:endParaRPr lang="en-US" sz="1200" dirty="0"/>
          </a:p>
        </p:txBody>
      </p:sp>
      <p:sp>
        <p:nvSpPr>
          <p:cNvPr id="15" name="Text 11"/>
          <p:cNvSpPr/>
          <p:nvPr/>
        </p:nvSpPr>
        <p:spPr>
          <a:xfrm>
            <a:off x="4709160" y="1280160"/>
            <a:ext cx="3749040" cy="868680"/>
          </a:xfrm>
          <a:prstGeom prst="rect">
            <a:avLst/>
          </a:prstGeom>
          <a:noFill/>
          <a:ln/>
        </p:spPr>
        <p:txBody>
          <a:bodyPr wrap="square" rtlCol="0" anchor="t"/>
          <a:lstStyle/>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Proposed 5 features via scientific method:</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 constructor_dominance (corr=0.594)</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 home_advantage (corr=0.167)</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 grid_volatility (corr=0.064)</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 quali_trend (0.044) — too weak</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 points_acceleration (0.019) — zero value</a:t>
            </a:r>
            <a:endParaRPr lang="en-US" sz="950" dirty="0"/>
          </a:p>
        </p:txBody>
      </p:sp>
      <p:sp>
        <p:nvSpPr>
          <p:cNvPr id="16" name="Shape 12"/>
          <p:cNvSpPr/>
          <p:nvPr/>
        </p:nvSpPr>
        <p:spPr>
          <a:xfrm>
            <a:off x="365760" y="2423160"/>
            <a:ext cx="4023360" cy="13716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US"/>
          </a:p>
        </p:txBody>
      </p:sp>
      <p:sp>
        <p:nvSpPr>
          <p:cNvPr id="17" name="Shape 13"/>
          <p:cNvSpPr/>
          <p:nvPr/>
        </p:nvSpPr>
        <p:spPr>
          <a:xfrm>
            <a:off x="365760" y="2423160"/>
            <a:ext cx="54864" cy="1371600"/>
          </a:xfrm>
          <a:prstGeom prst="rect">
            <a:avLst/>
          </a:prstGeom>
          <a:solidFill>
            <a:srgbClr val="D97706"/>
          </a:solidFill>
          <a:ln/>
        </p:spPr>
        <p:txBody>
          <a:bodyPr/>
          <a:lstStyle/>
          <a:p>
            <a:endParaRPr lang="en-US"/>
          </a:p>
        </p:txBody>
      </p:sp>
      <p:pic>
        <p:nvPicPr>
          <p:cNvPr id="18" name="Image 2" descr="preencoded.png"/>
          <p:cNvPicPr>
            <a:picLocks noChangeAspect="1"/>
          </p:cNvPicPr>
          <p:nvPr/>
        </p:nvPicPr>
        <p:blipFill>
          <a:blip r:embed="rId5"/>
          <a:stretch>
            <a:fillRect/>
          </a:stretch>
        </p:blipFill>
        <p:spPr>
          <a:xfrm>
            <a:off x="502920" y="2532888"/>
            <a:ext cx="256032" cy="256032"/>
          </a:xfrm>
          <a:prstGeom prst="rect">
            <a:avLst/>
          </a:prstGeom>
        </p:spPr>
      </p:pic>
      <p:sp>
        <p:nvSpPr>
          <p:cNvPr id="19" name="Text 14"/>
          <p:cNvSpPr/>
          <p:nvPr/>
        </p:nvSpPr>
        <p:spPr>
          <a:xfrm>
            <a:off x="822960" y="2496312"/>
            <a:ext cx="3429000" cy="292608"/>
          </a:xfrm>
          <a:prstGeom prst="rect">
            <a:avLst/>
          </a:prstGeom>
          <a:noFill/>
          <a:ln/>
        </p:spPr>
        <p:txBody>
          <a:bodyPr wrap="square" lIns="0" tIns="0" rIns="0" bIns="0" rtlCol="0" anchor="ctr"/>
          <a:lstStyle/>
          <a:p>
            <a:pPr marL="0" indent="0">
              <a:buNone/>
            </a:pPr>
            <a:r>
              <a:rPr lang="en-US" sz="1200" b="1" dirty="0">
                <a:solidFill>
                  <a:srgbClr val="D97706"/>
                </a:solidFill>
                <a:latin typeface="Georgia" pitchFamily="34" charset="0"/>
                <a:ea typeface="Georgia" pitchFamily="34" charset="-122"/>
                <a:cs typeface="Georgia" pitchFamily="34" charset="-120"/>
              </a:rPr>
              <a:t>📊 Model Agent</a:t>
            </a:r>
            <a:endParaRPr lang="en-US" sz="1200" dirty="0"/>
          </a:p>
        </p:txBody>
      </p:sp>
      <p:sp>
        <p:nvSpPr>
          <p:cNvPr id="20" name="Text 15"/>
          <p:cNvSpPr/>
          <p:nvPr/>
        </p:nvSpPr>
        <p:spPr>
          <a:xfrm>
            <a:off x="502920" y="2834640"/>
            <a:ext cx="3749040" cy="868680"/>
          </a:xfrm>
          <a:prstGeom prst="rect">
            <a:avLst/>
          </a:prstGeom>
          <a:noFill/>
          <a:ln/>
        </p:spPr>
        <p:txBody>
          <a:bodyPr wrap="square" rtlCol="0" anchor="t"/>
          <a:lstStyle/>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Diagnosed WHERE predictions fail:</a:t>
            </a:r>
            <a:endParaRPr lang="en-US" sz="950" dirty="0"/>
          </a:p>
          <a:p>
            <a:pPr marL="0" indent="0">
              <a:lnSpc>
                <a:spcPct val="125000"/>
              </a:lnSpc>
              <a:buNone/>
            </a:pP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Worst circuits: Zandvoort (4.1 error),</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Silverstone (3.8), Las Vegas (3.8)</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Hardest driver: Antonelli (rookie)</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Overall MAE acceptable → no retrain.</a:t>
            </a:r>
            <a:endParaRPr lang="en-US" sz="950" dirty="0"/>
          </a:p>
        </p:txBody>
      </p:sp>
      <p:sp>
        <p:nvSpPr>
          <p:cNvPr id="21" name="Shape 16"/>
          <p:cNvSpPr/>
          <p:nvPr/>
        </p:nvSpPr>
        <p:spPr>
          <a:xfrm>
            <a:off x="4572000" y="2423160"/>
            <a:ext cx="4023360" cy="13716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US"/>
          </a:p>
        </p:txBody>
      </p:sp>
      <p:sp>
        <p:nvSpPr>
          <p:cNvPr id="22" name="Shape 17"/>
          <p:cNvSpPr/>
          <p:nvPr/>
        </p:nvSpPr>
        <p:spPr>
          <a:xfrm>
            <a:off x="4572000" y="2423160"/>
            <a:ext cx="54864" cy="1371600"/>
          </a:xfrm>
          <a:prstGeom prst="rect">
            <a:avLst/>
          </a:prstGeom>
          <a:solidFill>
            <a:srgbClr val="7C3AED"/>
          </a:solidFill>
          <a:ln/>
        </p:spPr>
        <p:txBody>
          <a:bodyPr/>
          <a:lstStyle/>
          <a:p>
            <a:endParaRPr lang="en-US"/>
          </a:p>
        </p:txBody>
      </p:sp>
      <p:pic>
        <p:nvPicPr>
          <p:cNvPr id="23" name="Image 3" descr="preencoded.png"/>
          <p:cNvPicPr>
            <a:picLocks noChangeAspect="1"/>
          </p:cNvPicPr>
          <p:nvPr/>
        </p:nvPicPr>
        <p:blipFill>
          <a:blip r:embed="rId6"/>
          <a:stretch>
            <a:fillRect/>
          </a:stretch>
        </p:blipFill>
        <p:spPr>
          <a:xfrm>
            <a:off x="4709160" y="2532888"/>
            <a:ext cx="256032" cy="256032"/>
          </a:xfrm>
          <a:prstGeom prst="rect">
            <a:avLst/>
          </a:prstGeom>
        </p:spPr>
      </p:pic>
      <p:sp>
        <p:nvSpPr>
          <p:cNvPr id="24" name="Text 18"/>
          <p:cNvSpPr/>
          <p:nvPr/>
        </p:nvSpPr>
        <p:spPr>
          <a:xfrm>
            <a:off x="5029200" y="2496312"/>
            <a:ext cx="3429000" cy="292608"/>
          </a:xfrm>
          <a:prstGeom prst="rect">
            <a:avLst/>
          </a:prstGeom>
          <a:noFill/>
          <a:ln/>
        </p:spPr>
        <p:txBody>
          <a:bodyPr wrap="square" lIns="0" tIns="0" rIns="0" bIns="0" rtlCol="0" anchor="ctr"/>
          <a:lstStyle/>
          <a:p>
            <a:pPr marL="0" indent="0">
              <a:buNone/>
            </a:pPr>
            <a:r>
              <a:rPr lang="en-US" sz="1200" b="1" dirty="0">
                <a:solidFill>
                  <a:srgbClr val="7C3AED"/>
                </a:solidFill>
                <a:latin typeface="Georgia" pitchFamily="34" charset="0"/>
                <a:ea typeface="Georgia" pitchFamily="34" charset="-122"/>
                <a:cs typeface="Georgia" pitchFamily="34" charset="-120"/>
              </a:rPr>
              <a:t>📝 Insight Agent</a:t>
            </a:r>
            <a:endParaRPr lang="en-US" sz="1200" dirty="0"/>
          </a:p>
        </p:txBody>
      </p:sp>
      <p:sp>
        <p:nvSpPr>
          <p:cNvPr id="25" name="Text 19"/>
          <p:cNvSpPr/>
          <p:nvPr/>
        </p:nvSpPr>
        <p:spPr>
          <a:xfrm>
            <a:off x="4709160" y="2834640"/>
            <a:ext cx="3749040" cy="868680"/>
          </a:xfrm>
          <a:prstGeom prst="rect">
            <a:avLst/>
          </a:prstGeom>
          <a:noFill/>
          <a:ln/>
        </p:spPr>
        <p:txBody>
          <a:bodyPr wrap="square" rtlCol="0" anchor="t"/>
          <a:lstStyle/>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Combines all agent outputs into a</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natural-language strategy briefing.</a:t>
            </a:r>
            <a:endParaRPr lang="en-US" sz="950" dirty="0"/>
          </a:p>
          <a:p>
            <a:pPr marL="0" indent="0">
              <a:lnSpc>
                <a:spcPct val="125000"/>
              </a:lnSpc>
              <a:buNone/>
            </a:pP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Similar to what an F1 pit wall</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strategist receives before a race.</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Data quality + predictions + warnings.</a:t>
            </a:r>
            <a:endParaRPr lang="en-US" sz="950" dirty="0"/>
          </a:p>
        </p:txBody>
      </p:sp>
      <p:sp>
        <p:nvSpPr>
          <p:cNvPr id="26" name="Shape 20"/>
          <p:cNvSpPr/>
          <p:nvPr/>
        </p:nvSpPr>
        <p:spPr>
          <a:xfrm>
            <a:off x="365760" y="3977640"/>
            <a:ext cx="8321040" cy="640080"/>
          </a:xfrm>
          <a:prstGeom prst="rect">
            <a:avLst/>
          </a:prstGeom>
          <a:solidFill>
            <a:srgbClr val="E6F4EA"/>
          </a:solidFill>
          <a:ln/>
          <a:effectLst>
            <a:outerShdw blurRad="50800" dist="25400" dir="8100000" algn="bl" rotWithShape="0">
              <a:srgbClr val="000000">
                <a:alpha val="10000"/>
              </a:srgbClr>
            </a:outerShdw>
          </a:effectLst>
        </p:spPr>
        <p:txBody>
          <a:bodyPr/>
          <a:lstStyle/>
          <a:p>
            <a:endParaRPr lang="en-US"/>
          </a:p>
        </p:txBody>
      </p:sp>
      <p:sp>
        <p:nvSpPr>
          <p:cNvPr id="27" name="Text 21"/>
          <p:cNvSpPr/>
          <p:nvPr/>
        </p:nvSpPr>
        <p:spPr>
          <a:xfrm>
            <a:off x="548640" y="4023360"/>
            <a:ext cx="8046720" cy="502920"/>
          </a:xfrm>
          <a:prstGeom prst="rect">
            <a:avLst/>
          </a:prstGeom>
          <a:noFill/>
          <a:ln/>
        </p:spPr>
        <p:txBody>
          <a:bodyPr wrap="square" lIns="0" tIns="0" rIns="0" bIns="0" rtlCol="0" anchor="ctr"/>
          <a:lstStyle/>
          <a:p>
            <a:pPr marL="0" indent="0">
              <a:buNone/>
            </a:pPr>
            <a:r>
              <a:rPr lang="en-US" sz="1000" dirty="0">
                <a:solidFill>
                  <a:srgbClr val="059669"/>
                </a:solidFill>
                <a:latin typeface="Calibri" pitchFamily="34" charset="0"/>
                <a:ea typeface="Calibri" pitchFamily="34" charset="-122"/>
                <a:cs typeface="Calibri" pitchFamily="34" charset="-120"/>
              </a:rPr>
              <a:t>The Feature Agent discovered constructor_dominance (correlation 0.594) — more predictive than most hand-engineered features. This automates the most time-consuming part of ML: feature engineering.</a:t>
            </a:r>
            <a:endParaRPr lang="en-US" sz="1000" dirty="0"/>
          </a:p>
        </p:txBody>
      </p:sp>
      <p:sp>
        <p:nvSpPr>
          <p:cNvPr id="28" name="Text 22"/>
          <p:cNvSpPr/>
          <p:nvPr/>
        </p:nvSpPr>
        <p:spPr>
          <a:xfrm>
            <a:off x="457200" y="4709160"/>
            <a:ext cx="6400800" cy="365760"/>
          </a:xfrm>
          <a:prstGeom prst="rect">
            <a:avLst/>
          </a:prstGeom>
          <a:noFill/>
          <a:ln/>
        </p:spPr>
        <p:txBody>
          <a:bodyPr wrap="square" rtlCol="0" anchor="ctr"/>
          <a:lstStyle/>
          <a:p>
            <a:pPr marL="0" indent="0">
              <a:buNone/>
            </a:pPr>
            <a:r>
              <a:rPr lang="en-US" sz="900" dirty="0">
                <a:solidFill>
                  <a:srgbClr val="949594"/>
                </a:solidFill>
                <a:latin typeface="Calibri" pitchFamily="34" charset="0"/>
                <a:ea typeface="Calibri" pitchFamily="34" charset="-122"/>
                <a:cs typeface="Calibri" pitchFamily="34" charset="-120"/>
              </a:rPr>
              <a:t>Speaker 3 — Predictions &amp; AI</a:t>
            </a:r>
            <a:endParaRPr lang="en-US" sz="900" dirty="0"/>
          </a:p>
        </p:txBody>
      </p:sp>
      <p:sp>
        <p:nvSpPr>
          <p:cNvPr id="29" name="Text 23"/>
          <p:cNvSpPr/>
          <p:nvPr/>
        </p:nvSpPr>
        <p:spPr>
          <a:xfrm>
            <a:off x="8412480" y="4709160"/>
            <a:ext cx="548640" cy="365760"/>
          </a:xfrm>
          <a:prstGeom prst="rect">
            <a:avLst/>
          </a:prstGeom>
          <a:noFill/>
          <a:ln/>
        </p:spPr>
        <p:txBody>
          <a:bodyPr wrap="square" rtlCol="0" anchor="ctr"/>
          <a:lstStyle/>
          <a:p>
            <a:pPr marL="0" indent="0" algn="r">
              <a:buNone/>
            </a:pPr>
            <a:r>
              <a:rPr lang="en-US" sz="900" dirty="0">
                <a:solidFill>
                  <a:srgbClr val="949594"/>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5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C41E1E"/>
          </a:solidFill>
          <a:ln/>
        </p:spPr>
        <p:txBody>
          <a:bodyPr/>
          <a:lstStyle/>
          <a:p>
            <a:endParaRPr lang="en-US"/>
          </a:p>
        </p:txBody>
      </p:sp>
      <p:sp>
        <p:nvSpPr>
          <p:cNvPr id="3" name="Shape 1"/>
          <p:cNvSpPr/>
          <p:nvPr/>
        </p:nvSpPr>
        <p:spPr>
          <a:xfrm>
            <a:off x="8778240" y="0"/>
            <a:ext cx="137160" cy="5143500"/>
          </a:xfrm>
          <a:prstGeom prst="rect">
            <a:avLst/>
          </a:prstGeom>
          <a:solidFill>
            <a:srgbClr val="C41E1E"/>
          </a:solidFill>
          <a:ln/>
        </p:spPr>
        <p:txBody>
          <a:bodyPr/>
          <a:lstStyle/>
          <a:p>
            <a:endParaRPr lang="en-US"/>
          </a:p>
        </p:txBody>
      </p:sp>
      <p:sp>
        <p:nvSpPr>
          <p:cNvPr id="4" name="Shape 2"/>
          <p:cNvSpPr/>
          <p:nvPr/>
        </p:nvSpPr>
        <p:spPr>
          <a:xfrm>
            <a:off x="8961120" y="0"/>
            <a:ext cx="73152" cy="5143500"/>
          </a:xfrm>
          <a:prstGeom prst="rect">
            <a:avLst/>
          </a:prstGeom>
          <a:solidFill>
            <a:srgbClr val="C41E1E">
              <a:alpha val="40000"/>
            </a:srgbClr>
          </a:solidFill>
          <a:ln/>
        </p:spPr>
        <p:txBody>
          <a:bodyPr/>
          <a:lstStyle/>
          <a:p>
            <a:endParaRPr lang="en-US"/>
          </a:p>
        </p:txBody>
      </p:sp>
      <p:sp>
        <p:nvSpPr>
          <p:cNvPr id="5" name="Text 3"/>
          <p:cNvSpPr/>
          <p:nvPr/>
        </p:nvSpPr>
        <p:spPr>
          <a:xfrm>
            <a:off x="731520" y="182880"/>
            <a:ext cx="7315200" cy="548640"/>
          </a:xfrm>
          <a:prstGeom prst="rect">
            <a:avLst/>
          </a:prstGeom>
          <a:noFill/>
          <a:ln/>
        </p:spPr>
        <p:txBody>
          <a:bodyPr wrap="square" lIns="0" tIns="0" rIns="0" bIns="0" rtlCol="0" anchor="ctr"/>
          <a:lstStyle/>
          <a:p>
            <a:pPr marL="0" indent="0">
              <a:buNone/>
            </a:pPr>
            <a:r>
              <a:rPr lang="en-US" sz="2800" b="1" dirty="0">
                <a:solidFill>
                  <a:srgbClr val="1A1A2E"/>
                </a:solidFill>
                <a:latin typeface="Georgia" pitchFamily="34" charset="0"/>
                <a:ea typeface="Georgia" pitchFamily="34" charset="-122"/>
                <a:cs typeface="Georgia" pitchFamily="34" charset="-120"/>
              </a:rPr>
              <a:t>Challenges &amp; Real-World Debugging</a:t>
            </a:r>
            <a:endParaRPr lang="en-US" sz="2800" dirty="0"/>
          </a:p>
        </p:txBody>
      </p:sp>
      <p:sp>
        <p:nvSpPr>
          <p:cNvPr id="6" name="Text 4"/>
          <p:cNvSpPr/>
          <p:nvPr/>
        </p:nvSpPr>
        <p:spPr>
          <a:xfrm>
            <a:off x="731520" y="685800"/>
            <a:ext cx="7315200" cy="228600"/>
          </a:xfrm>
          <a:prstGeom prst="rect">
            <a:avLst/>
          </a:prstGeom>
          <a:noFill/>
          <a:ln/>
        </p:spPr>
        <p:txBody>
          <a:bodyPr wrap="square" lIns="0" tIns="0" rIns="0" bIns="0" rtlCol="0" anchor="ctr"/>
          <a:lstStyle/>
          <a:p>
            <a:pPr marL="0" indent="0">
              <a:buNone/>
            </a:pPr>
            <a:r>
              <a:rPr lang="en-US" sz="1100" dirty="0">
                <a:solidFill>
                  <a:srgbClr val="949594"/>
                </a:solidFill>
                <a:latin typeface="Calibri" pitchFamily="34" charset="0"/>
                <a:ea typeface="Calibri" pitchFamily="34" charset="-122"/>
                <a:cs typeface="Calibri" pitchFamily="34" charset="-120"/>
              </a:rPr>
              <a:t>Evidence of effort, iteration, and production-grade problem-solving</a:t>
            </a:r>
            <a:endParaRPr lang="en-US" sz="1100" dirty="0"/>
          </a:p>
        </p:txBody>
      </p:sp>
      <p:sp>
        <p:nvSpPr>
          <p:cNvPr id="7" name="Shape 5"/>
          <p:cNvSpPr/>
          <p:nvPr/>
        </p:nvSpPr>
        <p:spPr>
          <a:xfrm>
            <a:off x="365760" y="1005840"/>
            <a:ext cx="4023360" cy="13716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US"/>
          </a:p>
        </p:txBody>
      </p:sp>
      <p:sp>
        <p:nvSpPr>
          <p:cNvPr id="8" name="Shape 6"/>
          <p:cNvSpPr/>
          <p:nvPr/>
        </p:nvSpPr>
        <p:spPr>
          <a:xfrm>
            <a:off x="365760" y="1005840"/>
            <a:ext cx="54864" cy="1371600"/>
          </a:xfrm>
          <a:prstGeom prst="rect">
            <a:avLst/>
          </a:prstGeom>
          <a:solidFill>
            <a:srgbClr val="C41E1E"/>
          </a:solidFill>
          <a:ln/>
        </p:spPr>
        <p:txBody>
          <a:bodyPr/>
          <a:lstStyle/>
          <a:p>
            <a:endParaRPr lang="en-US"/>
          </a:p>
        </p:txBody>
      </p:sp>
      <p:pic>
        <p:nvPicPr>
          <p:cNvPr id="9" name="Image 0" descr="preencoded.png"/>
          <p:cNvPicPr>
            <a:picLocks noChangeAspect="1"/>
          </p:cNvPicPr>
          <p:nvPr/>
        </p:nvPicPr>
        <p:blipFill>
          <a:blip r:embed="rId3"/>
          <a:stretch>
            <a:fillRect/>
          </a:stretch>
        </p:blipFill>
        <p:spPr>
          <a:xfrm>
            <a:off x="502920" y="1115568"/>
            <a:ext cx="256032" cy="256032"/>
          </a:xfrm>
          <a:prstGeom prst="rect">
            <a:avLst/>
          </a:prstGeom>
        </p:spPr>
      </p:pic>
      <p:sp>
        <p:nvSpPr>
          <p:cNvPr id="10" name="Text 7"/>
          <p:cNvSpPr/>
          <p:nvPr/>
        </p:nvSpPr>
        <p:spPr>
          <a:xfrm>
            <a:off x="822960" y="1078992"/>
            <a:ext cx="3429000" cy="292608"/>
          </a:xfrm>
          <a:prstGeom prst="rect">
            <a:avLst/>
          </a:prstGeom>
          <a:noFill/>
          <a:ln/>
        </p:spPr>
        <p:txBody>
          <a:bodyPr wrap="square" lIns="0" tIns="0" rIns="0" bIns="0" rtlCol="0" anchor="ctr"/>
          <a:lstStyle/>
          <a:p>
            <a:pPr marL="0" indent="0">
              <a:buNone/>
            </a:pPr>
            <a:r>
              <a:rPr lang="en-US" sz="1200" b="1" dirty="0">
                <a:solidFill>
                  <a:srgbClr val="C41E1E"/>
                </a:solidFill>
                <a:latin typeface="Georgia" pitchFamily="34" charset="0"/>
                <a:ea typeface="Georgia" pitchFamily="34" charset="-122"/>
                <a:cs typeface="Georgia" pitchFamily="34" charset="-120"/>
              </a:rPr>
              <a:t>API Shutdown (Mid-Project)</a:t>
            </a:r>
            <a:endParaRPr lang="en-US" sz="1200" dirty="0"/>
          </a:p>
        </p:txBody>
      </p:sp>
      <p:sp>
        <p:nvSpPr>
          <p:cNvPr id="11" name="Text 8"/>
          <p:cNvSpPr/>
          <p:nvPr/>
        </p:nvSpPr>
        <p:spPr>
          <a:xfrm>
            <a:off x="502920" y="1417320"/>
            <a:ext cx="3749040" cy="868680"/>
          </a:xfrm>
          <a:prstGeom prst="rect">
            <a:avLst/>
          </a:prstGeom>
          <a:noFill/>
          <a:ln/>
        </p:spPr>
        <p:txBody>
          <a:bodyPr wrap="square" rtlCol="0" anchor="t"/>
          <a:lstStyle/>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Ergast API died end of 2024.</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Migrated to Jolpica — same JSON format.</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Rate limits: HTTP 429 after ~100 calls.</a:t>
            </a:r>
            <a:endParaRPr lang="en-US" sz="950" dirty="0"/>
          </a:p>
          <a:p>
            <a:pPr marL="0" indent="0">
              <a:lnSpc>
                <a:spcPct val="125000"/>
              </a:lnSpc>
              <a:buNone/>
            </a:pP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Solution: exponential backoff with</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automatic retry and 30s cooldown.</a:t>
            </a:r>
            <a:endParaRPr lang="en-US" sz="950" dirty="0"/>
          </a:p>
        </p:txBody>
      </p:sp>
      <p:sp>
        <p:nvSpPr>
          <p:cNvPr id="12" name="Shape 9"/>
          <p:cNvSpPr/>
          <p:nvPr/>
        </p:nvSpPr>
        <p:spPr>
          <a:xfrm>
            <a:off x="4572000" y="1005840"/>
            <a:ext cx="4023360" cy="13716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US"/>
          </a:p>
        </p:txBody>
      </p:sp>
      <p:sp>
        <p:nvSpPr>
          <p:cNvPr id="13" name="Shape 10"/>
          <p:cNvSpPr/>
          <p:nvPr/>
        </p:nvSpPr>
        <p:spPr>
          <a:xfrm>
            <a:off x="4572000" y="1005840"/>
            <a:ext cx="54864" cy="1371600"/>
          </a:xfrm>
          <a:prstGeom prst="rect">
            <a:avLst/>
          </a:prstGeom>
          <a:solidFill>
            <a:srgbClr val="D97706"/>
          </a:solidFill>
          <a:ln/>
        </p:spPr>
        <p:txBody>
          <a:bodyPr/>
          <a:lstStyle/>
          <a:p>
            <a:endParaRPr lang="en-US"/>
          </a:p>
        </p:txBody>
      </p:sp>
      <p:pic>
        <p:nvPicPr>
          <p:cNvPr id="14" name="Image 1" descr="preencoded.png"/>
          <p:cNvPicPr>
            <a:picLocks noChangeAspect="1"/>
          </p:cNvPicPr>
          <p:nvPr/>
        </p:nvPicPr>
        <p:blipFill>
          <a:blip r:embed="rId3"/>
          <a:stretch>
            <a:fillRect/>
          </a:stretch>
        </p:blipFill>
        <p:spPr>
          <a:xfrm>
            <a:off x="4709160" y="1115568"/>
            <a:ext cx="256032" cy="256032"/>
          </a:xfrm>
          <a:prstGeom prst="rect">
            <a:avLst/>
          </a:prstGeom>
        </p:spPr>
      </p:pic>
      <p:sp>
        <p:nvSpPr>
          <p:cNvPr id="15" name="Text 11"/>
          <p:cNvSpPr/>
          <p:nvPr/>
        </p:nvSpPr>
        <p:spPr>
          <a:xfrm>
            <a:off x="5029200" y="1078992"/>
            <a:ext cx="3429000" cy="292608"/>
          </a:xfrm>
          <a:prstGeom prst="rect">
            <a:avLst/>
          </a:prstGeom>
          <a:noFill/>
          <a:ln/>
        </p:spPr>
        <p:txBody>
          <a:bodyPr wrap="square" lIns="0" tIns="0" rIns="0" bIns="0" rtlCol="0" anchor="ctr"/>
          <a:lstStyle/>
          <a:p>
            <a:pPr marL="0" indent="0">
              <a:buNone/>
            </a:pPr>
            <a:r>
              <a:rPr lang="en-US" sz="1200" b="1" dirty="0">
                <a:solidFill>
                  <a:srgbClr val="D97706"/>
                </a:solidFill>
                <a:latin typeface="Georgia" pitchFamily="34" charset="0"/>
                <a:ea typeface="Georgia" pitchFamily="34" charset="-122"/>
                <a:cs typeface="Georgia" pitchFamily="34" charset="-120"/>
              </a:rPr>
              <a:t>Airflow → Spark Integration</a:t>
            </a:r>
            <a:endParaRPr lang="en-US" sz="1200" dirty="0"/>
          </a:p>
        </p:txBody>
      </p:sp>
      <p:sp>
        <p:nvSpPr>
          <p:cNvPr id="16" name="Text 12"/>
          <p:cNvSpPr/>
          <p:nvPr/>
        </p:nvSpPr>
        <p:spPr>
          <a:xfrm>
            <a:off x="4709160" y="1417320"/>
            <a:ext cx="3749040" cy="868680"/>
          </a:xfrm>
          <a:prstGeom prst="rect">
            <a:avLst/>
          </a:prstGeom>
          <a:noFill/>
          <a:ln/>
        </p:spPr>
        <p:txBody>
          <a:bodyPr wrap="square" rtlCol="0" anchor="t"/>
          <a:lstStyle/>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Airflow container has no spark-submit.</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Needed to trigger Spark on cluster.</a:t>
            </a:r>
            <a:endParaRPr lang="en-US" sz="950" dirty="0"/>
          </a:p>
          <a:p>
            <a:pPr marL="0" indent="0">
              <a:lnSpc>
                <a:spcPct val="125000"/>
              </a:lnSpc>
              <a:buNone/>
            </a:pP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Solution: mounted Docker socket into</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Airflow, installed CLI, used docker exec</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to run spark-submit on Spark master.</a:t>
            </a:r>
            <a:endParaRPr lang="en-US" sz="950" dirty="0"/>
          </a:p>
        </p:txBody>
      </p:sp>
      <p:sp>
        <p:nvSpPr>
          <p:cNvPr id="17" name="Shape 13"/>
          <p:cNvSpPr/>
          <p:nvPr/>
        </p:nvSpPr>
        <p:spPr>
          <a:xfrm>
            <a:off x="365760" y="2560320"/>
            <a:ext cx="4023360" cy="13716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US"/>
          </a:p>
        </p:txBody>
      </p:sp>
      <p:sp>
        <p:nvSpPr>
          <p:cNvPr id="18" name="Shape 14"/>
          <p:cNvSpPr/>
          <p:nvPr/>
        </p:nvSpPr>
        <p:spPr>
          <a:xfrm>
            <a:off x="365760" y="2560320"/>
            <a:ext cx="54864" cy="1371600"/>
          </a:xfrm>
          <a:prstGeom prst="rect">
            <a:avLst/>
          </a:prstGeom>
          <a:solidFill>
            <a:srgbClr val="2563EB"/>
          </a:solidFill>
          <a:ln/>
        </p:spPr>
        <p:txBody>
          <a:bodyPr/>
          <a:lstStyle/>
          <a:p>
            <a:endParaRPr lang="en-US"/>
          </a:p>
        </p:txBody>
      </p:sp>
      <p:pic>
        <p:nvPicPr>
          <p:cNvPr id="19" name="Image 2" descr="preencoded.png"/>
          <p:cNvPicPr>
            <a:picLocks noChangeAspect="1"/>
          </p:cNvPicPr>
          <p:nvPr/>
        </p:nvPicPr>
        <p:blipFill>
          <a:blip r:embed="rId3"/>
          <a:stretch>
            <a:fillRect/>
          </a:stretch>
        </p:blipFill>
        <p:spPr>
          <a:xfrm>
            <a:off x="502920" y="2670048"/>
            <a:ext cx="256032" cy="256032"/>
          </a:xfrm>
          <a:prstGeom prst="rect">
            <a:avLst/>
          </a:prstGeom>
        </p:spPr>
      </p:pic>
      <p:sp>
        <p:nvSpPr>
          <p:cNvPr id="20" name="Text 15"/>
          <p:cNvSpPr/>
          <p:nvPr/>
        </p:nvSpPr>
        <p:spPr>
          <a:xfrm>
            <a:off x="822960" y="2633472"/>
            <a:ext cx="3429000" cy="292608"/>
          </a:xfrm>
          <a:prstGeom prst="rect">
            <a:avLst/>
          </a:prstGeom>
          <a:noFill/>
          <a:ln/>
        </p:spPr>
        <p:txBody>
          <a:bodyPr wrap="square" lIns="0" tIns="0" rIns="0" bIns="0" rtlCol="0" anchor="ctr"/>
          <a:lstStyle/>
          <a:p>
            <a:pPr marL="0" indent="0">
              <a:buNone/>
            </a:pPr>
            <a:r>
              <a:rPr lang="en-US" sz="1200" b="1" dirty="0">
                <a:solidFill>
                  <a:srgbClr val="2563EB"/>
                </a:solidFill>
                <a:latin typeface="Georgia" pitchFamily="34" charset="0"/>
                <a:ea typeface="Georgia" pitchFamily="34" charset="-122"/>
                <a:cs typeface="Georgia" pitchFamily="34" charset="-120"/>
              </a:rPr>
              <a:t>Docker Container Issues</a:t>
            </a:r>
            <a:endParaRPr lang="en-US" sz="1200" dirty="0"/>
          </a:p>
        </p:txBody>
      </p:sp>
      <p:sp>
        <p:nvSpPr>
          <p:cNvPr id="21" name="Text 16"/>
          <p:cNvSpPr/>
          <p:nvPr/>
        </p:nvSpPr>
        <p:spPr>
          <a:xfrm>
            <a:off x="502920" y="2971800"/>
            <a:ext cx="3749040" cy="868680"/>
          </a:xfrm>
          <a:prstGeom prst="rect">
            <a:avLst/>
          </a:prstGeom>
          <a:noFill/>
          <a:ln/>
        </p:spPr>
        <p:txBody>
          <a:bodyPr wrap="square" rtlCol="0" anchor="t"/>
          <a:lstStyle/>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Bitnami images removed from Docker Hub.</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Containers dying on startup.</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Folder spaces broke volume mounts.</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Timestamp NANOS format crashed Spark.</a:t>
            </a:r>
            <a:endParaRPr lang="en-US" sz="950" dirty="0"/>
          </a:p>
          <a:p>
            <a:pPr marL="0" indent="0">
              <a:lnSpc>
                <a:spcPct val="125000"/>
              </a:lnSpc>
              <a:buNone/>
            </a:pP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Each required targeted investigation.</a:t>
            </a:r>
            <a:endParaRPr lang="en-US" sz="950" dirty="0"/>
          </a:p>
        </p:txBody>
      </p:sp>
      <p:sp>
        <p:nvSpPr>
          <p:cNvPr id="22" name="Shape 17"/>
          <p:cNvSpPr/>
          <p:nvPr/>
        </p:nvSpPr>
        <p:spPr>
          <a:xfrm>
            <a:off x="4572000" y="2560320"/>
            <a:ext cx="4023360" cy="13716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US"/>
          </a:p>
        </p:txBody>
      </p:sp>
      <p:sp>
        <p:nvSpPr>
          <p:cNvPr id="23" name="Shape 18"/>
          <p:cNvSpPr/>
          <p:nvPr/>
        </p:nvSpPr>
        <p:spPr>
          <a:xfrm>
            <a:off x="4572000" y="2560320"/>
            <a:ext cx="54864" cy="1371600"/>
          </a:xfrm>
          <a:prstGeom prst="rect">
            <a:avLst/>
          </a:prstGeom>
          <a:solidFill>
            <a:srgbClr val="7C3AED"/>
          </a:solidFill>
          <a:ln/>
        </p:spPr>
        <p:txBody>
          <a:bodyPr/>
          <a:lstStyle/>
          <a:p>
            <a:endParaRPr lang="en-US"/>
          </a:p>
        </p:txBody>
      </p:sp>
      <p:pic>
        <p:nvPicPr>
          <p:cNvPr id="24" name="Image 3" descr="preencoded.png"/>
          <p:cNvPicPr>
            <a:picLocks noChangeAspect="1"/>
          </p:cNvPicPr>
          <p:nvPr/>
        </p:nvPicPr>
        <p:blipFill>
          <a:blip r:embed="rId3"/>
          <a:stretch>
            <a:fillRect/>
          </a:stretch>
        </p:blipFill>
        <p:spPr>
          <a:xfrm>
            <a:off x="4709160" y="2670048"/>
            <a:ext cx="256032" cy="256032"/>
          </a:xfrm>
          <a:prstGeom prst="rect">
            <a:avLst/>
          </a:prstGeom>
        </p:spPr>
      </p:pic>
      <p:sp>
        <p:nvSpPr>
          <p:cNvPr id="25" name="Text 19"/>
          <p:cNvSpPr/>
          <p:nvPr/>
        </p:nvSpPr>
        <p:spPr>
          <a:xfrm>
            <a:off x="5029200" y="2633472"/>
            <a:ext cx="3429000" cy="292608"/>
          </a:xfrm>
          <a:prstGeom prst="rect">
            <a:avLst/>
          </a:prstGeom>
          <a:noFill/>
          <a:ln/>
        </p:spPr>
        <p:txBody>
          <a:bodyPr wrap="square" lIns="0" tIns="0" rIns="0" bIns="0" rtlCol="0" anchor="ctr"/>
          <a:lstStyle/>
          <a:p>
            <a:pPr marL="0" indent="0">
              <a:buNone/>
            </a:pPr>
            <a:r>
              <a:rPr lang="en-US" sz="1200" b="1" dirty="0">
                <a:solidFill>
                  <a:srgbClr val="7C3AED"/>
                </a:solidFill>
                <a:latin typeface="Georgia" pitchFamily="34" charset="0"/>
                <a:ea typeface="Georgia" pitchFamily="34" charset="-122"/>
                <a:cs typeface="Georgia" pitchFamily="34" charset="-120"/>
              </a:rPr>
              <a:t>Spark Worker OOM (Code 137)</a:t>
            </a:r>
            <a:endParaRPr lang="en-US" sz="1200" dirty="0"/>
          </a:p>
        </p:txBody>
      </p:sp>
      <p:sp>
        <p:nvSpPr>
          <p:cNvPr id="26" name="Text 20"/>
          <p:cNvSpPr/>
          <p:nvPr/>
        </p:nvSpPr>
        <p:spPr>
          <a:xfrm>
            <a:off x="4709160" y="2971800"/>
            <a:ext cx="3749040" cy="868680"/>
          </a:xfrm>
          <a:prstGeom prst="rect">
            <a:avLst/>
          </a:prstGeom>
          <a:noFill/>
          <a:ln/>
        </p:spPr>
        <p:txBody>
          <a:bodyPr wrap="square" rtlCol="0" anchor="t"/>
          <a:lstStyle/>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Workers crashed processing 181K laps.</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Airflow retry caught it automatically.</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Succeeded on second attempt.</a:t>
            </a:r>
            <a:endParaRPr lang="en-US" sz="950" dirty="0"/>
          </a:p>
          <a:p>
            <a:pPr marL="0" indent="0">
              <a:lnSpc>
                <a:spcPct val="125000"/>
              </a:lnSpc>
              <a:buNone/>
            </a:pP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This IS fault tolerance — the system</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recovered without human intervention.</a:t>
            </a:r>
            <a:endParaRPr lang="en-US" sz="950" dirty="0"/>
          </a:p>
        </p:txBody>
      </p:sp>
      <p:sp>
        <p:nvSpPr>
          <p:cNvPr id="27" name="Text 21"/>
          <p:cNvSpPr/>
          <p:nvPr/>
        </p:nvSpPr>
        <p:spPr>
          <a:xfrm>
            <a:off x="457200" y="4114800"/>
            <a:ext cx="8229600" cy="457200"/>
          </a:xfrm>
          <a:prstGeom prst="rect">
            <a:avLst/>
          </a:prstGeom>
          <a:noFill/>
          <a:ln/>
        </p:spPr>
        <p:txBody>
          <a:bodyPr wrap="square" lIns="0" tIns="0" rIns="0" bIns="0" rtlCol="0" anchor="ctr"/>
          <a:lstStyle/>
          <a:p>
            <a:pPr marL="0" indent="0">
              <a:buNone/>
            </a:pPr>
            <a:r>
              <a:rPr lang="en-US" sz="1000" b="1" i="1" dirty="0">
                <a:solidFill>
                  <a:srgbClr val="C41E1E"/>
                </a:solidFill>
                <a:latin typeface="Calibri" pitchFamily="34" charset="0"/>
                <a:ea typeface="Calibri" pitchFamily="34" charset="-122"/>
                <a:cs typeface="Calibri" pitchFamily="34" charset="-120"/>
              </a:rPr>
              <a:t>These aren't edge cases — they're the NORMAL state of real-world data engineering. Building retry logic from day 1 saved weeks of debugging.</a:t>
            </a:r>
            <a:endParaRPr lang="en-US" sz="1000" dirty="0"/>
          </a:p>
        </p:txBody>
      </p:sp>
      <p:sp>
        <p:nvSpPr>
          <p:cNvPr id="28" name="Text 22"/>
          <p:cNvSpPr/>
          <p:nvPr/>
        </p:nvSpPr>
        <p:spPr>
          <a:xfrm>
            <a:off x="457200" y="4709160"/>
            <a:ext cx="6400800" cy="365760"/>
          </a:xfrm>
          <a:prstGeom prst="rect">
            <a:avLst/>
          </a:prstGeom>
          <a:noFill/>
          <a:ln/>
        </p:spPr>
        <p:txBody>
          <a:bodyPr wrap="square" rtlCol="0" anchor="ctr"/>
          <a:lstStyle/>
          <a:p>
            <a:pPr marL="0" indent="0">
              <a:buNone/>
            </a:pPr>
            <a:r>
              <a:rPr lang="en-US" sz="900" dirty="0">
                <a:solidFill>
                  <a:srgbClr val="949594"/>
                </a:solidFill>
                <a:latin typeface="Calibri" pitchFamily="34" charset="0"/>
                <a:ea typeface="Calibri" pitchFamily="34" charset="-122"/>
                <a:cs typeface="Calibri" pitchFamily="34" charset="-120"/>
              </a:rPr>
              <a:t>Speaker 3 — Predictions &amp; AI</a:t>
            </a:r>
            <a:endParaRPr lang="en-US" sz="900" dirty="0"/>
          </a:p>
        </p:txBody>
      </p:sp>
      <p:sp>
        <p:nvSpPr>
          <p:cNvPr id="29" name="Text 23"/>
          <p:cNvSpPr/>
          <p:nvPr/>
        </p:nvSpPr>
        <p:spPr>
          <a:xfrm>
            <a:off x="8412480" y="4709160"/>
            <a:ext cx="548640" cy="365760"/>
          </a:xfrm>
          <a:prstGeom prst="rect">
            <a:avLst/>
          </a:prstGeom>
          <a:noFill/>
          <a:ln/>
        </p:spPr>
        <p:txBody>
          <a:bodyPr wrap="square" rtlCol="0" anchor="ctr"/>
          <a:lstStyle/>
          <a:p>
            <a:pPr marL="0" indent="0" algn="r">
              <a:buNone/>
            </a:pPr>
            <a:r>
              <a:rPr lang="en-US" sz="900" dirty="0">
                <a:solidFill>
                  <a:srgbClr val="949594"/>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5F5"/>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C41E1E"/>
          </a:solidFill>
          <a:ln/>
        </p:spPr>
        <p:txBody>
          <a:bodyPr/>
          <a:lstStyle/>
          <a:p>
            <a:endParaRPr lang="en-US"/>
          </a:p>
        </p:txBody>
      </p:sp>
      <p:sp>
        <p:nvSpPr>
          <p:cNvPr id="3" name="Shape 1"/>
          <p:cNvSpPr/>
          <p:nvPr/>
        </p:nvSpPr>
        <p:spPr>
          <a:xfrm>
            <a:off x="8778240" y="0"/>
            <a:ext cx="137160" cy="5143500"/>
          </a:xfrm>
          <a:prstGeom prst="rect">
            <a:avLst/>
          </a:prstGeom>
          <a:solidFill>
            <a:srgbClr val="C41E1E"/>
          </a:solidFill>
          <a:ln/>
        </p:spPr>
        <p:txBody>
          <a:bodyPr/>
          <a:lstStyle/>
          <a:p>
            <a:endParaRPr lang="en-US"/>
          </a:p>
        </p:txBody>
      </p:sp>
      <p:sp>
        <p:nvSpPr>
          <p:cNvPr id="4" name="Shape 2"/>
          <p:cNvSpPr/>
          <p:nvPr/>
        </p:nvSpPr>
        <p:spPr>
          <a:xfrm>
            <a:off x="8961120" y="0"/>
            <a:ext cx="73152" cy="5143500"/>
          </a:xfrm>
          <a:prstGeom prst="rect">
            <a:avLst/>
          </a:prstGeom>
          <a:solidFill>
            <a:srgbClr val="C41E1E">
              <a:alpha val="40000"/>
            </a:srgbClr>
          </a:solidFill>
          <a:ln/>
        </p:spPr>
        <p:txBody>
          <a:bodyPr/>
          <a:lstStyle/>
          <a:p>
            <a:endParaRPr lang="en-US"/>
          </a:p>
        </p:txBody>
      </p:sp>
      <p:sp>
        <p:nvSpPr>
          <p:cNvPr id="5" name="Text 3"/>
          <p:cNvSpPr/>
          <p:nvPr/>
        </p:nvSpPr>
        <p:spPr>
          <a:xfrm>
            <a:off x="731520" y="182880"/>
            <a:ext cx="7315200" cy="548640"/>
          </a:xfrm>
          <a:prstGeom prst="rect">
            <a:avLst/>
          </a:prstGeom>
          <a:noFill/>
          <a:ln/>
        </p:spPr>
        <p:txBody>
          <a:bodyPr wrap="square" lIns="0" tIns="0" rIns="0" bIns="0" rtlCol="0" anchor="ctr"/>
          <a:lstStyle/>
          <a:p>
            <a:pPr marL="0" indent="0">
              <a:buNone/>
            </a:pPr>
            <a:r>
              <a:rPr lang="en-US" sz="2600" b="1" dirty="0">
                <a:solidFill>
                  <a:srgbClr val="1A1A2E"/>
                </a:solidFill>
                <a:latin typeface="Georgia" pitchFamily="34" charset="0"/>
                <a:ea typeface="Georgia" pitchFamily="34" charset="-122"/>
                <a:cs typeface="Georgia" pitchFamily="34" charset="-120"/>
              </a:rPr>
              <a:t>Limitations &amp; Lessons Learned</a:t>
            </a:r>
            <a:endParaRPr lang="en-US" sz="2600" dirty="0"/>
          </a:p>
        </p:txBody>
      </p:sp>
      <p:sp>
        <p:nvSpPr>
          <p:cNvPr id="6" name="Shape 4"/>
          <p:cNvSpPr/>
          <p:nvPr/>
        </p:nvSpPr>
        <p:spPr>
          <a:xfrm>
            <a:off x="365760" y="868680"/>
            <a:ext cx="4023360" cy="118872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US"/>
          </a:p>
        </p:txBody>
      </p:sp>
      <p:sp>
        <p:nvSpPr>
          <p:cNvPr id="7" name="Shape 5"/>
          <p:cNvSpPr/>
          <p:nvPr/>
        </p:nvSpPr>
        <p:spPr>
          <a:xfrm>
            <a:off x="365760" y="868680"/>
            <a:ext cx="54864" cy="1188720"/>
          </a:xfrm>
          <a:prstGeom prst="rect">
            <a:avLst/>
          </a:prstGeom>
          <a:solidFill>
            <a:srgbClr val="C41E1E"/>
          </a:solidFill>
          <a:ln/>
        </p:spPr>
        <p:txBody>
          <a:bodyPr/>
          <a:lstStyle/>
          <a:p>
            <a:endParaRPr lang="en-US"/>
          </a:p>
        </p:txBody>
      </p:sp>
      <p:sp>
        <p:nvSpPr>
          <p:cNvPr id="8" name="Text 6"/>
          <p:cNvSpPr/>
          <p:nvPr/>
        </p:nvSpPr>
        <p:spPr>
          <a:xfrm>
            <a:off x="502920" y="941832"/>
            <a:ext cx="3429000" cy="292608"/>
          </a:xfrm>
          <a:prstGeom prst="rect">
            <a:avLst/>
          </a:prstGeom>
          <a:noFill/>
          <a:ln/>
        </p:spPr>
        <p:txBody>
          <a:bodyPr wrap="square" lIns="0" tIns="0" rIns="0" bIns="0" rtlCol="0" anchor="ctr"/>
          <a:lstStyle/>
          <a:p>
            <a:pPr marL="0" indent="0">
              <a:buNone/>
            </a:pPr>
            <a:r>
              <a:rPr lang="en-US" sz="1200" b="1" dirty="0">
                <a:solidFill>
                  <a:srgbClr val="C41E1E"/>
                </a:solidFill>
                <a:latin typeface="Georgia" pitchFamily="34" charset="0"/>
                <a:ea typeface="Georgia" pitchFamily="34" charset="-122"/>
                <a:cs typeface="Georgia" pitchFamily="34" charset="-120"/>
              </a:rPr>
              <a:t>Prediction Ceiling (~78%)</a:t>
            </a:r>
            <a:endParaRPr lang="en-US" sz="1200" dirty="0"/>
          </a:p>
        </p:txBody>
      </p:sp>
      <p:sp>
        <p:nvSpPr>
          <p:cNvPr id="9" name="Text 7"/>
          <p:cNvSpPr/>
          <p:nvPr/>
        </p:nvSpPr>
        <p:spPr>
          <a:xfrm>
            <a:off x="502920" y="1280160"/>
            <a:ext cx="3749040" cy="685800"/>
          </a:xfrm>
          <a:prstGeom prst="rect">
            <a:avLst/>
          </a:prstGeom>
          <a:noFill/>
          <a:ln/>
        </p:spPr>
        <p:txBody>
          <a:bodyPr wrap="square" rtlCol="0" anchor="t"/>
          <a:lstStyle/>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F1 has inherent unpredictability:</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crashes, rain, mechanical failures,</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safety cars, strategy gambles.</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Model uses pre-race data only.</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To exceed ~78% → need live telemetry.</a:t>
            </a:r>
            <a:endParaRPr lang="en-US" sz="950" dirty="0"/>
          </a:p>
        </p:txBody>
      </p:sp>
      <p:sp>
        <p:nvSpPr>
          <p:cNvPr id="10" name="Shape 8"/>
          <p:cNvSpPr/>
          <p:nvPr/>
        </p:nvSpPr>
        <p:spPr>
          <a:xfrm>
            <a:off x="4572000" y="868680"/>
            <a:ext cx="4023360" cy="118872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US"/>
          </a:p>
        </p:txBody>
      </p:sp>
      <p:sp>
        <p:nvSpPr>
          <p:cNvPr id="11" name="Shape 9"/>
          <p:cNvSpPr/>
          <p:nvPr/>
        </p:nvSpPr>
        <p:spPr>
          <a:xfrm>
            <a:off x="4572000" y="868680"/>
            <a:ext cx="54864" cy="1188720"/>
          </a:xfrm>
          <a:prstGeom prst="rect">
            <a:avLst/>
          </a:prstGeom>
          <a:solidFill>
            <a:srgbClr val="949594"/>
          </a:solidFill>
          <a:ln/>
        </p:spPr>
        <p:txBody>
          <a:bodyPr/>
          <a:lstStyle/>
          <a:p>
            <a:endParaRPr lang="en-US"/>
          </a:p>
        </p:txBody>
      </p:sp>
      <p:sp>
        <p:nvSpPr>
          <p:cNvPr id="12" name="Text 10"/>
          <p:cNvSpPr/>
          <p:nvPr/>
        </p:nvSpPr>
        <p:spPr>
          <a:xfrm>
            <a:off x="4709160" y="941832"/>
            <a:ext cx="3429000" cy="292608"/>
          </a:xfrm>
          <a:prstGeom prst="rect">
            <a:avLst/>
          </a:prstGeom>
          <a:noFill/>
          <a:ln/>
        </p:spPr>
        <p:txBody>
          <a:bodyPr wrap="square" lIns="0" tIns="0" rIns="0" bIns="0" rtlCol="0" anchor="ctr"/>
          <a:lstStyle/>
          <a:p>
            <a:pPr marL="0" indent="0">
              <a:buNone/>
            </a:pPr>
            <a:r>
              <a:rPr lang="en-US" sz="1200" b="1" dirty="0">
                <a:solidFill>
                  <a:srgbClr val="949594"/>
                </a:solidFill>
                <a:latin typeface="Georgia" pitchFamily="34" charset="0"/>
                <a:ea typeface="Georgia" pitchFamily="34" charset="-122"/>
                <a:cs typeface="Georgia" pitchFamily="34" charset="-120"/>
              </a:rPr>
              <a:t>Data Volume (3,524 rows)</a:t>
            </a:r>
            <a:endParaRPr lang="en-US" sz="1200" dirty="0"/>
          </a:p>
        </p:txBody>
      </p:sp>
      <p:sp>
        <p:nvSpPr>
          <p:cNvPr id="13" name="Text 11"/>
          <p:cNvSpPr/>
          <p:nvPr/>
        </p:nvSpPr>
        <p:spPr>
          <a:xfrm>
            <a:off x="4709160" y="1280160"/>
            <a:ext cx="3749040" cy="685800"/>
          </a:xfrm>
          <a:prstGeom prst="rect">
            <a:avLst/>
          </a:prstGeom>
          <a:noFill/>
          <a:ln/>
        </p:spPr>
        <p:txBody>
          <a:bodyPr wrap="square" rtlCol="0" anchor="t"/>
          <a:lstStyle/>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Modest for ML — explains why neural</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nets failed (29.6%). Tree ensembles</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excel at this scale. Deep learning</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needs 50K+ rows to compete.</a:t>
            </a:r>
            <a:endParaRPr lang="en-US" sz="950" dirty="0"/>
          </a:p>
        </p:txBody>
      </p:sp>
      <p:sp>
        <p:nvSpPr>
          <p:cNvPr id="14" name="Shape 12"/>
          <p:cNvSpPr/>
          <p:nvPr/>
        </p:nvSpPr>
        <p:spPr>
          <a:xfrm>
            <a:off x="365760" y="2240280"/>
            <a:ext cx="4023360" cy="118872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US"/>
          </a:p>
        </p:txBody>
      </p:sp>
      <p:sp>
        <p:nvSpPr>
          <p:cNvPr id="15" name="Shape 13"/>
          <p:cNvSpPr/>
          <p:nvPr/>
        </p:nvSpPr>
        <p:spPr>
          <a:xfrm>
            <a:off x="365760" y="2240280"/>
            <a:ext cx="54864" cy="1188720"/>
          </a:xfrm>
          <a:prstGeom prst="rect">
            <a:avLst/>
          </a:prstGeom>
          <a:solidFill>
            <a:srgbClr val="059669"/>
          </a:solidFill>
          <a:ln/>
        </p:spPr>
        <p:txBody>
          <a:bodyPr/>
          <a:lstStyle/>
          <a:p>
            <a:endParaRPr lang="en-US"/>
          </a:p>
        </p:txBody>
      </p:sp>
      <p:pic>
        <p:nvPicPr>
          <p:cNvPr id="16" name="Image 0" descr="preencoded.png"/>
          <p:cNvPicPr>
            <a:picLocks noChangeAspect="1"/>
          </p:cNvPicPr>
          <p:nvPr/>
        </p:nvPicPr>
        <p:blipFill>
          <a:blip r:embed="rId3"/>
          <a:stretch>
            <a:fillRect/>
          </a:stretch>
        </p:blipFill>
        <p:spPr>
          <a:xfrm>
            <a:off x="502920" y="2350008"/>
            <a:ext cx="256032" cy="256032"/>
          </a:xfrm>
          <a:prstGeom prst="rect">
            <a:avLst/>
          </a:prstGeom>
        </p:spPr>
      </p:pic>
      <p:sp>
        <p:nvSpPr>
          <p:cNvPr id="17" name="Text 14"/>
          <p:cNvSpPr/>
          <p:nvPr/>
        </p:nvSpPr>
        <p:spPr>
          <a:xfrm>
            <a:off x="822960" y="2313432"/>
            <a:ext cx="3429000" cy="292608"/>
          </a:xfrm>
          <a:prstGeom prst="rect">
            <a:avLst/>
          </a:prstGeom>
          <a:noFill/>
          <a:ln/>
        </p:spPr>
        <p:txBody>
          <a:bodyPr wrap="square" lIns="0" tIns="0" rIns="0" bIns="0" rtlCol="0" anchor="ctr"/>
          <a:lstStyle/>
          <a:p>
            <a:pPr marL="0" indent="0">
              <a:buNone/>
            </a:pPr>
            <a:r>
              <a:rPr lang="en-US" sz="1200" b="1" dirty="0">
                <a:solidFill>
                  <a:srgbClr val="059669"/>
                </a:solidFill>
                <a:latin typeface="Georgia" pitchFamily="34" charset="0"/>
                <a:ea typeface="Georgia" pitchFamily="34" charset="-122"/>
                <a:cs typeface="Georgia" pitchFamily="34" charset="-120"/>
              </a:rPr>
              <a:t>Features &gt; Algorithms</a:t>
            </a:r>
            <a:endParaRPr lang="en-US" sz="1200" dirty="0"/>
          </a:p>
        </p:txBody>
      </p:sp>
      <p:sp>
        <p:nvSpPr>
          <p:cNvPr id="18" name="Text 15"/>
          <p:cNvSpPr/>
          <p:nvPr/>
        </p:nvSpPr>
        <p:spPr>
          <a:xfrm>
            <a:off x="502920" y="2651760"/>
            <a:ext cx="3749040" cy="685800"/>
          </a:xfrm>
          <a:prstGeom prst="rect">
            <a:avLst/>
          </a:prstGeom>
          <a:noFill/>
          <a:ln/>
        </p:spPr>
        <p:txBody>
          <a:bodyPr wrap="square" rtlCol="0" anchor="t"/>
          <a:lstStyle/>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Weather: +20.4% accuracy</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Tire data: -23% position MAE</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Algorithm switch: only -2.4%</a:t>
            </a:r>
            <a:endParaRPr lang="en-US" sz="950" dirty="0"/>
          </a:p>
          <a:p>
            <a:pPr marL="0" indent="0">
              <a:lnSpc>
                <a:spcPct val="125000"/>
              </a:lnSpc>
              <a:buNone/>
            </a:pP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Spend 80% on features, 20% on models.</a:t>
            </a:r>
            <a:endParaRPr lang="en-US" sz="950" dirty="0"/>
          </a:p>
        </p:txBody>
      </p:sp>
      <p:sp>
        <p:nvSpPr>
          <p:cNvPr id="19" name="Shape 16"/>
          <p:cNvSpPr/>
          <p:nvPr/>
        </p:nvSpPr>
        <p:spPr>
          <a:xfrm>
            <a:off x="4572000" y="2240280"/>
            <a:ext cx="4023360" cy="118872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US"/>
          </a:p>
        </p:txBody>
      </p:sp>
      <p:sp>
        <p:nvSpPr>
          <p:cNvPr id="20" name="Shape 17"/>
          <p:cNvSpPr/>
          <p:nvPr/>
        </p:nvSpPr>
        <p:spPr>
          <a:xfrm>
            <a:off x="4572000" y="2240280"/>
            <a:ext cx="54864" cy="1188720"/>
          </a:xfrm>
          <a:prstGeom prst="rect">
            <a:avLst/>
          </a:prstGeom>
          <a:solidFill>
            <a:srgbClr val="2563EB"/>
          </a:solidFill>
          <a:ln/>
        </p:spPr>
        <p:txBody>
          <a:bodyPr/>
          <a:lstStyle/>
          <a:p>
            <a:endParaRPr lang="en-US"/>
          </a:p>
        </p:txBody>
      </p:sp>
      <p:pic>
        <p:nvPicPr>
          <p:cNvPr id="21" name="Image 1" descr="preencoded.png"/>
          <p:cNvPicPr>
            <a:picLocks noChangeAspect="1"/>
          </p:cNvPicPr>
          <p:nvPr/>
        </p:nvPicPr>
        <p:blipFill>
          <a:blip r:embed="rId3"/>
          <a:stretch>
            <a:fillRect/>
          </a:stretch>
        </p:blipFill>
        <p:spPr>
          <a:xfrm>
            <a:off x="4709160" y="2350008"/>
            <a:ext cx="256032" cy="256032"/>
          </a:xfrm>
          <a:prstGeom prst="rect">
            <a:avLst/>
          </a:prstGeom>
        </p:spPr>
      </p:pic>
      <p:sp>
        <p:nvSpPr>
          <p:cNvPr id="22" name="Text 18"/>
          <p:cNvSpPr/>
          <p:nvPr/>
        </p:nvSpPr>
        <p:spPr>
          <a:xfrm>
            <a:off x="5029200" y="2313432"/>
            <a:ext cx="3429000" cy="292608"/>
          </a:xfrm>
          <a:prstGeom prst="rect">
            <a:avLst/>
          </a:prstGeom>
          <a:noFill/>
          <a:ln/>
        </p:spPr>
        <p:txBody>
          <a:bodyPr wrap="square" lIns="0" tIns="0" rIns="0" bIns="0" rtlCol="0" anchor="ctr"/>
          <a:lstStyle/>
          <a:p>
            <a:pPr marL="0" indent="0">
              <a:buNone/>
            </a:pPr>
            <a:r>
              <a:rPr lang="en-US" sz="1200" b="1" dirty="0">
                <a:solidFill>
                  <a:srgbClr val="2563EB"/>
                </a:solidFill>
                <a:latin typeface="Georgia" pitchFamily="34" charset="0"/>
                <a:ea typeface="Georgia" pitchFamily="34" charset="-122"/>
                <a:cs typeface="Georgia" pitchFamily="34" charset="-120"/>
              </a:rPr>
              <a:t>Fault Tolerance is Essential</a:t>
            </a:r>
            <a:endParaRPr lang="en-US" sz="1200" dirty="0"/>
          </a:p>
        </p:txBody>
      </p:sp>
      <p:sp>
        <p:nvSpPr>
          <p:cNvPr id="23" name="Text 19"/>
          <p:cNvSpPr/>
          <p:nvPr/>
        </p:nvSpPr>
        <p:spPr>
          <a:xfrm>
            <a:off x="4709160" y="2651760"/>
            <a:ext cx="3749040" cy="685800"/>
          </a:xfrm>
          <a:prstGeom prst="rect">
            <a:avLst/>
          </a:prstGeom>
          <a:noFill/>
          <a:ln/>
        </p:spPr>
        <p:txBody>
          <a:bodyPr wrap="square" rtlCol="0" anchor="t"/>
          <a:lstStyle/>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API shutdowns, schema changes, OOM</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crashes are NORMAL in production.</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Build retry logic from the start.</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Airflow caught failures automatically.</a:t>
            </a:r>
            <a:endParaRPr lang="en-US" sz="950" dirty="0"/>
          </a:p>
        </p:txBody>
      </p:sp>
      <p:sp>
        <p:nvSpPr>
          <p:cNvPr id="24" name="Shape 20"/>
          <p:cNvSpPr/>
          <p:nvPr/>
        </p:nvSpPr>
        <p:spPr>
          <a:xfrm>
            <a:off x="365760" y="3611880"/>
            <a:ext cx="4023360" cy="9144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US"/>
          </a:p>
        </p:txBody>
      </p:sp>
      <p:sp>
        <p:nvSpPr>
          <p:cNvPr id="25" name="Shape 21"/>
          <p:cNvSpPr/>
          <p:nvPr/>
        </p:nvSpPr>
        <p:spPr>
          <a:xfrm>
            <a:off x="365760" y="3611880"/>
            <a:ext cx="54864" cy="914400"/>
          </a:xfrm>
          <a:prstGeom prst="rect">
            <a:avLst/>
          </a:prstGeom>
          <a:solidFill>
            <a:srgbClr val="D97706"/>
          </a:solidFill>
          <a:ln/>
        </p:spPr>
        <p:txBody>
          <a:bodyPr/>
          <a:lstStyle/>
          <a:p>
            <a:endParaRPr lang="en-US"/>
          </a:p>
        </p:txBody>
      </p:sp>
      <p:pic>
        <p:nvPicPr>
          <p:cNvPr id="26" name="Image 2" descr="preencoded.png"/>
          <p:cNvPicPr>
            <a:picLocks noChangeAspect="1"/>
          </p:cNvPicPr>
          <p:nvPr/>
        </p:nvPicPr>
        <p:blipFill>
          <a:blip r:embed="rId3"/>
          <a:stretch>
            <a:fillRect/>
          </a:stretch>
        </p:blipFill>
        <p:spPr>
          <a:xfrm>
            <a:off x="502920" y="3721608"/>
            <a:ext cx="256032" cy="256032"/>
          </a:xfrm>
          <a:prstGeom prst="rect">
            <a:avLst/>
          </a:prstGeom>
        </p:spPr>
      </p:pic>
      <p:sp>
        <p:nvSpPr>
          <p:cNvPr id="27" name="Text 22"/>
          <p:cNvSpPr/>
          <p:nvPr/>
        </p:nvSpPr>
        <p:spPr>
          <a:xfrm>
            <a:off x="822960" y="3685032"/>
            <a:ext cx="3429000" cy="292608"/>
          </a:xfrm>
          <a:prstGeom prst="rect">
            <a:avLst/>
          </a:prstGeom>
          <a:noFill/>
          <a:ln/>
        </p:spPr>
        <p:txBody>
          <a:bodyPr wrap="square" lIns="0" tIns="0" rIns="0" bIns="0" rtlCol="0" anchor="ctr"/>
          <a:lstStyle/>
          <a:p>
            <a:pPr marL="0" indent="0">
              <a:buNone/>
            </a:pPr>
            <a:r>
              <a:rPr lang="en-US" sz="1200" b="1" dirty="0">
                <a:solidFill>
                  <a:srgbClr val="D97706"/>
                </a:solidFill>
                <a:latin typeface="Georgia" pitchFamily="34" charset="0"/>
                <a:ea typeface="Georgia" pitchFamily="34" charset="-122"/>
                <a:cs typeface="Georgia" pitchFamily="34" charset="-120"/>
              </a:rPr>
              <a:t>The Car Matters Most</a:t>
            </a:r>
            <a:endParaRPr lang="en-US" sz="1200" dirty="0"/>
          </a:p>
        </p:txBody>
      </p:sp>
      <p:sp>
        <p:nvSpPr>
          <p:cNvPr id="28" name="Text 23"/>
          <p:cNvSpPr/>
          <p:nvPr/>
        </p:nvSpPr>
        <p:spPr>
          <a:xfrm>
            <a:off x="502920" y="4023360"/>
            <a:ext cx="3749040" cy="411480"/>
          </a:xfrm>
          <a:prstGeom prst="rect">
            <a:avLst/>
          </a:prstGeom>
          <a:noFill/>
          <a:ln/>
        </p:spPr>
        <p:txBody>
          <a:bodyPr wrap="square" rtlCol="0" anchor="t"/>
          <a:lstStyle/>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constructor_rolling_points is #1 feature</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in ALL 3 models. Car ≈ 80% of F1 perf.</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Our model confirms this quantitatively.</a:t>
            </a:r>
            <a:endParaRPr lang="en-US" sz="950" dirty="0"/>
          </a:p>
        </p:txBody>
      </p:sp>
      <p:sp>
        <p:nvSpPr>
          <p:cNvPr id="29" name="Shape 24"/>
          <p:cNvSpPr/>
          <p:nvPr/>
        </p:nvSpPr>
        <p:spPr>
          <a:xfrm>
            <a:off x="4572000" y="3611880"/>
            <a:ext cx="4023360" cy="9144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lang="en-US"/>
          </a:p>
        </p:txBody>
      </p:sp>
      <p:sp>
        <p:nvSpPr>
          <p:cNvPr id="30" name="Shape 25"/>
          <p:cNvSpPr/>
          <p:nvPr/>
        </p:nvSpPr>
        <p:spPr>
          <a:xfrm>
            <a:off x="4572000" y="3611880"/>
            <a:ext cx="54864" cy="914400"/>
          </a:xfrm>
          <a:prstGeom prst="rect">
            <a:avLst/>
          </a:prstGeom>
          <a:solidFill>
            <a:srgbClr val="7C3AED"/>
          </a:solidFill>
          <a:ln/>
        </p:spPr>
        <p:txBody>
          <a:bodyPr/>
          <a:lstStyle/>
          <a:p>
            <a:endParaRPr lang="en-US"/>
          </a:p>
        </p:txBody>
      </p:sp>
      <p:pic>
        <p:nvPicPr>
          <p:cNvPr id="31" name="Image 3" descr="preencoded.png"/>
          <p:cNvPicPr>
            <a:picLocks noChangeAspect="1"/>
          </p:cNvPicPr>
          <p:nvPr/>
        </p:nvPicPr>
        <p:blipFill>
          <a:blip r:embed="rId3"/>
          <a:stretch>
            <a:fillRect/>
          </a:stretch>
        </p:blipFill>
        <p:spPr>
          <a:xfrm>
            <a:off x="4709160" y="3721608"/>
            <a:ext cx="256032" cy="256032"/>
          </a:xfrm>
          <a:prstGeom prst="rect">
            <a:avLst/>
          </a:prstGeom>
        </p:spPr>
      </p:pic>
      <p:sp>
        <p:nvSpPr>
          <p:cNvPr id="32" name="Text 26"/>
          <p:cNvSpPr/>
          <p:nvPr/>
        </p:nvSpPr>
        <p:spPr>
          <a:xfrm>
            <a:off x="5029200" y="3685032"/>
            <a:ext cx="3429000" cy="292608"/>
          </a:xfrm>
          <a:prstGeom prst="rect">
            <a:avLst/>
          </a:prstGeom>
          <a:noFill/>
          <a:ln/>
        </p:spPr>
        <p:txBody>
          <a:bodyPr wrap="square" lIns="0" tIns="0" rIns="0" bIns="0" rtlCol="0" anchor="ctr"/>
          <a:lstStyle/>
          <a:p>
            <a:pPr marL="0" indent="0">
              <a:buNone/>
            </a:pPr>
            <a:r>
              <a:rPr lang="en-US" sz="1200" b="1" dirty="0">
                <a:solidFill>
                  <a:srgbClr val="7C3AED"/>
                </a:solidFill>
                <a:latin typeface="Georgia" pitchFamily="34" charset="0"/>
                <a:ea typeface="Georgia" pitchFamily="34" charset="-122"/>
                <a:cs typeface="Georgia" pitchFamily="34" charset="-120"/>
              </a:rPr>
              <a:t>Agents Add Real Value</a:t>
            </a:r>
            <a:endParaRPr lang="en-US" sz="1200" dirty="0"/>
          </a:p>
        </p:txBody>
      </p:sp>
      <p:sp>
        <p:nvSpPr>
          <p:cNvPr id="33" name="Text 27"/>
          <p:cNvSpPr/>
          <p:nvPr/>
        </p:nvSpPr>
        <p:spPr>
          <a:xfrm>
            <a:off x="4709160" y="4023360"/>
            <a:ext cx="3749040" cy="411480"/>
          </a:xfrm>
          <a:prstGeom prst="rect">
            <a:avLst/>
          </a:prstGeom>
          <a:noFill/>
          <a:ln/>
        </p:spPr>
        <p:txBody>
          <a:bodyPr wrap="square" rtlCol="0" anchor="t"/>
          <a:lstStyle/>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Feature Agent found constructor_dominance</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(corr=0.594) autonomously. Model Agent</a:t>
            </a:r>
            <a:endParaRPr lang="en-US" sz="950" dirty="0"/>
          </a:p>
          <a:p>
            <a:pPr marL="0" indent="0">
              <a:lnSpc>
                <a:spcPct val="125000"/>
              </a:lnSpc>
              <a:buNone/>
            </a:pPr>
            <a:r>
              <a:rPr lang="en-US" sz="950" dirty="0">
                <a:solidFill>
                  <a:srgbClr val="444444"/>
                </a:solidFill>
                <a:latin typeface="Calibri" pitchFamily="34" charset="0"/>
                <a:ea typeface="Calibri" pitchFamily="34" charset="-122"/>
                <a:cs typeface="Calibri" pitchFamily="34" charset="-120"/>
              </a:rPr>
              <a:t>found worst circuits. Static pipelines miss this.</a:t>
            </a:r>
            <a:endParaRPr lang="en-US" sz="950" dirty="0"/>
          </a:p>
        </p:txBody>
      </p:sp>
      <p:sp>
        <p:nvSpPr>
          <p:cNvPr id="34" name="Text 28"/>
          <p:cNvSpPr/>
          <p:nvPr/>
        </p:nvSpPr>
        <p:spPr>
          <a:xfrm>
            <a:off x="457200" y="4709160"/>
            <a:ext cx="6400800" cy="365760"/>
          </a:xfrm>
          <a:prstGeom prst="rect">
            <a:avLst/>
          </a:prstGeom>
          <a:noFill/>
          <a:ln/>
        </p:spPr>
        <p:txBody>
          <a:bodyPr wrap="square" rtlCol="0" anchor="ctr"/>
          <a:lstStyle/>
          <a:p>
            <a:pPr marL="0" indent="0">
              <a:buNone/>
            </a:pPr>
            <a:r>
              <a:rPr lang="en-US" sz="900" dirty="0">
                <a:solidFill>
                  <a:srgbClr val="949594"/>
                </a:solidFill>
                <a:latin typeface="Calibri" pitchFamily="34" charset="0"/>
                <a:ea typeface="Calibri" pitchFamily="34" charset="-122"/>
                <a:cs typeface="Calibri" pitchFamily="34" charset="-120"/>
              </a:rPr>
              <a:t>Speaker 3 — Predictions &amp; AI</a:t>
            </a:r>
            <a:endParaRPr lang="en-US" sz="900" dirty="0"/>
          </a:p>
        </p:txBody>
      </p:sp>
      <p:sp>
        <p:nvSpPr>
          <p:cNvPr id="35" name="Text 29"/>
          <p:cNvSpPr/>
          <p:nvPr/>
        </p:nvSpPr>
        <p:spPr>
          <a:xfrm>
            <a:off x="8412480" y="4709160"/>
            <a:ext cx="548640" cy="365760"/>
          </a:xfrm>
          <a:prstGeom prst="rect">
            <a:avLst/>
          </a:prstGeom>
          <a:noFill/>
          <a:ln/>
        </p:spPr>
        <p:txBody>
          <a:bodyPr wrap="square" rtlCol="0" anchor="ctr"/>
          <a:lstStyle/>
          <a:p>
            <a:pPr marL="0" indent="0" algn="r">
              <a:buNone/>
            </a:pPr>
            <a:r>
              <a:rPr lang="en-US" sz="900" dirty="0">
                <a:solidFill>
                  <a:srgbClr val="949594"/>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A1A2E"/>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C41E1E"/>
          </a:solidFill>
          <a:ln/>
        </p:spPr>
        <p:txBody>
          <a:bodyPr/>
          <a:lstStyle/>
          <a:p>
            <a:endParaRPr lang="en-US"/>
          </a:p>
        </p:txBody>
      </p:sp>
      <p:sp>
        <p:nvSpPr>
          <p:cNvPr id="3" name="Shape 1"/>
          <p:cNvSpPr/>
          <p:nvPr/>
        </p:nvSpPr>
        <p:spPr>
          <a:xfrm>
            <a:off x="0" y="5084064"/>
            <a:ext cx="9144000" cy="54864"/>
          </a:xfrm>
          <a:prstGeom prst="rect">
            <a:avLst/>
          </a:prstGeom>
          <a:solidFill>
            <a:srgbClr val="C41E1E"/>
          </a:solidFill>
          <a:ln/>
        </p:spPr>
        <p:txBody>
          <a:bodyPr/>
          <a:lstStyle/>
          <a:p>
            <a:endParaRPr lang="en-US"/>
          </a:p>
        </p:txBody>
      </p:sp>
      <p:sp>
        <p:nvSpPr>
          <p:cNvPr id="4" name="Shape 2"/>
          <p:cNvSpPr/>
          <p:nvPr/>
        </p:nvSpPr>
        <p:spPr>
          <a:xfrm>
            <a:off x="8778240" y="0"/>
            <a:ext cx="137160" cy="5143500"/>
          </a:xfrm>
          <a:prstGeom prst="rect">
            <a:avLst/>
          </a:prstGeom>
          <a:solidFill>
            <a:srgbClr val="C41E1E"/>
          </a:solidFill>
          <a:ln/>
        </p:spPr>
        <p:txBody>
          <a:bodyPr/>
          <a:lstStyle/>
          <a:p>
            <a:endParaRPr lang="en-US"/>
          </a:p>
        </p:txBody>
      </p:sp>
      <p:sp>
        <p:nvSpPr>
          <p:cNvPr id="5" name="Shape 3"/>
          <p:cNvSpPr/>
          <p:nvPr/>
        </p:nvSpPr>
        <p:spPr>
          <a:xfrm>
            <a:off x="8961120" y="0"/>
            <a:ext cx="73152" cy="5143500"/>
          </a:xfrm>
          <a:prstGeom prst="rect">
            <a:avLst/>
          </a:prstGeom>
          <a:solidFill>
            <a:srgbClr val="C41E1E">
              <a:alpha val="40000"/>
            </a:srgbClr>
          </a:solidFill>
          <a:ln/>
        </p:spPr>
        <p:txBody>
          <a:bodyPr/>
          <a:lstStyle/>
          <a:p>
            <a:endParaRPr lang="en-US"/>
          </a:p>
        </p:txBody>
      </p:sp>
      <p:pic>
        <p:nvPicPr>
          <p:cNvPr id="6" name="Image 0" descr="preencoded.png"/>
          <p:cNvPicPr>
            <a:picLocks noChangeAspect="1"/>
          </p:cNvPicPr>
          <p:nvPr/>
        </p:nvPicPr>
        <p:blipFill>
          <a:blip r:embed="rId3"/>
          <a:stretch>
            <a:fillRect/>
          </a:stretch>
        </p:blipFill>
        <p:spPr>
          <a:xfrm>
            <a:off x="7498080" y="274320"/>
            <a:ext cx="457200" cy="457200"/>
          </a:xfrm>
          <a:prstGeom prst="rect">
            <a:avLst/>
          </a:prstGeom>
        </p:spPr>
      </p:pic>
      <p:sp>
        <p:nvSpPr>
          <p:cNvPr id="7" name="Text 4"/>
          <p:cNvSpPr/>
          <p:nvPr/>
        </p:nvSpPr>
        <p:spPr>
          <a:xfrm>
            <a:off x="731520" y="274320"/>
            <a:ext cx="6400800" cy="548640"/>
          </a:xfrm>
          <a:prstGeom prst="rect">
            <a:avLst/>
          </a:prstGeom>
          <a:noFill/>
          <a:ln/>
        </p:spPr>
        <p:txBody>
          <a:bodyPr wrap="square" lIns="0" tIns="0" rIns="0" bIns="0" rtlCol="0" anchor="ctr"/>
          <a:lstStyle/>
          <a:p>
            <a:pPr marL="0" indent="0">
              <a:buNone/>
            </a:pPr>
            <a:r>
              <a:rPr lang="en-US" sz="3000" b="1" dirty="0">
                <a:solidFill>
                  <a:srgbClr val="FFFFFF"/>
                </a:solidFill>
                <a:latin typeface="Georgia" pitchFamily="34" charset="0"/>
                <a:ea typeface="Georgia" pitchFamily="34" charset="-122"/>
                <a:cs typeface="Georgia" pitchFamily="34" charset="-120"/>
              </a:rPr>
              <a:t>Future Work</a:t>
            </a:r>
            <a:endParaRPr lang="en-US" sz="3000" dirty="0"/>
          </a:p>
        </p:txBody>
      </p:sp>
      <p:sp>
        <p:nvSpPr>
          <p:cNvPr id="8" name="Shape 5"/>
          <p:cNvSpPr/>
          <p:nvPr/>
        </p:nvSpPr>
        <p:spPr>
          <a:xfrm>
            <a:off x="731520" y="868680"/>
            <a:ext cx="1828800" cy="36576"/>
          </a:xfrm>
          <a:prstGeom prst="rect">
            <a:avLst/>
          </a:prstGeom>
          <a:solidFill>
            <a:srgbClr val="C41E1E"/>
          </a:solidFill>
          <a:ln/>
        </p:spPr>
        <p:txBody>
          <a:bodyPr/>
          <a:lstStyle/>
          <a:p>
            <a:endParaRPr lang="en-US"/>
          </a:p>
        </p:txBody>
      </p:sp>
      <p:sp>
        <p:nvSpPr>
          <p:cNvPr id="9" name="Shape 6"/>
          <p:cNvSpPr/>
          <p:nvPr/>
        </p:nvSpPr>
        <p:spPr>
          <a:xfrm>
            <a:off x="457200" y="1143000"/>
            <a:ext cx="2560320" cy="1463040"/>
          </a:xfrm>
          <a:prstGeom prst="rect">
            <a:avLst/>
          </a:prstGeom>
          <a:solidFill>
            <a:srgbClr val="1A1A2E"/>
          </a:solidFill>
          <a:ln w="19050">
            <a:solidFill>
              <a:srgbClr val="C41E1E"/>
            </a:solidFill>
            <a:prstDash val="solid"/>
          </a:ln>
        </p:spPr>
        <p:txBody>
          <a:bodyPr/>
          <a:lstStyle/>
          <a:p>
            <a:endParaRPr lang="en-US"/>
          </a:p>
        </p:txBody>
      </p:sp>
      <p:sp>
        <p:nvSpPr>
          <p:cNvPr id="10" name="Text 7"/>
          <p:cNvSpPr/>
          <p:nvPr/>
        </p:nvSpPr>
        <p:spPr>
          <a:xfrm>
            <a:off x="457200" y="1234440"/>
            <a:ext cx="2560320" cy="320040"/>
          </a:xfrm>
          <a:prstGeom prst="rect">
            <a:avLst/>
          </a:prstGeom>
          <a:noFill/>
          <a:ln/>
        </p:spPr>
        <p:txBody>
          <a:bodyPr wrap="square" lIns="0" tIns="0" rIns="0" bIns="0" rtlCol="0" anchor="ctr"/>
          <a:lstStyle/>
          <a:p>
            <a:pPr marL="0" indent="0" algn="ctr">
              <a:buNone/>
            </a:pPr>
            <a:r>
              <a:rPr lang="en-US" sz="1200" b="1" dirty="0">
                <a:solidFill>
                  <a:srgbClr val="C41E1E"/>
                </a:solidFill>
                <a:latin typeface="Georgia" pitchFamily="34" charset="0"/>
                <a:ea typeface="Georgia" pitchFamily="34" charset="-122"/>
                <a:cs typeface="Georgia" pitchFamily="34" charset="-120"/>
              </a:rPr>
              <a:t>📡 Real-Time Streaming</a:t>
            </a:r>
            <a:endParaRPr lang="en-US" sz="1200" dirty="0"/>
          </a:p>
        </p:txBody>
      </p:sp>
      <p:sp>
        <p:nvSpPr>
          <p:cNvPr id="11" name="Text 8"/>
          <p:cNvSpPr/>
          <p:nvPr/>
        </p:nvSpPr>
        <p:spPr>
          <a:xfrm>
            <a:off x="548640" y="1600200"/>
            <a:ext cx="2377440" cy="822960"/>
          </a:xfrm>
          <a:prstGeom prst="rect">
            <a:avLst/>
          </a:prstGeom>
          <a:noFill/>
          <a:ln/>
        </p:spPr>
        <p:txBody>
          <a:bodyPr wrap="square" lIns="0" tIns="0" rIns="0" bIns="0" rtlCol="0" anchor="ctr"/>
          <a:lstStyle/>
          <a:p>
            <a:pPr marL="0" indent="0" algn="ctr">
              <a:buNone/>
            </a:pPr>
            <a:r>
              <a:rPr lang="en-US" sz="950" dirty="0">
                <a:solidFill>
                  <a:srgbClr val="949594"/>
                </a:solidFill>
                <a:latin typeface="Calibri" pitchFamily="34" charset="0"/>
                <a:ea typeface="Calibri" pitchFamily="34" charset="-122"/>
                <a:cs typeface="Calibri" pitchFamily="34" charset="-120"/>
              </a:rPr>
              <a:t>Spark Structured Streaming for</a:t>
            </a:r>
            <a:endParaRPr lang="en-US" sz="950" dirty="0"/>
          </a:p>
          <a:p>
            <a:pPr marL="0" indent="0" algn="ctr">
              <a:buNone/>
            </a:pPr>
            <a:r>
              <a:rPr lang="en-US" sz="950" dirty="0">
                <a:solidFill>
                  <a:srgbClr val="949594"/>
                </a:solidFill>
                <a:latin typeface="Calibri" pitchFamily="34" charset="0"/>
                <a:ea typeface="Calibri" pitchFamily="34" charset="-122"/>
                <a:cs typeface="Calibri" pitchFamily="34" charset="-120"/>
              </a:rPr>
              <a:t>live predictions during the race.</a:t>
            </a:r>
            <a:endParaRPr lang="en-US" sz="950" dirty="0"/>
          </a:p>
          <a:p>
            <a:pPr marL="0" indent="0" algn="ctr">
              <a:buNone/>
            </a:pPr>
            <a:r>
              <a:rPr lang="en-US" sz="950" dirty="0">
                <a:solidFill>
                  <a:srgbClr val="949594"/>
                </a:solidFill>
                <a:latin typeface="Calibri" pitchFamily="34" charset="0"/>
                <a:ea typeface="Calibri" pitchFamily="34" charset="-122"/>
                <a:cs typeface="Calibri" pitchFamily="34" charset="-120"/>
              </a:rPr>
              <a:t>Update odds as each lap completes.</a:t>
            </a:r>
            <a:endParaRPr lang="en-US" sz="950" dirty="0"/>
          </a:p>
        </p:txBody>
      </p:sp>
      <p:sp>
        <p:nvSpPr>
          <p:cNvPr id="12" name="Shape 9"/>
          <p:cNvSpPr/>
          <p:nvPr/>
        </p:nvSpPr>
        <p:spPr>
          <a:xfrm>
            <a:off x="3246120" y="1143000"/>
            <a:ext cx="2560320" cy="1463040"/>
          </a:xfrm>
          <a:prstGeom prst="rect">
            <a:avLst/>
          </a:prstGeom>
          <a:solidFill>
            <a:srgbClr val="1A1A2E"/>
          </a:solidFill>
          <a:ln w="19050">
            <a:solidFill>
              <a:srgbClr val="2563EB"/>
            </a:solidFill>
            <a:prstDash val="solid"/>
          </a:ln>
        </p:spPr>
        <p:txBody>
          <a:bodyPr/>
          <a:lstStyle/>
          <a:p>
            <a:endParaRPr lang="en-US"/>
          </a:p>
        </p:txBody>
      </p:sp>
      <p:sp>
        <p:nvSpPr>
          <p:cNvPr id="13" name="Text 10"/>
          <p:cNvSpPr/>
          <p:nvPr/>
        </p:nvSpPr>
        <p:spPr>
          <a:xfrm>
            <a:off x="3246120" y="1234440"/>
            <a:ext cx="2560320" cy="320040"/>
          </a:xfrm>
          <a:prstGeom prst="rect">
            <a:avLst/>
          </a:prstGeom>
          <a:noFill/>
          <a:ln/>
        </p:spPr>
        <p:txBody>
          <a:bodyPr wrap="square" lIns="0" tIns="0" rIns="0" bIns="0" rtlCol="0" anchor="ctr"/>
          <a:lstStyle/>
          <a:p>
            <a:pPr marL="0" indent="0" algn="ctr">
              <a:buNone/>
            </a:pPr>
            <a:r>
              <a:rPr lang="en-US" sz="1200" b="1" dirty="0">
                <a:solidFill>
                  <a:srgbClr val="2563EB"/>
                </a:solidFill>
                <a:latin typeface="Georgia" pitchFamily="34" charset="0"/>
                <a:ea typeface="Georgia" pitchFamily="34" charset="-122"/>
                <a:cs typeface="Georgia" pitchFamily="34" charset="-120"/>
              </a:rPr>
              <a:t>☁️ Cloud Deployment</a:t>
            </a:r>
            <a:endParaRPr lang="en-US" sz="1200" dirty="0"/>
          </a:p>
        </p:txBody>
      </p:sp>
      <p:sp>
        <p:nvSpPr>
          <p:cNvPr id="14" name="Text 11"/>
          <p:cNvSpPr/>
          <p:nvPr/>
        </p:nvSpPr>
        <p:spPr>
          <a:xfrm>
            <a:off x="3337560" y="1600200"/>
            <a:ext cx="2377440" cy="822960"/>
          </a:xfrm>
          <a:prstGeom prst="rect">
            <a:avLst/>
          </a:prstGeom>
          <a:noFill/>
          <a:ln/>
        </p:spPr>
        <p:txBody>
          <a:bodyPr wrap="square" lIns="0" tIns="0" rIns="0" bIns="0" rtlCol="0" anchor="ctr"/>
          <a:lstStyle/>
          <a:p>
            <a:pPr marL="0" indent="0" algn="ctr">
              <a:buNone/>
            </a:pPr>
            <a:r>
              <a:rPr lang="en-US" sz="950" dirty="0">
                <a:solidFill>
                  <a:srgbClr val="949594"/>
                </a:solidFill>
                <a:latin typeface="Calibri" pitchFamily="34" charset="0"/>
                <a:ea typeface="Calibri" pitchFamily="34" charset="-122"/>
                <a:cs typeface="Calibri" pitchFamily="34" charset="-120"/>
              </a:rPr>
              <a:t>AWS EMR or Azure Databricks for</a:t>
            </a:r>
            <a:endParaRPr lang="en-US" sz="950" dirty="0"/>
          </a:p>
          <a:p>
            <a:pPr marL="0" indent="0" algn="ctr">
              <a:buNone/>
            </a:pPr>
            <a:r>
              <a:rPr lang="en-US" sz="950" dirty="0">
                <a:solidFill>
                  <a:srgbClr val="949594"/>
                </a:solidFill>
                <a:latin typeface="Calibri" pitchFamily="34" charset="0"/>
                <a:ea typeface="Calibri" pitchFamily="34" charset="-122"/>
                <a:cs typeface="Calibri" pitchFamily="34" charset="-120"/>
              </a:rPr>
              <a:t>true cluster scale. Our Docker</a:t>
            </a:r>
            <a:endParaRPr lang="en-US" sz="950" dirty="0"/>
          </a:p>
          <a:p>
            <a:pPr marL="0" indent="0" algn="ctr">
              <a:buNone/>
            </a:pPr>
            <a:r>
              <a:rPr lang="en-US" sz="950" dirty="0">
                <a:solidFill>
                  <a:srgbClr val="949594"/>
                </a:solidFill>
                <a:latin typeface="Calibri" pitchFamily="34" charset="0"/>
                <a:ea typeface="Calibri" pitchFamily="34" charset="-122"/>
                <a:cs typeface="Calibri" pitchFamily="34" charset="-120"/>
              </a:rPr>
              <a:t>architecture migrates seamlessly.</a:t>
            </a:r>
            <a:endParaRPr lang="en-US" sz="950" dirty="0"/>
          </a:p>
        </p:txBody>
      </p:sp>
      <p:sp>
        <p:nvSpPr>
          <p:cNvPr id="15" name="Shape 12"/>
          <p:cNvSpPr/>
          <p:nvPr/>
        </p:nvSpPr>
        <p:spPr>
          <a:xfrm>
            <a:off x="6035040" y="1143000"/>
            <a:ext cx="2560320" cy="1463040"/>
          </a:xfrm>
          <a:prstGeom prst="rect">
            <a:avLst/>
          </a:prstGeom>
          <a:solidFill>
            <a:srgbClr val="1A1A2E"/>
          </a:solidFill>
          <a:ln w="19050">
            <a:solidFill>
              <a:srgbClr val="059669"/>
            </a:solidFill>
            <a:prstDash val="solid"/>
          </a:ln>
        </p:spPr>
        <p:txBody>
          <a:bodyPr/>
          <a:lstStyle/>
          <a:p>
            <a:endParaRPr lang="en-US"/>
          </a:p>
        </p:txBody>
      </p:sp>
      <p:sp>
        <p:nvSpPr>
          <p:cNvPr id="16" name="Text 13"/>
          <p:cNvSpPr/>
          <p:nvPr/>
        </p:nvSpPr>
        <p:spPr>
          <a:xfrm>
            <a:off x="6035040" y="1234440"/>
            <a:ext cx="2560320" cy="320040"/>
          </a:xfrm>
          <a:prstGeom prst="rect">
            <a:avLst/>
          </a:prstGeom>
          <a:noFill/>
          <a:ln/>
        </p:spPr>
        <p:txBody>
          <a:bodyPr wrap="square" lIns="0" tIns="0" rIns="0" bIns="0" rtlCol="0" anchor="ctr"/>
          <a:lstStyle/>
          <a:p>
            <a:pPr marL="0" indent="0" algn="ctr">
              <a:buNone/>
            </a:pPr>
            <a:r>
              <a:rPr lang="en-US" sz="1200" b="1" dirty="0">
                <a:solidFill>
                  <a:srgbClr val="059669"/>
                </a:solidFill>
                <a:latin typeface="Georgia" pitchFamily="34" charset="0"/>
                <a:ea typeface="Georgia" pitchFamily="34" charset="-122"/>
                <a:cs typeface="Georgia" pitchFamily="34" charset="-120"/>
              </a:rPr>
              <a:t>🏎️ Car Telemetry Data</a:t>
            </a:r>
            <a:endParaRPr lang="en-US" sz="1200" dirty="0"/>
          </a:p>
        </p:txBody>
      </p:sp>
      <p:sp>
        <p:nvSpPr>
          <p:cNvPr id="17" name="Text 14"/>
          <p:cNvSpPr/>
          <p:nvPr/>
        </p:nvSpPr>
        <p:spPr>
          <a:xfrm>
            <a:off x="6126480" y="1600200"/>
            <a:ext cx="2377440" cy="822960"/>
          </a:xfrm>
          <a:prstGeom prst="rect">
            <a:avLst/>
          </a:prstGeom>
          <a:noFill/>
          <a:ln/>
        </p:spPr>
        <p:txBody>
          <a:bodyPr wrap="square" lIns="0" tIns="0" rIns="0" bIns="0" rtlCol="0" anchor="ctr"/>
          <a:lstStyle/>
          <a:p>
            <a:pPr marL="0" indent="0" algn="ctr">
              <a:buNone/>
            </a:pPr>
            <a:r>
              <a:rPr lang="en-US" sz="950" dirty="0">
                <a:solidFill>
                  <a:srgbClr val="949594"/>
                </a:solidFill>
                <a:latin typeface="Calibri" pitchFamily="34" charset="0"/>
                <a:ea typeface="Calibri" pitchFamily="34" charset="-122"/>
                <a:cs typeface="Calibri" pitchFamily="34" charset="-120"/>
              </a:rPr>
              <a:t>Throttle, brake, DRS, engine modes</a:t>
            </a:r>
            <a:endParaRPr lang="en-US" sz="950" dirty="0"/>
          </a:p>
          <a:p>
            <a:pPr marL="0" indent="0" algn="ctr">
              <a:buNone/>
            </a:pPr>
            <a:r>
              <a:rPr lang="en-US" sz="950" dirty="0">
                <a:solidFill>
                  <a:srgbClr val="949594"/>
                </a:solidFill>
                <a:latin typeface="Calibri" pitchFamily="34" charset="0"/>
                <a:ea typeface="Calibri" pitchFamily="34" charset="-122"/>
                <a:cs typeface="Calibri" pitchFamily="34" charset="-120"/>
              </a:rPr>
              <a:t>from FastF1 telemetry API. Could</a:t>
            </a:r>
            <a:endParaRPr lang="en-US" sz="950" dirty="0"/>
          </a:p>
          <a:p>
            <a:pPr marL="0" indent="0" algn="ctr">
              <a:buNone/>
            </a:pPr>
            <a:r>
              <a:rPr lang="en-US" sz="950" dirty="0">
                <a:solidFill>
                  <a:srgbClr val="949594"/>
                </a:solidFill>
                <a:latin typeface="Calibri" pitchFamily="34" charset="0"/>
                <a:ea typeface="Calibri" pitchFamily="34" charset="-122"/>
                <a:cs typeface="Calibri" pitchFamily="34" charset="-120"/>
              </a:rPr>
              <a:t>break through the 78% ceiling.</a:t>
            </a:r>
            <a:endParaRPr lang="en-US" sz="950" dirty="0"/>
          </a:p>
        </p:txBody>
      </p:sp>
      <p:sp>
        <p:nvSpPr>
          <p:cNvPr id="18" name="Shape 15"/>
          <p:cNvSpPr/>
          <p:nvPr/>
        </p:nvSpPr>
        <p:spPr>
          <a:xfrm>
            <a:off x="457200" y="2880360"/>
            <a:ext cx="8229600" cy="54864"/>
          </a:xfrm>
          <a:prstGeom prst="rect">
            <a:avLst/>
          </a:prstGeom>
          <a:solidFill>
            <a:srgbClr val="C41E1E"/>
          </a:solidFill>
          <a:ln/>
        </p:spPr>
        <p:txBody>
          <a:bodyPr/>
          <a:lstStyle/>
          <a:p>
            <a:endParaRPr lang="en-US"/>
          </a:p>
        </p:txBody>
      </p:sp>
      <p:sp>
        <p:nvSpPr>
          <p:cNvPr id="19" name="Text 16"/>
          <p:cNvSpPr/>
          <p:nvPr/>
        </p:nvSpPr>
        <p:spPr>
          <a:xfrm>
            <a:off x="457200" y="3108960"/>
            <a:ext cx="1188720" cy="365760"/>
          </a:xfrm>
          <a:prstGeom prst="rect">
            <a:avLst/>
          </a:prstGeom>
          <a:noFill/>
          <a:ln/>
        </p:spPr>
        <p:txBody>
          <a:bodyPr wrap="square" lIns="0" tIns="0" rIns="0" bIns="0" rtlCol="0" anchor="ctr"/>
          <a:lstStyle/>
          <a:p>
            <a:pPr marL="0" indent="0" algn="ctr">
              <a:buNone/>
            </a:pPr>
            <a:r>
              <a:rPr lang="en-US" sz="1800" b="1" dirty="0">
                <a:solidFill>
                  <a:srgbClr val="C41E1E"/>
                </a:solidFill>
                <a:latin typeface="Georgia" pitchFamily="34" charset="0"/>
                <a:ea typeface="Georgia" pitchFamily="34" charset="-122"/>
                <a:cs typeface="Georgia" pitchFamily="34" charset="-120"/>
              </a:rPr>
              <a:t>77.8%</a:t>
            </a:r>
            <a:endParaRPr lang="en-US" sz="1800" dirty="0"/>
          </a:p>
        </p:txBody>
      </p:sp>
      <p:sp>
        <p:nvSpPr>
          <p:cNvPr id="20" name="Text 17"/>
          <p:cNvSpPr/>
          <p:nvPr/>
        </p:nvSpPr>
        <p:spPr>
          <a:xfrm>
            <a:off x="457200" y="3474720"/>
            <a:ext cx="1188720" cy="182880"/>
          </a:xfrm>
          <a:prstGeom prst="rect">
            <a:avLst/>
          </a:prstGeom>
          <a:noFill/>
          <a:ln/>
        </p:spPr>
        <p:txBody>
          <a:bodyPr wrap="square" lIns="0" tIns="0" rIns="0" bIns="0" rtlCol="0" anchor="ctr"/>
          <a:lstStyle/>
          <a:p>
            <a:pPr marL="0" indent="0" algn="ctr">
              <a:buNone/>
            </a:pPr>
            <a:r>
              <a:rPr lang="en-US" sz="900" dirty="0">
                <a:solidFill>
                  <a:srgbClr val="949594"/>
                </a:solidFill>
                <a:latin typeface="Calibri" pitchFamily="34" charset="0"/>
                <a:ea typeface="Calibri" pitchFamily="34" charset="-122"/>
                <a:cs typeface="Calibri" pitchFamily="34" charset="-120"/>
              </a:rPr>
              <a:t>Winner</a:t>
            </a:r>
            <a:endParaRPr lang="en-US" sz="900" dirty="0"/>
          </a:p>
        </p:txBody>
      </p:sp>
      <p:sp>
        <p:nvSpPr>
          <p:cNvPr id="21" name="Text 18"/>
          <p:cNvSpPr/>
          <p:nvPr/>
        </p:nvSpPr>
        <p:spPr>
          <a:xfrm>
            <a:off x="1828800" y="3108960"/>
            <a:ext cx="1188720" cy="365760"/>
          </a:xfrm>
          <a:prstGeom prst="rect">
            <a:avLst/>
          </a:prstGeom>
          <a:noFill/>
          <a:ln/>
        </p:spPr>
        <p:txBody>
          <a:bodyPr wrap="square" lIns="0" tIns="0" rIns="0" bIns="0" rtlCol="0" anchor="ctr"/>
          <a:lstStyle/>
          <a:p>
            <a:pPr marL="0" indent="0" algn="ctr">
              <a:buNone/>
            </a:pPr>
            <a:r>
              <a:rPr lang="en-US" sz="1800" b="1" dirty="0">
                <a:solidFill>
                  <a:srgbClr val="C41E1E"/>
                </a:solidFill>
                <a:latin typeface="Georgia" pitchFamily="34" charset="0"/>
                <a:ea typeface="Georgia" pitchFamily="34" charset="-122"/>
                <a:cs typeface="Georgia" pitchFamily="34" charset="-120"/>
              </a:rPr>
              <a:t>93.4%</a:t>
            </a:r>
            <a:endParaRPr lang="en-US" sz="1800" dirty="0"/>
          </a:p>
        </p:txBody>
      </p:sp>
      <p:sp>
        <p:nvSpPr>
          <p:cNvPr id="22" name="Text 19"/>
          <p:cNvSpPr/>
          <p:nvPr/>
        </p:nvSpPr>
        <p:spPr>
          <a:xfrm>
            <a:off x="1828800" y="3474720"/>
            <a:ext cx="1188720" cy="182880"/>
          </a:xfrm>
          <a:prstGeom prst="rect">
            <a:avLst/>
          </a:prstGeom>
          <a:noFill/>
          <a:ln/>
        </p:spPr>
        <p:txBody>
          <a:bodyPr wrap="square" lIns="0" tIns="0" rIns="0" bIns="0" rtlCol="0" anchor="ctr"/>
          <a:lstStyle/>
          <a:p>
            <a:pPr marL="0" indent="0" algn="ctr">
              <a:buNone/>
            </a:pPr>
            <a:r>
              <a:rPr lang="en-US" sz="900" dirty="0">
                <a:solidFill>
                  <a:srgbClr val="949594"/>
                </a:solidFill>
                <a:latin typeface="Calibri" pitchFamily="34" charset="0"/>
                <a:ea typeface="Calibri" pitchFamily="34" charset="-122"/>
                <a:cs typeface="Calibri" pitchFamily="34" charset="-120"/>
              </a:rPr>
              <a:t>Podium</a:t>
            </a:r>
            <a:endParaRPr lang="en-US" sz="900" dirty="0"/>
          </a:p>
        </p:txBody>
      </p:sp>
      <p:sp>
        <p:nvSpPr>
          <p:cNvPr id="23" name="Text 20"/>
          <p:cNvSpPr/>
          <p:nvPr/>
        </p:nvSpPr>
        <p:spPr>
          <a:xfrm>
            <a:off x="3200400" y="3108960"/>
            <a:ext cx="1188720" cy="365760"/>
          </a:xfrm>
          <a:prstGeom prst="rect">
            <a:avLst/>
          </a:prstGeom>
          <a:noFill/>
          <a:ln/>
        </p:spPr>
        <p:txBody>
          <a:bodyPr wrap="square" lIns="0" tIns="0" rIns="0" bIns="0" rtlCol="0" anchor="ctr"/>
          <a:lstStyle/>
          <a:p>
            <a:pPr marL="0" indent="0" algn="ctr">
              <a:buNone/>
            </a:pPr>
            <a:r>
              <a:rPr lang="en-US" sz="1800" b="1" dirty="0">
                <a:solidFill>
                  <a:srgbClr val="C41E1E"/>
                </a:solidFill>
                <a:latin typeface="Georgia" pitchFamily="34" charset="0"/>
                <a:ea typeface="Georgia" pitchFamily="34" charset="-122"/>
                <a:cs typeface="Georgia" pitchFamily="34" charset="-120"/>
              </a:rPr>
              <a:t>100%</a:t>
            </a:r>
            <a:endParaRPr lang="en-US" sz="1800" dirty="0"/>
          </a:p>
        </p:txBody>
      </p:sp>
      <p:sp>
        <p:nvSpPr>
          <p:cNvPr id="24" name="Text 21"/>
          <p:cNvSpPr/>
          <p:nvPr/>
        </p:nvSpPr>
        <p:spPr>
          <a:xfrm>
            <a:off x="3200400" y="3474720"/>
            <a:ext cx="1188720" cy="182880"/>
          </a:xfrm>
          <a:prstGeom prst="rect">
            <a:avLst/>
          </a:prstGeom>
          <a:noFill/>
          <a:ln/>
        </p:spPr>
        <p:txBody>
          <a:bodyPr wrap="square" lIns="0" tIns="0" rIns="0" bIns="0" rtlCol="0" anchor="ctr"/>
          <a:lstStyle/>
          <a:p>
            <a:pPr marL="0" indent="0" algn="ctr">
              <a:buNone/>
            </a:pPr>
            <a:r>
              <a:rPr lang="en-US" sz="900" dirty="0">
                <a:solidFill>
                  <a:srgbClr val="949594"/>
                </a:solidFill>
                <a:latin typeface="Calibri" pitchFamily="34" charset="0"/>
                <a:ea typeface="Calibri" pitchFamily="34" charset="-122"/>
                <a:cs typeface="Calibri" pitchFamily="34" charset="-120"/>
              </a:rPr>
              <a:t>Top-3</a:t>
            </a:r>
            <a:endParaRPr lang="en-US" sz="900" dirty="0"/>
          </a:p>
        </p:txBody>
      </p:sp>
      <p:sp>
        <p:nvSpPr>
          <p:cNvPr id="25" name="Text 22"/>
          <p:cNvSpPr/>
          <p:nvPr/>
        </p:nvSpPr>
        <p:spPr>
          <a:xfrm>
            <a:off x="4572000" y="3108960"/>
            <a:ext cx="1188720" cy="365760"/>
          </a:xfrm>
          <a:prstGeom prst="rect">
            <a:avLst/>
          </a:prstGeom>
          <a:noFill/>
          <a:ln/>
        </p:spPr>
        <p:txBody>
          <a:bodyPr wrap="square" lIns="0" tIns="0" rIns="0" bIns="0" rtlCol="0" anchor="ctr"/>
          <a:lstStyle/>
          <a:p>
            <a:pPr marL="0" indent="0" algn="ctr">
              <a:buNone/>
            </a:pPr>
            <a:r>
              <a:rPr lang="en-US" sz="1800" b="1" dirty="0">
                <a:solidFill>
                  <a:srgbClr val="C41E1E"/>
                </a:solidFill>
                <a:latin typeface="Georgia" pitchFamily="34" charset="0"/>
                <a:ea typeface="Georgia" pitchFamily="34" charset="-122"/>
                <a:cs typeface="Georgia" pitchFamily="34" charset="-120"/>
              </a:rPr>
              <a:t>2.096</a:t>
            </a:r>
            <a:endParaRPr lang="en-US" sz="1800" dirty="0"/>
          </a:p>
        </p:txBody>
      </p:sp>
      <p:sp>
        <p:nvSpPr>
          <p:cNvPr id="26" name="Text 23"/>
          <p:cNvSpPr/>
          <p:nvPr/>
        </p:nvSpPr>
        <p:spPr>
          <a:xfrm>
            <a:off x="4572000" y="3474720"/>
            <a:ext cx="1188720" cy="182880"/>
          </a:xfrm>
          <a:prstGeom prst="rect">
            <a:avLst/>
          </a:prstGeom>
          <a:noFill/>
          <a:ln/>
        </p:spPr>
        <p:txBody>
          <a:bodyPr wrap="square" lIns="0" tIns="0" rIns="0" bIns="0" rtlCol="0" anchor="ctr"/>
          <a:lstStyle/>
          <a:p>
            <a:pPr marL="0" indent="0" algn="ctr">
              <a:buNone/>
            </a:pPr>
            <a:r>
              <a:rPr lang="en-US" sz="900" dirty="0">
                <a:solidFill>
                  <a:srgbClr val="949594"/>
                </a:solidFill>
                <a:latin typeface="Calibri" pitchFamily="34" charset="0"/>
                <a:ea typeface="Calibri" pitchFamily="34" charset="-122"/>
                <a:cs typeface="Calibri" pitchFamily="34" charset="-120"/>
              </a:rPr>
              <a:t>MAE</a:t>
            </a:r>
            <a:endParaRPr lang="en-US" sz="900" dirty="0"/>
          </a:p>
        </p:txBody>
      </p:sp>
      <p:sp>
        <p:nvSpPr>
          <p:cNvPr id="27" name="Text 24"/>
          <p:cNvSpPr/>
          <p:nvPr/>
        </p:nvSpPr>
        <p:spPr>
          <a:xfrm>
            <a:off x="5943600" y="3108960"/>
            <a:ext cx="1188720" cy="365760"/>
          </a:xfrm>
          <a:prstGeom prst="rect">
            <a:avLst/>
          </a:prstGeom>
          <a:noFill/>
          <a:ln/>
        </p:spPr>
        <p:txBody>
          <a:bodyPr wrap="square" lIns="0" tIns="0" rIns="0" bIns="0" rtlCol="0" anchor="ctr"/>
          <a:lstStyle/>
          <a:p>
            <a:pPr marL="0" indent="0" algn="ctr">
              <a:buNone/>
            </a:pPr>
            <a:r>
              <a:rPr lang="en-US" sz="1800" b="1" dirty="0">
                <a:solidFill>
                  <a:srgbClr val="C41E1E"/>
                </a:solidFill>
                <a:latin typeface="Georgia" pitchFamily="34" charset="0"/>
                <a:ea typeface="Georgia" pitchFamily="34" charset="-122"/>
                <a:cs typeface="Georgia" pitchFamily="34" charset="-120"/>
              </a:rPr>
              <a:t>85</a:t>
            </a:r>
            <a:endParaRPr lang="en-US" sz="1800" dirty="0"/>
          </a:p>
        </p:txBody>
      </p:sp>
      <p:sp>
        <p:nvSpPr>
          <p:cNvPr id="28" name="Text 25"/>
          <p:cNvSpPr/>
          <p:nvPr/>
        </p:nvSpPr>
        <p:spPr>
          <a:xfrm>
            <a:off x="5943600" y="3474720"/>
            <a:ext cx="1188720" cy="182880"/>
          </a:xfrm>
          <a:prstGeom prst="rect">
            <a:avLst/>
          </a:prstGeom>
          <a:noFill/>
          <a:ln/>
        </p:spPr>
        <p:txBody>
          <a:bodyPr wrap="square" lIns="0" tIns="0" rIns="0" bIns="0" rtlCol="0" anchor="ctr"/>
          <a:lstStyle/>
          <a:p>
            <a:pPr marL="0" indent="0" algn="ctr">
              <a:buNone/>
            </a:pPr>
            <a:r>
              <a:rPr lang="en-US" sz="900" dirty="0">
                <a:solidFill>
                  <a:srgbClr val="949594"/>
                </a:solidFill>
                <a:latin typeface="Calibri" pitchFamily="34" charset="0"/>
                <a:ea typeface="Calibri" pitchFamily="34" charset="-122"/>
                <a:cs typeface="Calibri" pitchFamily="34" charset="-120"/>
              </a:rPr>
              <a:t>Features</a:t>
            </a:r>
            <a:endParaRPr lang="en-US" sz="900" dirty="0"/>
          </a:p>
        </p:txBody>
      </p:sp>
      <p:sp>
        <p:nvSpPr>
          <p:cNvPr id="29" name="Text 26"/>
          <p:cNvSpPr/>
          <p:nvPr/>
        </p:nvSpPr>
        <p:spPr>
          <a:xfrm>
            <a:off x="7315200" y="3108960"/>
            <a:ext cx="1188720" cy="365760"/>
          </a:xfrm>
          <a:prstGeom prst="rect">
            <a:avLst/>
          </a:prstGeom>
          <a:noFill/>
          <a:ln/>
        </p:spPr>
        <p:txBody>
          <a:bodyPr wrap="square" lIns="0" tIns="0" rIns="0" bIns="0" rtlCol="0" anchor="ctr"/>
          <a:lstStyle/>
          <a:p>
            <a:pPr marL="0" indent="0" algn="ctr">
              <a:buNone/>
            </a:pPr>
            <a:r>
              <a:rPr lang="en-US" sz="1800" b="1" dirty="0">
                <a:solidFill>
                  <a:srgbClr val="C41E1E"/>
                </a:solidFill>
                <a:latin typeface="Georgia" pitchFamily="34" charset="0"/>
                <a:ea typeface="Georgia" pitchFamily="34" charset="-122"/>
                <a:cs typeface="Georgia" pitchFamily="34" charset="-120"/>
              </a:rPr>
              <a:t>9</a:t>
            </a:r>
            <a:endParaRPr lang="en-US" sz="1800" dirty="0"/>
          </a:p>
        </p:txBody>
      </p:sp>
      <p:sp>
        <p:nvSpPr>
          <p:cNvPr id="30" name="Text 27"/>
          <p:cNvSpPr/>
          <p:nvPr/>
        </p:nvSpPr>
        <p:spPr>
          <a:xfrm>
            <a:off x="7315200" y="3474720"/>
            <a:ext cx="1188720" cy="182880"/>
          </a:xfrm>
          <a:prstGeom prst="rect">
            <a:avLst/>
          </a:prstGeom>
          <a:noFill/>
          <a:ln/>
        </p:spPr>
        <p:txBody>
          <a:bodyPr wrap="square" lIns="0" tIns="0" rIns="0" bIns="0" rtlCol="0" anchor="ctr"/>
          <a:lstStyle/>
          <a:p>
            <a:pPr marL="0" indent="0" algn="ctr">
              <a:buNone/>
            </a:pPr>
            <a:r>
              <a:rPr lang="en-US" sz="900" dirty="0">
                <a:solidFill>
                  <a:srgbClr val="949594"/>
                </a:solidFill>
                <a:latin typeface="Calibri" pitchFamily="34" charset="0"/>
                <a:ea typeface="Calibri" pitchFamily="34" charset="-122"/>
                <a:cs typeface="Calibri" pitchFamily="34" charset="-120"/>
              </a:rPr>
              <a:t>Seasons</a:t>
            </a:r>
            <a:endParaRPr lang="en-US" sz="900" dirty="0"/>
          </a:p>
        </p:txBody>
      </p:sp>
      <p:sp>
        <p:nvSpPr>
          <p:cNvPr id="31" name="Text 28"/>
          <p:cNvSpPr/>
          <p:nvPr/>
        </p:nvSpPr>
        <p:spPr>
          <a:xfrm>
            <a:off x="731520" y="3840480"/>
            <a:ext cx="7315200" cy="548640"/>
          </a:xfrm>
          <a:prstGeom prst="rect">
            <a:avLst/>
          </a:prstGeom>
          <a:noFill/>
          <a:ln/>
        </p:spPr>
        <p:txBody>
          <a:bodyPr wrap="square" lIns="0" tIns="0" rIns="0" bIns="0" rtlCol="0" anchor="ctr"/>
          <a:lstStyle/>
          <a:p>
            <a:pPr marL="0" indent="0">
              <a:buNone/>
            </a:pPr>
            <a:r>
              <a:rPr lang="en-US" sz="2800" b="1" dirty="0">
                <a:solidFill>
                  <a:srgbClr val="FFFFFF"/>
                </a:solidFill>
                <a:latin typeface="Georgia" pitchFamily="34" charset="0"/>
                <a:ea typeface="Georgia" pitchFamily="34" charset="-122"/>
                <a:cs typeface="Georgia" pitchFamily="34" charset="-120"/>
              </a:rPr>
              <a:t>Thank you! Questions?</a:t>
            </a:r>
            <a:endParaRPr lang="en-US" sz="2800" dirty="0"/>
          </a:p>
        </p:txBody>
      </p:sp>
      <p:sp>
        <p:nvSpPr>
          <p:cNvPr id="32" name="Text 29"/>
          <p:cNvSpPr/>
          <p:nvPr/>
        </p:nvSpPr>
        <p:spPr>
          <a:xfrm>
            <a:off x="731520" y="4389120"/>
            <a:ext cx="7315200" cy="320040"/>
          </a:xfrm>
          <a:prstGeom prst="rect">
            <a:avLst/>
          </a:prstGeom>
          <a:noFill/>
          <a:ln/>
        </p:spPr>
        <p:txBody>
          <a:bodyPr wrap="square" lIns="0" tIns="0" rIns="0" bIns="0" rtlCol="0" anchor="ctr"/>
          <a:lstStyle/>
          <a:p>
            <a:pPr marL="0" indent="0">
              <a:buNone/>
            </a:pPr>
            <a:r>
              <a:rPr lang="en-US" sz="1000" dirty="0">
                <a:solidFill>
                  <a:srgbClr val="949594"/>
                </a:solidFill>
                <a:latin typeface="Calibri" pitchFamily="34" charset="0"/>
                <a:ea typeface="Calibri" pitchFamily="34" charset="-122"/>
                <a:cs typeface="Calibri" pitchFamily="34" charset="-120"/>
              </a:rPr>
              <a:t>Live demo available:  Streamlit Dashboard (localhost:8501)  •  Airflow UI (localhost:8081)  •  Spark Cluster (localhost:8080)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376</TotalTime>
  <Words>5505</Words>
  <Application>Microsoft Macintosh PowerPoint</Application>
  <PresentationFormat>On-screen Show (16:9)</PresentationFormat>
  <Paragraphs>851</Paragraphs>
  <Slides>25</Slides>
  <Notes>25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25</vt:i4>
      </vt:variant>
    </vt:vector>
  </HeadingPairs>
  <TitlesOfParts>
    <vt:vector size="29" baseType="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F1 Big Data Analytics Platform</dc:title>
  <dc:subject>PptxGenJS Presentation</dc:subject>
  <dc:creator>Sandeep</dc:creator>
  <cp:lastModifiedBy>bhawna s</cp:lastModifiedBy>
  <cp:revision>2</cp:revision>
  <dcterms:created xsi:type="dcterms:W3CDTF">2026-04-18T13:38:56Z</dcterms:created>
  <dcterms:modified xsi:type="dcterms:W3CDTF">2026-04-21T20:31:49Z</dcterms:modified>
</cp:coreProperties>
</file>